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Calibri (MS) Italics" charset="1" panose="020F05020202040A0204"/>
      <p:regular r:id="rId19"/>
    </p:embeddedFont>
    <p:embeddedFont>
      <p:font typeface="Calibri (MS) Bold Italics" charset="1" panose="020F0702030404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6487" y="-12697"/>
            <a:ext cx="135131" cy="10312403"/>
            <a:chOff x="0" y="0"/>
            <a:chExt cx="180175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5EEA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03303" y="-1841497"/>
            <a:ext cx="8255003" cy="8255003"/>
            <a:chOff x="0" y="0"/>
            <a:chExt cx="11006671" cy="11006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891B2">
                <a:alpha val="1961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709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0891B2">
                <a:alpha val="1961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17703" y="4559303"/>
            <a:ext cx="5511803" cy="5511803"/>
            <a:chOff x="0" y="0"/>
            <a:chExt cx="7349071" cy="7349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5EEAD4">
                <a:alpha val="784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5EEAD4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810263"/>
            <a:ext cx="5146043" cy="537467"/>
            <a:chOff x="0" y="0"/>
            <a:chExt cx="6861391" cy="7166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341376"/>
                  </a:moveTo>
                  <a:cubicBezTo>
                    <a:pt x="0" y="152908"/>
                    <a:pt x="159639" y="0"/>
                    <a:pt x="356616" y="0"/>
                  </a:cubicBezTo>
                  <a:lnTo>
                    <a:pt x="6471031" y="0"/>
                  </a:lnTo>
                  <a:cubicBezTo>
                    <a:pt x="6667881" y="0"/>
                    <a:pt x="6827520" y="152781"/>
                    <a:pt x="6827520" y="341376"/>
                  </a:cubicBezTo>
                  <a:cubicBezTo>
                    <a:pt x="6827520" y="529971"/>
                    <a:pt x="6667881" y="682752"/>
                    <a:pt x="6471031" y="682752"/>
                  </a:cubicBezTo>
                  <a:lnTo>
                    <a:pt x="356616" y="682752"/>
                  </a:lnTo>
                  <a:cubicBezTo>
                    <a:pt x="159766" y="682752"/>
                    <a:pt x="127" y="529971"/>
                    <a:pt x="127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1428" cy="716534"/>
            </a:xfrm>
            <a:custGeom>
              <a:avLst/>
              <a:gdLst/>
              <a:ahLst/>
              <a:cxnLst/>
              <a:rect r="r" b="b" t="t" l="l"/>
              <a:pathLst>
                <a:path h="716534" w="6861428">
                  <a:moveTo>
                    <a:pt x="0" y="358267"/>
                  </a:moveTo>
                  <a:cubicBezTo>
                    <a:pt x="0" y="159766"/>
                    <a:pt x="167894" y="0"/>
                    <a:pt x="373507" y="0"/>
                  </a:cubicBezTo>
                  <a:lnTo>
                    <a:pt x="6487922" y="0"/>
                  </a:lnTo>
                  <a:lnTo>
                    <a:pt x="6487922" y="16891"/>
                  </a:lnTo>
                  <a:lnTo>
                    <a:pt x="6487922" y="0"/>
                  </a:lnTo>
                  <a:cubicBezTo>
                    <a:pt x="6693535" y="0"/>
                    <a:pt x="6861428" y="159766"/>
                    <a:pt x="6861428" y="358267"/>
                  </a:cubicBezTo>
                  <a:lnTo>
                    <a:pt x="6844538" y="358267"/>
                  </a:lnTo>
                  <a:lnTo>
                    <a:pt x="6861428" y="358267"/>
                  </a:lnTo>
                  <a:lnTo>
                    <a:pt x="6844538" y="358267"/>
                  </a:lnTo>
                  <a:lnTo>
                    <a:pt x="6861428" y="358267"/>
                  </a:lnTo>
                  <a:cubicBezTo>
                    <a:pt x="6861428" y="556895"/>
                    <a:pt x="6693535" y="716534"/>
                    <a:pt x="6487922" y="716534"/>
                  </a:cubicBezTo>
                  <a:lnTo>
                    <a:pt x="6487922" y="699643"/>
                  </a:lnTo>
                  <a:lnTo>
                    <a:pt x="6487922" y="716534"/>
                  </a:lnTo>
                  <a:lnTo>
                    <a:pt x="373507" y="716534"/>
                  </a:lnTo>
                  <a:lnTo>
                    <a:pt x="373507" y="699643"/>
                  </a:lnTo>
                  <a:lnTo>
                    <a:pt x="373507" y="716534"/>
                  </a:lnTo>
                  <a:cubicBezTo>
                    <a:pt x="167894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5293" y="682752"/>
                    <a:pt x="373507" y="682752"/>
                  </a:cubicBezTo>
                  <a:lnTo>
                    <a:pt x="6487922" y="682752"/>
                  </a:lnTo>
                  <a:cubicBezTo>
                    <a:pt x="6676136" y="682752"/>
                    <a:pt x="6827520" y="536829"/>
                    <a:pt x="6827520" y="358267"/>
                  </a:cubicBezTo>
                  <a:cubicBezTo>
                    <a:pt x="6827520" y="179705"/>
                    <a:pt x="6676136" y="33782"/>
                    <a:pt x="6487922" y="33782"/>
                  </a:cubicBezTo>
                  <a:lnTo>
                    <a:pt x="373507" y="33782"/>
                  </a:lnTo>
                  <a:lnTo>
                    <a:pt x="373507" y="16891"/>
                  </a:lnTo>
                  <a:lnTo>
                    <a:pt x="373507" y="33909"/>
                  </a:lnTo>
                  <a:cubicBezTo>
                    <a:pt x="185166" y="33909"/>
                    <a:pt x="33909" y="179832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22960"/>
            <a:ext cx="5120640" cy="512064"/>
            <a:chOff x="0" y="0"/>
            <a:chExt cx="682752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IN HEALTH HACKATHON 2026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1737360"/>
            <a:ext cx="14630400" cy="2560320"/>
            <a:chOff x="0" y="0"/>
            <a:chExt cx="1950720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57175"/>
              <a:ext cx="19507200" cy="3670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0"/>
                </a:lnSpc>
              </a:pPr>
              <a:r>
                <a:rPr lang="en-US" sz="12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MediPATH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023360"/>
            <a:ext cx="14630400" cy="1005840"/>
            <a:chOff x="0" y="0"/>
            <a:chExt cx="195072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07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95072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Disease Intelligence System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5212080"/>
            <a:ext cx="14630400" cy="731520"/>
            <a:chOff x="0" y="0"/>
            <a:chExt cx="195072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507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Helping doctors predict what comes next — not replacing them.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6205223"/>
            <a:ext cx="6426203" cy="98555"/>
            <a:chOff x="0" y="0"/>
            <a:chExt cx="8568271" cy="1314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8534400" cy="97536"/>
            </a:xfrm>
            <a:custGeom>
              <a:avLst/>
              <a:gdLst/>
              <a:ahLst/>
              <a:cxnLst/>
              <a:rect r="r" b="b" t="t" l="l"/>
              <a:pathLst>
                <a:path h="9753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68182" cy="131320"/>
            </a:xfrm>
            <a:custGeom>
              <a:avLst/>
              <a:gdLst/>
              <a:ahLst/>
              <a:cxnLst/>
              <a:rect r="r" b="b" t="t" l="l"/>
              <a:pathLst>
                <a:path h="13132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14427"/>
                  </a:lnTo>
                  <a:cubicBezTo>
                    <a:pt x="8568182" y="123825"/>
                    <a:pt x="8560562" y="131318"/>
                    <a:pt x="8551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8551291" y="97536"/>
                  </a:lnTo>
                  <a:lnTo>
                    <a:pt x="8551291" y="114427"/>
                  </a:lnTo>
                  <a:lnTo>
                    <a:pt x="8534400" y="114427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6583680"/>
            <a:ext cx="14630400" cy="731520"/>
            <a:chOff x="0" y="0"/>
            <a:chExt cx="1950720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507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3: Health Data Analytics</a:t>
              </a: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·  March 2026  ·  Team MediPATH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8047" y="7857487"/>
            <a:ext cx="3853177" cy="1475737"/>
            <a:chOff x="0" y="0"/>
            <a:chExt cx="5137569" cy="19676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37658" cy="1967738"/>
            </a:xfrm>
            <a:custGeom>
              <a:avLst/>
              <a:gdLst/>
              <a:ahLst/>
              <a:cxnLst/>
              <a:rect r="r" b="b" t="t" l="l"/>
              <a:pathLst>
                <a:path h="19677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1959229"/>
                  </a:lnTo>
                  <a:cubicBezTo>
                    <a:pt x="5137658" y="1963928"/>
                    <a:pt x="5133848" y="1967738"/>
                    <a:pt x="512914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5129149" y="1950720"/>
                  </a:lnTo>
                  <a:lnTo>
                    <a:pt x="5129149" y="1959229"/>
                  </a:lnTo>
                  <a:lnTo>
                    <a:pt x="5120640" y="195922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7900416"/>
            <a:ext cx="3840480" cy="694944"/>
            <a:chOff x="0" y="0"/>
            <a:chExt cx="512064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10–15 yrs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8558784"/>
            <a:ext cx="3840480" cy="457200"/>
            <a:chOff x="0" y="0"/>
            <a:chExt cx="512064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History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05727" y="7857487"/>
            <a:ext cx="3853177" cy="1475737"/>
            <a:chOff x="0" y="0"/>
            <a:chExt cx="5137569" cy="19676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37658" cy="1967738"/>
            </a:xfrm>
            <a:custGeom>
              <a:avLst/>
              <a:gdLst/>
              <a:ahLst/>
              <a:cxnLst/>
              <a:rect r="r" b="b" t="t" l="l"/>
              <a:pathLst>
                <a:path h="19677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1959229"/>
                  </a:lnTo>
                  <a:cubicBezTo>
                    <a:pt x="5137658" y="1963928"/>
                    <a:pt x="5133848" y="1967738"/>
                    <a:pt x="512914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5129149" y="1950720"/>
                  </a:lnTo>
                  <a:lnTo>
                    <a:pt x="5129149" y="1959229"/>
                  </a:lnTo>
                  <a:lnTo>
                    <a:pt x="5120640" y="195922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212080" y="7900416"/>
            <a:ext cx="3840480" cy="694944"/>
            <a:chOff x="0" y="0"/>
            <a:chExt cx="51206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Markov+ML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212080" y="8558784"/>
            <a:ext cx="3840480" cy="457200"/>
            <a:chOff x="0" y="0"/>
            <a:chExt cx="512064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Model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3407" y="7857487"/>
            <a:ext cx="3853177" cy="1475737"/>
            <a:chOff x="0" y="0"/>
            <a:chExt cx="5137569" cy="19676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37658" cy="1967738"/>
            </a:xfrm>
            <a:custGeom>
              <a:avLst/>
              <a:gdLst/>
              <a:ahLst/>
              <a:cxnLst/>
              <a:rect r="r" b="b" t="t" l="l"/>
              <a:pathLst>
                <a:path h="19677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1959229"/>
                  </a:lnTo>
                  <a:cubicBezTo>
                    <a:pt x="5137658" y="1963928"/>
                    <a:pt x="5133848" y="1967738"/>
                    <a:pt x="512914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5129149" y="1950720"/>
                  </a:lnTo>
                  <a:lnTo>
                    <a:pt x="5129149" y="1959229"/>
                  </a:lnTo>
                  <a:lnTo>
                    <a:pt x="5120640" y="195922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09760" y="7900416"/>
            <a:ext cx="3840480" cy="694944"/>
            <a:chOff x="0" y="0"/>
            <a:chExt cx="512064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 XAI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9760" y="8558784"/>
            <a:ext cx="3840480" cy="457200"/>
            <a:chOff x="0" y="0"/>
            <a:chExt cx="5120640" cy="609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Explainability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801087" y="7857487"/>
            <a:ext cx="3853177" cy="1475737"/>
            <a:chOff x="0" y="0"/>
            <a:chExt cx="5137569" cy="196764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37658" cy="1967738"/>
            </a:xfrm>
            <a:custGeom>
              <a:avLst/>
              <a:gdLst/>
              <a:ahLst/>
              <a:cxnLst/>
              <a:rect r="r" b="b" t="t" l="l"/>
              <a:pathLst>
                <a:path h="196773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1959229"/>
                  </a:lnTo>
                  <a:cubicBezTo>
                    <a:pt x="5137658" y="1963928"/>
                    <a:pt x="5133848" y="1967738"/>
                    <a:pt x="512914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5129149" y="1950720"/>
                  </a:lnTo>
                  <a:lnTo>
                    <a:pt x="5129149" y="1959229"/>
                  </a:lnTo>
                  <a:lnTo>
                    <a:pt x="5120640" y="195922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807440" y="7900416"/>
            <a:ext cx="3840480" cy="694944"/>
            <a:chOff x="0" y="0"/>
            <a:chExt cx="512064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EHR-Ready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807440" y="8558784"/>
            <a:ext cx="3840480" cy="457200"/>
            <a:chOff x="0" y="0"/>
            <a:chExt cx="512064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499367"/>
            <a:ext cx="3317243" cy="537467"/>
            <a:chOff x="0" y="0"/>
            <a:chExt cx="4422991" cy="71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512064"/>
            <a:ext cx="3291840" cy="512064"/>
            <a:chOff x="0" y="0"/>
            <a:chExt cx="4389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188720"/>
            <a:ext cx="16824960" cy="2011680"/>
            <a:chOff x="0" y="0"/>
            <a:chExt cx="224332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65" r="0" b="-11296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2433280" cy="2806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Healthcare is Reactive.</a:t>
              </a:r>
            </a:p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Should Be Predictive.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3370583"/>
            <a:ext cx="16850363" cy="1945643"/>
            <a:chOff x="0" y="0"/>
            <a:chExt cx="22467151" cy="2594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2594102"/>
            </a:xfrm>
            <a:custGeom>
              <a:avLst/>
              <a:gdLst/>
              <a:ahLst/>
              <a:cxnLst/>
              <a:rect r="r" b="b" t="t" l="l"/>
              <a:pathLst>
                <a:path h="259410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577211"/>
                  </a:lnTo>
                  <a:cubicBezTo>
                    <a:pt x="22467063" y="2586609"/>
                    <a:pt x="22459443" y="2594102"/>
                    <a:pt x="224501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2450171" y="2560320"/>
                  </a:lnTo>
                  <a:lnTo>
                    <a:pt x="22450171" y="2577211"/>
                  </a:lnTo>
                  <a:lnTo>
                    <a:pt x="22433280" y="25772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3383280"/>
            <a:ext cx="16824960" cy="1473832"/>
            <a:chOff x="0" y="0"/>
            <a:chExt cx="22433280" cy="19651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1965109"/>
            </a:xfrm>
            <a:custGeom>
              <a:avLst/>
              <a:gdLst/>
              <a:ahLst/>
              <a:cxnLst/>
              <a:rect r="r" b="b" t="t" l="l"/>
              <a:pathLst>
                <a:path h="1965109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65109"/>
                  </a:lnTo>
                  <a:lnTo>
                    <a:pt x="0" y="19651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433280" cy="2022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i="true" strike="noStrike" u="non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80%  of chronic disease deaths in sub</a:t>
              </a:r>
              <a:r>
                <a:rPr lang="en-US" b="true" sz="2600" i="true" strike="noStrike" u="non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-Saharan Africa occur before age 70 — almost all from late or missed diagnosis</a:t>
              </a:r>
              <a:r>
                <a:rPr lang="en-US" b="true" sz="2600" i="true" strike="noStrike" u="non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  (WHO, 2023)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5167" y="5571487"/>
            <a:ext cx="5316217" cy="3487417"/>
            <a:chOff x="0" y="0"/>
            <a:chExt cx="7088289" cy="46498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5667756"/>
            <a:ext cx="903227" cy="903227"/>
            <a:chOff x="0" y="0"/>
            <a:chExt cx="1204303" cy="12043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5705861"/>
            <a:ext cx="877824" cy="877824"/>
            <a:chOff x="0" y="0"/>
            <a:chExt cx="11704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👁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48256" y="5705856"/>
            <a:ext cx="3712464" cy="877824"/>
            <a:chOff x="0" y="0"/>
            <a:chExt cx="4949952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99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949952">
                  <a:moveTo>
                    <a:pt x="0" y="0"/>
                  </a:moveTo>
                  <a:lnTo>
                    <a:pt x="4949952" y="0"/>
                  </a:lnTo>
                  <a:lnTo>
                    <a:pt x="49499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05" r="0" b="-32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4995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Doctors See Only Today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6675120"/>
            <a:ext cx="4754880" cy="2194560"/>
            <a:chOff x="0" y="0"/>
            <a:chExt cx="6339840" cy="2926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EMR systems show the latest visit — not 10+ years of health history. Long-term patterns are invisible.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94447" y="5571487"/>
            <a:ext cx="5316217" cy="3487417"/>
            <a:chOff x="0" y="0"/>
            <a:chExt cx="7088289" cy="46498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52384" y="5705856"/>
            <a:ext cx="903227" cy="903227"/>
            <a:chOff x="0" y="0"/>
            <a:chExt cx="1204303" cy="12043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87312" y="5749671"/>
            <a:ext cx="877824" cy="877824"/>
            <a:chOff x="0" y="0"/>
            <a:chExt cx="1170432" cy="1170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717536" y="5705856"/>
            <a:ext cx="3712464" cy="877824"/>
            <a:chOff x="0" y="0"/>
            <a:chExt cx="4949952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499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949952">
                  <a:moveTo>
                    <a:pt x="0" y="0"/>
                  </a:moveTo>
                  <a:lnTo>
                    <a:pt x="4949952" y="0"/>
                  </a:lnTo>
                  <a:lnTo>
                    <a:pt x="49499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05" r="0" b="-324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94995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Connection to Future Risk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6675120"/>
            <a:ext cx="4754880" cy="2194560"/>
            <a:chOff x="0" y="0"/>
            <a:chExt cx="6339840" cy="2926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system links past disease records to future risk. Data is stored but never analysed for progression patterns.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63727" y="5571487"/>
            <a:ext cx="5316217" cy="3487417"/>
            <a:chOff x="0" y="0"/>
            <a:chExt cx="7088289" cy="46498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88378" cy="4649978"/>
            </a:xfrm>
            <a:custGeom>
              <a:avLst/>
              <a:gdLst/>
              <a:ahLst/>
              <a:cxnLst/>
              <a:rect r="r" b="b" t="t" l="l"/>
              <a:pathLst>
                <a:path h="46499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641469"/>
                  </a:lnTo>
                  <a:cubicBezTo>
                    <a:pt x="7088378" y="4646168"/>
                    <a:pt x="7084568" y="4649978"/>
                    <a:pt x="7079869" y="4649978"/>
                  </a:cubicBezTo>
                  <a:lnTo>
                    <a:pt x="8509" y="4649978"/>
                  </a:lnTo>
                  <a:cubicBezTo>
                    <a:pt x="3810" y="4649978"/>
                    <a:pt x="0" y="4646168"/>
                    <a:pt x="0" y="4641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641469"/>
                  </a:lnTo>
                  <a:lnTo>
                    <a:pt x="8509" y="4641469"/>
                  </a:lnTo>
                  <a:lnTo>
                    <a:pt x="8509" y="4632960"/>
                  </a:lnTo>
                  <a:lnTo>
                    <a:pt x="7079869" y="4632960"/>
                  </a:lnTo>
                  <a:lnTo>
                    <a:pt x="7079869" y="4641469"/>
                  </a:lnTo>
                  <a:lnTo>
                    <a:pt x="7071360" y="46414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31703" y="5693159"/>
            <a:ext cx="903227" cy="903227"/>
            <a:chOff x="0" y="0"/>
            <a:chExt cx="1204303" cy="12043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344400" y="5705856"/>
            <a:ext cx="877824" cy="877824"/>
            <a:chOff x="0" y="0"/>
            <a:chExt cx="1170432" cy="11704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🚑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386816" y="5705856"/>
            <a:ext cx="3712464" cy="877824"/>
            <a:chOff x="0" y="0"/>
            <a:chExt cx="4949952" cy="1170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499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949952">
                  <a:moveTo>
                    <a:pt x="0" y="0"/>
                  </a:moveTo>
                  <a:lnTo>
                    <a:pt x="4949952" y="0"/>
                  </a:lnTo>
                  <a:lnTo>
                    <a:pt x="49499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05" r="0" b="-324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94995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Treatment, Not Prevention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44400" y="6675120"/>
            <a:ext cx="4754880" cy="2194560"/>
            <a:chOff x="0" y="0"/>
            <a:chExt cx="6339840" cy="2926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3398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Clinicians treat disease after it appears. By then, the window for low-cost, high-impact intervention has closed.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65760" y="9637776"/>
            <a:ext cx="17556480" cy="603504"/>
            <a:chOff x="0" y="0"/>
            <a:chExt cx="2340864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408639" cy="804672"/>
            </a:xfrm>
            <a:custGeom>
              <a:avLst/>
              <a:gdLst/>
              <a:ahLst/>
              <a:cxnLst/>
              <a:rect r="r" b="b" t="t" l="l"/>
              <a:pathLst>
                <a:path h="80467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340864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MediPATH  ·  AI in Health Hackathon 2026  ·  Track 3: Health Data Analytics  ·  Problem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499367"/>
            <a:ext cx="3317243" cy="537467"/>
            <a:chOff x="0" y="0"/>
            <a:chExt cx="4422991" cy="71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512064"/>
            <a:ext cx="3291840" cy="512064"/>
            <a:chOff x="0" y="0"/>
            <a:chExt cx="4389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133856"/>
            <a:ext cx="16824960" cy="1188720"/>
            <a:chOff x="0" y="0"/>
            <a:chExt cx="2243328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243328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MediPATH — What It Does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511047"/>
            <a:ext cx="16850363" cy="1579883"/>
            <a:chOff x="0" y="0"/>
            <a:chExt cx="22467151" cy="2106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089531"/>
                  </a:lnTo>
                  <a:cubicBezTo>
                    <a:pt x="22467063" y="2098929"/>
                    <a:pt x="22459443" y="2106422"/>
                    <a:pt x="224501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450171" y="2072640"/>
                  </a:lnTo>
                  <a:lnTo>
                    <a:pt x="22450171" y="2089531"/>
                  </a:lnTo>
                  <a:lnTo>
                    <a:pt x="22433280" y="208953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560320"/>
            <a:ext cx="16276320" cy="1481328"/>
            <a:chOff x="0" y="0"/>
            <a:chExt cx="21701760" cy="19751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01761" cy="1975104"/>
            </a:xfrm>
            <a:custGeom>
              <a:avLst/>
              <a:gdLst/>
              <a:ahLst/>
              <a:cxnLst/>
              <a:rect r="r" b="b" t="t" l="l"/>
              <a:pathLst>
                <a:path h="1975104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094" r="0" b="-16409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701760" cy="2032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AI clinical decision-support system that uses 10–15 years of patient history to predict which disease a patient is most likely to develop next — and recommends preventive action before it appears.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5167" y="4346191"/>
            <a:ext cx="5316217" cy="4859017"/>
            <a:chOff x="0" y="0"/>
            <a:chExt cx="7088289" cy="64786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7071360" cy="6461760"/>
            </a:xfrm>
            <a:custGeom>
              <a:avLst/>
              <a:gdLst/>
              <a:ahLst/>
              <a:cxnLst/>
              <a:rect r="r" b="b" t="t" l="l"/>
              <a:pathLst>
                <a:path h="6461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461760"/>
                  </a:lnTo>
                  <a:lnTo>
                    <a:pt x="0" y="6461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8378" cy="6478778"/>
            </a:xfrm>
            <a:custGeom>
              <a:avLst/>
              <a:gdLst/>
              <a:ahLst/>
              <a:cxnLst/>
              <a:rect r="r" b="b" t="t" l="l"/>
              <a:pathLst>
                <a:path h="6478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6470269"/>
                  </a:lnTo>
                  <a:cubicBezTo>
                    <a:pt x="7088378" y="6474968"/>
                    <a:pt x="7084568" y="6478778"/>
                    <a:pt x="7079869" y="6478778"/>
                  </a:cubicBezTo>
                  <a:lnTo>
                    <a:pt x="8509" y="6478778"/>
                  </a:lnTo>
                  <a:cubicBezTo>
                    <a:pt x="3810" y="6478778"/>
                    <a:pt x="0" y="6474968"/>
                    <a:pt x="0" y="6470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70269"/>
                  </a:lnTo>
                  <a:lnTo>
                    <a:pt x="8509" y="6470269"/>
                  </a:lnTo>
                  <a:lnTo>
                    <a:pt x="8509" y="6461760"/>
                  </a:lnTo>
                  <a:lnTo>
                    <a:pt x="7079869" y="6461760"/>
                  </a:lnTo>
                  <a:lnTo>
                    <a:pt x="7079869" y="6470269"/>
                  </a:lnTo>
                  <a:lnTo>
                    <a:pt x="7071360" y="6470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4339847"/>
            <a:ext cx="5328923" cy="830075"/>
            <a:chOff x="0" y="0"/>
            <a:chExt cx="7105231" cy="11067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0713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142" cy="1106680"/>
            </a:xfrm>
            <a:custGeom>
              <a:avLst/>
              <a:gdLst/>
              <a:ahLst/>
              <a:cxnLst/>
              <a:rect r="r" b="b" t="t" l="l"/>
              <a:pathLst>
                <a:path h="110668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89787"/>
                  </a:lnTo>
                  <a:cubicBezTo>
                    <a:pt x="7105142" y="1099185"/>
                    <a:pt x="7097522" y="1106678"/>
                    <a:pt x="70882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7088251" y="1072896"/>
                  </a:lnTo>
                  <a:lnTo>
                    <a:pt x="7088251" y="1089787"/>
                  </a:lnTo>
                  <a:lnTo>
                    <a:pt x="7071360" y="1089787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0976" y="4389120"/>
            <a:ext cx="804672" cy="731520"/>
            <a:chOff x="0" y="0"/>
            <a:chExt cx="1072896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72896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92224" y="4389120"/>
            <a:ext cx="3986784" cy="731520"/>
            <a:chOff x="0" y="0"/>
            <a:chExt cx="5315712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31571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 from the Past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5303520"/>
            <a:ext cx="4754880" cy="3657600"/>
            <a:chOff x="0" y="0"/>
            <a:chExt cx="6339840" cy="4876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39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3984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learns typical disease progression from thousands of patients with diabetes, hypertension, stroke, and kidney disease over 10–15 years.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94447" y="4346191"/>
            <a:ext cx="5316217" cy="4859017"/>
            <a:chOff x="0" y="0"/>
            <a:chExt cx="7088289" cy="64786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7071360" cy="6461760"/>
            </a:xfrm>
            <a:custGeom>
              <a:avLst/>
              <a:gdLst/>
              <a:ahLst/>
              <a:cxnLst/>
              <a:rect r="r" b="b" t="t" l="l"/>
              <a:pathLst>
                <a:path h="6461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461760"/>
                  </a:lnTo>
                  <a:lnTo>
                    <a:pt x="0" y="6461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88378" cy="6478778"/>
            </a:xfrm>
            <a:custGeom>
              <a:avLst/>
              <a:gdLst/>
              <a:ahLst/>
              <a:cxnLst/>
              <a:rect r="r" b="b" t="t" l="l"/>
              <a:pathLst>
                <a:path h="6478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6470269"/>
                  </a:lnTo>
                  <a:cubicBezTo>
                    <a:pt x="7088378" y="6474968"/>
                    <a:pt x="7084568" y="6478778"/>
                    <a:pt x="7079869" y="6478778"/>
                  </a:cubicBezTo>
                  <a:lnTo>
                    <a:pt x="8509" y="6478778"/>
                  </a:lnTo>
                  <a:cubicBezTo>
                    <a:pt x="3810" y="6478778"/>
                    <a:pt x="0" y="6474968"/>
                    <a:pt x="0" y="6470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70269"/>
                  </a:lnTo>
                  <a:lnTo>
                    <a:pt x="8509" y="6470269"/>
                  </a:lnTo>
                  <a:lnTo>
                    <a:pt x="8509" y="6461760"/>
                  </a:lnTo>
                  <a:lnTo>
                    <a:pt x="7079869" y="6461760"/>
                  </a:lnTo>
                  <a:lnTo>
                    <a:pt x="7079869" y="6470269"/>
                  </a:lnTo>
                  <a:lnTo>
                    <a:pt x="7071360" y="6470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388103" y="4339847"/>
            <a:ext cx="5328923" cy="830075"/>
            <a:chOff x="0" y="0"/>
            <a:chExt cx="7105231" cy="11067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0713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05142" cy="1106680"/>
            </a:xfrm>
            <a:custGeom>
              <a:avLst/>
              <a:gdLst/>
              <a:ahLst/>
              <a:cxnLst/>
              <a:rect r="r" b="b" t="t" l="l"/>
              <a:pathLst>
                <a:path h="110668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89787"/>
                  </a:lnTo>
                  <a:cubicBezTo>
                    <a:pt x="7105142" y="1099185"/>
                    <a:pt x="7097522" y="1106678"/>
                    <a:pt x="70882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7088251" y="1072896"/>
                  </a:lnTo>
                  <a:lnTo>
                    <a:pt x="7088251" y="1089787"/>
                  </a:lnTo>
                  <a:lnTo>
                    <a:pt x="7071360" y="1089787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20256" y="4389120"/>
            <a:ext cx="804672" cy="731520"/>
            <a:chOff x="0" y="0"/>
            <a:chExt cx="1072896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2896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72896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61504" y="4389120"/>
            <a:ext cx="3986784" cy="731520"/>
            <a:chOff x="0" y="0"/>
            <a:chExt cx="5315712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1571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 &amp; Match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5303520"/>
            <a:ext cx="4754880" cy="3657600"/>
            <a:chOff x="0" y="0"/>
            <a:chExt cx="6339840" cy="4876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33984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each new patient, MediPATH checks whether their symptoms, history, and risk factors match known disease trajectories.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63727" y="4346191"/>
            <a:ext cx="5316217" cy="4859017"/>
            <a:chOff x="0" y="0"/>
            <a:chExt cx="7088289" cy="64786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7071360" cy="6461760"/>
            </a:xfrm>
            <a:custGeom>
              <a:avLst/>
              <a:gdLst/>
              <a:ahLst/>
              <a:cxnLst/>
              <a:rect r="r" b="b" t="t" l="l"/>
              <a:pathLst>
                <a:path h="6461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461760"/>
                  </a:lnTo>
                  <a:lnTo>
                    <a:pt x="0" y="6461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88378" cy="6478778"/>
            </a:xfrm>
            <a:custGeom>
              <a:avLst/>
              <a:gdLst/>
              <a:ahLst/>
              <a:cxnLst/>
              <a:rect r="r" b="b" t="t" l="l"/>
              <a:pathLst>
                <a:path h="6478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6470269"/>
                  </a:lnTo>
                  <a:cubicBezTo>
                    <a:pt x="7088378" y="6474968"/>
                    <a:pt x="7084568" y="6478778"/>
                    <a:pt x="7079869" y="6478778"/>
                  </a:cubicBezTo>
                  <a:lnTo>
                    <a:pt x="8509" y="6478778"/>
                  </a:lnTo>
                  <a:cubicBezTo>
                    <a:pt x="3810" y="6478778"/>
                    <a:pt x="0" y="6474968"/>
                    <a:pt x="0" y="6470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70269"/>
                  </a:lnTo>
                  <a:lnTo>
                    <a:pt x="8509" y="6470269"/>
                  </a:lnTo>
                  <a:lnTo>
                    <a:pt x="8509" y="6461760"/>
                  </a:lnTo>
                  <a:lnTo>
                    <a:pt x="7079869" y="6461760"/>
                  </a:lnTo>
                  <a:lnTo>
                    <a:pt x="7079869" y="6470269"/>
                  </a:lnTo>
                  <a:lnTo>
                    <a:pt x="7071360" y="6470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57383" y="4339847"/>
            <a:ext cx="5328923" cy="830075"/>
            <a:chOff x="0" y="0"/>
            <a:chExt cx="7105231" cy="11067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0713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05142" cy="1106680"/>
            </a:xfrm>
            <a:custGeom>
              <a:avLst/>
              <a:gdLst/>
              <a:ahLst/>
              <a:cxnLst/>
              <a:rect r="r" b="b" t="t" l="l"/>
              <a:pathLst>
                <a:path h="110668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89787"/>
                  </a:lnTo>
                  <a:cubicBezTo>
                    <a:pt x="7105142" y="1099185"/>
                    <a:pt x="7097522" y="1106678"/>
                    <a:pt x="70882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7088251" y="1072896"/>
                  </a:lnTo>
                  <a:lnTo>
                    <a:pt x="7088251" y="1089787"/>
                  </a:lnTo>
                  <a:lnTo>
                    <a:pt x="7071360" y="1089787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289536" y="4389120"/>
            <a:ext cx="804672" cy="731520"/>
            <a:chOff x="0" y="0"/>
            <a:chExt cx="1072896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72896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130784" y="4389120"/>
            <a:ext cx="3986784" cy="731520"/>
            <a:chOff x="0" y="0"/>
            <a:chExt cx="5315712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31571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 &amp; Prevent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44400" y="5303520"/>
            <a:ext cx="4754880" cy="3657600"/>
            <a:chOff x="0" y="0"/>
            <a:chExt cx="6339840" cy="4876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398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339840" cy="491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Outputs a ranked list of likely future conditions with probability scores and recommended clinical actions — before the next disease appears.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65760" y="9637776"/>
            <a:ext cx="17556480" cy="603504"/>
            <a:chOff x="0" y="0"/>
            <a:chExt cx="2340864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408639" cy="804672"/>
            </a:xfrm>
            <a:custGeom>
              <a:avLst/>
              <a:gdLst/>
              <a:ahLst/>
              <a:cxnLst/>
              <a:rect r="r" b="b" t="t" l="l"/>
              <a:pathLst>
                <a:path h="80467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340864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MediPATH  ·  AI in Health Hackathon 2026  ·  Track 3: Health Data Analytics  ·  Solution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89639"/>
            <a:ext cx="3317243" cy="537467"/>
            <a:chOff x="0" y="0"/>
            <a:chExt cx="4422991" cy="71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402336"/>
            <a:ext cx="3291840" cy="512064"/>
            <a:chOff x="0" y="0"/>
            <a:chExt cx="4389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60704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4332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Flowchart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28167"/>
            <a:ext cx="2988059" cy="1671323"/>
            <a:chOff x="0" y="0"/>
            <a:chExt cx="3984079" cy="22284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39502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83990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83990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2211451"/>
                  </a:lnTo>
                  <a:cubicBezTo>
                    <a:pt x="3983990" y="2220849"/>
                    <a:pt x="3976370" y="2228342"/>
                    <a:pt x="396709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67099" y="2194560"/>
                  </a:lnTo>
                  <a:lnTo>
                    <a:pt x="3967099" y="2211451"/>
                  </a:lnTo>
                  <a:lnTo>
                    <a:pt x="3950208" y="22114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1792" y="2414016"/>
            <a:ext cx="2743200" cy="914400"/>
            <a:chOff x="0" y="0"/>
            <a:chExt cx="36576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657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Patient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Input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1792" y="3328416"/>
            <a:ext cx="2743200" cy="603504"/>
            <a:chOff x="0" y="0"/>
            <a:chExt cx="3657600" cy="80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804672"/>
            </a:xfrm>
            <a:custGeom>
              <a:avLst/>
              <a:gdLst/>
              <a:ahLst/>
              <a:cxnLst/>
              <a:rect r="r" b="b" t="t" l="l"/>
              <a:pathLst>
                <a:path h="8046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657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 enters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key diseases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55670" y="3144774"/>
            <a:ext cx="586740" cy="38100"/>
            <a:chOff x="0" y="0"/>
            <a:chExt cx="78232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791207" y="3041399"/>
            <a:ext cx="244859" cy="244859"/>
            <a:chOff x="0" y="0"/>
            <a:chExt cx="326479" cy="3264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3415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6390" cy="326392"/>
            </a:xfrm>
            <a:custGeom>
              <a:avLst/>
              <a:gdLst/>
              <a:ahLst/>
              <a:cxnLst/>
              <a:rect r="r" b="b" t="t" l="l"/>
              <a:pathLst>
                <a:path h="32639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09499"/>
                  </a:lnTo>
                  <a:cubicBezTo>
                    <a:pt x="326390" y="318897"/>
                    <a:pt x="318770" y="326390"/>
                    <a:pt x="30949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09499" y="292608"/>
                  </a:lnTo>
                  <a:lnTo>
                    <a:pt x="309499" y="309499"/>
                  </a:lnTo>
                  <a:lnTo>
                    <a:pt x="292608" y="30949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010663" y="2328167"/>
            <a:ext cx="2988059" cy="1671323"/>
            <a:chOff x="0" y="0"/>
            <a:chExt cx="3984079" cy="22284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39502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83990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83990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2211451"/>
                  </a:lnTo>
                  <a:cubicBezTo>
                    <a:pt x="3983990" y="2220849"/>
                    <a:pt x="3976370" y="2228342"/>
                    <a:pt x="396709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67099" y="2194560"/>
                  </a:lnTo>
                  <a:lnTo>
                    <a:pt x="3967099" y="2211451"/>
                  </a:lnTo>
                  <a:lnTo>
                    <a:pt x="3950208" y="22114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133088" y="2414016"/>
            <a:ext cx="2743200" cy="914400"/>
            <a:chOff x="0" y="0"/>
            <a:chExt cx="365760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657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Pattern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133088" y="3328416"/>
            <a:ext cx="2743200" cy="603504"/>
            <a:chOff x="0" y="0"/>
            <a:chExt cx="3657600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804672"/>
            </a:xfrm>
            <a:custGeom>
              <a:avLst/>
              <a:gdLst/>
              <a:ahLst/>
              <a:cxnLst/>
              <a:rect r="r" b="b" t="t" l="l"/>
              <a:pathLst>
                <a:path h="8046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657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compares vs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data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66966" y="3144774"/>
            <a:ext cx="586740" cy="38100"/>
            <a:chOff x="0" y="0"/>
            <a:chExt cx="782320" cy="50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302503" y="3041399"/>
            <a:ext cx="244859" cy="244859"/>
            <a:chOff x="0" y="0"/>
            <a:chExt cx="326479" cy="32647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34155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6390" cy="326392"/>
            </a:xfrm>
            <a:custGeom>
              <a:avLst/>
              <a:gdLst/>
              <a:ahLst/>
              <a:cxnLst/>
              <a:rect r="r" b="b" t="t" l="l"/>
              <a:pathLst>
                <a:path h="32639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09499"/>
                  </a:lnTo>
                  <a:cubicBezTo>
                    <a:pt x="326390" y="318897"/>
                    <a:pt x="318770" y="326390"/>
                    <a:pt x="30949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09499" y="292608"/>
                  </a:lnTo>
                  <a:lnTo>
                    <a:pt x="309499" y="309499"/>
                  </a:lnTo>
                  <a:lnTo>
                    <a:pt x="292608" y="30949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521959" y="2328167"/>
            <a:ext cx="2988059" cy="1671323"/>
            <a:chOff x="0" y="0"/>
            <a:chExt cx="3984079" cy="22284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39502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83990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83990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2211451"/>
                  </a:lnTo>
                  <a:cubicBezTo>
                    <a:pt x="3983990" y="2220849"/>
                    <a:pt x="3976370" y="2228342"/>
                    <a:pt x="396709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67099" y="2194560"/>
                  </a:lnTo>
                  <a:lnTo>
                    <a:pt x="3967099" y="2211451"/>
                  </a:lnTo>
                  <a:lnTo>
                    <a:pt x="3950208" y="22114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44384" y="2414016"/>
            <a:ext cx="2743200" cy="914400"/>
            <a:chOff x="0" y="0"/>
            <a:chExt cx="365760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657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Decision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Gate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644384" y="3328416"/>
            <a:ext cx="2743200" cy="603504"/>
            <a:chOff x="0" y="0"/>
            <a:chExt cx="3657600" cy="804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804672"/>
            </a:xfrm>
            <a:custGeom>
              <a:avLst/>
              <a:gdLst/>
              <a:ahLst/>
              <a:cxnLst/>
              <a:rect r="r" b="b" t="t" l="l"/>
              <a:pathLst>
                <a:path h="8046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657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EF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≥4/5 match?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EF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confidence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78262" y="3144774"/>
            <a:ext cx="586740" cy="38100"/>
            <a:chOff x="0" y="0"/>
            <a:chExt cx="782320" cy="50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813799" y="3041399"/>
            <a:ext cx="244859" cy="244859"/>
            <a:chOff x="0" y="0"/>
            <a:chExt cx="326479" cy="3264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34155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6390" cy="326392"/>
            </a:xfrm>
            <a:custGeom>
              <a:avLst/>
              <a:gdLst/>
              <a:ahLst/>
              <a:cxnLst/>
              <a:rect r="r" b="b" t="t" l="l"/>
              <a:pathLst>
                <a:path h="32639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09499"/>
                  </a:lnTo>
                  <a:cubicBezTo>
                    <a:pt x="326390" y="318897"/>
                    <a:pt x="318770" y="326390"/>
                    <a:pt x="30949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09499" y="292608"/>
                  </a:lnTo>
                  <a:lnTo>
                    <a:pt x="309499" y="309499"/>
                  </a:lnTo>
                  <a:lnTo>
                    <a:pt x="292608" y="30949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033255" y="2328167"/>
            <a:ext cx="2988059" cy="1671323"/>
            <a:chOff x="0" y="0"/>
            <a:chExt cx="3984079" cy="22284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39502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83990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83990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2211451"/>
                  </a:lnTo>
                  <a:cubicBezTo>
                    <a:pt x="3983990" y="2220849"/>
                    <a:pt x="3976370" y="2228342"/>
                    <a:pt x="396709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67099" y="2194560"/>
                  </a:lnTo>
                  <a:lnTo>
                    <a:pt x="3967099" y="2211451"/>
                  </a:lnTo>
                  <a:lnTo>
                    <a:pt x="3950208" y="22114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155680" y="2414016"/>
            <a:ext cx="2743200" cy="914400"/>
            <a:chOff x="0" y="0"/>
            <a:chExt cx="365760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3657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Context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155680" y="3328416"/>
            <a:ext cx="2743200" cy="603504"/>
            <a:chOff x="0" y="0"/>
            <a:chExt cx="3657600" cy="8046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804672"/>
            </a:xfrm>
            <a:custGeom>
              <a:avLst/>
              <a:gdLst/>
              <a:ahLst/>
              <a:cxnLst/>
              <a:rect r="r" b="b" t="t" l="l"/>
              <a:pathLst>
                <a:path h="8046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657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 · Family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Lifestyle · BMI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989558" y="3144774"/>
            <a:ext cx="586740" cy="38100"/>
            <a:chOff x="0" y="0"/>
            <a:chExt cx="782320" cy="50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325095" y="3041399"/>
            <a:ext cx="244859" cy="244859"/>
            <a:chOff x="0" y="0"/>
            <a:chExt cx="326479" cy="3264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34155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6390" cy="326392"/>
            </a:xfrm>
            <a:custGeom>
              <a:avLst/>
              <a:gdLst/>
              <a:ahLst/>
              <a:cxnLst/>
              <a:rect r="r" b="b" t="t" l="l"/>
              <a:pathLst>
                <a:path h="32639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309499"/>
                  </a:lnTo>
                  <a:cubicBezTo>
                    <a:pt x="326390" y="318897"/>
                    <a:pt x="318770" y="326390"/>
                    <a:pt x="30949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09499" y="292608"/>
                  </a:lnTo>
                  <a:lnTo>
                    <a:pt x="309499" y="309499"/>
                  </a:lnTo>
                  <a:lnTo>
                    <a:pt x="292608" y="30949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544551" y="2328167"/>
            <a:ext cx="2988059" cy="1671323"/>
            <a:chOff x="0" y="0"/>
            <a:chExt cx="3984079" cy="22284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3950208" cy="2194560"/>
            </a:xfrm>
            <a:custGeom>
              <a:avLst/>
              <a:gdLst/>
              <a:ahLst/>
              <a:cxnLst/>
              <a:rect r="r" b="b" t="t" l="l"/>
              <a:pathLst>
                <a:path h="2194560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83990" cy="2228342"/>
            </a:xfrm>
            <a:custGeom>
              <a:avLst/>
              <a:gdLst/>
              <a:ahLst/>
              <a:cxnLst/>
              <a:rect r="r" b="b" t="t" l="l"/>
              <a:pathLst>
                <a:path h="2228342" w="3983990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2211451"/>
                  </a:lnTo>
                  <a:cubicBezTo>
                    <a:pt x="3983990" y="2220849"/>
                    <a:pt x="3976370" y="2228342"/>
                    <a:pt x="396709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3967099" y="2194560"/>
                  </a:lnTo>
                  <a:lnTo>
                    <a:pt x="3967099" y="2211451"/>
                  </a:lnTo>
                  <a:lnTo>
                    <a:pt x="3950208" y="22114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666976" y="2414016"/>
            <a:ext cx="2743200" cy="914400"/>
            <a:chOff x="0" y="0"/>
            <a:chExt cx="3657600" cy="1219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3657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Prediction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666976" y="3328416"/>
            <a:ext cx="2743200" cy="603504"/>
            <a:chOff x="0" y="0"/>
            <a:chExt cx="3657600" cy="80467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804672"/>
            </a:xfrm>
            <a:custGeom>
              <a:avLst/>
              <a:gdLst/>
              <a:ahLst/>
              <a:cxnLst/>
              <a:rect r="r" b="b" t="t" l="l"/>
              <a:pathLst>
                <a:path h="8046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6576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scores +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 why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05711" y="4419343"/>
            <a:ext cx="8242297" cy="4950457"/>
            <a:chOff x="0" y="0"/>
            <a:chExt cx="10989729" cy="660060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8509" y="8509"/>
              <a:ext cx="109728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89818" cy="6600699"/>
            </a:xfrm>
            <a:custGeom>
              <a:avLst/>
              <a:gdLst/>
              <a:ahLst/>
              <a:cxnLst/>
              <a:rect r="r" b="b" t="t" l="l"/>
              <a:pathLst>
                <a:path h="6600699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6592189"/>
                  </a:lnTo>
                  <a:cubicBezTo>
                    <a:pt x="10989818" y="6596888"/>
                    <a:pt x="10986008" y="6600699"/>
                    <a:pt x="10981309" y="6600699"/>
                  </a:cubicBezTo>
                  <a:lnTo>
                    <a:pt x="8509" y="6600699"/>
                  </a:lnTo>
                  <a:cubicBezTo>
                    <a:pt x="3810" y="6600699"/>
                    <a:pt x="0" y="6596888"/>
                    <a:pt x="0" y="6592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592189"/>
                  </a:lnTo>
                  <a:lnTo>
                    <a:pt x="8509" y="6592189"/>
                  </a:lnTo>
                  <a:lnTo>
                    <a:pt x="8509" y="6583680"/>
                  </a:lnTo>
                  <a:lnTo>
                    <a:pt x="10981309" y="6583680"/>
                  </a:lnTo>
                  <a:lnTo>
                    <a:pt x="10981309" y="6592189"/>
                  </a:lnTo>
                  <a:lnTo>
                    <a:pt x="10972800" y="659218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94944" y="4535424"/>
            <a:ext cx="7863840" cy="548640"/>
            <a:chOff x="0" y="0"/>
            <a:chExt cx="1048512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485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Chain Disease Progression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55399" y="5254247"/>
            <a:ext cx="1707899" cy="848363"/>
            <a:chOff x="0" y="0"/>
            <a:chExt cx="2277199" cy="11311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77110" cy="1131064"/>
            </a:xfrm>
            <a:custGeom>
              <a:avLst/>
              <a:gdLst/>
              <a:ahLst/>
              <a:cxnLst/>
              <a:rect r="r" b="b" t="t" l="l"/>
              <a:pathLst>
                <a:path h="1131064" w="2277110">
                  <a:moveTo>
                    <a:pt x="16891" y="0"/>
                  </a:moveTo>
                  <a:lnTo>
                    <a:pt x="2260219" y="0"/>
                  </a:lnTo>
                  <a:cubicBezTo>
                    <a:pt x="2269617" y="0"/>
                    <a:pt x="2277110" y="7620"/>
                    <a:pt x="2277110" y="16891"/>
                  </a:cubicBezTo>
                  <a:lnTo>
                    <a:pt x="2277110" y="1114171"/>
                  </a:lnTo>
                  <a:cubicBezTo>
                    <a:pt x="2277110" y="1123569"/>
                    <a:pt x="2269490" y="1131062"/>
                    <a:pt x="226021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260219" y="1097280"/>
                  </a:lnTo>
                  <a:lnTo>
                    <a:pt x="2260219" y="1114171"/>
                  </a:lnTo>
                  <a:lnTo>
                    <a:pt x="2243328" y="1114171"/>
                  </a:lnTo>
                  <a:lnTo>
                    <a:pt x="2243328" y="16891"/>
                  </a:lnTo>
                  <a:lnTo>
                    <a:pt x="2260219" y="16891"/>
                  </a:lnTo>
                  <a:lnTo>
                    <a:pt x="2260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68096" y="5266944"/>
            <a:ext cx="1682496" cy="822960"/>
            <a:chOff x="0" y="0"/>
            <a:chExt cx="2243328" cy="10972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57" t="0" r="-12757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24332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Hypertension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712215" y="5254247"/>
            <a:ext cx="1707899" cy="848363"/>
            <a:chOff x="0" y="0"/>
            <a:chExt cx="2277199" cy="11311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77110" cy="1131064"/>
            </a:xfrm>
            <a:custGeom>
              <a:avLst/>
              <a:gdLst/>
              <a:ahLst/>
              <a:cxnLst/>
              <a:rect r="r" b="b" t="t" l="l"/>
              <a:pathLst>
                <a:path h="1131064" w="2277110">
                  <a:moveTo>
                    <a:pt x="16891" y="0"/>
                  </a:moveTo>
                  <a:lnTo>
                    <a:pt x="2260219" y="0"/>
                  </a:lnTo>
                  <a:cubicBezTo>
                    <a:pt x="2269617" y="0"/>
                    <a:pt x="2277110" y="7620"/>
                    <a:pt x="2277110" y="16891"/>
                  </a:cubicBezTo>
                  <a:lnTo>
                    <a:pt x="2277110" y="1114171"/>
                  </a:lnTo>
                  <a:cubicBezTo>
                    <a:pt x="2277110" y="1123569"/>
                    <a:pt x="2269490" y="1131062"/>
                    <a:pt x="226021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260219" y="1097280"/>
                  </a:lnTo>
                  <a:lnTo>
                    <a:pt x="2260219" y="1114171"/>
                  </a:lnTo>
                  <a:lnTo>
                    <a:pt x="2243328" y="1114171"/>
                  </a:lnTo>
                  <a:lnTo>
                    <a:pt x="2243328" y="16891"/>
                  </a:lnTo>
                  <a:lnTo>
                    <a:pt x="2260219" y="16891"/>
                  </a:lnTo>
                  <a:lnTo>
                    <a:pt x="2260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724912" y="5266944"/>
            <a:ext cx="1682496" cy="822960"/>
            <a:chOff x="0" y="0"/>
            <a:chExt cx="2243328" cy="109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57" t="0" r="-12757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24332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450592" y="6181344"/>
            <a:ext cx="1682496" cy="457200"/>
            <a:chOff x="0" y="0"/>
            <a:chExt cx="2243328" cy="609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43328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04" r="0" b="-2170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24332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61%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669031" y="5254247"/>
            <a:ext cx="1707899" cy="848363"/>
            <a:chOff x="0" y="0"/>
            <a:chExt cx="2277199" cy="113115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77110" cy="1131064"/>
            </a:xfrm>
            <a:custGeom>
              <a:avLst/>
              <a:gdLst/>
              <a:ahLst/>
              <a:cxnLst/>
              <a:rect r="r" b="b" t="t" l="l"/>
              <a:pathLst>
                <a:path h="1131064" w="2277110">
                  <a:moveTo>
                    <a:pt x="16891" y="0"/>
                  </a:moveTo>
                  <a:lnTo>
                    <a:pt x="2260219" y="0"/>
                  </a:lnTo>
                  <a:cubicBezTo>
                    <a:pt x="2269617" y="0"/>
                    <a:pt x="2277110" y="7620"/>
                    <a:pt x="2277110" y="16891"/>
                  </a:cubicBezTo>
                  <a:lnTo>
                    <a:pt x="2277110" y="1114171"/>
                  </a:lnTo>
                  <a:cubicBezTo>
                    <a:pt x="2277110" y="1123569"/>
                    <a:pt x="2269490" y="1131062"/>
                    <a:pt x="226021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260219" y="1097280"/>
                  </a:lnTo>
                  <a:lnTo>
                    <a:pt x="2260219" y="1114171"/>
                  </a:lnTo>
                  <a:lnTo>
                    <a:pt x="2243328" y="1114171"/>
                  </a:lnTo>
                  <a:lnTo>
                    <a:pt x="2243328" y="16891"/>
                  </a:lnTo>
                  <a:lnTo>
                    <a:pt x="2260219" y="16891"/>
                  </a:lnTo>
                  <a:lnTo>
                    <a:pt x="2260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681728" y="5266944"/>
            <a:ext cx="1682496" cy="822960"/>
            <a:chOff x="0" y="0"/>
            <a:chExt cx="2243328" cy="10972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57" t="0" r="-12757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224332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Kidney Dis.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4407408" y="6181344"/>
            <a:ext cx="1682496" cy="457200"/>
            <a:chOff x="0" y="0"/>
            <a:chExt cx="2243328" cy="6096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43328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04" r="0" b="-2170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24332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48%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625847" y="5254247"/>
            <a:ext cx="1707899" cy="848363"/>
            <a:chOff x="0" y="0"/>
            <a:chExt cx="2277199" cy="113115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77110" cy="1131064"/>
            </a:xfrm>
            <a:custGeom>
              <a:avLst/>
              <a:gdLst/>
              <a:ahLst/>
              <a:cxnLst/>
              <a:rect r="r" b="b" t="t" l="l"/>
              <a:pathLst>
                <a:path h="1131064" w="2277110">
                  <a:moveTo>
                    <a:pt x="16891" y="0"/>
                  </a:moveTo>
                  <a:lnTo>
                    <a:pt x="2260219" y="0"/>
                  </a:lnTo>
                  <a:cubicBezTo>
                    <a:pt x="2269617" y="0"/>
                    <a:pt x="2277110" y="7620"/>
                    <a:pt x="2277110" y="16891"/>
                  </a:cubicBezTo>
                  <a:lnTo>
                    <a:pt x="2277110" y="1114171"/>
                  </a:lnTo>
                  <a:cubicBezTo>
                    <a:pt x="2277110" y="1123569"/>
                    <a:pt x="2269490" y="1131062"/>
                    <a:pt x="226021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2260219" y="1097280"/>
                  </a:lnTo>
                  <a:lnTo>
                    <a:pt x="2260219" y="1114171"/>
                  </a:lnTo>
                  <a:lnTo>
                    <a:pt x="2243328" y="1114171"/>
                  </a:lnTo>
                  <a:lnTo>
                    <a:pt x="2243328" y="16891"/>
                  </a:lnTo>
                  <a:lnTo>
                    <a:pt x="2260219" y="16891"/>
                  </a:lnTo>
                  <a:lnTo>
                    <a:pt x="2260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638544" y="5266944"/>
            <a:ext cx="1682496" cy="822960"/>
            <a:chOff x="0" y="0"/>
            <a:chExt cx="2243328" cy="10972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433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57" t="0" r="-12757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243328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Dialysis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364224" y="6181344"/>
            <a:ext cx="1682496" cy="457200"/>
            <a:chOff x="0" y="0"/>
            <a:chExt cx="2243328" cy="6096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43328" cy="609600"/>
            </a:xfrm>
            <a:custGeom>
              <a:avLst/>
              <a:gdLst/>
              <a:ahLst/>
              <a:cxnLst/>
              <a:rect r="r" b="b" t="t" l="l"/>
              <a:pathLst>
                <a:path h="609600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04" r="0" b="-2170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24332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34%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768096" y="6803136"/>
            <a:ext cx="7717536" cy="1554480"/>
            <a:chOff x="0" y="0"/>
            <a:chExt cx="10290048" cy="2072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29004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37" r="0" b="-4673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0290048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341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arrow represents the transition probability from one disease state to the next, learned from 10–15 years of longitudinal patient records.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046207" y="4419343"/>
            <a:ext cx="8644633" cy="4950457"/>
            <a:chOff x="0" y="0"/>
            <a:chExt cx="11526177" cy="660060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8509" y="8509"/>
              <a:ext cx="1150924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526265" cy="6600699"/>
            </a:xfrm>
            <a:custGeom>
              <a:avLst/>
              <a:gdLst/>
              <a:ahLst/>
              <a:cxnLst/>
              <a:rect r="r" b="b" t="t" l="l"/>
              <a:pathLst>
                <a:path h="6600699" w="11526265">
                  <a:moveTo>
                    <a:pt x="8509" y="0"/>
                  </a:moveTo>
                  <a:lnTo>
                    <a:pt x="11517757" y="0"/>
                  </a:lnTo>
                  <a:cubicBezTo>
                    <a:pt x="11522456" y="0"/>
                    <a:pt x="11526265" y="3810"/>
                    <a:pt x="11526265" y="8509"/>
                  </a:cubicBezTo>
                  <a:lnTo>
                    <a:pt x="11526265" y="6592189"/>
                  </a:lnTo>
                  <a:cubicBezTo>
                    <a:pt x="11526265" y="6596888"/>
                    <a:pt x="11522456" y="6600699"/>
                    <a:pt x="11517757" y="6600699"/>
                  </a:cubicBezTo>
                  <a:lnTo>
                    <a:pt x="8509" y="6600699"/>
                  </a:lnTo>
                  <a:cubicBezTo>
                    <a:pt x="3810" y="6600699"/>
                    <a:pt x="0" y="6596888"/>
                    <a:pt x="0" y="6592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592189"/>
                  </a:lnTo>
                  <a:lnTo>
                    <a:pt x="8509" y="6592189"/>
                  </a:lnTo>
                  <a:lnTo>
                    <a:pt x="8509" y="6583680"/>
                  </a:lnTo>
                  <a:lnTo>
                    <a:pt x="11517757" y="6583680"/>
                  </a:lnTo>
                  <a:lnTo>
                    <a:pt x="11517757" y="6592189"/>
                  </a:lnTo>
                  <a:lnTo>
                    <a:pt x="11509248" y="6592189"/>
                  </a:lnTo>
                  <a:lnTo>
                    <a:pt x="11509248" y="8509"/>
                  </a:lnTo>
                  <a:lnTo>
                    <a:pt x="11517757" y="8509"/>
                  </a:lnTo>
                  <a:lnTo>
                    <a:pt x="115177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235440" y="4535424"/>
            <a:ext cx="8266176" cy="548640"/>
            <a:chOff x="0" y="0"/>
            <a:chExt cx="11021568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1021568" cy="731520"/>
            </a:xfrm>
            <a:custGeom>
              <a:avLst/>
              <a:gdLst/>
              <a:ahLst/>
              <a:cxnLst/>
              <a:rect r="r" b="b" t="t" l="l"/>
              <a:pathLst>
                <a:path h="731520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1102156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Contextual Fallback (when match &lt; 4/5)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314183" y="5254247"/>
            <a:ext cx="720347" cy="720347"/>
            <a:chOff x="0" y="0"/>
            <a:chExt cx="960463" cy="96046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326880" y="5266944"/>
            <a:ext cx="694944" cy="694944"/>
            <a:chOff x="0" y="0"/>
            <a:chExt cx="926592" cy="92659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🌍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131552" y="5266944"/>
            <a:ext cx="3108960" cy="402336"/>
            <a:chOff x="0" y="0"/>
            <a:chExt cx="4145280" cy="5364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145280" cy="536448"/>
            </a:xfrm>
            <a:custGeom>
              <a:avLst/>
              <a:gdLst/>
              <a:ahLst/>
              <a:cxnLst/>
              <a:rect r="r" b="b" t="t" l="l"/>
              <a:pathLst>
                <a:path h="53644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4145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0131552" y="5669280"/>
            <a:ext cx="3108960" cy="329184"/>
            <a:chOff x="0" y="0"/>
            <a:chExt cx="4145280" cy="43891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41452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Region, climate, pollution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3483847" y="5254247"/>
            <a:ext cx="720347" cy="720347"/>
            <a:chOff x="0" y="0"/>
            <a:chExt cx="960463" cy="960463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3496544" y="5266944"/>
            <a:ext cx="694944" cy="694944"/>
            <a:chOff x="0" y="0"/>
            <a:chExt cx="926592" cy="92659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🧬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4301216" y="5266944"/>
            <a:ext cx="3108960" cy="402336"/>
            <a:chOff x="0" y="0"/>
            <a:chExt cx="4145280" cy="53644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145280" cy="536448"/>
            </a:xfrm>
            <a:custGeom>
              <a:avLst/>
              <a:gdLst/>
              <a:ahLst/>
              <a:cxnLst/>
              <a:rect r="r" b="b" t="t" l="l"/>
              <a:pathLst>
                <a:path h="53644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4145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Family History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4301216" y="5669280"/>
            <a:ext cx="3108960" cy="329184"/>
            <a:chOff x="0" y="0"/>
            <a:chExt cx="4145280" cy="43891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28575"/>
              <a:ext cx="41452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Hereditary conditions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314183" y="7083047"/>
            <a:ext cx="720347" cy="720347"/>
            <a:chOff x="0" y="0"/>
            <a:chExt cx="960463" cy="960463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326880" y="7095744"/>
            <a:ext cx="694944" cy="694944"/>
            <a:chOff x="0" y="0"/>
            <a:chExt cx="926592" cy="92659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🏃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0131552" y="7095744"/>
            <a:ext cx="3108960" cy="402336"/>
            <a:chOff x="0" y="0"/>
            <a:chExt cx="4145280" cy="53644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145280" cy="536448"/>
            </a:xfrm>
            <a:custGeom>
              <a:avLst/>
              <a:gdLst/>
              <a:ahLst/>
              <a:cxnLst/>
              <a:rect r="r" b="b" t="t" l="l"/>
              <a:pathLst>
                <a:path h="53644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4145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Lifestyle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0131552" y="7498080"/>
            <a:ext cx="3108960" cy="329184"/>
            <a:chOff x="0" y="0"/>
            <a:chExt cx="4145280" cy="43891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28575"/>
              <a:ext cx="41452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Diet, smoking, exercise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483847" y="7083047"/>
            <a:ext cx="720347" cy="720347"/>
            <a:chOff x="0" y="0"/>
            <a:chExt cx="960463" cy="960463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496544" y="7095744"/>
            <a:ext cx="694944" cy="694944"/>
            <a:chOff x="0" y="0"/>
            <a:chExt cx="926592" cy="9265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4301216" y="7095744"/>
            <a:ext cx="3108960" cy="402336"/>
            <a:chOff x="0" y="0"/>
            <a:chExt cx="4145280" cy="5364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4145280" cy="536448"/>
            </a:xfrm>
            <a:custGeom>
              <a:avLst/>
              <a:gdLst/>
              <a:ahLst/>
              <a:cxnLst/>
              <a:rect r="r" b="b" t="t" l="l"/>
              <a:pathLst>
                <a:path h="53644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4145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Demographics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4301216" y="7498080"/>
            <a:ext cx="3108960" cy="329184"/>
            <a:chOff x="0" y="0"/>
            <a:chExt cx="4145280" cy="43891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28575"/>
              <a:ext cx="414528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Age, gender, BMI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365760" y="9637776"/>
            <a:ext cx="17556480" cy="603504"/>
            <a:chOff x="0" y="0"/>
            <a:chExt cx="23408640" cy="804672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3408639" cy="804672"/>
            </a:xfrm>
            <a:custGeom>
              <a:avLst/>
              <a:gdLst/>
              <a:ahLst/>
              <a:cxnLst/>
              <a:rect r="r" b="b" t="t" l="l"/>
              <a:pathLst>
                <a:path h="80467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28575"/>
              <a:ext cx="2340864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MediPATH  ·  AI in Health Hackathon 2026  ·  Track 3: Health Data Analytics  ·  How It Works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89639"/>
            <a:ext cx="3317243" cy="537467"/>
            <a:chOff x="0" y="0"/>
            <a:chExt cx="4422991" cy="71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402336"/>
            <a:ext cx="3291840" cy="512064"/>
            <a:chOff x="0" y="0"/>
            <a:chExt cx="4389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60704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4332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Three-Layer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328167"/>
            <a:ext cx="5603243" cy="793499"/>
            <a:chOff x="0" y="0"/>
            <a:chExt cx="747099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70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041019"/>
                  </a:lnTo>
                  <a:cubicBezTo>
                    <a:pt x="7470901" y="1050417"/>
                    <a:pt x="7463282" y="1057910"/>
                    <a:pt x="7454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454011" y="1024128"/>
                  </a:lnTo>
                  <a:lnTo>
                    <a:pt x="7454011" y="1041019"/>
                  </a:lnTo>
                  <a:lnTo>
                    <a:pt x="7437120" y="104101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340864"/>
            <a:ext cx="5577840" cy="768096"/>
            <a:chOff x="0" y="0"/>
            <a:chExt cx="743712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437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Layer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2287" y="3139183"/>
            <a:ext cx="5590537" cy="4950457"/>
            <a:chOff x="0" y="0"/>
            <a:chExt cx="7454049" cy="66006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7437119" cy="6583680"/>
            </a:xfrm>
            <a:custGeom>
              <a:avLst/>
              <a:gdLst/>
              <a:ahLst/>
              <a:cxnLst/>
              <a:rect r="r" b="b" t="t" l="l"/>
              <a:pathLst>
                <a:path h="658368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54138" cy="6600699"/>
            </a:xfrm>
            <a:custGeom>
              <a:avLst/>
              <a:gdLst/>
              <a:ahLst/>
              <a:cxnLst/>
              <a:rect r="r" b="b" t="t" l="l"/>
              <a:pathLst>
                <a:path h="6600699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6592189"/>
                  </a:lnTo>
                  <a:cubicBezTo>
                    <a:pt x="7454138" y="6596888"/>
                    <a:pt x="7450327" y="6600699"/>
                    <a:pt x="7445628" y="6600699"/>
                  </a:cubicBezTo>
                  <a:lnTo>
                    <a:pt x="8509" y="6600699"/>
                  </a:lnTo>
                  <a:cubicBezTo>
                    <a:pt x="3810" y="6600699"/>
                    <a:pt x="0" y="6596888"/>
                    <a:pt x="0" y="6592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592189"/>
                  </a:lnTo>
                  <a:lnTo>
                    <a:pt x="8509" y="6592189"/>
                  </a:lnTo>
                  <a:lnTo>
                    <a:pt x="8509" y="6583680"/>
                  </a:lnTo>
                  <a:lnTo>
                    <a:pt x="7445628" y="6583680"/>
                  </a:lnTo>
                  <a:lnTo>
                    <a:pt x="7445628" y="6592189"/>
                  </a:lnTo>
                  <a:lnTo>
                    <a:pt x="7437120" y="659218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5399" y="3315719"/>
            <a:ext cx="171707" cy="537467"/>
            <a:chOff x="0" y="0"/>
            <a:chExt cx="228943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4128" y="3328416"/>
            <a:ext cx="4846320" cy="512064"/>
            <a:chOff x="0" y="0"/>
            <a:chExt cx="646176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EHR Records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5399" y="4193543"/>
            <a:ext cx="171707" cy="537467"/>
            <a:chOff x="0" y="0"/>
            <a:chExt cx="228943" cy="7166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4128" y="4206240"/>
            <a:ext cx="4846320" cy="512064"/>
            <a:chOff x="0" y="0"/>
            <a:chExt cx="646176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 Results Database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5399" y="5071367"/>
            <a:ext cx="171707" cy="537467"/>
            <a:chOff x="0" y="0"/>
            <a:chExt cx="228943" cy="7166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4128" y="5084064"/>
            <a:ext cx="4846320" cy="512064"/>
            <a:chOff x="0" y="0"/>
            <a:chExt cx="646176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 Clinical Records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5399" y="5949191"/>
            <a:ext cx="171707" cy="537467"/>
            <a:chOff x="0" y="0"/>
            <a:chExt cx="228943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24128" y="5961888"/>
            <a:ext cx="4846320" cy="512064"/>
            <a:chOff x="0" y="0"/>
            <a:chExt cx="646176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Medication History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5399" y="6827015"/>
            <a:ext cx="171707" cy="537467"/>
            <a:chOff x="0" y="0"/>
            <a:chExt cx="228943" cy="7166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24128" y="6839712"/>
            <a:ext cx="4846320" cy="512064"/>
            <a:chOff x="0" y="0"/>
            <a:chExt cx="646176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Symptom Logs &amp; Intake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101077" y="5589013"/>
            <a:ext cx="965197" cy="50797"/>
            <a:chOff x="0" y="0"/>
            <a:chExt cx="1286929" cy="6772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3909" y="0"/>
              <a:ext cx="1219200" cy="67691"/>
            </a:xfrm>
            <a:custGeom>
              <a:avLst/>
              <a:gdLst/>
              <a:ahLst/>
              <a:cxnLst/>
              <a:rect r="r" b="b" t="t" l="l"/>
              <a:pathLst>
                <a:path h="67691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772151" y="5491991"/>
            <a:ext cx="281435" cy="244859"/>
            <a:chOff x="0" y="0"/>
            <a:chExt cx="375247" cy="32647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341376" cy="292608"/>
            </a:xfrm>
            <a:custGeom>
              <a:avLst/>
              <a:gdLst/>
              <a:ahLst/>
              <a:cxnLst/>
              <a:rect r="r" b="b" t="t" l="l"/>
              <a:pathLst>
                <a:path h="29260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5158" cy="326392"/>
            </a:xfrm>
            <a:custGeom>
              <a:avLst/>
              <a:gdLst/>
              <a:ahLst/>
              <a:cxnLst/>
              <a:rect r="r" b="b" t="t" l="l"/>
              <a:pathLst>
                <a:path h="32639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309499"/>
                  </a:lnTo>
                  <a:cubicBezTo>
                    <a:pt x="375158" y="318897"/>
                    <a:pt x="367538" y="326390"/>
                    <a:pt x="35826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58267" y="292608"/>
                  </a:lnTo>
                  <a:lnTo>
                    <a:pt x="358267" y="309499"/>
                  </a:lnTo>
                  <a:lnTo>
                    <a:pt x="341376" y="30949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479543" y="2328167"/>
            <a:ext cx="5603243" cy="793499"/>
            <a:chOff x="0" y="0"/>
            <a:chExt cx="7470991" cy="10579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470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041019"/>
                  </a:lnTo>
                  <a:cubicBezTo>
                    <a:pt x="7470901" y="1050417"/>
                    <a:pt x="7463282" y="1057910"/>
                    <a:pt x="7454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454011" y="1024128"/>
                  </a:lnTo>
                  <a:lnTo>
                    <a:pt x="7454011" y="1041019"/>
                  </a:lnTo>
                  <a:lnTo>
                    <a:pt x="7437120" y="104101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492240" y="2340864"/>
            <a:ext cx="5577840" cy="768096"/>
            <a:chOff x="0" y="0"/>
            <a:chExt cx="743712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437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 Layer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485887" y="3139183"/>
            <a:ext cx="5590537" cy="4950457"/>
            <a:chOff x="0" y="0"/>
            <a:chExt cx="7454049" cy="66006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7437119" cy="6583680"/>
            </a:xfrm>
            <a:custGeom>
              <a:avLst/>
              <a:gdLst/>
              <a:ahLst/>
              <a:cxnLst/>
              <a:rect r="r" b="b" t="t" l="l"/>
              <a:pathLst>
                <a:path h="658368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454138" cy="6600699"/>
            </a:xfrm>
            <a:custGeom>
              <a:avLst/>
              <a:gdLst/>
              <a:ahLst/>
              <a:cxnLst/>
              <a:rect r="r" b="b" t="t" l="l"/>
              <a:pathLst>
                <a:path h="6600699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6592189"/>
                  </a:lnTo>
                  <a:cubicBezTo>
                    <a:pt x="7454138" y="6596888"/>
                    <a:pt x="7450327" y="6600699"/>
                    <a:pt x="7445628" y="6600699"/>
                  </a:cubicBezTo>
                  <a:lnTo>
                    <a:pt x="8509" y="6600699"/>
                  </a:lnTo>
                  <a:cubicBezTo>
                    <a:pt x="3810" y="6600699"/>
                    <a:pt x="0" y="6596888"/>
                    <a:pt x="0" y="6592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592189"/>
                  </a:lnTo>
                  <a:lnTo>
                    <a:pt x="8509" y="6592189"/>
                  </a:lnTo>
                  <a:lnTo>
                    <a:pt x="8509" y="6583680"/>
                  </a:lnTo>
                  <a:lnTo>
                    <a:pt x="7445628" y="6583680"/>
                  </a:lnTo>
                  <a:lnTo>
                    <a:pt x="7445628" y="6592189"/>
                  </a:lnTo>
                  <a:lnTo>
                    <a:pt x="7437120" y="659218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698999" y="3315719"/>
            <a:ext cx="171707" cy="537467"/>
            <a:chOff x="0" y="0"/>
            <a:chExt cx="228943" cy="71662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967728" y="3328416"/>
            <a:ext cx="4846320" cy="512064"/>
            <a:chOff x="0" y="0"/>
            <a:chExt cx="646176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Cleaning Module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98999" y="4193543"/>
            <a:ext cx="171707" cy="537467"/>
            <a:chOff x="0" y="0"/>
            <a:chExt cx="228943" cy="71662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967728" y="4206240"/>
            <a:ext cx="4846320" cy="512064"/>
            <a:chOff x="0" y="0"/>
            <a:chExt cx="6461760" cy="6827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Extraction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698999" y="5071367"/>
            <a:ext cx="171707" cy="537467"/>
            <a:chOff x="0" y="0"/>
            <a:chExt cx="228943" cy="71662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967728" y="5084064"/>
            <a:ext cx="4846320" cy="512064"/>
            <a:chOff x="0" y="0"/>
            <a:chExt cx="646176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Markov Chain Builder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698999" y="5949191"/>
            <a:ext cx="171707" cy="537467"/>
            <a:chOff x="0" y="0"/>
            <a:chExt cx="228943" cy="71662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967728" y="5961888"/>
            <a:ext cx="4846320" cy="512064"/>
            <a:chOff x="0" y="0"/>
            <a:chExt cx="646176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Training Pipeline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698999" y="6827015"/>
            <a:ext cx="171707" cy="537467"/>
            <a:chOff x="0" y="0"/>
            <a:chExt cx="228943" cy="71662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967728" y="6839712"/>
            <a:ext cx="4846320" cy="512064"/>
            <a:chOff x="0" y="0"/>
            <a:chExt cx="646176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Recognition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044677" y="5589013"/>
            <a:ext cx="965197" cy="50797"/>
            <a:chOff x="0" y="0"/>
            <a:chExt cx="1286929" cy="6772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33909" y="0"/>
              <a:ext cx="1219200" cy="67691"/>
            </a:xfrm>
            <a:custGeom>
              <a:avLst/>
              <a:gdLst/>
              <a:ahLst/>
              <a:cxnLst/>
              <a:rect r="r" b="b" t="t" l="l"/>
              <a:pathLst>
                <a:path h="67691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715751" y="5491991"/>
            <a:ext cx="281435" cy="244859"/>
            <a:chOff x="0" y="0"/>
            <a:chExt cx="375247" cy="32647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341376" cy="292608"/>
            </a:xfrm>
            <a:custGeom>
              <a:avLst/>
              <a:gdLst/>
              <a:ahLst/>
              <a:cxnLst/>
              <a:rect r="r" b="b" t="t" l="l"/>
              <a:pathLst>
                <a:path h="29260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75158" cy="326392"/>
            </a:xfrm>
            <a:custGeom>
              <a:avLst/>
              <a:gdLst/>
              <a:ahLst/>
              <a:cxnLst/>
              <a:rect r="r" b="b" t="t" l="l"/>
              <a:pathLst>
                <a:path h="32639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309499"/>
                  </a:lnTo>
                  <a:cubicBezTo>
                    <a:pt x="375158" y="318897"/>
                    <a:pt x="367538" y="326390"/>
                    <a:pt x="35826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358267" y="292608"/>
                  </a:lnTo>
                  <a:lnTo>
                    <a:pt x="358267" y="309499"/>
                  </a:lnTo>
                  <a:lnTo>
                    <a:pt x="341376" y="30949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423143" y="2328167"/>
            <a:ext cx="5603243" cy="793499"/>
            <a:chOff x="0" y="0"/>
            <a:chExt cx="7470991" cy="105799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470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041019"/>
                  </a:lnTo>
                  <a:cubicBezTo>
                    <a:pt x="7470901" y="1050417"/>
                    <a:pt x="7463282" y="1057910"/>
                    <a:pt x="7454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454011" y="1024128"/>
                  </a:lnTo>
                  <a:lnTo>
                    <a:pt x="7454011" y="1041019"/>
                  </a:lnTo>
                  <a:lnTo>
                    <a:pt x="7437120" y="1041019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435840" y="2340864"/>
            <a:ext cx="5577840" cy="768096"/>
            <a:chOff x="0" y="0"/>
            <a:chExt cx="7437120" cy="10241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7437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Layer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429487" y="3139183"/>
            <a:ext cx="5590537" cy="4950457"/>
            <a:chOff x="0" y="0"/>
            <a:chExt cx="7454049" cy="660060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8509" y="8509"/>
              <a:ext cx="7437119" cy="6583680"/>
            </a:xfrm>
            <a:custGeom>
              <a:avLst/>
              <a:gdLst/>
              <a:ahLst/>
              <a:cxnLst/>
              <a:rect r="r" b="b" t="t" l="l"/>
              <a:pathLst>
                <a:path h="658368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454138" cy="6600699"/>
            </a:xfrm>
            <a:custGeom>
              <a:avLst/>
              <a:gdLst/>
              <a:ahLst/>
              <a:cxnLst/>
              <a:rect r="r" b="b" t="t" l="l"/>
              <a:pathLst>
                <a:path h="6600699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6592189"/>
                  </a:lnTo>
                  <a:cubicBezTo>
                    <a:pt x="7454138" y="6596888"/>
                    <a:pt x="7450327" y="6600699"/>
                    <a:pt x="7445628" y="6600699"/>
                  </a:cubicBezTo>
                  <a:lnTo>
                    <a:pt x="8509" y="6600699"/>
                  </a:lnTo>
                  <a:cubicBezTo>
                    <a:pt x="3810" y="6600699"/>
                    <a:pt x="0" y="6596888"/>
                    <a:pt x="0" y="6592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592189"/>
                  </a:lnTo>
                  <a:lnTo>
                    <a:pt x="8509" y="6592189"/>
                  </a:lnTo>
                  <a:lnTo>
                    <a:pt x="8509" y="6583680"/>
                  </a:lnTo>
                  <a:lnTo>
                    <a:pt x="7445628" y="6583680"/>
                  </a:lnTo>
                  <a:lnTo>
                    <a:pt x="7445628" y="6592189"/>
                  </a:lnTo>
                  <a:lnTo>
                    <a:pt x="7437120" y="659218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642599" y="3315719"/>
            <a:ext cx="171707" cy="537467"/>
            <a:chOff x="0" y="0"/>
            <a:chExt cx="228943" cy="71662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911328" y="3328416"/>
            <a:ext cx="4846320" cy="512064"/>
            <a:chOff x="0" y="0"/>
            <a:chExt cx="646176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Score Calculator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642599" y="4193543"/>
            <a:ext cx="171707" cy="537467"/>
            <a:chOff x="0" y="0"/>
            <a:chExt cx="228943" cy="71662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911328" y="4206240"/>
            <a:ext cx="4846320" cy="512064"/>
            <a:chOff x="0" y="0"/>
            <a:chExt cx="6461760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Disease Prediction API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642599" y="5071367"/>
            <a:ext cx="171707" cy="537467"/>
            <a:chOff x="0" y="0"/>
            <a:chExt cx="228943" cy="71662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2911328" y="5084064"/>
            <a:ext cx="4846320" cy="512064"/>
            <a:chOff x="0" y="0"/>
            <a:chExt cx="6461760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 Explainer Module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642599" y="5949191"/>
            <a:ext cx="171707" cy="537467"/>
            <a:chOff x="0" y="0"/>
            <a:chExt cx="228943" cy="71662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911328" y="5961888"/>
            <a:ext cx="4846320" cy="512064"/>
            <a:chOff x="0" y="0"/>
            <a:chExt cx="6461760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 Dashboard UI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642599" y="6827015"/>
            <a:ext cx="171707" cy="537467"/>
            <a:chOff x="0" y="0"/>
            <a:chExt cx="228943" cy="71662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16891" y="16891"/>
              <a:ext cx="195072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28854" cy="716536"/>
            </a:xfrm>
            <a:custGeom>
              <a:avLst/>
              <a:gdLst/>
              <a:ahLst/>
              <a:cxnLst/>
              <a:rect r="r" b="b" t="t" l="l"/>
              <a:pathLst>
                <a:path h="71653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699643"/>
                  </a:lnTo>
                  <a:cubicBezTo>
                    <a:pt x="228854" y="709041"/>
                    <a:pt x="221234" y="716534"/>
                    <a:pt x="211963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11963" y="682752"/>
                  </a:lnTo>
                  <a:lnTo>
                    <a:pt x="211963" y="699643"/>
                  </a:lnTo>
                  <a:lnTo>
                    <a:pt x="195072" y="6996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911328" y="6839712"/>
            <a:ext cx="4846320" cy="512064"/>
            <a:chOff x="0" y="0"/>
            <a:chExt cx="6461760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&amp; Report Engine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542287" y="8308343"/>
            <a:ext cx="17490443" cy="939803"/>
            <a:chOff x="0" y="0"/>
            <a:chExt cx="23320591" cy="1253071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16891" y="16891"/>
              <a:ext cx="2328671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286719">
                  <a:moveTo>
                    <a:pt x="0" y="0"/>
                  </a:moveTo>
                  <a:lnTo>
                    <a:pt x="23286719" y="0"/>
                  </a:lnTo>
                  <a:lnTo>
                    <a:pt x="2328671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332050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3320502">
                  <a:moveTo>
                    <a:pt x="16891" y="0"/>
                  </a:moveTo>
                  <a:lnTo>
                    <a:pt x="23303610" y="0"/>
                  </a:lnTo>
                  <a:cubicBezTo>
                    <a:pt x="23313008" y="0"/>
                    <a:pt x="23320502" y="7620"/>
                    <a:pt x="23320502" y="16891"/>
                  </a:cubicBezTo>
                  <a:lnTo>
                    <a:pt x="23320502" y="1236091"/>
                  </a:lnTo>
                  <a:cubicBezTo>
                    <a:pt x="23320502" y="1245489"/>
                    <a:pt x="23312882" y="1252982"/>
                    <a:pt x="2330361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3303610" y="1219200"/>
                  </a:lnTo>
                  <a:lnTo>
                    <a:pt x="23303610" y="1236091"/>
                  </a:lnTo>
                  <a:lnTo>
                    <a:pt x="23286720" y="1236091"/>
                  </a:lnTo>
                  <a:lnTo>
                    <a:pt x="23286720" y="16891"/>
                  </a:lnTo>
                  <a:lnTo>
                    <a:pt x="23303610" y="16891"/>
                  </a:lnTo>
                  <a:lnTo>
                    <a:pt x="23303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822960" y="8357616"/>
            <a:ext cx="2743200" cy="841248"/>
            <a:chOff x="0" y="0"/>
            <a:chExt cx="3657600" cy="112166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36576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Technologies: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3468367" y="8442703"/>
            <a:ext cx="1658617" cy="616201"/>
            <a:chOff x="0" y="0"/>
            <a:chExt cx="2211489" cy="82160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8509" y="8509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2">
                <a:alpha val="15686"/>
              </a:srgbClr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211578" cy="821690"/>
            </a:xfrm>
            <a:custGeom>
              <a:avLst/>
              <a:gdLst/>
              <a:ahLst/>
              <a:cxnLst/>
              <a:rect r="r" b="b" t="t" l="l"/>
              <a:pathLst>
                <a:path h="821690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813181"/>
                  </a:lnTo>
                  <a:cubicBezTo>
                    <a:pt x="2211578" y="817880"/>
                    <a:pt x="2207768" y="821690"/>
                    <a:pt x="2203069" y="821690"/>
                  </a:cubicBezTo>
                  <a:lnTo>
                    <a:pt x="8509" y="821690"/>
                  </a:lnTo>
                  <a:cubicBezTo>
                    <a:pt x="3810" y="821690"/>
                    <a:pt x="0" y="817880"/>
                    <a:pt x="0" y="8131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13181"/>
                  </a:lnTo>
                  <a:lnTo>
                    <a:pt x="8509" y="813181"/>
                  </a:lnTo>
                  <a:lnTo>
                    <a:pt x="8509" y="804672"/>
                  </a:lnTo>
                  <a:lnTo>
                    <a:pt x="2203069" y="804672"/>
                  </a:lnTo>
                  <a:lnTo>
                    <a:pt x="2203069" y="813181"/>
                  </a:lnTo>
                  <a:lnTo>
                    <a:pt x="2194560" y="813181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3474720" y="8449056"/>
            <a:ext cx="1645920" cy="603504"/>
            <a:chOff x="0" y="0"/>
            <a:chExt cx="2194560" cy="80467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219456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3.x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6139186" y="8476493"/>
            <a:ext cx="1658617" cy="616201"/>
            <a:chOff x="0" y="0"/>
            <a:chExt cx="2211489" cy="82160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8509" y="8509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2">
                <a:alpha val="15686"/>
              </a:srgbClr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211578" cy="821690"/>
            </a:xfrm>
            <a:custGeom>
              <a:avLst/>
              <a:gdLst/>
              <a:ahLst/>
              <a:cxnLst/>
              <a:rect r="r" b="b" t="t" l="l"/>
              <a:pathLst>
                <a:path h="821690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813181"/>
                  </a:lnTo>
                  <a:cubicBezTo>
                    <a:pt x="2211578" y="817880"/>
                    <a:pt x="2207768" y="821690"/>
                    <a:pt x="2203069" y="821690"/>
                  </a:cubicBezTo>
                  <a:lnTo>
                    <a:pt x="8509" y="821690"/>
                  </a:lnTo>
                  <a:cubicBezTo>
                    <a:pt x="3810" y="821690"/>
                    <a:pt x="0" y="817880"/>
                    <a:pt x="0" y="8131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13181"/>
                  </a:lnTo>
                  <a:lnTo>
                    <a:pt x="8509" y="813181"/>
                  </a:lnTo>
                  <a:lnTo>
                    <a:pt x="8509" y="804672"/>
                  </a:lnTo>
                  <a:lnTo>
                    <a:pt x="2203069" y="804672"/>
                  </a:lnTo>
                  <a:lnTo>
                    <a:pt x="2203069" y="813181"/>
                  </a:lnTo>
                  <a:lnTo>
                    <a:pt x="2194560" y="813181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6230626" y="8449056"/>
            <a:ext cx="1645920" cy="603504"/>
            <a:chOff x="0" y="0"/>
            <a:chExt cx="2194560" cy="804672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219456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TensorFlow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9875515" y="8442703"/>
            <a:ext cx="1658617" cy="616201"/>
            <a:chOff x="0" y="0"/>
            <a:chExt cx="2211489" cy="821601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8509" y="8509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2">
                <a:alpha val="15686"/>
              </a:srgbClr>
            </a:solid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211578" cy="821690"/>
            </a:xfrm>
            <a:custGeom>
              <a:avLst/>
              <a:gdLst/>
              <a:ahLst/>
              <a:cxnLst/>
              <a:rect r="r" b="b" t="t" l="l"/>
              <a:pathLst>
                <a:path h="821690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813181"/>
                  </a:lnTo>
                  <a:cubicBezTo>
                    <a:pt x="2211578" y="817880"/>
                    <a:pt x="2207768" y="821690"/>
                    <a:pt x="2203069" y="821690"/>
                  </a:cubicBezTo>
                  <a:lnTo>
                    <a:pt x="8509" y="821690"/>
                  </a:lnTo>
                  <a:cubicBezTo>
                    <a:pt x="3810" y="821690"/>
                    <a:pt x="0" y="817880"/>
                    <a:pt x="0" y="8131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13181"/>
                  </a:lnTo>
                  <a:lnTo>
                    <a:pt x="8509" y="813181"/>
                  </a:lnTo>
                  <a:lnTo>
                    <a:pt x="8509" y="804672"/>
                  </a:lnTo>
                  <a:lnTo>
                    <a:pt x="2203069" y="804672"/>
                  </a:lnTo>
                  <a:lnTo>
                    <a:pt x="2203069" y="813181"/>
                  </a:lnTo>
                  <a:lnTo>
                    <a:pt x="2194560" y="813181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9875515" y="8476493"/>
            <a:ext cx="1645920" cy="603504"/>
            <a:chOff x="0" y="0"/>
            <a:chExt cx="2194560" cy="80467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19456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 API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3438499" y="8489194"/>
            <a:ext cx="1658617" cy="616201"/>
            <a:chOff x="0" y="0"/>
            <a:chExt cx="2211489" cy="821601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8509" y="8509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2">
                <a:alpha val="15686"/>
              </a:srgbClr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211578" cy="821690"/>
            </a:xfrm>
            <a:custGeom>
              <a:avLst/>
              <a:gdLst/>
              <a:ahLst/>
              <a:cxnLst/>
              <a:rect r="r" b="b" t="t" l="l"/>
              <a:pathLst>
                <a:path h="821690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813181"/>
                  </a:lnTo>
                  <a:cubicBezTo>
                    <a:pt x="2211578" y="817880"/>
                    <a:pt x="2207768" y="821690"/>
                    <a:pt x="2203069" y="821690"/>
                  </a:cubicBezTo>
                  <a:lnTo>
                    <a:pt x="8509" y="821690"/>
                  </a:lnTo>
                  <a:cubicBezTo>
                    <a:pt x="3810" y="821690"/>
                    <a:pt x="0" y="817880"/>
                    <a:pt x="0" y="8131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13181"/>
                  </a:lnTo>
                  <a:lnTo>
                    <a:pt x="8509" y="813181"/>
                  </a:lnTo>
                  <a:lnTo>
                    <a:pt x="8509" y="804672"/>
                  </a:lnTo>
                  <a:lnTo>
                    <a:pt x="2203069" y="804672"/>
                  </a:lnTo>
                  <a:lnTo>
                    <a:pt x="2203069" y="813181"/>
                  </a:lnTo>
                  <a:lnTo>
                    <a:pt x="2194560" y="813181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451195" y="8476493"/>
            <a:ext cx="1645920" cy="603504"/>
            <a:chOff x="0" y="0"/>
            <a:chExt cx="2194560" cy="804672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219456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6269967" y="8442703"/>
            <a:ext cx="1658617" cy="616201"/>
            <a:chOff x="0" y="0"/>
            <a:chExt cx="2211489" cy="82160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8509" y="8509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891B2">
                <a:alpha val="15686"/>
              </a:srgbClr>
            </a:solidFill>
          </p:spPr>
        </p:sp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211578" cy="821690"/>
            </a:xfrm>
            <a:custGeom>
              <a:avLst/>
              <a:gdLst/>
              <a:ahLst/>
              <a:cxnLst/>
              <a:rect r="r" b="b" t="t" l="l"/>
              <a:pathLst>
                <a:path h="821690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813181"/>
                  </a:lnTo>
                  <a:cubicBezTo>
                    <a:pt x="2211578" y="817880"/>
                    <a:pt x="2207768" y="821690"/>
                    <a:pt x="2203069" y="821690"/>
                  </a:cubicBezTo>
                  <a:lnTo>
                    <a:pt x="8509" y="821690"/>
                  </a:lnTo>
                  <a:cubicBezTo>
                    <a:pt x="3810" y="821690"/>
                    <a:pt x="0" y="817880"/>
                    <a:pt x="0" y="8131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13181"/>
                  </a:lnTo>
                  <a:lnTo>
                    <a:pt x="8509" y="813181"/>
                  </a:lnTo>
                  <a:lnTo>
                    <a:pt x="8509" y="804672"/>
                  </a:lnTo>
                  <a:lnTo>
                    <a:pt x="2203069" y="804672"/>
                  </a:lnTo>
                  <a:lnTo>
                    <a:pt x="2203069" y="813181"/>
                  </a:lnTo>
                  <a:lnTo>
                    <a:pt x="2194560" y="813181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6276320" y="8449056"/>
            <a:ext cx="1645920" cy="603504"/>
            <a:chOff x="0" y="0"/>
            <a:chExt cx="2194560" cy="80467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194560" cy="804672"/>
            </a:xfrm>
            <a:custGeom>
              <a:avLst/>
              <a:gdLst/>
              <a:ahLst/>
              <a:cxnLst/>
              <a:rect r="r" b="b" t="t" l="l"/>
              <a:pathLst>
                <a:path h="8046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219456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Jupyter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365760" y="9637776"/>
            <a:ext cx="17556480" cy="603504"/>
            <a:chOff x="0" y="0"/>
            <a:chExt cx="23408640" cy="804672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3408639" cy="804672"/>
            </a:xfrm>
            <a:custGeom>
              <a:avLst/>
              <a:gdLst/>
              <a:ahLst/>
              <a:cxnLst/>
              <a:rect r="r" b="b" t="t" l="l"/>
              <a:pathLst>
                <a:path h="80467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2340864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MediPATH  ·  AI in Health Hackathon 2026  ·  Track 3: Health Data Analytics  ·  Architecture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89639"/>
            <a:ext cx="3317243" cy="537467"/>
            <a:chOff x="0" y="0"/>
            <a:chExt cx="4422991" cy="71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402336"/>
            <a:ext cx="3291840" cy="512064"/>
            <a:chOff x="0" y="0"/>
            <a:chExt cx="4389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60704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4332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System Output — Doctor Dashboard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82609" y="2975362"/>
            <a:ext cx="15603342" cy="6964166"/>
          </a:xfrm>
          <a:custGeom>
            <a:avLst/>
            <a:gdLst/>
            <a:ahLst/>
            <a:cxnLst/>
            <a:rect r="r" b="b" t="t" l="l"/>
            <a:pathLst>
              <a:path h="6964166" w="15603342">
                <a:moveTo>
                  <a:pt x="0" y="0"/>
                </a:moveTo>
                <a:lnTo>
                  <a:pt x="15603342" y="0"/>
                </a:lnTo>
                <a:lnTo>
                  <a:pt x="15603342" y="6964166"/>
                </a:lnTo>
                <a:lnTo>
                  <a:pt x="0" y="696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994" r="-5234" b="-1563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35943" y="2181863"/>
            <a:ext cx="17216123" cy="793499"/>
            <a:chOff x="0" y="0"/>
            <a:chExt cx="22954831" cy="1057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2920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954743" cy="1057912"/>
            </a:xfrm>
            <a:custGeom>
              <a:avLst/>
              <a:gdLst/>
              <a:ahLst/>
              <a:cxnLst/>
              <a:rect r="r" b="b" t="t" l="l"/>
              <a:pathLst>
                <a:path h="105791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041019"/>
                  </a:lnTo>
                  <a:cubicBezTo>
                    <a:pt x="22954743" y="1050417"/>
                    <a:pt x="22947123" y="1057910"/>
                    <a:pt x="229378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2937851" y="1024128"/>
                  </a:lnTo>
                  <a:lnTo>
                    <a:pt x="22937851" y="1041019"/>
                  </a:lnTo>
                  <a:lnTo>
                    <a:pt x="22920961" y="104101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68096" y="2231136"/>
            <a:ext cx="16459200" cy="694944"/>
            <a:chOff x="0" y="0"/>
            <a:chExt cx="219456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MediPATH Clinical Dashboard  ·  Patient P00059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65760" y="9637776"/>
            <a:ext cx="17556480" cy="603504"/>
            <a:chOff x="0" y="0"/>
            <a:chExt cx="23408640" cy="80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408639" cy="804672"/>
            </a:xfrm>
            <a:custGeom>
              <a:avLst/>
              <a:gdLst/>
              <a:ahLst/>
              <a:cxnLst/>
              <a:rect r="r" b="b" t="t" l="l"/>
              <a:pathLst>
                <a:path h="80467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340864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MediPATH  ·  AI in Health Hackathon 2026  ·  Track 3: Health Data Analytics  ·  Prototype Demo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0" y="2975362"/>
            <a:ext cx="15603342" cy="6662423"/>
          </a:xfrm>
          <a:custGeom>
            <a:avLst/>
            <a:gdLst/>
            <a:ahLst/>
            <a:cxnLst/>
            <a:rect r="r" b="b" t="t" l="l"/>
            <a:pathLst>
              <a:path h="6662423" w="15603342">
                <a:moveTo>
                  <a:pt x="0" y="0"/>
                </a:moveTo>
                <a:lnTo>
                  <a:pt x="15603342" y="0"/>
                </a:lnTo>
                <a:lnTo>
                  <a:pt x="15603342" y="6662424"/>
                </a:lnTo>
                <a:lnTo>
                  <a:pt x="0" y="6662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38" r="-5234" b="-22293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2975372"/>
            <a:ext cx="15603342" cy="6662414"/>
          </a:xfrm>
          <a:custGeom>
            <a:avLst/>
            <a:gdLst/>
            <a:ahLst/>
            <a:cxnLst/>
            <a:rect r="r" b="b" t="t" l="l"/>
            <a:pathLst>
              <a:path h="6662414" w="15603342">
                <a:moveTo>
                  <a:pt x="0" y="0"/>
                </a:moveTo>
                <a:lnTo>
                  <a:pt x="15603342" y="0"/>
                </a:lnTo>
                <a:lnTo>
                  <a:pt x="15603342" y="6662414"/>
                </a:lnTo>
                <a:lnTo>
                  <a:pt x="0" y="6662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764" r="-5234" b="-2086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23" y="389639"/>
            <a:ext cx="3317243" cy="537467"/>
            <a:chOff x="0" y="0"/>
            <a:chExt cx="4422991" cy="716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402336"/>
            <a:ext cx="3291840" cy="512064"/>
            <a:chOff x="0" y="0"/>
            <a:chExt cx="4389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060704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4332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&amp; Impact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2519" y="2328167"/>
            <a:ext cx="4085339" cy="2677163"/>
            <a:chOff x="0" y="0"/>
            <a:chExt cx="5447119" cy="3569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13248" cy="3535680"/>
            </a:xfrm>
            <a:custGeom>
              <a:avLst/>
              <a:gdLst/>
              <a:ahLst/>
              <a:cxnLst/>
              <a:rect r="r" b="b" t="t" l="l"/>
              <a:pathLst>
                <a:path h="3535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7030" cy="3569462"/>
            </a:xfrm>
            <a:custGeom>
              <a:avLst/>
              <a:gdLst/>
              <a:ahLst/>
              <a:cxnLst/>
              <a:rect r="r" b="b" t="t" l="l"/>
              <a:pathLst>
                <a:path h="3569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552571"/>
                  </a:lnTo>
                  <a:cubicBezTo>
                    <a:pt x="5447030" y="3561969"/>
                    <a:pt x="5439410" y="3569462"/>
                    <a:pt x="543013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430139" y="3535680"/>
                  </a:lnTo>
                  <a:lnTo>
                    <a:pt x="5430139" y="3552571"/>
                  </a:lnTo>
                  <a:lnTo>
                    <a:pt x="5413248" y="355257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2450592"/>
            <a:ext cx="4059936" cy="1371600"/>
            <a:chOff x="0" y="0"/>
            <a:chExt cx="5413248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132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5" r="0" b="-76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52400"/>
              <a:ext cx="5413248" cy="1981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5216" y="3803904"/>
            <a:ext cx="4059936" cy="512064"/>
            <a:chOff x="0" y="0"/>
            <a:chExt cx="5413248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13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Overall 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5216" y="4279392"/>
            <a:ext cx="4059936" cy="512064"/>
            <a:chOff x="0" y="0"/>
            <a:chExt cx="5413248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413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5EEA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 held-out test set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25063" y="2328167"/>
            <a:ext cx="4085339" cy="2677163"/>
            <a:chOff x="0" y="0"/>
            <a:chExt cx="5447119" cy="3569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413248" cy="3535680"/>
            </a:xfrm>
            <a:custGeom>
              <a:avLst/>
              <a:gdLst/>
              <a:ahLst/>
              <a:cxnLst/>
              <a:rect r="r" b="b" t="t" l="l"/>
              <a:pathLst>
                <a:path h="3535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7030" cy="3569462"/>
            </a:xfrm>
            <a:custGeom>
              <a:avLst/>
              <a:gdLst/>
              <a:ahLst/>
              <a:cxnLst/>
              <a:rect r="r" b="b" t="t" l="l"/>
              <a:pathLst>
                <a:path h="3569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552571"/>
                  </a:lnTo>
                  <a:cubicBezTo>
                    <a:pt x="5447030" y="3561969"/>
                    <a:pt x="5439410" y="3569462"/>
                    <a:pt x="543013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430139" y="3535680"/>
                  </a:lnTo>
                  <a:lnTo>
                    <a:pt x="5430139" y="3552571"/>
                  </a:lnTo>
                  <a:lnTo>
                    <a:pt x="5413248" y="355257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37760" y="2450592"/>
            <a:ext cx="4059936" cy="1371600"/>
            <a:chOff x="0" y="0"/>
            <a:chExt cx="5413248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132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5" r="0" b="-76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52400"/>
              <a:ext cx="5413248" cy="1981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37760" y="3803904"/>
            <a:ext cx="4059936" cy="512064"/>
            <a:chOff x="0" y="0"/>
            <a:chExt cx="5413248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413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 (High-Risk)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4279392"/>
            <a:ext cx="4059936" cy="512064"/>
            <a:chOff x="0" y="0"/>
            <a:chExt cx="5413248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413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5EEA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sensitivity on high-risk cases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77607" y="2328167"/>
            <a:ext cx="4085339" cy="2677163"/>
            <a:chOff x="0" y="0"/>
            <a:chExt cx="5447119" cy="3569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413248" cy="3535680"/>
            </a:xfrm>
            <a:custGeom>
              <a:avLst/>
              <a:gdLst/>
              <a:ahLst/>
              <a:cxnLst/>
              <a:rect r="r" b="b" t="t" l="l"/>
              <a:pathLst>
                <a:path h="3535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47030" cy="3569462"/>
            </a:xfrm>
            <a:custGeom>
              <a:avLst/>
              <a:gdLst/>
              <a:ahLst/>
              <a:cxnLst/>
              <a:rect r="r" b="b" t="t" l="l"/>
              <a:pathLst>
                <a:path h="3569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552571"/>
                  </a:lnTo>
                  <a:cubicBezTo>
                    <a:pt x="5447030" y="3561969"/>
                    <a:pt x="5439410" y="3569462"/>
                    <a:pt x="543013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430139" y="3535680"/>
                  </a:lnTo>
                  <a:lnTo>
                    <a:pt x="5430139" y="3552571"/>
                  </a:lnTo>
                  <a:lnTo>
                    <a:pt x="5413248" y="355257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90304" y="2450592"/>
            <a:ext cx="4059936" cy="1371600"/>
            <a:chOff x="0" y="0"/>
            <a:chExt cx="5413248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132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5" r="0" b="-76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52400"/>
              <a:ext cx="5413248" cy="1981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90304" y="3803904"/>
            <a:ext cx="4059936" cy="512064"/>
            <a:chOff x="0" y="0"/>
            <a:chExt cx="5413248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413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AUC-ROC Score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90304" y="4279392"/>
            <a:ext cx="4059936" cy="512064"/>
            <a:chOff x="0" y="0"/>
            <a:chExt cx="5413248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413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5EEA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Diabetes prediction model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30151" y="2328167"/>
            <a:ext cx="4085339" cy="2677163"/>
            <a:chOff x="0" y="0"/>
            <a:chExt cx="5447119" cy="35695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413248" cy="3535680"/>
            </a:xfrm>
            <a:custGeom>
              <a:avLst/>
              <a:gdLst/>
              <a:ahLst/>
              <a:cxnLst/>
              <a:rect r="r" b="b" t="t" l="l"/>
              <a:pathLst>
                <a:path h="3535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7030" cy="3569462"/>
            </a:xfrm>
            <a:custGeom>
              <a:avLst/>
              <a:gdLst/>
              <a:ahLst/>
              <a:cxnLst/>
              <a:rect r="r" b="b" t="t" l="l"/>
              <a:pathLst>
                <a:path h="356946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552571"/>
                  </a:lnTo>
                  <a:cubicBezTo>
                    <a:pt x="5447030" y="3561969"/>
                    <a:pt x="5439410" y="3569462"/>
                    <a:pt x="543013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5430139" y="3535680"/>
                  </a:lnTo>
                  <a:lnTo>
                    <a:pt x="5430139" y="3552571"/>
                  </a:lnTo>
                  <a:lnTo>
                    <a:pt x="5413248" y="355257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642848" y="2450592"/>
            <a:ext cx="4059936" cy="1371600"/>
            <a:chOff x="0" y="0"/>
            <a:chExt cx="5413248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132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75" r="0" b="-76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52400"/>
              <a:ext cx="5413248" cy="1981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2s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642848" y="3803904"/>
            <a:ext cx="4059936" cy="512064"/>
            <a:chOff x="0" y="0"/>
            <a:chExt cx="5413248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413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 Latency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642848" y="4279392"/>
            <a:ext cx="4059936" cy="512064"/>
            <a:chOff x="0" y="0"/>
            <a:chExt cx="5413248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413248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5EEA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per patient at runtime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31520" y="5303520"/>
            <a:ext cx="8046720" cy="585216"/>
            <a:chOff x="0" y="0"/>
            <a:chExt cx="1072896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28960" cy="780288"/>
            </a:xfrm>
            <a:custGeom>
              <a:avLst/>
              <a:gdLst/>
              <a:ahLst/>
              <a:cxnLst/>
              <a:rect r="r" b="b" t="t" l="l"/>
              <a:pathLst>
                <a:path h="7802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07289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Comparison</a:t>
              </a:r>
            </a:p>
          </p:txBody>
        </p:sp>
      </p:grpSp>
      <p:graphicFrame>
        <p:nvGraphicFramePr>
          <p:cNvPr name="Table 62" id="62"/>
          <p:cNvGraphicFramePr>
            <a:graphicFrameLocks noGrp="true"/>
          </p:cNvGraphicFramePr>
          <p:nvPr/>
        </p:nvGraphicFramePr>
        <p:xfrm>
          <a:off x="731520" y="5961888"/>
          <a:ext cx="8229600" cy="2667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Algorithm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Interp.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Markov Chain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progression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D948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Pattern matching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Gradient 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Risk refinement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Neural 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Very 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Experimental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3" id="63"/>
          <p:cNvGrpSpPr/>
          <p:nvPr/>
        </p:nvGrpSpPr>
        <p:grpSpPr>
          <a:xfrm rot="0">
            <a:off x="9326880" y="5303520"/>
            <a:ext cx="8229600" cy="585216"/>
            <a:chOff x="0" y="0"/>
            <a:chExt cx="10972800" cy="7802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0972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 Explainability — Type 2 Diabetes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26880" y="6035040"/>
            <a:ext cx="3291840" cy="512064"/>
            <a:chOff x="0" y="0"/>
            <a:chExt cx="438912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Blood Pressure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97463" y="6095495"/>
            <a:ext cx="4048763" cy="391163"/>
            <a:chOff x="0" y="0"/>
            <a:chExt cx="5398351" cy="52155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5364480" cy="487680"/>
            </a:xfrm>
            <a:custGeom>
              <a:avLst/>
              <a:gdLst/>
              <a:ahLst/>
              <a:cxnLst/>
              <a:rect r="r" b="b" t="t" l="l"/>
              <a:pathLst>
                <a:path h="487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98262" cy="521464"/>
            </a:xfrm>
            <a:custGeom>
              <a:avLst/>
              <a:gdLst/>
              <a:ahLst/>
              <a:cxnLst/>
              <a:rect r="r" b="b" t="t" l="l"/>
              <a:pathLst>
                <a:path h="52146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504571"/>
                  </a:lnTo>
                  <a:cubicBezTo>
                    <a:pt x="5398262" y="513969"/>
                    <a:pt x="5390642" y="521462"/>
                    <a:pt x="538137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5381371" y="487680"/>
                  </a:lnTo>
                  <a:lnTo>
                    <a:pt x="5381371" y="504571"/>
                  </a:lnTo>
                  <a:lnTo>
                    <a:pt x="5364480" y="5045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697463" y="6095495"/>
            <a:ext cx="3445259" cy="391163"/>
            <a:chOff x="0" y="0"/>
            <a:chExt cx="4593679" cy="52155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4559808" cy="487680"/>
            </a:xfrm>
            <a:custGeom>
              <a:avLst/>
              <a:gdLst/>
              <a:ahLst/>
              <a:cxnLst/>
              <a:rect r="r" b="b" t="t" l="l"/>
              <a:pathLst>
                <a:path h="487680" w="4559808">
                  <a:moveTo>
                    <a:pt x="0" y="0"/>
                  </a:moveTo>
                  <a:lnTo>
                    <a:pt x="4559808" y="0"/>
                  </a:lnTo>
                  <a:lnTo>
                    <a:pt x="45598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93590" cy="521464"/>
            </a:xfrm>
            <a:custGeom>
              <a:avLst/>
              <a:gdLst/>
              <a:ahLst/>
              <a:cxnLst/>
              <a:rect r="r" b="b" t="t" l="l"/>
              <a:pathLst>
                <a:path h="521464" w="4593590">
                  <a:moveTo>
                    <a:pt x="16891" y="0"/>
                  </a:moveTo>
                  <a:lnTo>
                    <a:pt x="4576699" y="0"/>
                  </a:lnTo>
                  <a:cubicBezTo>
                    <a:pt x="4586097" y="0"/>
                    <a:pt x="4593590" y="7620"/>
                    <a:pt x="4593590" y="16891"/>
                  </a:cubicBezTo>
                  <a:lnTo>
                    <a:pt x="4593590" y="504571"/>
                  </a:lnTo>
                  <a:cubicBezTo>
                    <a:pt x="4593590" y="513969"/>
                    <a:pt x="4585970" y="521462"/>
                    <a:pt x="45766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4576699" y="487680"/>
                  </a:lnTo>
                  <a:lnTo>
                    <a:pt x="4576699" y="504571"/>
                  </a:lnTo>
                  <a:lnTo>
                    <a:pt x="4559808" y="504571"/>
                  </a:lnTo>
                  <a:lnTo>
                    <a:pt x="4559808" y="16891"/>
                  </a:lnTo>
                  <a:lnTo>
                    <a:pt x="4576699" y="16891"/>
                  </a:lnTo>
                  <a:lnTo>
                    <a:pt x="4576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861536" y="6035040"/>
            <a:ext cx="731520" cy="512064"/>
            <a:chOff x="0" y="0"/>
            <a:chExt cx="97536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75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326880" y="6729984"/>
            <a:ext cx="3291840" cy="512064"/>
            <a:chOff x="0" y="0"/>
            <a:chExt cx="4389120" cy="682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Glucose Trend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697463" y="6790439"/>
            <a:ext cx="4048763" cy="391163"/>
            <a:chOff x="0" y="0"/>
            <a:chExt cx="5398351" cy="52155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5364480" cy="487680"/>
            </a:xfrm>
            <a:custGeom>
              <a:avLst/>
              <a:gdLst/>
              <a:ahLst/>
              <a:cxnLst/>
              <a:rect r="r" b="b" t="t" l="l"/>
              <a:pathLst>
                <a:path h="487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98262" cy="521464"/>
            </a:xfrm>
            <a:custGeom>
              <a:avLst/>
              <a:gdLst/>
              <a:ahLst/>
              <a:cxnLst/>
              <a:rect r="r" b="b" t="t" l="l"/>
              <a:pathLst>
                <a:path h="52146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504571"/>
                  </a:lnTo>
                  <a:cubicBezTo>
                    <a:pt x="5398262" y="513969"/>
                    <a:pt x="5390642" y="521462"/>
                    <a:pt x="538137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5381371" y="487680"/>
                  </a:lnTo>
                  <a:lnTo>
                    <a:pt x="5381371" y="504571"/>
                  </a:lnTo>
                  <a:lnTo>
                    <a:pt x="5364480" y="5045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697463" y="6790439"/>
            <a:ext cx="2841755" cy="391163"/>
            <a:chOff x="0" y="0"/>
            <a:chExt cx="3789007" cy="52155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3755136" cy="487680"/>
            </a:xfrm>
            <a:custGeom>
              <a:avLst/>
              <a:gdLst/>
              <a:ahLst/>
              <a:cxnLst/>
              <a:rect r="r" b="b" t="t" l="l"/>
              <a:pathLst>
                <a:path h="487680" w="3755136">
                  <a:moveTo>
                    <a:pt x="0" y="0"/>
                  </a:moveTo>
                  <a:lnTo>
                    <a:pt x="3755136" y="0"/>
                  </a:lnTo>
                  <a:lnTo>
                    <a:pt x="37551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788918" cy="521464"/>
            </a:xfrm>
            <a:custGeom>
              <a:avLst/>
              <a:gdLst/>
              <a:ahLst/>
              <a:cxnLst/>
              <a:rect r="r" b="b" t="t" l="l"/>
              <a:pathLst>
                <a:path h="521464" w="3788918">
                  <a:moveTo>
                    <a:pt x="16891" y="0"/>
                  </a:moveTo>
                  <a:lnTo>
                    <a:pt x="3772027" y="0"/>
                  </a:lnTo>
                  <a:cubicBezTo>
                    <a:pt x="3781425" y="0"/>
                    <a:pt x="3788918" y="7620"/>
                    <a:pt x="3788918" y="16891"/>
                  </a:cubicBezTo>
                  <a:lnTo>
                    <a:pt x="3788918" y="504571"/>
                  </a:lnTo>
                  <a:cubicBezTo>
                    <a:pt x="3788918" y="513969"/>
                    <a:pt x="3781298" y="521462"/>
                    <a:pt x="37720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772027" y="487680"/>
                  </a:lnTo>
                  <a:lnTo>
                    <a:pt x="3772027" y="504571"/>
                  </a:lnTo>
                  <a:lnTo>
                    <a:pt x="3755136" y="504571"/>
                  </a:lnTo>
                  <a:lnTo>
                    <a:pt x="3755136" y="16891"/>
                  </a:lnTo>
                  <a:lnTo>
                    <a:pt x="3772027" y="16891"/>
                  </a:lnTo>
                  <a:lnTo>
                    <a:pt x="37720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6861536" y="6729984"/>
            <a:ext cx="731520" cy="512064"/>
            <a:chOff x="0" y="0"/>
            <a:chExt cx="97536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75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28%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326880" y="7424928"/>
            <a:ext cx="3291840" cy="512064"/>
            <a:chOff x="0" y="0"/>
            <a:chExt cx="438912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Family History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697463" y="7485383"/>
            <a:ext cx="4048763" cy="391163"/>
            <a:chOff x="0" y="0"/>
            <a:chExt cx="5398351" cy="52155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5364480" cy="487680"/>
            </a:xfrm>
            <a:custGeom>
              <a:avLst/>
              <a:gdLst/>
              <a:ahLst/>
              <a:cxnLst/>
              <a:rect r="r" b="b" t="t" l="l"/>
              <a:pathLst>
                <a:path h="487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98262" cy="521464"/>
            </a:xfrm>
            <a:custGeom>
              <a:avLst/>
              <a:gdLst/>
              <a:ahLst/>
              <a:cxnLst/>
              <a:rect r="r" b="b" t="t" l="l"/>
              <a:pathLst>
                <a:path h="52146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504571"/>
                  </a:lnTo>
                  <a:cubicBezTo>
                    <a:pt x="5398262" y="513969"/>
                    <a:pt x="5390642" y="521462"/>
                    <a:pt x="538137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5381371" y="487680"/>
                  </a:lnTo>
                  <a:lnTo>
                    <a:pt x="5381371" y="504571"/>
                  </a:lnTo>
                  <a:lnTo>
                    <a:pt x="5364480" y="5045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697463" y="7485383"/>
            <a:ext cx="2137667" cy="391163"/>
            <a:chOff x="0" y="0"/>
            <a:chExt cx="2850223" cy="52155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2816352" cy="487680"/>
            </a:xfrm>
            <a:custGeom>
              <a:avLst/>
              <a:gdLst/>
              <a:ahLst/>
              <a:cxnLst/>
              <a:rect r="r" b="b" t="t" l="l"/>
              <a:pathLst>
                <a:path h="487680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850134" cy="521464"/>
            </a:xfrm>
            <a:custGeom>
              <a:avLst/>
              <a:gdLst/>
              <a:ahLst/>
              <a:cxnLst/>
              <a:rect r="r" b="b" t="t" l="l"/>
              <a:pathLst>
                <a:path h="521464" w="2850134">
                  <a:moveTo>
                    <a:pt x="16891" y="0"/>
                  </a:moveTo>
                  <a:lnTo>
                    <a:pt x="2833243" y="0"/>
                  </a:lnTo>
                  <a:cubicBezTo>
                    <a:pt x="2842641" y="0"/>
                    <a:pt x="2850134" y="7620"/>
                    <a:pt x="2850134" y="16891"/>
                  </a:cubicBezTo>
                  <a:lnTo>
                    <a:pt x="2850134" y="504571"/>
                  </a:lnTo>
                  <a:cubicBezTo>
                    <a:pt x="2850134" y="513969"/>
                    <a:pt x="2842514" y="521462"/>
                    <a:pt x="2833243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833243" y="487680"/>
                  </a:lnTo>
                  <a:lnTo>
                    <a:pt x="2833243" y="504571"/>
                  </a:lnTo>
                  <a:lnTo>
                    <a:pt x="2816352" y="504571"/>
                  </a:lnTo>
                  <a:lnTo>
                    <a:pt x="2816352" y="16891"/>
                  </a:lnTo>
                  <a:lnTo>
                    <a:pt x="2833243" y="16891"/>
                  </a:lnTo>
                  <a:lnTo>
                    <a:pt x="2833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6861536" y="7424928"/>
            <a:ext cx="731520" cy="512064"/>
            <a:chOff x="0" y="0"/>
            <a:chExt cx="97536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75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326880" y="8119872"/>
            <a:ext cx="3291840" cy="512064"/>
            <a:chOff x="0" y="0"/>
            <a:chExt cx="438912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697463" y="8180327"/>
            <a:ext cx="4048763" cy="391163"/>
            <a:chOff x="0" y="0"/>
            <a:chExt cx="5398351" cy="52155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5364480" cy="487680"/>
            </a:xfrm>
            <a:custGeom>
              <a:avLst/>
              <a:gdLst/>
              <a:ahLst/>
              <a:cxnLst/>
              <a:rect r="r" b="b" t="t" l="l"/>
              <a:pathLst>
                <a:path h="487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398262" cy="521464"/>
            </a:xfrm>
            <a:custGeom>
              <a:avLst/>
              <a:gdLst/>
              <a:ahLst/>
              <a:cxnLst/>
              <a:rect r="r" b="b" t="t" l="l"/>
              <a:pathLst>
                <a:path h="52146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504571"/>
                  </a:lnTo>
                  <a:cubicBezTo>
                    <a:pt x="5398262" y="513969"/>
                    <a:pt x="5390642" y="521462"/>
                    <a:pt x="538137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5381371" y="487680"/>
                  </a:lnTo>
                  <a:lnTo>
                    <a:pt x="5381371" y="504571"/>
                  </a:lnTo>
                  <a:lnTo>
                    <a:pt x="5364480" y="5045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697463" y="8180327"/>
            <a:ext cx="1735331" cy="391163"/>
            <a:chOff x="0" y="0"/>
            <a:chExt cx="2313775" cy="52155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2279904" cy="487680"/>
            </a:xfrm>
            <a:custGeom>
              <a:avLst/>
              <a:gdLst/>
              <a:ahLst/>
              <a:cxnLst/>
              <a:rect r="r" b="b" t="t" l="l"/>
              <a:pathLst>
                <a:path h="487680" w="2279904">
                  <a:moveTo>
                    <a:pt x="0" y="0"/>
                  </a:moveTo>
                  <a:lnTo>
                    <a:pt x="2279904" y="0"/>
                  </a:lnTo>
                  <a:lnTo>
                    <a:pt x="227990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13686" cy="521464"/>
            </a:xfrm>
            <a:custGeom>
              <a:avLst/>
              <a:gdLst/>
              <a:ahLst/>
              <a:cxnLst/>
              <a:rect r="r" b="b" t="t" l="l"/>
              <a:pathLst>
                <a:path h="521464" w="2313686">
                  <a:moveTo>
                    <a:pt x="16891" y="0"/>
                  </a:moveTo>
                  <a:lnTo>
                    <a:pt x="2296795" y="0"/>
                  </a:lnTo>
                  <a:cubicBezTo>
                    <a:pt x="2306193" y="0"/>
                    <a:pt x="2313686" y="7620"/>
                    <a:pt x="2313686" y="16891"/>
                  </a:cubicBezTo>
                  <a:lnTo>
                    <a:pt x="2313686" y="504571"/>
                  </a:lnTo>
                  <a:cubicBezTo>
                    <a:pt x="2313686" y="513969"/>
                    <a:pt x="2306066" y="521462"/>
                    <a:pt x="2296795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296795" y="487680"/>
                  </a:lnTo>
                  <a:lnTo>
                    <a:pt x="2296795" y="504571"/>
                  </a:lnTo>
                  <a:lnTo>
                    <a:pt x="2279904" y="504571"/>
                  </a:lnTo>
                  <a:lnTo>
                    <a:pt x="2279904" y="16891"/>
                  </a:lnTo>
                  <a:lnTo>
                    <a:pt x="2296795" y="16891"/>
                  </a:lnTo>
                  <a:lnTo>
                    <a:pt x="22967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6861536" y="8119872"/>
            <a:ext cx="731520" cy="512064"/>
            <a:chOff x="0" y="0"/>
            <a:chExt cx="97536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75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17%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365760" y="9637776"/>
            <a:ext cx="17556480" cy="603504"/>
            <a:chOff x="0" y="0"/>
            <a:chExt cx="23408640" cy="80467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3408639" cy="804672"/>
            </a:xfrm>
            <a:custGeom>
              <a:avLst/>
              <a:gdLst/>
              <a:ahLst/>
              <a:cxnLst/>
              <a:rect r="r" b="b" t="t" l="l"/>
              <a:pathLst>
                <a:path h="80467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37" r="0" b="-516837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2340864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MediPATH  ·  AI in Health Hackathon 2026  ·  Track 3: Health Data Analytics  ·  Results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6487" y="-12697"/>
            <a:ext cx="135131" cy="10312403"/>
            <a:chOff x="0" y="0"/>
            <a:chExt cx="180175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5EEA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EEA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572519"/>
            <a:ext cx="3317243" cy="537467"/>
            <a:chOff x="0" y="0"/>
            <a:chExt cx="4422991" cy="7166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389247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247">
                  <a:moveTo>
                    <a:pt x="0" y="341376"/>
                  </a:moveTo>
                  <a:cubicBezTo>
                    <a:pt x="0" y="152781"/>
                    <a:pt x="159131" y="0"/>
                    <a:pt x="355600" y="0"/>
                  </a:cubicBezTo>
                  <a:lnTo>
                    <a:pt x="4033647" y="0"/>
                  </a:lnTo>
                  <a:cubicBezTo>
                    <a:pt x="4229989" y="0"/>
                    <a:pt x="4389247" y="152781"/>
                    <a:pt x="4389247" y="341376"/>
                  </a:cubicBezTo>
                  <a:cubicBezTo>
                    <a:pt x="4389247" y="529971"/>
                    <a:pt x="4230116" y="682752"/>
                    <a:pt x="4033647" y="682752"/>
                  </a:cubicBezTo>
                  <a:lnTo>
                    <a:pt x="355600" y="682752"/>
                  </a:lnTo>
                  <a:cubicBezTo>
                    <a:pt x="159258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23029" cy="716534"/>
            </a:xfrm>
            <a:custGeom>
              <a:avLst/>
              <a:gdLst/>
              <a:ahLst/>
              <a:cxnLst/>
              <a:rect r="r" b="b" t="t" l="l"/>
              <a:pathLst>
                <a:path h="716534" w="4423029">
                  <a:moveTo>
                    <a:pt x="0" y="358267"/>
                  </a:moveTo>
                  <a:cubicBezTo>
                    <a:pt x="0" y="159766"/>
                    <a:pt x="167386" y="0"/>
                    <a:pt x="372491" y="0"/>
                  </a:cubicBezTo>
                  <a:lnTo>
                    <a:pt x="4050538" y="0"/>
                  </a:lnTo>
                  <a:lnTo>
                    <a:pt x="4050538" y="16891"/>
                  </a:lnTo>
                  <a:lnTo>
                    <a:pt x="4050538" y="0"/>
                  </a:lnTo>
                  <a:cubicBezTo>
                    <a:pt x="4255643" y="0"/>
                    <a:pt x="4423029" y="159766"/>
                    <a:pt x="4423029" y="358267"/>
                  </a:cubicBezTo>
                  <a:lnTo>
                    <a:pt x="4406138" y="358267"/>
                  </a:lnTo>
                  <a:lnTo>
                    <a:pt x="4423029" y="358267"/>
                  </a:lnTo>
                  <a:lnTo>
                    <a:pt x="4406138" y="358267"/>
                  </a:lnTo>
                  <a:lnTo>
                    <a:pt x="4423029" y="358267"/>
                  </a:lnTo>
                  <a:cubicBezTo>
                    <a:pt x="4423029" y="556768"/>
                    <a:pt x="4255643" y="716534"/>
                    <a:pt x="4050538" y="716534"/>
                  </a:cubicBezTo>
                  <a:lnTo>
                    <a:pt x="4050538" y="699643"/>
                  </a:lnTo>
                  <a:lnTo>
                    <a:pt x="4050538" y="716534"/>
                  </a:lnTo>
                  <a:lnTo>
                    <a:pt x="372491" y="716534"/>
                  </a:lnTo>
                  <a:lnTo>
                    <a:pt x="372491" y="699643"/>
                  </a:lnTo>
                  <a:lnTo>
                    <a:pt x="372491" y="716534"/>
                  </a:lnTo>
                  <a:cubicBezTo>
                    <a:pt x="167386" y="716661"/>
                    <a:pt x="0" y="556895"/>
                    <a:pt x="0" y="358267"/>
                  </a:cubicBez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lnTo>
                    <a:pt x="16891" y="358267"/>
                  </a:lnTo>
                  <a:lnTo>
                    <a:pt x="33909" y="358267"/>
                  </a:lnTo>
                  <a:cubicBezTo>
                    <a:pt x="33909" y="536829"/>
                    <a:pt x="184912" y="682752"/>
                    <a:pt x="372491" y="682752"/>
                  </a:cubicBezTo>
                  <a:lnTo>
                    <a:pt x="4050538" y="682752"/>
                  </a:lnTo>
                  <a:cubicBezTo>
                    <a:pt x="4238244" y="682752"/>
                    <a:pt x="4389120" y="536829"/>
                    <a:pt x="4389120" y="358267"/>
                  </a:cubicBezTo>
                  <a:cubicBezTo>
                    <a:pt x="4389120" y="179705"/>
                    <a:pt x="4238117" y="33782"/>
                    <a:pt x="4050538" y="33782"/>
                  </a:cubicBezTo>
                  <a:lnTo>
                    <a:pt x="372491" y="33782"/>
                  </a:lnTo>
                  <a:lnTo>
                    <a:pt x="372491" y="16891"/>
                  </a:lnTo>
                  <a:lnTo>
                    <a:pt x="372491" y="33909"/>
                  </a:lnTo>
                  <a:cubicBezTo>
                    <a:pt x="184785" y="33909"/>
                    <a:pt x="33909" y="179705"/>
                    <a:pt x="33909" y="358267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585216"/>
            <a:ext cx="3291840" cy="512064"/>
            <a:chOff x="0" y="0"/>
            <a:chExt cx="438912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1316736"/>
            <a:ext cx="10972800" cy="1371600"/>
            <a:chOff x="0" y="0"/>
            <a:chExt cx="146304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71450"/>
              <a:ext cx="14630400" cy="200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MediPATH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651760"/>
            <a:ext cx="12801600" cy="914400"/>
            <a:chOff x="0" y="0"/>
            <a:chExt cx="170688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5EEA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is not just a project. It is a step toward saving lives.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3937511"/>
            <a:ext cx="500891" cy="500891"/>
            <a:chOff x="0" y="0"/>
            <a:chExt cx="667855" cy="6678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3950208"/>
            <a:ext cx="475488" cy="475488"/>
            <a:chOff x="0" y="0"/>
            <a:chExt cx="633984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36192" y="3877056"/>
            <a:ext cx="11704320" cy="658368"/>
            <a:chOff x="0" y="0"/>
            <a:chExt cx="1560576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605761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605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Predicts disease before symptoms appear using Markov Chain + ML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4705607"/>
            <a:ext cx="500891" cy="500891"/>
            <a:chOff x="0" y="0"/>
            <a:chExt cx="667855" cy="6678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4718304"/>
            <a:ext cx="475488" cy="475488"/>
            <a:chOff x="0" y="0"/>
            <a:chExt cx="633984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36192" y="4645152"/>
            <a:ext cx="11704320" cy="658368"/>
            <a:chOff x="0" y="0"/>
            <a:chExt cx="1560576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605761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605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Doctor-first: clinical decision support — not autonomous replacement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5473703"/>
            <a:ext cx="500891" cy="500891"/>
            <a:chOff x="0" y="0"/>
            <a:chExt cx="667855" cy="6678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5486400"/>
            <a:ext cx="475488" cy="475488"/>
            <a:chOff x="0" y="0"/>
            <a:chExt cx="633984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36192" y="5413248"/>
            <a:ext cx="11704320" cy="658368"/>
            <a:chOff x="0" y="0"/>
            <a:chExt cx="1560576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605761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5605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Cold-start problem solved with doctor-seeded training data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1703" y="6241799"/>
            <a:ext cx="500891" cy="500891"/>
            <a:chOff x="0" y="0"/>
            <a:chExt cx="667855" cy="6678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6254496"/>
            <a:ext cx="475488" cy="475488"/>
            <a:chOff x="0" y="0"/>
            <a:chExt cx="633984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36192" y="6181344"/>
            <a:ext cx="11704320" cy="658368"/>
            <a:chOff x="0" y="0"/>
            <a:chExt cx="1560576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605761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5605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Explainable AI — doctors always see the 'why' behind every prediction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1703" y="7009895"/>
            <a:ext cx="500891" cy="500891"/>
            <a:chOff x="0" y="0"/>
            <a:chExt cx="667855" cy="6678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7022592"/>
            <a:ext cx="475488" cy="475488"/>
            <a:chOff x="0" y="0"/>
            <a:chExt cx="633984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36192" y="6949440"/>
            <a:ext cx="11704320" cy="658368"/>
            <a:chOff x="0" y="0"/>
            <a:chExt cx="15605760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605761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605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for sub-Saharan Africa's healthcare reality, scalable globally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01703" y="7777991"/>
            <a:ext cx="500891" cy="500891"/>
            <a:chOff x="0" y="0"/>
            <a:chExt cx="667855" cy="66785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4400" y="7790688"/>
            <a:ext cx="475488" cy="475488"/>
            <a:chOff x="0" y="0"/>
            <a:chExt cx="633984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0"/>
                  </a:moveTo>
                  <a:lnTo>
                    <a:pt x="633984" y="0"/>
                  </a:lnTo>
                  <a:lnTo>
                    <a:pt x="6339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339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36192" y="7717536"/>
            <a:ext cx="11704320" cy="658368"/>
            <a:chOff x="0" y="0"/>
            <a:chExt cx="1560576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605761" cy="877824"/>
            </a:xfrm>
            <a:custGeom>
              <a:avLst/>
              <a:gdLst/>
              <a:ahLst/>
              <a:cxnLst/>
              <a:rect r="r" b="b" t="t" l="l"/>
              <a:pathLst>
                <a:path h="877824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56057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Privacy-compliant, EHR-integration ready, future-proof architecture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154663" y="2181863"/>
            <a:ext cx="4688843" cy="7066283"/>
            <a:chOff x="0" y="0"/>
            <a:chExt cx="6251791" cy="9421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6217920" cy="9387840"/>
            </a:xfrm>
            <a:custGeom>
              <a:avLst/>
              <a:gdLst/>
              <a:ahLst/>
              <a:cxnLst/>
              <a:rect r="r" b="b" t="t" l="l"/>
              <a:pathLst>
                <a:path h="9387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891B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51702" cy="9421622"/>
            </a:xfrm>
            <a:custGeom>
              <a:avLst/>
              <a:gdLst/>
              <a:ahLst/>
              <a:cxnLst/>
              <a:rect r="r" b="b" t="t" l="l"/>
              <a:pathLst>
                <a:path h="9421622" w="6251702">
                  <a:moveTo>
                    <a:pt x="16891" y="0"/>
                  </a:moveTo>
                  <a:lnTo>
                    <a:pt x="6234811" y="0"/>
                  </a:lnTo>
                  <a:cubicBezTo>
                    <a:pt x="6244209" y="0"/>
                    <a:pt x="6251702" y="7620"/>
                    <a:pt x="6251702" y="16891"/>
                  </a:cubicBezTo>
                  <a:lnTo>
                    <a:pt x="6251702" y="9404731"/>
                  </a:lnTo>
                  <a:cubicBezTo>
                    <a:pt x="6251702" y="9414129"/>
                    <a:pt x="6244082" y="9421622"/>
                    <a:pt x="6234811" y="9421622"/>
                  </a:cubicBezTo>
                  <a:lnTo>
                    <a:pt x="16891" y="9421622"/>
                  </a:lnTo>
                  <a:cubicBezTo>
                    <a:pt x="7493" y="9421622"/>
                    <a:pt x="0" y="9414002"/>
                    <a:pt x="0" y="9404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04731"/>
                  </a:lnTo>
                  <a:lnTo>
                    <a:pt x="16891" y="9404731"/>
                  </a:lnTo>
                  <a:lnTo>
                    <a:pt x="16891" y="9387840"/>
                  </a:lnTo>
                  <a:lnTo>
                    <a:pt x="6234811" y="9387840"/>
                  </a:lnTo>
                  <a:lnTo>
                    <a:pt x="6234811" y="9404731"/>
                  </a:lnTo>
                  <a:lnTo>
                    <a:pt x="6217920" y="9404731"/>
                  </a:lnTo>
                  <a:lnTo>
                    <a:pt x="6217920" y="16891"/>
                  </a:lnTo>
                  <a:lnTo>
                    <a:pt x="6234811" y="16891"/>
                  </a:lnTo>
                  <a:lnTo>
                    <a:pt x="6234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167360" y="2340864"/>
            <a:ext cx="4663440" cy="1737360"/>
            <a:chOff x="0" y="0"/>
            <a:chExt cx="6217920" cy="23164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179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1" r="0" b="-230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6217920" cy="2392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</a:t>
              </a:r>
            </a:p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Comes</a:t>
              </a:r>
            </a:p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435327" y="4236463"/>
            <a:ext cx="4072633" cy="927097"/>
            <a:chOff x="0" y="0"/>
            <a:chExt cx="5430177" cy="123612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30266" cy="1236218"/>
            </a:xfrm>
            <a:custGeom>
              <a:avLst/>
              <a:gdLst/>
              <a:ahLst/>
              <a:cxnLst/>
              <a:rect r="r" b="b" t="t" l="l"/>
              <a:pathLst>
                <a:path h="1236218" w="5430266">
                  <a:moveTo>
                    <a:pt x="8509" y="0"/>
                  </a:moveTo>
                  <a:lnTo>
                    <a:pt x="5421757" y="0"/>
                  </a:lnTo>
                  <a:cubicBezTo>
                    <a:pt x="5426456" y="0"/>
                    <a:pt x="5430266" y="3810"/>
                    <a:pt x="5430266" y="8509"/>
                  </a:cubicBezTo>
                  <a:lnTo>
                    <a:pt x="5430266" y="1227709"/>
                  </a:lnTo>
                  <a:cubicBezTo>
                    <a:pt x="5430266" y="1232408"/>
                    <a:pt x="5426456" y="1236218"/>
                    <a:pt x="5421757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5421757" y="1219200"/>
                  </a:lnTo>
                  <a:lnTo>
                    <a:pt x="5421757" y="1227709"/>
                  </a:lnTo>
                  <a:lnTo>
                    <a:pt x="5413248" y="1227709"/>
                  </a:lnTo>
                  <a:lnTo>
                    <a:pt x="5413248" y="8509"/>
                  </a:lnTo>
                  <a:lnTo>
                    <a:pt x="5421757" y="8509"/>
                  </a:lnTo>
                  <a:lnTo>
                    <a:pt x="54217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441680" y="4242816"/>
            <a:ext cx="4059936" cy="914400"/>
            <a:chOff x="0" y="0"/>
            <a:chExt cx="5413248" cy="121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13" r="0" b="-3651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41324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Hospital pilot programme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435327" y="5406895"/>
            <a:ext cx="4072633" cy="927097"/>
            <a:chOff x="0" y="0"/>
            <a:chExt cx="5430177" cy="123612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30266" cy="1236218"/>
            </a:xfrm>
            <a:custGeom>
              <a:avLst/>
              <a:gdLst/>
              <a:ahLst/>
              <a:cxnLst/>
              <a:rect r="r" b="b" t="t" l="l"/>
              <a:pathLst>
                <a:path h="1236218" w="5430266">
                  <a:moveTo>
                    <a:pt x="8509" y="0"/>
                  </a:moveTo>
                  <a:lnTo>
                    <a:pt x="5421757" y="0"/>
                  </a:lnTo>
                  <a:cubicBezTo>
                    <a:pt x="5426456" y="0"/>
                    <a:pt x="5430266" y="3810"/>
                    <a:pt x="5430266" y="8509"/>
                  </a:cubicBezTo>
                  <a:lnTo>
                    <a:pt x="5430266" y="1227709"/>
                  </a:lnTo>
                  <a:cubicBezTo>
                    <a:pt x="5430266" y="1232408"/>
                    <a:pt x="5426456" y="1236218"/>
                    <a:pt x="5421757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5421757" y="1219200"/>
                  </a:lnTo>
                  <a:lnTo>
                    <a:pt x="5421757" y="1227709"/>
                  </a:lnTo>
                  <a:lnTo>
                    <a:pt x="5413248" y="1227709"/>
                  </a:lnTo>
                  <a:lnTo>
                    <a:pt x="5413248" y="8509"/>
                  </a:lnTo>
                  <a:lnTo>
                    <a:pt x="5421757" y="8509"/>
                  </a:lnTo>
                  <a:lnTo>
                    <a:pt x="54217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441680" y="5413248"/>
            <a:ext cx="4059936" cy="914400"/>
            <a:chOff x="0" y="0"/>
            <a:chExt cx="5413248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13" r="0" b="-3651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41324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patient app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435327" y="6577327"/>
            <a:ext cx="4072633" cy="927097"/>
            <a:chOff x="0" y="0"/>
            <a:chExt cx="5430177" cy="123612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8509" y="8509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430266" cy="1236218"/>
            </a:xfrm>
            <a:custGeom>
              <a:avLst/>
              <a:gdLst/>
              <a:ahLst/>
              <a:cxnLst/>
              <a:rect r="r" b="b" t="t" l="l"/>
              <a:pathLst>
                <a:path h="1236218" w="5430266">
                  <a:moveTo>
                    <a:pt x="8509" y="0"/>
                  </a:moveTo>
                  <a:lnTo>
                    <a:pt x="5421757" y="0"/>
                  </a:lnTo>
                  <a:cubicBezTo>
                    <a:pt x="5426456" y="0"/>
                    <a:pt x="5430266" y="3810"/>
                    <a:pt x="5430266" y="8509"/>
                  </a:cubicBezTo>
                  <a:lnTo>
                    <a:pt x="5430266" y="1227709"/>
                  </a:lnTo>
                  <a:cubicBezTo>
                    <a:pt x="5430266" y="1232408"/>
                    <a:pt x="5426456" y="1236218"/>
                    <a:pt x="5421757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5421757" y="1219200"/>
                  </a:lnTo>
                  <a:lnTo>
                    <a:pt x="5421757" y="1227709"/>
                  </a:lnTo>
                  <a:lnTo>
                    <a:pt x="5413248" y="1227709"/>
                  </a:lnTo>
                  <a:lnTo>
                    <a:pt x="5413248" y="8509"/>
                  </a:lnTo>
                  <a:lnTo>
                    <a:pt x="5421757" y="8509"/>
                  </a:lnTo>
                  <a:lnTo>
                    <a:pt x="54217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441680" y="6583680"/>
            <a:ext cx="4059936" cy="914400"/>
            <a:chOff x="0" y="0"/>
            <a:chExt cx="5413248" cy="12192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13" r="0" b="-3651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41324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Wearable integration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435327" y="7747759"/>
            <a:ext cx="4072633" cy="927097"/>
            <a:chOff x="0" y="0"/>
            <a:chExt cx="5430177" cy="123612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430266" cy="1236218"/>
            </a:xfrm>
            <a:custGeom>
              <a:avLst/>
              <a:gdLst/>
              <a:ahLst/>
              <a:cxnLst/>
              <a:rect r="r" b="b" t="t" l="l"/>
              <a:pathLst>
                <a:path h="1236218" w="5430266">
                  <a:moveTo>
                    <a:pt x="8509" y="0"/>
                  </a:moveTo>
                  <a:lnTo>
                    <a:pt x="5421757" y="0"/>
                  </a:lnTo>
                  <a:cubicBezTo>
                    <a:pt x="5426456" y="0"/>
                    <a:pt x="5430266" y="3810"/>
                    <a:pt x="5430266" y="8509"/>
                  </a:cubicBezTo>
                  <a:lnTo>
                    <a:pt x="5430266" y="1227709"/>
                  </a:lnTo>
                  <a:cubicBezTo>
                    <a:pt x="5430266" y="1232408"/>
                    <a:pt x="5426456" y="1236218"/>
                    <a:pt x="5421757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5421757" y="1219200"/>
                  </a:lnTo>
                  <a:lnTo>
                    <a:pt x="5421757" y="1227709"/>
                  </a:lnTo>
                  <a:lnTo>
                    <a:pt x="5413248" y="1227709"/>
                  </a:lnTo>
                  <a:lnTo>
                    <a:pt x="5413248" y="8509"/>
                  </a:lnTo>
                  <a:lnTo>
                    <a:pt x="5421757" y="8509"/>
                  </a:lnTo>
                  <a:lnTo>
                    <a:pt x="5421757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441680" y="7754112"/>
            <a:ext cx="4059936" cy="914400"/>
            <a:chOff x="0" y="0"/>
            <a:chExt cx="5413248" cy="12192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132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13" r="0" b="-3651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41324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health dashboard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-6353" y="8954767"/>
            <a:ext cx="18300697" cy="1347721"/>
            <a:chOff x="0" y="0"/>
            <a:chExt cx="24400929" cy="179696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8509" y="8509"/>
              <a:ext cx="24384001" cy="1780032"/>
            </a:xfrm>
            <a:custGeom>
              <a:avLst/>
              <a:gdLst/>
              <a:ahLst/>
              <a:cxnLst/>
              <a:rect r="r" b="b" t="t" l="l"/>
              <a:pathLst>
                <a:path h="1780032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780032"/>
                  </a:lnTo>
                  <a:lnTo>
                    <a:pt x="0" y="178003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401018" cy="1797050"/>
            </a:xfrm>
            <a:custGeom>
              <a:avLst/>
              <a:gdLst/>
              <a:ahLst/>
              <a:cxnLst/>
              <a:rect r="r" b="b" t="t" l="l"/>
              <a:pathLst>
                <a:path h="1797050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1788541"/>
                  </a:lnTo>
                  <a:cubicBezTo>
                    <a:pt x="24401018" y="1793240"/>
                    <a:pt x="24397208" y="1797050"/>
                    <a:pt x="24392510" y="1797050"/>
                  </a:cubicBezTo>
                  <a:lnTo>
                    <a:pt x="8509" y="1797050"/>
                  </a:lnTo>
                  <a:cubicBezTo>
                    <a:pt x="3810" y="1797050"/>
                    <a:pt x="0" y="1793240"/>
                    <a:pt x="0" y="17885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88541"/>
                  </a:lnTo>
                  <a:lnTo>
                    <a:pt x="8509" y="1788541"/>
                  </a:lnTo>
                  <a:lnTo>
                    <a:pt x="8509" y="1780032"/>
                  </a:lnTo>
                  <a:lnTo>
                    <a:pt x="24392510" y="1780032"/>
                  </a:lnTo>
                  <a:lnTo>
                    <a:pt x="24392510" y="1788541"/>
                  </a:lnTo>
                  <a:lnTo>
                    <a:pt x="24384000" y="1788541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0" y="8961120"/>
            <a:ext cx="18288000" cy="1335024"/>
            <a:chOff x="0" y="0"/>
            <a:chExt cx="24384000" cy="178003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0" cy="1780032"/>
            </a:xfrm>
            <a:custGeom>
              <a:avLst/>
              <a:gdLst/>
              <a:ahLst/>
              <a:cxnLst/>
              <a:rect r="r" b="b" t="t" l="l"/>
              <a:pathLst>
                <a:path h="178003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80032"/>
                  </a:lnTo>
                  <a:lnTo>
                    <a:pt x="0" y="1780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918" r="0" b="-21691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66675"/>
              <a:ext cx="24384000" cy="1846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—  We Welcome Your View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DAHFU_Jow94</dc:identifier>
  <dcterms:modified xsi:type="dcterms:W3CDTF">2011-08-01T06:04:30Z</dcterms:modified>
  <cp:revision>1</cp:revision>
  <dc:title>MediPATH_Presentation</dc:title>
</cp:coreProperties>
</file>