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alibri (MS) Bold" charset="1" panose="020F0702030404030204"/>
      <p:regular r:id="rId24"/>
    </p:embeddedFont>
    <p:embeddedFont>
      <p:font typeface="Calibri (MS)" charset="1" panose="020F0502020204030204"/>
      <p:regular r:id="rId25"/>
    </p:embeddedFont>
    <p:embeddedFont>
      <p:font typeface="Calibri (MS) Italics" charset="1" panose="020F05020202040A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notesSlides/notesSlide3.xml" Type="http://schemas.openxmlformats.org/officeDocument/2006/relationships/notesSlide"/><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39" Target="notesSlides/notesSlide14.xml" Type="http://schemas.openxmlformats.org/officeDocument/2006/relationships/notesSlide"/><Relationship Id="rId4" Target="theme/theme1.xml" Type="http://schemas.openxmlformats.org/officeDocument/2006/relationships/theme"/><Relationship Id="rId40"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354587" cy="10312403"/>
            <a:chOff x="0" y="0"/>
            <a:chExt cx="472783" cy="13749871"/>
          </a:xfrm>
        </p:grpSpPr>
        <p:sp>
          <p:nvSpPr>
            <p:cNvPr name="Freeform 3" id="3"/>
            <p:cNvSpPr/>
            <p:nvPr/>
          </p:nvSpPr>
          <p:spPr>
            <a:xfrm flipH="false" flipV="false" rot="0">
              <a:off x="16891" y="16891"/>
              <a:ext cx="438912" cy="13715999"/>
            </a:xfrm>
            <a:custGeom>
              <a:avLst/>
              <a:gdLst/>
              <a:ahLst/>
              <a:cxnLst/>
              <a:rect r="r" b="b" t="t" l="l"/>
              <a:pathLst>
                <a:path h="13715999" w="438912">
                  <a:moveTo>
                    <a:pt x="0" y="0"/>
                  </a:moveTo>
                  <a:lnTo>
                    <a:pt x="438912" y="0"/>
                  </a:lnTo>
                  <a:lnTo>
                    <a:pt x="438912" y="13715999"/>
                  </a:lnTo>
                  <a:lnTo>
                    <a:pt x="0" y="13715999"/>
                  </a:lnTo>
                  <a:close/>
                </a:path>
              </a:pathLst>
            </a:custGeom>
            <a:solidFill>
              <a:srgbClr val="0D9488"/>
            </a:solidFill>
          </p:spPr>
        </p:sp>
        <p:sp>
          <p:nvSpPr>
            <p:cNvPr name="Freeform 4" id="4"/>
            <p:cNvSpPr/>
            <p:nvPr/>
          </p:nvSpPr>
          <p:spPr>
            <a:xfrm flipH="false" flipV="false" rot="0">
              <a:off x="0" y="0"/>
              <a:ext cx="472694" cy="13749782"/>
            </a:xfrm>
            <a:custGeom>
              <a:avLst/>
              <a:gdLst/>
              <a:ahLst/>
              <a:cxnLst/>
              <a:rect r="r" b="b" t="t" l="l"/>
              <a:pathLst>
                <a:path h="13749782" w="472694">
                  <a:moveTo>
                    <a:pt x="16891" y="0"/>
                  </a:moveTo>
                  <a:lnTo>
                    <a:pt x="455803" y="0"/>
                  </a:lnTo>
                  <a:cubicBezTo>
                    <a:pt x="465201" y="0"/>
                    <a:pt x="472694" y="7620"/>
                    <a:pt x="472694" y="16891"/>
                  </a:cubicBezTo>
                  <a:lnTo>
                    <a:pt x="472694" y="13732890"/>
                  </a:lnTo>
                  <a:cubicBezTo>
                    <a:pt x="472694" y="13742290"/>
                    <a:pt x="465074" y="13749782"/>
                    <a:pt x="455803"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455803" y="13716000"/>
                  </a:lnTo>
                  <a:lnTo>
                    <a:pt x="455803" y="13732890"/>
                  </a:lnTo>
                  <a:lnTo>
                    <a:pt x="438912" y="13732890"/>
                  </a:lnTo>
                  <a:lnTo>
                    <a:pt x="438912" y="16891"/>
                  </a:lnTo>
                  <a:lnTo>
                    <a:pt x="455803" y="16891"/>
                  </a:lnTo>
                  <a:lnTo>
                    <a:pt x="455803" y="33909"/>
                  </a:lnTo>
                  <a:lnTo>
                    <a:pt x="16891" y="33909"/>
                  </a:lnTo>
                  <a:close/>
                </a:path>
              </a:pathLst>
            </a:custGeom>
            <a:solidFill>
              <a:srgbClr val="0D9488"/>
            </a:solidFill>
          </p:spPr>
        </p:sp>
      </p:grpSp>
      <p:grpSp>
        <p:nvGrpSpPr>
          <p:cNvPr name="Group 5" id="5"/>
          <p:cNvGrpSpPr/>
          <p:nvPr/>
        </p:nvGrpSpPr>
        <p:grpSpPr>
          <a:xfrm rot="0">
            <a:off x="13337543" y="-12697"/>
            <a:ext cx="4963163" cy="10312403"/>
            <a:chOff x="0" y="0"/>
            <a:chExt cx="6617551" cy="13749871"/>
          </a:xfrm>
        </p:grpSpPr>
        <p:sp>
          <p:nvSpPr>
            <p:cNvPr name="Freeform 6" id="6"/>
            <p:cNvSpPr/>
            <p:nvPr/>
          </p:nvSpPr>
          <p:spPr>
            <a:xfrm flipH="false" flipV="false" rot="0">
              <a:off x="16891" y="16891"/>
              <a:ext cx="6583681" cy="13715999"/>
            </a:xfrm>
            <a:custGeom>
              <a:avLst/>
              <a:gdLst/>
              <a:ahLst/>
              <a:cxnLst/>
              <a:rect r="r" b="b" t="t" l="l"/>
              <a:pathLst>
                <a:path h="13715999" w="6583681">
                  <a:moveTo>
                    <a:pt x="0" y="0"/>
                  </a:moveTo>
                  <a:lnTo>
                    <a:pt x="6583681" y="0"/>
                  </a:lnTo>
                  <a:lnTo>
                    <a:pt x="6583681" y="13715999"/>
                  </a:lnTo>
                  <a:lnTo>
                    <a:pt x="0" y="13715999"/>
                  </a:lnTo>
                  <a:close/>
                </a:path>
              </a:pathLst>
            </a:custGeom>
            <a:solidFill>
              <a:srgbClr val="0D1F38"/>
            </a:solidFill>
          </p:spPr>
        </p:sp>
        <p:sp>
          <p:nvSpPr>
            <p:cNvPr name="Freeform 7" id="7"/>
            <p:cNvSpPr/>
            <p:nvPr/>
          </p:nvSpPr>
          <p:spPr>
            <a:xfrm flipH="false" flipV="false" rot="0">
              <a:off x="0" y="0"/>
              <a:ext cx="6617462" cy="13749782"/>
            </a:xfrm>
            <a:custGeom>
              <a:avLst/>
              <a:gdLst/>
              <a:ahLst/>
              <a:cxnLst/>
              <a:rect r="r" b="b" t="t" l="l"/>
              <a:pathLst>
                <a:path h="13749782" w="6617462">
                  <a:moveTo>
                    <a:pt x="16891" y="0"/>
                  </a:moveTo>
                  <a:lnTo>
                    <a:pt x="6600572" y="0"/>
                  </a:lnTo>
                  <a:cubicBezTo>
                    <a:pt x="6609969" y="0"/>
                    <a:pt x="6617462" y="7620"/>
                    <a:pt x="6617462" y="16891"/>
                  </a:cubicBezTo>
                  <a:lnTo>
                    <a:pt x="6617462" y="13732890"/>
                  </a:lnTo>
                  <a:cubicBezTo>
                    <a:pt x="6617462" y="13742290"/>
                    <a:pt x="6609842" y="13749782"/>
                    <a:pt x="6600572"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6600572" y="13716000"/>
                  </a:lnTo>
                  <a:lnTo>
                    <a:pt x="6600572" y="13732890"/>
                  </a:lnTo>
                  <a:lnTo>
                    <a:pt x="6583680" y="13732890"/>
                  </a:lnTo>
                  <a:lnTo>
                    <a:pt x="6583680" y="16891"/>
                  </a:lnTo>
                  <a:lnTo>
                    <a:pt x="6600572" y="16891"/>
                  </a:lnTo>
                  <a:lnTo>
                    <a:pt x="6600572" y="33909"/>
                  </a:lnTo>
                  <a:lnTo>
                    <a:pt x="16891" y="33909"/>
                  </a:lnTo>
                  <a:close/>
                </a:path>
              </a:pathLst>
            </a:custGeom>
            <a:solidFill>
              <a:srgbClr val="0D1F38"/>
            </a:solidFill>
          </p:spPr>
        </p:sp>
      </p:grpSp>
      <p:grpSp>
        <p:nvGrpSpPr>
          <p:cNvPr name="Group 8" id="8"/>
          <p:cNvGrpSpPr/>
          <p:nvPr/>
        </p:nvGrpSpPr>
        <p:grpSpPr>
          <a:xfrm rot="0">
            <a:off x="13794743" y="627383"/>
            <a:ext cx="3683003" cy="3683003"/>
            <a:chOff x="0" y="0"/>
            <a:chExt cx="4910671" cy="4910671"/>
          </a:xfrm>
        </p:grpSpPr>
        <p:sp>
          <p:nvSpPr>
            <p:cNvPr name="Freeform 9" id="9"/>
            <p:cNvSpPr/>
            <p:nvPr/>
          </p:nvSpPr>
          <p:spPr>
            <a:xfrm flipH="false" flipV="false" rot="0">
              <a:off x="16891" y="16891"/>
              <a:ext cx="4876800" cy="4876800"/>
            </a:xfrm>
            <a:custGeom>
              <a:avLst/>
              <a:gdLst/>
              <a:ahLst/>
              <a:cxnLst/>
              <a:rect r="r" b="b" t="t" l="l"/>
              <a:pathLst>
                <a:path h="4876800" w="4876800">
                  <a:moveTo>
                    <a:pt x="0" y="2438400"/>
                  </a:moveTo>
                  <a:cubicBezTo>
                    <a:pt x="0" y="1091692"/>
                    <a:pt x="1091692" y="0"/>
                    <a:pt x="2438400" y="0"/>
                  </a:cubicBezTo>
                  <a:cubicBezTo>
                    <a:pt x="3785108" y="0"/>
                    <a:pt x="4876800" y="1091692"/>
                    <a:pt x="4876800" y="2438400"/>
                  </a:cubicBezTo>
                  <a:cubicBezTo>
                    <a:pt x="4876800" y="3785108"/>
                    <a:pt x="3785108" y="4876800"/>
                    <a:pt x="2438400" y="4876800"/>
                  </a:cubicBezTo>
                  <a:cubicBezTo>
                    <a:pt x="1091692" y="4876800"/>
                    <a:pt x="0" y="3785108"/>
                    <a:pt x="0" y="2438400"/>
                  </a:cubicBezTo>
                  <a:close/>
                </a:path>
              </a:pathLst>
            </a:custGeom>
            <a:solidFill>
              <a:srgbClr val="0D9488">
                <a:alpha val="3137"/>
              </a:srgbClr>
            </a:solidFill>
          </p:spPr>
        </p:sp>
        <p:sp>
          <p:nvSpPr>
            <p:cNvPr name="Freeform 10" id="10"/>
            <p:cNvSpPr/>
            <p:nvPr/>
          </p:nvSpPr>
          <p:spPr>
            <a:xfrm flipH="false" flipV="false" rot="0">
              <a:off x="0" y="0"/>
              <a:ext cx="4910709" cy="4910582"/>
            </a:xfrm>
            <a:custGeom>
              <a:avLst/>
              <a:gdLst/>
              <a:ahLst/>
              <a:cxnLst/>
              <a:rect r="r" b="b" t="t" l="l"/>
              <a:pathLst>
                <a:path h="4910582" w="4910709">
                  <a:moveTo>
                    <a:pt x="0" y="2455291"/>
                  </a:moveTo>
                  <a:cubicBezTo>
                    <a:pt x="0" y="1099312"/>
                    <a:pt x="1099312" y="0"/>
                    <a:pt x="2455291" y="0"/>
                  </a:cubicBezTo>
                  <a:lnTo>
                    <a:pt x="2455291" y="16891"/>
                  </a:lnTo>
                  <a:lnTo>
                    <a:pt x="2455291" y="0"/>
                  </a:lnTo>
                  <a:cubicBezTo>
                    <a:pt x="3811397" y="0"/>
                    <a:pt x="4910709" y="1099312"/>
                    <a:pt x="4910709" y="2455291"/>
                  </a:cubicBezTo>
                  <a:lnTo>
                    <a:pt x="4893818" y="2455291"/>
                  </a:lnTo>
                  <a:lnTo>
                    <a:pt x="4910709" y="2455291"/>
                  </a:lnTo>
                  <a:cubicBezTo>
                    <a:pt x="4910709" y="3811397"/>
                    <a:pt x="3811397" y="4910582"/>
                    <a:pt x="2455418" y="4910582"/>
                  </a:cubicBezTo>
                  <a:lnTo>
                    <a:pt x="2455418" y="4893691"/>
                  </a:lnTo>
                  <a:lnTo>
                    <a:pt x="2455418" y="4910582"/>
                  </a:lnTo>
                  <a:cubicBezTo>
                    <a:pt x="1099312" y="4910709"/>
                    <a:pt x="0" y="3811397"/>
                    <a:pt x="0" y="2455291"/>
                  </a:cubicBezTo>
                  <a:lnTo>
                    <a:pt x="16891" y="2455291"/>
                  </a:lnTo>
                  <a:lnTo>
                    <a:pt x="33909" y="2455291"/>
                  </a:lnTo>
                  <a:lnTo>
                    <a:pt x="16891" y="2455291"/>
                  </a:lnTo>
                  <a:lnTo>
                    <a:pt x="0" y="2455291"/>
                  </a:lnTo>
                  <a:moveTo>
                    <a:pt x="33909" y="2455291"/>
                  </a:moveTo>
                  <a:cubicBezTo>
                    <a:pt x="33909" y="2464689"/>
                    <a:pt x="26289" y="2472182"/>
                    <a:pt x="17018" y="2472182"/>
                  </a:cubicBezTo>
                  <a:cubicBezTo>
                    <a:pt x="7747" y="2472182"/>
                    <a:pt x="0" y="2464689"/>
                    <a:pt x="0" y="2455291"/>
                  </a:cubicBezTo>
                  <a:cubicBezTo>
                    <a:pt x="0" y="2445893"/>
                    <a:pt x="7620" y="2438400"/>
                    <a:pt x="16891" y="2438400"/>
                  </a:cubicBezTo>
                  <a:cubicBezTo>
                    <a:pt x="26162" y="2438400"/>
                    <a:pt x="33782" y="2446020"/>
                    <a:pt x="33782" y="2455291"/>
                  </a:cubicBezTo>
                  <a:cubicBezTo>
                    <a:pt x="33909" y="3792728"/>
                    <a:pt x="1117981" y="4876800"/>
                    <a:pt x="2455291" y="4876800"/>
                  </a:cubicBezTo>
                  <a:cubicBezTo>
                    <a:pt x="3792728" y="4876800"/>
                    <a:pt x="4876800" y="3792728"/>
                    <a:pt x="4876800" y="2455291"/>
                  </a:cubicBezTo>
                  <a:cubicBezTo>
                    <a:pt x="4876800" y="1117981"/>
                    <a:pt x="3792728" y="33909"/>
                    <a:pt x="2455291" y="33909"/>
                  </a:cubicBezTo>
                  <a:lnTo>
                    <a:pt x="2455291" y="16891"/>
                  </a:lnTo>
                  <a:lnTo>
                    <a:pt x="2455291" y="33909"/>
                  </a:lnTo>
                  <a:cubicBezTo>
                    <a:pt x="1117981" y="33909"/>
                    <a:pt x="33909" y="1117981"/>
                    <a:pt x="33909" y="2455291"/>
                  </a:cubicBezTo>
                  <a:close/>
                </a:path>
              </a:pathLst>
            </a:custGeom>
            <a:solidFill>
              <a:srgbClr val="0D9488">
                <a:alpha val="12157"/>
              </a:srgbClr>
            </a:solidFill>
          </p:spPr>
        </p:sp>
      </p:grpSp>
      <p:grpSp>
        <p:nvGrpSpPr>
          <p:cNvPr name="Group 11" id="11"/>
          <p:cNvGrpSpPr/>
          <p:nvPr/>
        </p:nvGrpSpPr>
        <p:grpSpPr>
          <a:xfrm rot="0">
            <a:off x="14800583" y="5290823"/>
            <a:ext cx="2402843" cy="2402843"/>
            <a:chOff x="0" y="0"/>
            <a:chExt cx="3203791" cy="3203791"/>
          </a:xfrm>
        </p:grpSpPr>
        <p:sp>
          <p:nvSpPr>
            <p:cNvPr name="Freeform 12" id="12"/>
            <p:cNvSpPr/>
            <p:nvPr/>
          </p:nvSpPr>
          <p:spPr>
            <a:xfrm flipH="false" flipV="false" rot="0">
              <a:off x="16891" y="16891"/>
              <a:ext cx="3169920" cy="3169920"/>
            </a:xfrm>
            <a:custGeom>
              <a:avLst/>
              <a:gdLst/>
              <a:ahLst/>
              <a:cxnLst/>
              <a:rect r="r" b="b" t="t" l="l"/>
              <a:pathLst>
                <a:path h="3169920" w="3169920">
                  <a:moveTo>
                    <a:pt x="0" y="1584960"/>
                  </a:moveTo>
                  <a:cubicBezTo>
                    <a:pt x="0" y="709549"/>
                    <a:pt x="709549" y="0"/>
                    <a:pt x="1584960" y="0"/>
                  </a:cubicBezTo>
                  <a:cubicBezTo>
                    <a:pt x="2460371" y="0"/>
                    <a:pt x="3169920" y="709549"/>
                    <a:pt x="3169920" y="1584960"/>
                  </a:cubicBezTo>
                  <a:cubicBezTo>
                    <a:pt x="3169920" y="2460371"/>
                    <a:pt x="2460371" y="3169920"/>
                    <a:pt x="1584960" y="3169920"/>
                  </a:cubicBezTo>
                  <a:cubicBezTo>
                    <a:pt x="709549" y="3169920"/>
                    <a:pt x="0" y="2460371"/>
                    <a:pt x="0" y="1584960"/>
                  </a:cubicBezTo>
                  <a:close/>
                </a:path>
              </a:pathLst>
            </a:custGeom>
            <a:solidFill>
              <a:srgbClr val="14B8A6">
                <a:alpha val="4706"/>
              </a:srgbClr>
            </a:solidFill>
          </p:spPr>
        </p:sp>
        <p:sp>
          <p:nvSpPr>
            <p:cNvPr name="Freeform 13" id="13"/>
            <p:cNvSpPr/>
            <p:nvPr/>
          </p:nvSpPr>
          <p:spPr>
            <a:xfrm flipH="false" flipV="false" rot="0">
              <a:off x="0" y="0"/>
              <a:ext cx="3203702" cy="3203702"/>
            </a:xfrm>
            <a:custGeom>
              <a:avLst/>
              <a:gdLst/>
              <a:ahLst/>
              <a:cxnLst/>
              <a:rect r="r" b="b" t="t" l="l"/>
              <a:pathLst>
                <a:path h="3203702" w="3203702">
                  <a:moveTo>
                    <a:pt x="0" y="1601851"/>
                  </a:moveTo>
                  <a:cubicBezTo>
                    <a:pt x="0" y="717169"/>
                    <a:pt x="717169" y="0"/>
                    <a:pt x="1601851" y="0"/>
                  </a:cubicBezTo>
                  <a:lnTo>
                    <a:pt x="1601851" y="16891"/>
                  </a:lnTo>
                  <a:lnTo>
                    <a:pt x="1601851" y="0"/>
                  </a:lnTo>
                  <a:cubicBezTo>
                    <a:pt x="2486533" y="0"/>
                    <a:pt x="3203702" y="717169"/>
                    <a:pt x="3203702" y="1601851"/>
                  </a:cubicBezTo>
                  <a:cubicBezTo>
                    <a:pt x="3203702" y="2486533"/>
                    <a:pt x="2486533" y="3203702"/>
                    <a:pt x="1601851" y="3203702"/>
                  </a:cubicBezTo>
                  <a:lnTo>
                    <a:pt x="1601851" y="3186811"/>
                  </a:lnTo>
                  <a:lnTo>
                    <a:pt x="1601851" y="3203702"/>
                  </a:lnTo>
                  <a:cubicBezTo>
                    <a:pt x="717169" y="3203829"/>
                    <a:pt x="0" y="2486533"/>
                    <a:pt x="0" y="1601851"/>
                  </a:cubicBezTo>
                  <a:lnTo>
                    <a:pt x="16891" y="1601851"/>
                  </a:lnTo>
                  <a:lnTo>
                    <a:pt x="31115" y="1610995"/>
                  </a:lnTo>
                  <a:cubicBezTo>
                    <a:pt x="27051" y="1617345"/>
                    <a:pt x="19304" y="1620266"/>
                    <a:pt x="12065" y="1618107"/>
                  </a:cubicBezTo>
                  <a:cubicBezTo>
                    <a:pt x="4826" y="1615948"/>
                    <a:pt x="0" y="1609471"/>
                    <a:pt x="0" y="1601851"/>
                  </a:cubicBezTo>
                  <a:moveTo>
                    <a:pt x="33909" y="1601851"/>
                  </a:moveTo>
                  <a:lnTo>
                    <a:pt x="16891" y="1601851"/>
                  </a:lnTo>
                  <a:lnTo>
                    <a:pt x="2667" y="1592707"/>
                  </a:lnTo>
                  <a:cubicBezTo>
                    <a:pt x="6731" y="1586357"/>
                    <a:pt x="14478" y="1583436"/>
                    <a:pt x="21717" y="1585595"/>
                  </a:cubicBezTo>
                  <a:cubicBezTo>
                    <a:pt x="28956" y="1587754"/>
                    <a:pt x="33909" y="1594358"/>
                    <a:pt x="33909" y="1601851"/>
                  </a:cubicBezTo>
                  <a:cubicBezTo>
                    <a:pt x="33909" y="2467864"/>
                    <a:pt x="735965" y="3169920"/>
                    <a:pt x="1601978" y="3169920"/>
                  </a:cubicBezTo>
                  <a:cubicBezTo>
                    <a:pt x="2467991" y="3169920"/>
                    <a:pt x="3170047" y="2467864"/>
                    <a:pt x="3170047" y="1601851"/>
                  </a:cubicBezTo>
                  <a:lnTo>
                    <a:pt x="3186938" y="1601851"/>
                  </a:lnTo>
                  <a:lnTo>
                    <a:pt x="3170047" y="1601851"/>
                  </a:lnTo>
                  <a:cubicBezTo>
                    <a:pt x="3170047" y="735838"/>
                    <a:pt x="2467991" y="33782"/>
                    <a:pt x="1601978" y="33782"/>
                  </a:cubicBezTo>
                  <a:lnTo>
                    <a:pt x="1601978" y="16891"/>
                  </a:lnTo>
                  <a:lnTo>
                    <a:pt x="1601978" y="33909"/>
                  </a:lnTo>
                  <a:cubicBezTo>
                    <a:pt x="735838" y="33909"/>
                    <a:pt x="33909" y="735838"/>
                    <a:pt x="33909" y="1601851"/>
                  </a:cubicBezTo>
                  <a:close/>
                </a:path>
              </a:pathLst>
            </a:custGeom>
            <a:solidFill>
              <a:srgbClr val="14B8A6">
                <a:alpha val="12157"/>
              </a:srgbClr>
            </a:solidFill>
          </p:spPr>
        </p:sp>
      </p:grpSp>
      <p:grpSp>
        <p:nvGrpSpPr>
          <p:cNvPr name="Group 14" id="14"/>
          <p:cNvGrpSpPr/>
          <p:nvPr/>
        </p:nvGrpSpPr>
        <p:grpSpPr>
          <a:xfrm rot="0">
            <a:off x="13520423" y="6936743"/>
            <a:ext cx="1488443" cy="1488443"/>
            <a:chOff x="0" y="0"/>
            <a:chExt cx="1984591" cy="1984591"/>
          </a:xfrm>
        </p:grpSpPr>
        <p:sp>
          <p:nvSpPr>
            <p:cNvPr name="Freeform 15" id="15"/>
            <p:cNvSpPr/>
            <p:nvPr/>
          </p:nvSpPr>
          <p:spPr>
            <a:xfrm flipH="false" flipV="false" rot="0">
              <a:off x="16891" y="16891"/>
              <a:ext cx="1950720" cy="1950720"/>
            </a:xfrm>
            <a:custGeom>
              <a:avLst/>
              <a:gdLst/>
              <a:ahLst/>
              <a:cxnLst/>
              <a:rect r="r" b="b" t="t" l="l"/>
              <a:pathLst>
                <a:path h="1950720" w="1950720">
                  <a:moveTo>
                    <a:pt x="0" y="975360"/>
                  </a:moveTo>
                  <a:cubicBezTo>
                    <a:pt x="0" y="436626"/>
                    <a:pt x="436626" y="0"/>
                    <a:pt x="975360" y="0"/>
                  </a:cubicBezTo>
                  <a:cubicBezTo>
                    <a:pt x="1514094" y="0"/>
                    <a:pt x="1950720" y="436626"/>
                    <a:pt x="1950720" y="975360"/>
                  </a:cubicBezTo>
                  <a:cubicBezTo>
                    <a:pt x="1950720" y="1514094"/>
                    <a:pt x="1514094" y="1950720"/>
                    <a:pt x="975360" y="1950720"/>
                  </a:cubicBezTo>
                  <a:cubicBezTo>
                    <a:pt x="436626" y="1950720"/>
                    <a:pt x="0" y="1514094"/>
                    <a:pt x="0" y="975360"/>
                  </a:cubicBezTo>
                  <a:close/>
                </a:path>
              </a:pathLst>
            </a:custGeom>
            <a:solidFill>
              <a:srgbClr val="0D9488">
                <a:alpha val="1961"/>
              </a:srgbClr>
            </a:solidFill>
          </p:spPr>
        </p:sp>
        <p:sp>
          <p:nvSpPr>
            <p:cNvPr name="Freeform 16" id="16"/>
            <p:cNvSpPr/>
            <p:nvPr/>
          </p:nvSpPr>
          <p:spPr>
            <a:xfrm flipH="false" flipV="false" rot="0">
              <a:off x="0" y="0"/>
              <a:ext cx="1984502" cy="1984502"/>
            </a:xfrm>
            <a:custGeom>
              <a:avLst/>
              <a:gdLst/>
              <a:ahLst/>
              <a:cxnLst/>
              <a:rect r="r" b="b" t="t" l="l"/>
              <a:pathLst>
                <a:path h="1984502" w="1984502">
                  <a:moveTo>
                    <a:pt x="0" y="992251"/>
                  </a:moveTo>
                  <a:cubicBezTo>
                    <a:pt x="0" y="444246"/>
                    <a:pt x="444246" y="0"/>
                    <a:pt x="992251" y="0"/>
                  </a:cubicBezTo>
                  <a:lnTo>
                    <a:pt x="992251" y="16891"/>
                  </a:lnTo>
                  <a:lnTo>
                    <a:pt x="992251" y="0"/>
                  </a:lnTo>
                  <a:cubicBezTo>
                    <a:pt x="1540256" y="0"/>
                    <a:pt x="1984502" y="444246"/>
                    <a:pt x="1984502" y="992251"/>
                  </a:cubicBezTo>
                  <a:lnTo>
                    <a:pt x="1967611" y="992251"/>
                  </a:lnTo>
                  <a:lnTo>
                    <a:pt x="1984502" y="992251"/>
                  </a:lnTo>
                  <a:cubicBezTo>
                    <a:pt x="1984502" y="1540256"/>
                    <a:pt x="1540256" y="1984502"/>
                    <a:pt x="992251" y="1984502"/>
                  </a:cubicBezTo>
                  <a:lnTo>
                    <a:pt x="992251" y="1967611"/>
                  </a:lnTo>
                  <a:lnTo>
                    <a:pt x="992251" y="1984502"/>
                  </a:lnTo>
                  <a:cubicBezTo>
                    <a:pt x="444246" y="1984629"/>
                    <a:pt x="0" y="1540383"/>
                    <a:pt x="0" y="992251"/>
                  </a:cubicBezTo>
                  <a:lnTo>
                    <a:pt x="16891" y="992251"/>
                  </a:lnTo>
                  <a:lnTo>
                    <a:pt x="33909" y="992251"/>
                  </a:lnTo>
                  <a:lnTo>
                    <a:pt x="16891" y="992251"/>
                  </a:lnTo>
                  <a:lnTo>
                    <a:pt x="0" y="992251"/>
                  </a:lnTo>
                  <a:moveTo>
                    <a:pt x="33909" y="992251"/>
                  </a:moveTo>
                  <a:cubicBezTo>
                    <a:pt x="33909" y="1001649"/>
                    <a:pt x="26289" y="1009142"/>
                    <a:pt x="17018" y="1009142"/>
                  </a:cubicBezTo>
                  <a:cubicBezTo>
                    <a:pt x="7747" y="1009142"/>
                    <a:pt x="0" y="1001649"/>
                    <a:pt x="0" y="992251"/>
                  </a:cubicBezTo>
                  <a:cubicBezTo>
                    <a:pt x="0" y="982853"/>
                    <a:pt x="7620" y="975360"/>
                    <a:pt x="16891" y="975360"/>
                  </a:cubicBezTo>
                  <a:cubicBezTo>
                    <a:pt x="26162" y="975360"/>
                    <a:pt x="33782" y="982980"/>
                    <a:pt x="33782" y="992251"/>
                  </a:cubicBezTo>
                  <a:cubicBezTo>
                    <a:pt x="33782" y="1521587"/>
                    <a:pt x="462915" y="1950720"/>
                    <a:pt x="992251" y="1950720"/>
                  </a:cubicBezTo>
                  <a:cubicBezTo>
                    <a:pt x="1521587" y="1950720"/>
                    <a:pt x="1950720" y="1521587"/>
                    <a:pt x="1950720" y="992251"/>
                  </a:cubicBezTo>
                  <a:cubicBezTo>
                    <a:pt x="1950720" y="462915"/>
                    <a:pt x="1521587" y="33782"/>
                    <a:pt x="992251" y="33782"/>
                  </a:cubicBezTo>
                  <a:lnTo>
                    <a:pt x="992251" y="16891"/>
                  </a:lnTo>
                  <a:lnTo>
                    <a:pt x="992251" y="33909"/>
                  </a:lnTo>
                  <a:cubicBezTo>
                    <a:pt x="462915" y="33909"/>
                    <a:pt x="33909" y="462915"/>
                    <a:pt x="33909" y="992251"/>
                  </a:cubicBezTo>
                  <a:close/>
                </a:path>
              </a:pathLst>
            </a:custGeom>
            <a:solidFill>
              <a:srgbClr val="0D9488">
                <a:alpha val="7451"/>
              </a:srgbClr>
            </a:solidFill>
          </p:spPr>
        </p:sp>
      </p:grpSp>
      <p:grpSp>
        <p:nvGrpSpPr>
          <p:cNvPr name="Group 17" id="17"/>
          <p:cNvGrpSpPr/>
          <p:nvPr/>
        </p:nvGrpSpPr>
        <p:grpSpPr>
          <a:xfrm rot="0">
            <a:off x="755399" y="901703"/>
            <a:ext cx="4780283" cy="647195"/>
            <a:chOff x="0" y="0"/>
            <a:chExt cx="6373711" cy="862927"/>
          </a:xfrm>
        </p:grpSpPr>
        <p:sp>
          <p:nvSpPr>
            <p:cNvPr name="Freeform 18" id="18"/>
            <p:cNvSpPr/>
            <p:nvPr/>
          </p:nvSpPr>
          <p:spPr>
            <a:xfrm flipH="false" flipV="false" rot="0">
              <a:off x="16891" y="16891"/>
              <a:ext cx="6339840" cy="829056"/>
            </a:xfrm>
            <a:custGeom>
              <a:avLst/>
              <a:gdLst/>
              <a:ahLst/>
              <a:cxnLst/>
              <a:rect r="r" b="b" t="t" l="l"/>
              <a:pathLst>
                <a:path h="829056" w="6339840">
                  <a:moveTo>
                    <a:pt x="0" y="121920"/>
                  </a:moveTo>
                  <a:cubicBezTo>
                    <a:pt x="0" y="54610"/>
                    <a:pt x="56515" y="0"/>
                    <a:pt x="126238" y="0"/>
                  </a:cubicBezTo>
                  <a:lnTo>
                    <a:pt x="6213602" y="0"/>
                  </a:lnTo>
                  <a:cubicBezTo>
                    <a:pt x="6283325" y="0"/>
                    <a:pt x="6339840" y="54610"/>
                    <a:pt x="6339840" y="121920"/>
                  </a:cubicBezTo>
                  <a:lnTo>
                    <a:pt x="6339840" y="707136"/>
                  </a:lnTo>
                  <a:cubicBezTo>
                    <a:pt x="6339840" y="774446"/>
                    <a:pt x="6283325" y="829056"/>
                    <a:pt x="6213602" y="829056"/>
                  </a:cubicBezTo>
                  <a:lnTo>
                    <a:pt x="126238" y="829056"/>
                  </a:lnTo>
                  <a:cubicBezTo>
                    <a:pt x="56515" y="829056"/>
                    <a:pt x="0" y="774446"/>
                    <a:pt x="0" y="707136"/>
                  </a:cubicBezTo>
                  <a:close/>
                </a:path>
              </a:pathLst>
            </a:custGeom>
            <a:solidFill>
              <a:srgbClr val="0D9488"/>
            </a:solidFill>
          </p:spPr>
        </p:sp>
        <p:sp>
          <p:nvSpPr>
            <p:cNvPr name="Freeform 19" id="19"/>
            <p:cNvSpPr/>
            <p:nvPr/>
          </p:nvSpPr>
          <p:spPr>
            <a:xfrm flipH="false" flipV="false" rot="0">
              <a:off x="0" y="0"/>
              <a:ext cx="6373622" cy="862838"/>
            </a:xfrm>
            <a:custGeom>
              <a:avLst/>
              <a:gdLst/>
              <a:ahLst/>
              <a:cxnLst/>
              <a:rect r="r" b="b" t="t" l="l"/>
              <a:pathLst>
                <a:path h="862838" w="6373622">
                  <a:moveTo>
                    <a:pt x="0" y="138811"/>
                  </a:moveTo>
                  <a:cubicBezTo>
                    <a:pt x="0" y="61595"/>
                    <a:pt x="64643" y="0"/>
                    <a:pt x="143129" y="0"/>
                  </a:cubicBezTo>
                  <a:lnTo>
                    <a:pt x="6230493" y="0"/>
                  </a:lnTo>
                  <a:lnTo>
                    <a:pt x="6230493" y="16891"/>
                  </a:lnTo>
                  <a:lnTo>
                    <a:pt x="6230493" y="0"/>
                  </a:lnTo>
                  <a:cubicBezTo>
                    <a:pt x="6308979" y="0"/>
                    <a:pt x="6373622" y="61595"/>
                    <a:pt x="6373622" y="138811"/>
                  </a:cubicBezTo>
                  <a:lnTo>
                    <a:pt x="6356731" y="138811"/>
                  </a:lnTo>
                  <a:lnTo>
                    <a:pt x="6373622" y="138811"/>
                  </a:lnTo>
                  <a:lnTo>
                    <a:pt x="6373622" y="724027"/>
                  </a:lnTo>
                  <a:lnTo>
                    <a:pt x="6356731" y="724027"/>
                  </a:lnTo>
                  <a:lnTo>
                    <a:pt x="6373622" y="724027"/>
                  </a:lnTo>
                  <a:cubicBezTo>
                    <a:pt x="6373622" y="801243"/>
                    <a:pt x="6308979" y="862838"/>
                    <a:pt x="6230493" y="862838"/>
                  </a:cubicBezTo>
                  <a:lnTo>
                    <a:pt x="6230493" y="845947"/>
                  </a:lnTo>
                  <a:lnTo>
                    <a:pt x="6230493" y="862838"/>
                  </a:lnTo>
                  <a:lnTo>
                    <a:pt x="143129" y="862838"/>
                  </a:lnTo>
                  <a:lnTo>
                    <a:pt x="143129" y="845947"/>
                  </a:lnTo>
                  <a:lnTo>
                    <a:pt x="143129" y="862838"/>
                  </a:lnTo>
                  <a:cubicBezTo>
                    <a:pt x="64643" y="862965"/>
                    <a:pt x="0" y="801243"/>
                    <a:pt x="0" y="724027"/>
                  </a:cubicBezTo>
                  <a:lnTo>
                    <a:pt x="0" y="138811"/>
                  </a:lnTo>
                  <a:lnTo>
                    <a:pt x="16891" y="138811"/>
                  </a:lnTo>
                  <a:lnTo>
                    <a:pt x="0" y="138811"/>
                  </a:lnTo>
                  <a:moveTo>
                    <a:pt x="33909" y="138811"/>
                  </a:moveTo>
                  <a:lnTo>
                    <a:pt x="33909" y="724027"/>
                  </a:lnTo>
                  <a:lnTo>
                    <a:pt x="16891" y="724027"/>
                  </a:lnTo>
                  <a:lnTo>
                    <a:pt x="33909" y="724027"/>
                  </a:lnTo>
                  <a:cubicBezTo>
                    <a:pt x="33909" y="781431"/>
                    <a:pt x="82296" y="829056"/>
                    <a:pt x="143256" y="829056"/>
                  </a:cubicBezTo>
                  <a:lnTo>
                    <a:pt x="6230493" y="829056"/>
                  </a:lnTo>
                  <a:cubicBezTo>
                    <a:pt x="6291453" y="829056"/>
                    <a:pt x="6339840" y="781558"/>
                    <a:pt x="6339840" y="724027"/>
                  </a:cubicBezTo>
                  <a:lnTo>
                    <a:pt x="6339840" y="138811"/>
                  </a:lnTo>
                  <a:cubicBezTo>
                    <a:pt x="6339840" y="81407"/>
                    <a:pt x="6291453" y="33782"/>
                    <a:pt x="6230493" y="33782"/>
                  </a:cubicBezTo>
                  <a:lnTo>
                    <a:pt x="143129" y="33782"/>
                  </a:lnTo>
                  <a:lnTo>
                    <a:pt x="143129" y="16891"/>
                  </a:lnTo>
                  <a:lnTo>
                    <a:pt x="143129" y="33909"/>
                  </a:lnTo>
                  <a:cubicBezTo>
                    <a:pt x="82169" y="33909"/>
                    <a:pt x="33782" y="81407"/>
                    <a:pt x="33782" y="138938"/>
                  </a:cubicBezTo>
                  <a:close/>
                </a:path>
              </a:pathLst>
            </a:custGeom>
            <a:solidFill>
              <a:srgbClr val="0D9488"/>
            </a:solidFill>
          </p:spPr>
        </p:sp>
      </p:grpSp>
      <p:grpSp>
        <p:nvGrpSpPr>
          <p:cNvPr name="Group 20" id="20"/>
          <p:cNvGrpSpPr/>
          <p:nvPr/>
        </p:nvGrpSpPr>
        <p:grpSpPr>
          <a:xfrm rot="0">
            <a:off x="768096" y="914400"/>
            <a:ext cx="4754880" cy="621792"/>
            <a:chOff x="0" y="0"/>
            <a:chExt cx="6339840" cy="829056"/>
          </a:xfrm>
        </p:grpSpPr>
        <p:sp>
          <p:nvSpPr>
            <p:cNvPr name="Freeform 21" id="21"/>
            <p:cNvSpPr/>
            <p:nvPr/>
          </p:nvSpPr>
          <p:spPr>
            <a:xfrm flipH="false" flipV="false" rot="0">
              <a:off x="0" y="0"/>
              <a:ext cx="6339840" cy="829056"/>
            </a:xfrm>
            <a:custGeom>
              <a:avLst/>
              <a:gdLst/>
              <a:ahLst/>
              <a:cxnLst/>
              <a:rect r="r" b="b" t="t" l="l"/>
              <a:pathLst>
                <a:path h="829056" w="6339840">
                  <a:moveTo>
                    <a:pt x="0" y="0"/>
                  </a:moveTo>
                  <a:lnTo>
                    <a:pt x="6339840" y="0"/>
                  </a:lnTo>
                  <a:lnTo>
                    <a:pt x="6339840" y="829056"/>
                  </a:lnTo>
                  <a:lnTo>
                    <a:pt x="0" y="829056"/>
                  </a:lnTo>
                  <a:close/>
                </a:path>
              </a:pathLst>
            </a:custGeom>
            <a:blipFill>
              <a:blip r:embed="rId3">
                <a:alphaModFix amt="0"/>
              </a:blip>
              <a:stretch>
                <a:fillRect l="0" t="-99003" r="0" b="-99003"/>
              </a:stretch>
            </a:blipFill>
          </p:spPr>
        </p:sp>
        <p:sp>
          <p:nvSpPr>
            <p:cNvPr name="TextBox 22" id="22"/>
            <p:cNvSpPr txBox="true"/>
            <p:nvPr/>
          </p:nvSpPr>
          <p:spPr>
            <a:xfrm>
              <a:off x="0" y="-38100"/>
              <a:ext cx="6339840" cy="867156"/>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AI IN HEALTH HACKATHON 2026</a:t>
              </a:r>
            </a:p>
          </p:txBody>
        </p:sp>
      </p:grpSp>
      <p:grpSp>
        <p:nvGrpSpPr>
          <p:cNvPr name="Group 23" id="23"/>
          <p:cNvGrpSpPr/>
          <p:nvPr/>
        </p:nvGrpSpPr>
        <p:grpSpPr>
          <a:xfrm rot="0">
            <a:off x="694944" y="1920240"/>
            <a:ext cx="12070080" cy="1828800"/>
            <a:chOff x="0" y="0"/>
            <a:chExt cx="16093440" cy="2438400"/>
          </a:xfrm>
        </p:grpSpPr>
        <p:sp>
          <p:nvSpPr>
            <p:cNvPr name="Freeform 24" id="24"/>
            <p:cNvSpPr/>
            <p:nvPr/>
          </p:nvSpPr>
          <p:spPr>
            <a:xfrm flipH="false" flipV="false" rot="0">
              <a:off x="0" y="0"/>
              <a:ext cx="16093439" cy="2438400"/>
            </a:xfrm>
            <a:custGeom>
              <a:avLst/>
              <a:gdLst/>
              <a:ahLst/>
              <a:cxnLst/>
              <a:rect r="r" b="b" t="t" l="l"/>
              <a:pathLst>
                <a:path h="2438400" w="16093439">
                  <a:moveTo>
                    <a:pt x="0" y="0"/>
                  </a:moveTo>
                  <a:lnTo>
                    <a:pt x="16093439" y="0"/>
                  </a:lnTo>
                  <a:lnTo>
                    <a:pt x="16093439" y="2438400"/>
                  </a:lnTo>
                  <a:lnTo>
                    <a:pt x="0" y="2438400"/>
                  </a:lnTo>
                  <a:close/>
                </a:path>
              </a:pathLst>
            </a:custGeom>
            <a:blipFill>
              <a:blip r:embed="rId3">
                <a:alphaModFix amt="0"/>
              </a:blip>
              <a:stretch>
                <a:fillRect l="0" t="-78601" r="0" b="-78601"/>
              </a:stretch>
            </a:blipFill>
          </p:spPr>
        </p:sp>
        <p:sp>
          <p:nvSpPr>
            <p:cNvPr name="TextBox 25" id="25"/>
            <p:cNvSpPr txBox="true"/>
            <p:nvPr/>
          </p:nvSpPr>
          <p:spPr>
            <a:xfrm>
              <a:off x="0" y="-266700"/>
              <a:ext cx="16093440" cy="2705100"/>
            </a:xfrm>
            <a:prstGeom prst="rect">
              <a:avLst/>
            </a:prstGeom>
          </p:spPr>
          <p:txBody>
            <a:bodyPr anchor="ctr" rtlCol="false" tIns="0" lIns="0" bIns="0" rIns="0"/>
            <a:lstStyle/>
            <a:p>
              <a:pPr algn="l">
                <a:lnSpc>
                  <a:spcPts val="15840"/>
                </a:lnSpc>
              </a:pPr>
              <a:r>
                <a:rPr lang="en-US" b="true" sz="13200" spc="600">
                  <a:solidFill>
                    <a:srgbClr val="FFFFFF"/>
                  </a:solidFill>
                  <a:latin typeface="Calibri (MS) Bold"/>
                  <a:ea typeface="Calibri (MS) Bold"/>
                  <a:cs typeface="Calibri (MS) Bold"/>
                  <a:sym typeface="Calibri (MS) Bold"/>
                </a:rPr>
                <a:t>MediPATH</a:t>
              </a:r>
            </a:p>
          </p:txBody>
        </p:sp>
      </p:grpSp>
      <p:grpSp>
        <p:nvGrpSpPr>
          <p:cNvPr name="Group 26" id="26"/>
          <p:cNvGrpSpPr/>
          <p:nvPr/>
        </p:nvGrpSpPr>
        <p:grpSpPr>
          <a:xfrm rot="0">
            <a:off x="682247" y="3644903"/>
            <a:ext cx="2768603" cy="153419"/>
            <a:chOff x="0" y="0"/>
            <a:chExt cx="3691471" cy="204559"/>
          </a:xfrm>
        </p:grpSpPr>
        <p:sp>
          <p:nvSpPr>
            <p:cNvPr name="Freeform 27" id="27"/>
            <p:cNvSpPr/>
            <p:nvPr/>
          </p:nvSpPr>
          <p:spPr>
            <a:xfrm flipH="false" flipV="false" rot="0">
              <a:off x="16891" y="16891"/>
              <a:ext cx="3657600" cy="170688"/>
            </a:xfrm>
            <a:custGeom>
              <a:avLst/>
              <a:gdLst/>
              <a:ahLst/>
              <a:cxnLst/>
              <a:rect r="r" b="b" t="t" l="l"/>
              <a:pathLst>
                <a:path h="170688" w="3657600">
                  <a:moveTo>
                    <a:pt x="0" y="0"/>
                  </a:moveTo>
                  <a:lnTo>
                    <a:pt x="3657600" y="0"/>
                  </a:lnTo>
                  <a:lnTo>
                    <a:pt x="3657600" y="170688"/>
                  </a:lnTo>
                  <a:lnTo>
                    <a:pt x="0" y="170688"/>
                  </a:lnTo>
                  <a:close/>
                </a:path>
              </a:pathLst>
            </a:custGeom>
            <a:solidFill>
              <a:srgbClr val="0D9488"/>
            </a:solidFill>
          </p:spPr>
        </p:sp>
        <p:sp>
          <p:nvSpPr>
            <p:cNvPr name="Freeform 28" id="28"/>
            <p:cNvSpPr/>
            <p:nvPr/>
          </p:nvSpPr>
          <p:spPr>
            <a:xfrm flipH="false" flipV="false" rot="0">
              <a:off x="0" y="0"/>
              <a:ext cx="3691382" cy="204472"/>
            </a:xfrm>
            <a:custGeom>
              <a:avLst/>
              <a:gdLst/>
              <a:ahLst/>
              <a:cxnLst/>
              <a:rect r="r" b="b" t="t" l="l"/>
              <a:pathLst>
                <a:path h="204472" w="3691382">
                  <a:moveTo>
                    <a:pt x="16891" y="0"/>
                  </a:moveTo>
                  <a:lnTo>
                    <a:pt x="3674491" y="0"/>
                  </a:lnTo>
                  <a:cubicBezTo>
                    <a:pt x="3683889" y="0"/>
                    <a:pt x="3691382" y="7620"/>
                    <a:pt x="3691382" y="16891"/>
                  </a:cubicBezTo>
                  <a:lnTo>
                    <a:pt x="3691382" y="187579"/>
                  </a:lnTo>
                  <a:cubicBezTo>
                    <a:pt x="3691382" y="196977"/>
                    <a:pt x="3683762" y="204470"/>
                    <a:pt x="3674491"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3674491" y="170688"/>
                  </a:lnTo>
                  <a:lnTo>
                    <a:pt x="3674491" y="187579"/>
                  </a:lnTo>
                  <a:lnTo>
                    <a:pt x="3657600" y="187579"/>
                  </a:lnTo>
                  <a:lnTo>
                    <a:pt x="3657600" y="16891"/>
                  </a:lnTo>
                  <a:lnTo>
                    <a:pt x="3674491" y="16891"/>
                  </a:lnTo>
                  <a:lnTo>
                    <a:pt x="3674491" y="33909"/>
                  </a:lnTo>
                  <a:lnTo>
                    <a:pt x="16891" y="33909"/>
                  </a:lnTo>
                  <a:close/>
                </a:path>
              </a:pathLst>
            </a:custGeom>
            <a:solidFill>
              <a:srgbClr val="0D9488"/>
            </a:solidFill>
          </p:spPr>
        </p:sp>
      </p:grpSp>
      <p:grpSp>
        <p:nvGrpSpPr>
          <p:cNvPr name="Group 29" id="29"/>
          <p:cNvGrpSpPr/>
          <p:nvPr/>
        </p:nvGrpSpPr>
        <p:grpSpPr>
          <a:xfrm rot="0">
            <a:off x="694944" y="3986784"/>
            <a:ext cx="12070080" cy="768096"/>
            <a:chOff x="0" y="0"/>
            <a:chExt cx="16093440" cy="1024128"/>
          </a:xfrm>
        </p:grpSpPr>
        <p:sp>
          <p:nvSpPr>
            <p:cNvPr name="Freeform 30" id="30"/>
            <p:cNvSpPr/>
            <p:nvPr/>
          </p:nvSpPr>
          <p:spPr>
            <a:xfrm flipH="false" flipV="false" rot="0">
              <a:off x="0" y="0"/>
              <a:ext cx="16093439" cy="1024128"/>
            </a:xfrm>
            <a:custGeom>
              <a:avLst/>
              <a:gdLst/>
              <a:ahLst/>
              <a:cxnLst/>
              <a:rect r="r" b="b" t="t" l="l"/>
              <a:pathLst>
                <a:path h="1024128" w="16093439">
                  <a:moveTo>
                    <a:pt x="0" y="0"/>
                  </a:moveTo>
                  <a:lnTo>
                    <a:pt x="16093439" y="0"/>
                  </a:lnTo>
                  <a:lnTo>
                    <a:pt x="16093439" y="1024128"/>
                  </a:lnTo>
                  <a:lnTo>
                    <a:pt x="0" y="1024128"/>
                  </a:lnTo>
                  <a:close/>
                </a:path>
              </a:pathLst>
            </a:custGeom>
            <a:blipFill>
              <a:blip r:embed="rId3">
                <a:alphaModFix amt="0"/>
              </a:blip>
              <a:stretch>
                <a:fillRect l="0" t="-256193" r="0" b="-256193"/>
              </a:stretch>
            </a:blipFill>
          </p:spPr>
        </p:sp>
        <p:sp>
          <p:nvSpPr>
            <p:cNvPr name="TextBox 31" id="31"/>
            <p:cNvSpPr txBox="true"/>
            <p:nvPr/>
          </p:nvSpPr>
          <p:spPr>
            <a:xfrm>
              <a:off x="0" y="-66675"/>
              <a:ext cx="16093440" cy="1090803"/>
            </a:xfrm>
            <a:prstGeom prst="rect">
              <a:avLst/>
            </a:prstGeom>
          </p:spPr>
          <p:txBody>
            <a:bodyPr anchor="ctr" rtlCol="false" tIns="0" lIns="0" bIns="0" rIns="0"/>
            <a:lstStyle/>
            <a:p>
              <a:pPr algn="l">
                <a:lnSpc>
                  <a:spcPts val="4320"/>
                </a:lnSpc>
              </a:pPr>
              <a:r>
                <a:rPr lang="en-US" sz="3600">
                  <a:solidFill>
                    <a:srgbClr val="14B8A6"/>
                  </a:solidFill>
                  <a:latin typeface="Calibri (MS)"/>
                  <a:ea typeface="Calibri (MS)"/>
                  <a:cs typeface="Calibri (MS)"/>
                  <a:sym typeface="Calibri (MS)"/>
                </a:rPr>
                <a:t>Predictive Disease Intelligence System</a:t>
              </a:r>
            </a:p>
          </p:txBody>
        </p:sp>
      </p:grpSp>
      <p:grpSp>
        <p:nvGrpSpPr>
          <p:cNvPr name="Group 32" id="32"/>
          <p:cNvGrpSpPr/>
          <p:nvPr/>
        </p:nvGrpSpPr>
        <p:grpSpPr>
          <a:xfrm rot="0">
            <a:off x="694944" y="4974336"/>
            <a:ext cx="11704320" cy="640080"/>
            <a:chOff x="0" y="0"/>
            <a:chExt cx="15605760" cy="853440"/>
          </a:xfrm>
        </p:grpSpPr>
        <p:sp>
          <p:nvSpPr>
            <p:cNvPr name="Freeform 33" id="33"/>
            <p:cNvSpPr/>
            <p:nvPr/>
          </p:nvSpPr>
          <p:spPr>
            <a:xfrm flipH="false" flipV="false" rot="0">
              <a:off x="0" y="0"/>
              <a:ext cx="15605761" cy="853440"/>
            </a:xfrm>
            <a:custGeom>
              <a:avLst/>
              <a:gdLst/>
              <a:ahLst/>
              <a:cxnLst/>
              <a:rect r="r" b="b" t="t" l="l"/>
              <a:pathLst>
                <a:path h="853440" w="15605761">
                  <a:moveTo>
                    <a:pt x="0" y="0"/>
                  </a:moveTo>
                  <a:lnTo>
                    <a:pt x="15605761" y="0"/>
                  </a:lnTo>
                  <a:lnTo>
                    <a:pt x="15605761" y="853440"/>
                  </a:lnTo>
                  <a:lnTo>
                    <a:pt x="0" y="853440"/>
                  </a:lnTo>
                  <a:close/>
                </a:path>
              </a:pathLst>
            </a:custGeom>
            <a:blipFill>
              <a:blip r:embed="rId3">
                <a:alphaModFix amt="0"/>
              </a:blip>
              <a:stretch>
                <a:fillRect l="0" t="-306297" r="0" b="-306297"/>
              </a:stretch>
            </a:blipFill>
          </p:spPr>
        </p:sp>
        <p:sp>
          <p:nvSpPr>
            <p:cNvPr name="TextBox 34" id="34"/>
            <p:cNvSpPr txBox="true"/>
            <p:nvPr/>
          </p:nvSpPr>
          <p:spPr>
            <a:xfrm>
              <a:off x="0" y="-38100"/>
              <a:ext cx="15605760" cy="891540"/>
            </a:xfrm>
            <a:prstGeom prst="rect">
              <a:avLst/>
            </a:prstGeom>
          </p:spPr>
          <p:txBody>
            <a:bodyPr anchor="ctr" rtlCol="false" tIns="0" lIns="0" bIns="0" rIns="0"/>
            <a:lstStyle/>
            <a:p>
              <a:pPr algn="l">
                <a:lnSpc>
                  <a:spcPts val="2879"/>
                </a:lnSpc>
              </a:pPr>
              <a:r>
                <a:rPr lang="en-US" sz="2400" i="true">
                  <a:solidFill>
                    <a:srgbClr val="94A3B8"/>
                  </a:solidFill>
                  <a:latin typeface="Calibri (MS) Italics"/>
                  <a:ea typeface="Calibri (MS) Italics"/>
                  <a:cs typeface="Calibri (MS) Italics"/>
                  <a:sym typeface="Calibri (MS) Italics"/>
                </a:rPr>
                <a:t>Helping doctors predict what comes next — not replacing them.</a:t>
              </a:r>
            </a:p>
          </p:txBody>
        </p:sp>
      </p:grpSp>
      <p:grpSp>
        <p:nvGrpSpPr>
          <p:cNvPr name="Group 35" id="35"/>
          <p:cNvGrpSpPr/>
          <p:nvPr/>
        </p:nvGrpSpPr>
        <p:grpSpPr>
          <a:xfrm rot="0">
            <a:off x="694944" y="5888736"/>
            <a:ext cx="2560320" cy="512064"/>
            <a:chOff x="0" y="0"/>
            <a:chExt cx="3413760" cy="682752"/>
          </a:xfrm>
        </p:grpSpPr>
        <p:sp>
          <p:nvSpPr>
            <p:cNvPr name="Freeform 36" id="36"/>
            <p:cNvSpPr/>
            <p:nvPr/>
          </p:nvSpPr>
          <p:spPr>
            <a:xfrm flipH="false" flipV="false" rot="0">
              <a:off x="0" y="0"/>
              <a:ext cx="3413760" cy="682752"/>
            </a:xfrm>
            <a:custGeom>
              <a:avLst/>
              <a:gdLst/>
              <a:ahLst/>
              <a:cxnLst/>
              <a:rect r="r" b="b" t="t" l="l"/>
              <a:pathLst>
                <a:path h="682752" w="3413760">
                  <a:moveTo>
                    <a:pt x="0" y="0"/>
                  </a:moveTo>
                  <a:lnTo>
                    <a:pt x="3413760" y="0"/>
                  </a:lnTo>
                  <a:lnTo>
                    <a:pt x="3413760" y="682752"/>
                  </a:lnTo>
                  <a:lnTo>
                    <a:pt x="0" y="682752"/>
                  </a:lnTo>
                  <a:close/>
                </a:path>
              </a:pathLst>
            </a:custGeom>
            <a:blipFill>
              <a:blip r:embed="rId3">
                <a:alphaModFix amt="0"/>
              </a:blip>
              <a:stretch>
                <a:fillRect l="0" t="-47425" r="0" b="-47425"/>
              </a:stretch>
            </a:blipFill>
          </p:spPr>
        </p:sp>
        <p:sp>
          <p:nvSpPr>
            <p:cNvPr name="TextBox 37" id="37"/>
            <p:cNvSpPr txBox="true"/>
            <p:nvPr/>
          </p:nvSpPr>
          <p:spPr>
            <a:xfrm>
              <a:off x="0" y="-28575"/>
              <a:ext cx="3413760" cy="711327"/>
            </a:xfrm>
            <a:prstGeom prst="rect">
              <a:avLst/>
            </a:prstGeom>
          </p:spPr>
          <p:txBody>
            <a:bodyPr anchor="ctr" rtlCol="false" tIns="0" lIns="0" bIns="0" rIns="0"/>
            <a:lstStyle/>
            <a:p>
              <a:pPr algn="l">
                <a:lnSpc>
                  <a:spcPts val="1920"/>
                </a:lnSpc>
              </a:pPr>
              <a:r>
                <a:rPr lang="en-US" b="true" sz="1600" spc="400">
                  <a:solidFill>
                    <a:srgbClr val="0D9488"/>
                  </a:solidFill>
                  <a:latin typeface="Calibri (MS) Bold"/>
                  <a:ea typeface="Calibri (MS) Bold"/>
                  <a:cs typeface="Calibri (MS) Bold"/>
                  <a:sym typeface="Calibri (MS) Bold"/>
                </a:rPr>
                <a:t>OVERVIEW</a:t>
              </a:r>
            </a:p>
          </p:txBody>
        </p:sp>
      </p:grpSp>
      <p:grpSp>
        <p:nvGrpSpPr>
          <p:cNvPr name="Group 38" id="38"/>
          <p:cNvGrpSpPr/>
          <p:nvPr/>
        </p:nvGrpSpPr>
        <p:grpSpPr>
          <a:xfrm rot="0">
            <a:off x="682247" y="6479543"/>
            <a:ext cx="135131" cy="427739"/>
            <a:chOff x="0" y="0"/>
            <a:chExt cx="180175" cy="570319"/>
          </a:xfrm>
        </p:grpSpPr>
        <p:sp>
          <p:nvSpPr>
            <p:cNvPr name="Freeform 39" id="39"/>
            <p:cNvSpPr/>
            <p:nvPr/>
          </p:nvSpPr>
          <p:spPr>
            <a:xfrm flipH="false" flipV="false" rot="0">
              <a:off x="16891" y="16891"/>
              <a:ext cx="146304" cy="536448"/>
            </a:xfrm>
            <a:custGeom>
              <a:avLst/>
              <a:gdLst/>
              <a:ahLst/>
              <a:cxnLst/>
              <a:rect r="r" b="b" t="t" l="l"/>
              <a:pathLst>
                <a:path h="536448" w="146304">
                  <a:moveTo>
                    <a:pt x="0" y="0"/>
                  </a:moveTo>
                  <a:lnTo>
                    <a:pt x="146304" y="0"/>
                  </a:lnTo>
                  <a:lnTo>
                    <a:pt x="146304" y="536448"/>
                  </a:lnTo>
                  <a:lnTo>
                    <a:pt x="0" y="536448"/>
                  </a:lnTo>
                  <a:close/>
                </a:path>
              </a:pathLst>
            </a:custGeom>
            <a:solidFill>
              <a:srgbClr val="0D9488"/>
            </a:solidFill>
          </p:spPr>
        </p:sp>
        <p:sp>
          <p:nvSpPr>
            <p:cNvPr name="Freeform 40" id="40"/>
            <p:cNvSpPr/>
            <p:nvPr/>
          </p:nvSpPr>
          <p:spPr>
            <a:xfrm flipH="false" flipV="false" rot="0">
              <a:off x="0" y="0"/>
              <a:ext cx="180086" cy="570232"/>
            </a:xfrm>
            <a:custGeom>
              <a:avLst/>
              <a:gdLst/>
              <a:ahLst/>
              <a:cxnLst/>
              <a:rect r="r" b="b" t="t" l="l"/>
              <a:pathLst>
                <a:path h="570232" w="180086">
                  <a:moveTo>
                    <a:pt x="16891" y="0"/>
                  </a:moveTo>
                  <a:lnTo>
                    <a:pt x="163195" y="0"/>
                  </a:lnTo>
                  <a:cubicBezTo>
                    <a:pt x="172593" y="0"/>
                    <a:pt x="180086" y="7620"/>
                    <a:pt x="180086" y="16891"/>
                  </a:cubicBezTo>
                  <a:lnTo>
                    <a:pt x="180086" y="553339"/>
                  </a:lnTo>
                  <a:cubicBezTo>
                    <a:pt x="180086" y="562737"/>
                    <a:pt x="172466" y="570230"/>
                    <a:pt x="163195"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63195" y="536448"/>
                  </a:lnTo>
                  <a:lnTo>
                    <a:pt x="163195" y="553339"/>
                  </a:lnTo>
                  <a:lnTo>
                    <a:pt x="146304" y="553339"/>
                  </a:lnTo>
                  <a:lnTo>
                    <a:pt x="146304" y="16891"/>
                  </a:lnTo>
                  <a:lnTo>
                    <a:pt x="163195" y="16891"/>
                  </a:lnTo>
                  <a:lnTo>
                    <a:pt x="163195" y="33909"/>
                  </a:lnTo>
                  <a:lnTo>
                    <a:pt x="16891" y="33909"/>
                  </a:lnTo>
                  <a:close/>
                </a:path>
              </a:pathLst>
            </a:custGeom>
            <a:solidFill>
              <a:srgbClr val="0D9488"/>
            </a:solidFill>
          </p:spPr>
        </p:sp>
      </p:grpSp>
      <p:grpSp>
        <p:nvGrpSpPr>
          <p:cNvPr name="Group 41" id="41"/>
          <p:cNvGrpSpPr/>
          <p:nvPr/>
        </p:nvGrpSpPr>
        <p:grpSpPr>
          <a:xfrm rot="0">
            <a:off x="950976" y="6400800"/>
            <a:ext cx="12070080" cy="585216"/>
            <a:chOff x="0" y="0"/>
            <a:chExt cx="16093440" cy="780288"/>
          </a:xfrm>
        </p:grpSpPr>
        <p:sp>
          <p:nvSpPr>
            <p:cNvPr name="Freeform 42" id="42"/>
            <p:cNvSpPr/>
            <p:nvPr/>
          </p:nvSpPr>
          <p:spPr>
            <a:xfrm flipH="false" flipV="false" rot="0">
              <a:off x="0" y="0"/>
              <a:ext cx="16093439" cy="780288"/>
            </a:xfrm>
            <a:custGeom>
              <a:avLst/>
              <a:gdLst/>
              <a:ahLst/>
              <a:cxnLst/>
              <a:rect r="r" b="b" t="t" l="l"/>
              <a:pathLst>
                <a:path h="780288" w="16093439">
                  <a:moveTo>
                    <a:pt x="0" y="0"/>
                  </a:moveTo>
                  <a:lnTo>
                    <a:pt x="16093439" y="0"/>
                  </a:lnTo>
                  <a:lnTo>
                    <a:pt x="16093439" y="780288"/>
                  </a:lnTo>
                  <a:lnTo>
                    <a:pt x="0" y="780288"/>
                  </a:lnTo>
                  <a:close/>
                </a:path>
              </a:pathLst>
            </a:custGeom>
            <a:blipFill>
              <a:blip r:embed="rId3">
                <a:alphaModFix amt="0"/>
              </a:blip>
              <a:stretch>
                <a:fillRect l="0" t="-351878" r="0" b="-351878"/>
              </a:stretch>
            </a:blipFill>
          </p:spPr>
        </p:sp>
        <p:sp>
          <p:nvSpPr>
            <p:cNvPr name="TextBox 43" id="43"/>
            <p:cNvSpPr txBox="true"/>
            <p:nvPr/>
          </p:nvSpPr>
          <p:spPr>
            <a:xfrm>
              <a:off x="0" y="-47625"/>
              <a:ext cx="16093440" cy="827913"/>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Track 3: Health Data Analytics — predictive analytics &amp; patient stratification</a:t>
              </a:r>
            </a:p>
          </p:txBody>
        </p:sp>
      </p:grpSp>
      <p:grpSp>
        <p:nvGrpSpPr>
          <p:cNvPr name="Group 44" id="44"/>
          <p:cNvGrpSpPr/>
          <p:nvPr/>
        </p:nvGrpSpPr>
        <p:grpSpPr>
          <a:xfrm rot="0">
            <a:off x="682247" y="7174487"/>
            <a:ext cx="135131" cy="427739"/>
            <a:chOff x="0" y="0"/>
            <a:chExt cx="180175" cy="570319"/>
          </a:xfrm>
        </p:grpSpPr>
        <p:sp>
          <p:nvSpPr>
            <p:cNvPr name="Freeform 45" id="45"/>
            <p:cNvSpPr/>
            <p:nvPr/>
          </p:nvSpPr>
          <p:spPr>
            <a:xfrm flipH="false" flipV="false" rot="0">
              <a:off x="16891" y="16891"/>
              <a:ext cx="146304" cy="536448"/>
            </a:xfrm>
            <a:custGeom>
              <a:avLst/>
              <a:gdLst/>
              <a:ahLst/>
              <a:cxnLst/>
              <a:rect r="r" b="b" t="t" l="l"/>
              <a:pathLst>
                <a:path h="536448" w="146304">
                  <a:moveTo>
                    <a:pt x="0" y="0"/>
                  </a:moveTo>
                  <a:lnTo>
                    <a:pt x="146304" y="0"/>
                  </a:lnTo>
                  <a:lnTo>
                    <a:pt x="146304" y="536448"/>
                  </a:lnTo>
                  <a:lnTo>
                    <a:pt x="0" y="536448"/>
                  </a:lnTo>
                  <a:close/>
                </a:path>
              </a:pathLst>
            </a:custGeom>
            <a:solidFill>
              <a:srgbClr val="0D9488"/>
            </a:solidFill>
          </p:spPr>
        </p:sp>
        <p:sp>
          <p:nvSpPr>
            <p:cNvPr name="Freeform 46" id="46"/>
            <p:cNvSpPr/>
            <p:nvPr/>
          </p:nvSpPr>
          <p:spPr>
            <a:xfrm flipH="false" flipV="false" rot="0">
              <a:off x="0" y="0"/>
              <a:ext cx="180086" cy="570232"/>
            </a:xfrm>
            <a:custGeom>
              <a:avLst/>
              <a:gdLst/>
              <a:ahLst/>
              <a:cxnLst/>
              <a:rect r="r" b="b" t="t" l="l"/>
              <a:pathLst>
                <a:path h="570232" w="180086">
                  <a:moveTo>
                    <a:pt x="16891" y="0"/>
                  </a:moveTo>
                  <a:lnTo>
                    <a:pt x="163195" y="0"/>
                  </a:lnTo>
                  <a:cubicBezTo>
                    <a:pt x="172593" y="0"/>
                    <a:pt x="180086" y="7620"/>
                    <a:pt x="180086" y="16891"/>
                  </a:cubicBezTo>
                  <a:lnTo>
                    <a:pt x="180086" y="553339"/>
                  </a:lnTo>
                  <a:cubicBezTo>
                    <a:pt x="180086" y="562737"/>
                    <a:pt x="172466" y="570230"/>
                    <a:pt x="163195"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63195" y="536448"/>
                  </a:lnTo>
                  <a:lnTo>
                    <a:pt x="163195" y="553339"/>
                  </a:lnTo>
                  <a:lnTo>
                    <a:pt x="146304" y="553339"/>
                  </a:lnTo>
                  <a:lnTo>
                    <a:pt x="146304" y="16891"/>
                  </a:lnTo>
                  <a:lnTo>
                    <a:pt x="163195" y="16891"/>
                  </a:lnTo>
                  <a:lnTo>
                    <a:pt x="163195" y="33909"/>
                  </a:lnTo>
                  <a:lnTo>
                    <a:pt x="16891" y="33909"/>
                  </a:lnTo>
                  <a:close/>
                </a:path>
              </a:pathLst>
            </a:custGeom>
            <a:solidFill>
              <a:srgbClr val="0D9488"/>
            </a:solidFill>
          </p:spPr>
        </p:sp>
      </p:grpSp>
      <p:grpSp>
        <p:nvGrpSpPr>
          <p:cNvPr name="Group 47" id="47"/>
          <p:cNvGrpSpPr/>
          <p:nvPr/>
        </p:nvGrpSpPr>
        <p:grpSpPr>
          <a:xfrm rot="0">
            <a:off x="950976" y="7095744"/>
            <a:ext cx="12070080" cy="585216"/>
            <a:chOff x="0" y="0"/>
            <a:chExt cx="16093440" cy="780288"/>
          </a:xfrm>
        </p:grpSpPr>
        <p:sp>
          <p:nvSpPr>
            <p:cNvPr name="Freeform 48" id="48"/>
            <p:cNvSpPr/>
            <p:nvPr/>
          </p:nvSpPr>
          <p:spPr>
            <a:xfrm flipH="false" flipV="false" rot="0">
              <a:off x="0" y="0"/>
              <a:ext cx="16093439" cy="780288"/>
            </a:xfrm>
            <a:custGeom>
              <a:avLst/>
              <a:gdLst/>
              <a:ahLst/>
              <a:cxnLst/>
              <a:rect r="r" b="b" t="t" l="l"/>
              <a:pathLst>
                <a:path h="780288" w="16093439">
                  <a:moveTo>
                    <a:pt x="0" y="0"/>
                  </a:moveTo>
                  <a:lnTo>
                    <a:pt x="16093439" y="0"/>
                  </a:lnTo>
                  <a:lnTo>
                    <a:pt x="16093439" y="780288"/>
                  </a:lnTo>
                  <a:lnTo>
                    <a:pt x="0" y="780288"/>
                  </a:lnTo>
                  <a:close/>
                </a:path>
              </a:pathLst>
            </a:custGeom>
            <a:blipFill>
              <a:blip r:embed="rId3">
                <a:alphaModFix amt="0"/>
              </a:blip>
              <a:stretch>
                <a:fillRect l="0" t="-351878" r="0" b="-351878"/>
              </a:stretch>
            </a:blipFill>
          </p:spPr>
        </p:sp>
        <p:sp>
          <p:nvSpPr>
            <p:cNvPr name="TextBox 49" id="49"/>
            <p:cNvSpPr txBox="true"/>
            <p:nvPr/>
          </p:nvSpPr>
          <p:spPr>
            <a:xfrm>
              <a:off x="0" y="-47625"/>
              <a:ext cx="16093440" cy="827913"/>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AI that learns from 10–15 years of patient history to forecast next likely diseases</a:t>
              </a:r>
            </a:p>
          </p:txBody>
        </p:sp>
      </p:grpSp>
      <p:grpSp>
        <p:nvGrpSpPr>
          <p:cNvPr name="Group 50" id="50"/>
          <p:cNvGrpSpPr/>
          <p:nvPr/>
        </p:nvGrpSpPr>
        <p:grpSpPr>
          <a:xfrm rot="0">
            <a:off x="682247" y="7869431"/>
            <a:ext cx="135131" cy="427739"/>
            <a:chOff x="0" y="0"/>
            <a:chExt cx="180175" cy="570319"/>
          </a:xfrm>
        </p:grpSpPr>
        <p:sp>
          <p:nvSpPr>
            <p:cNvPr name="Freeform 51" id="51"/>
            <p:cNvSpPr/>
            <p:nvPr/>
          </p:nvSpPr>
          <p:spPr>
            <a:xfrm flipH="false" flipV="false" rot="0">
              <a:off x="16891" y="16891"/>
              <a:ext cx="146304" cy="536448"/>
            </a:xfrm>
            <a:custGeom>
              <a:avLst/>
              <a:gdLst/>
              <a:ahLst/>
              <a:cxnLst/>
              <a:rect r="r" b="b" t="t" l="l"/>
              <a:pathLst>
                <a:path h="536448" w="146304">
                  <a:moveTo>
                    <a:pt x="0" y="0"/>
                  </a:moveTo>
                  <a:lnTo>
                    <a:pt x="146304" y="0"/>
                  </a:lnTo>
                  <a:lnTo>
                    <a:pt x="146304" y="536448"/>
                  </a:lnTo>
                  <a:lnTo>
                    <a:pt x="0" y="536448"/>
                  </a:lnTo>
                  <a:close/>
                </a:path>
              </a:pathLst>
            </a:custGeom>
            <a:solidFill>
              <a:srgbClr val="0D9488"/>
            </a:solidFill>
          </p:spPr>
        </p:sp>
        <p:sp>
          <p:nvSpPr>
            <p:cNvPr name="Freeform 52" id="52"/>
            <p:cNvSpPr/>
            <p:nvPr/>
          </p:nvSpPr>
          <p:spPr>
            <a:xfrm flipH="false" flipV="false" rot="0">
              <a:off x="0" y="0"/>
              <a:ext cx="180086" cy="570232"/>
            </a:xfrm>
            <a:custGeom>
              <a:avLst/>
              <a:gdLst/>
              <a:ahLst/>
              <a:cxnLst/>
              <a:rect r="r" b="b" t="t" l="l"/>
              <a:pathLst>
                <a:path h="570232" w="180086">
                  <a:moveTo>
                    <a:pt x="16891" y="0"/>
                  </a:moveTo>
                  <a:lnTo>
                    <a:pt x="163195" y="0"/>
                  </a:lnTo>
                  <a:cubicBezTo>
                    <a:pt x="172593" y="0"/>
                    <a:pt x="180086" y="7620"/>
                    <a:pt x="180086" y="16891"/>
                  </a:cubicBezTo>
                  <a:lnTo>
                    <a:pt x="180086" y="553339"/>
                  </a:lnTo>
                  <a:cubicBezTo>
                    <a:pt x="180086" y="562737"/>
                    <a:pt x="172466" y="570230"/>
                    <a:pt x="163195"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63195" y="536448"/>
                  </a:lnTo>
                  <a:lnTo>
                    <a:pt x="163195" y="553339"/>
                  </a:lnTo>
                  <a:lnTo>
                    <a:pt x="146304" y="553339"/>
                  </a:lnTo>
                  <a:lnTo>
                    <a:pt x="146304" y="16891"/>
                  </a:lnTo>
                  <a:lnTo>
                    <a:pt x="163195" y="16891"/>
                  </a:lnTo>
                  <a:lnTo>
                    <a:pt x="163195" y="33909"/>
                  </a:lnTo>
                  <a:lnTo>
                    <a:pt x="16891" y="33909"/>
                  </a:lnTo>
                  <a:close/>
                </a:path>
              </a:pathLst>
            </a:custGeom>
            <a:solidFill>
              <a:srgbClr val="0D9488"/>
            </a:solidFill>
          </p:spPr>
        </p:sp>
      </p:grpSp>
      <p:grpSp>
        <p:nvGrpSpPr>
          <p:cNvPr name="Group 53" id="53"/>
          <p:cNvGrpSpPr/>
          <p:nvPr/>
        </p:nvGrpSpPr>
        <p:grpSpPr>
          <a:xfrm rot="0">
            <a:off x="950976" y="7790688"/>
            <a:ext cx="12070080" cy="585216"/>
            <a:chOff x="0" y="0"/>
            <a:chExt cx="16093440" cy="780288"/>
          </a:xfrm>
        </p:grpSpPr>
        <p:sp>
          <p:nvSpPr>
            <p:cNvPr name="Freeform 54" id="54"/>
            <p:cNvSpPr/>
            <p:nvPr/>
          </p:nvSpPr>
          <p:spPr>
            <a:xfrm flipH="false" flipV="false" rot="0">
              <a:off x="0" y="0"/>
              <a:ext cx="16093439" cy="780288"/>
            </a:xfrm>
            <a:custGeom>
              <a:avLst/>
              <a:gdLst/>
              <a:ahLst/>
              <a:cxnLst/>
              <a:rect r="r" b="b" t="t" l="l"/>
              <a:pathLst>
                <a:path h="780288" w="16093439">
                  <a:moveTo>
                    <a:pt x="0" y="0"/>
                  </a:moveTo>
                  <a:lnTo>
                    <a:pt x="16093439" y="0"/>
                  </a:lnTo>
                  <a:lnTo>
                    <a:pt x="16093439" y="780288"/>
                  </a:lnTo>
                  <a:lnTo>
                    <a:pt x="0" y="780288"/>
                  </a:lnTo>
                  <a:close/>
                </a:path>
              </a:pathLst>
            </a:custGeom>
            <a:blipFill>
              <a:blip r:embed="rId3">
                <a:alphaModFix amt="0"/>
              </a:blip>
              <a:stretch>
                <a:fillRect l="0" t="-351878" r="0" b="-351878"/>
              </a:stretch>
            </a:blipFill>
          </p:spPr>
        </p:sp>
        <p:sp>
          <p:nvSpPr>
            <p:cNvPr name="TextBox 55" id="55"/>
            <p:cNvSpPr txBox="true"/>
            <p:nvPr/>
          </p:nvSpPr>
          <p:spPr>
            <a:xfrm>
              <a:off x="0" y="-47625"/>
              <a:ext cx="16093440" cy="827913"/>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Combines Markov chain progression modelling with contextual ML fallback</a:t>
              </a:r>
            </a:p>
          </p:txBody>
        </p:sp>
      </p:grpSp>
      <p:grpSp>
        <p:nvGrpSpPr>
          <p:cNvPr name="Group 56" id="56"/>
          <p:cNvGrpSpPr/>
          <p:nvPr/>
        </p:nvGrpSpPr>
        <p:grpSpPr>
          <a:xfrm rot="0">
            <a:off x="682247" y="8564375"/>
            <a:ext cx="135131" cy="427739"/>
            <a:chOff x="0" y="0"/>
            <a:chExt cx="180175" cy="570319"/>
          </a:xfrm>
        </p:grpSpPr>
        <p:sp>
          <p:nvSpPr>
            <p:cNvPr name="Freeform 57" id="57"/>
            <p:cNvSpPr/>
            <p:nvPr/>
          </p:nvSpPr>
          <p:spPr>
            <a:xfrm flipH="false" flipV="false" rot="0">
              <a:off x="16891" y="16891"/>
              <a:ext cx="146304" cy="536448"/>
            </a:xfrm>
            <a:custGeom>
              <a:avLst/>
              <a:gdLst/>
              <a:ahLst/>
              <a:cxnLst/>
              <a:rect r="r" b="b" t="t" l="l"/>
              <a:pathLst>
                <a:path h="536448" w="146304">
                  <a:moveTo>
                    <a:pt x="0" y="0"/>
                  </a:moveTo>
                  <a:lnTo>
                    <a:pt x="146304" y="0"/>
                  </a:lnTo>
                  <a:lnTo>
                    <a:pt x="146304" y="536448"/>
                  </a:lnTo>
                  <a:lnTo>
                    <a:pt x="0" y="536448"/>
                  </a:lnTo>
                  <a:close/>
                </a:path>
              </a:pathLst>
            </a:custGeom>
            <a:solidFill>
              <a:srgbClr val="0D9488"/>
            </a:solidFill>
          </p:spPr>
        </p:sp>
        <p:sp>
          <p:nvSpPr>
            <p:cNvPr name="Freeform 58" id="58"/>
            <p:cNvSpPr/>
            <p:nvPr/>
          </p:nvSpPr>
          <p:spPr>
            <a:xfrm flipH="false" flipV="false" rot="0">
              <a:off x="0" y="0"/>
              <a:ext cx="180086" cy="570232"/>
            </a:xfrm>
            <a:custGeom>
              <a:avLst/>
              <a:gdLst/>
              <a:ahLst/>
              <a:cxnLst/>
              <a:rect r="r" b="b" t="t" l="l"/>
              <a:pathLst>
                <a:path h="570232" w="180086">
                  <a:moveTo>
                    <a:pt x="16891" y="0"/>
                  </a:moveTo>
                  <a:lnTo>
                    <a:pt x="163195" y="0"/>
                  </a:lnTo>
                  <a:cubicBezTo>
                    <a:pt x="172593" y="0"/>
                    <a:pt x="180086" y="7620"/>
                    <a:pt x="180086" y="16891"/>
                  </a:cubicBezTo>
                  <a:lnTo>
                    <a:pt x="180086" y="553339"/>
                  </a:lnTo>
                  <a:cubicBezTo>
                    <a:pt x="180086" y="562737"/>
                    <a:pt x="172466" y="570230"/>
                    <a:pt x="163195"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63195" y="536448"/>
                  </a:lnTo>
                  <a:lnTo>
                    <a:pt x="163195" y="553339"/>
                  </a:lnTo>
                  <a:lnTo>
                    <a:pt x="146304" y="553339"/>
                  </a:lnTo>
                  <a:lnTo>
                    <a:pt x="146304" y="16891"/>
                  </a:lnTo>
                  <a:lnTo>
                    <a:pt x="163195" y="16891"/>
                  </a:lnTo>
                  <a:lnTo>
                    <a:pt x="163195" y="33909"/>
                  </a:lnTo>
                  <a:lnTo>
                    <a:pt x="16891" y="33909"/>
                  </a:lnTo>
                  <a:close/>
                </a:path>
              </a:pathLst>
            </a:custGeom>
            <a:solidFill>
              <a:srgbClr val="0D9488"/>
            </a:solidFill>
          </p:spPr>
        </p:sp>
      </p:grpSp>
      <p:grpSp>
        <p:nvGrpSpPr>
          <p:cNvPr name="Group 59" id="59"/>
          <p:cNvGrpSpPr/>
          <p:nvPr/>
        </p:nvGrpSpPr>
        <p:grpSpPr>
          <a:xfrm rot="0">
            <a:off x="950976" y="8485632"/>
            <a:ext cx="12070080" cy="585216"/>
            <a:chOff x="0" y="0"/>
            <a:chExt cx="16093440" cy="780288"/>
          </a:xfrm>
        </p:grpSpPr>
        <p:sp>
          <p:nvSpPr>
            <p:cNvPr name="Freeform 60" id="60"/>
            <p:cNvSpPr/>
            <p:nvPr/>
          </p:nvSpPr>
          <p:spPr>
            <a:xfrm flipH="false" flipV="false" rot="0">
              <a:off x="0" y="0"/>
              <a:ext cx="16093439" cy="780288"/>
            </a:xfrm>
            <a:custGeom>
              <a:avLst/>
              <a:gdLst/>
              <a:ahLst/>
              <a:cxnLst/>
              <a:rect r="r" b="b" t="t" l="l"/>
              <a:pathLst>
                <a:path h="780288" w="16093439">
                  <a:moveTo>
                    <a:pt x="0" y="0"/>
                  </a:moveTo>
                  <a:lnTo>
                    <a:pt x="16093439" y="0"/>
                  </a:lnTo>
                  <a:lnTo>
                    <a:pt x="16093439" y="780288"/>
                  </a:lnTo>
                  <a:lnTo>
                    <a:pt x="0" y="780288"/>
                  </a:lnTo>
                  <a:close/>
                </a:path>
              </a:pathLst>
            </a:custGeom>
            <a:blipFill>
              <a:blip r:embed="rId3">
                <a:alphaModFix amt="0"/>
              </a:blip>
              <a:stretch>
                <a:fillRect l="0" t="-351878" r="0" b="-351878"/>
              </a:stretch>
            </a:blipFill>
          </p:spPr>
        </p:sp>
        <p:sp>
          <p:nvSpPr>
            <p:cNvPr name="TextBox 61" id="61"/>
            <p:cNvSpPr txBox="true"/>
            <p:nvPr/>
          </p:nvSpPr>
          <p:spPr>
            <a:xfrm>
              <a:off x="0" y="-47625"/>
              <a:ext cx="16093440" cy="827913"/>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Doctor-first design: decision support, not autonomous diagnosis</a:t>
              </a:r>
            </a:p>
          </p:txBody>
        </p:sp>
      </p:grpSp>
      <p:grpSp>
        <p:nvGrpSpPr>
          <p:cNvPr name="Group 62" id="62"/>
          <p:cNvGrpSpPr/>
          <p:nvPr/>
        </p:nvGrpSpPr>
        <p:grpSpPr>
          <a:xfrm rot="0">
            <a:off x="-12697" y="9039863"/>
            <a:ext cx="18313403" cy="1259843"/>
            <a:chOff x="0" y="0"/>
            <a:chExt cx="24417871" cy="1679791"/>
          </a:xfrm>
        </p:grpSpPr>
        <p:sp>
          <p:nvSpPr>
            <p:cNvPr name="Freeform 63" id="63"/>
            <p:cNvSpPr/>
            <p:nvPr/>
          </p:nvSpPr>
          <p:spPr>
            <a:xfrm flipH="false" flipV="false" rot="0">
              <a:off x="16891" y="16891"/>
              <a:ext cx="24383999" cy="1645920"/>
            </a:xfrm>
            <a:custGeom>
              <a:avLst/>
              <a:gdLst/>
              <a:ahLst/>
              <a:cxnLst/>
              <a:rect r="r" b="b" t="t" l="l"/>
              <a:pathLst>
                <a:path h="1645920" w="24383999">
                  <a:moveTo>
                    <a:pt x="0" y="0"/>
                  </a:moveTo>
                  <a:lnTo>
                    <a:pt x="24383999" y="0"/>
                  </a:lnTo>
                  <a:lnTo>
                    <a:pt x="24383999" y="1645920"/>
                  </a:lnTo>
                  <a:lnTo>
                    <a:pt x="0" y="1645920"/>
                  </a:lnTo>
                  <a:close/>
                </a:path>
              </a:pathLst>
            </a:custGeom>
            <a:solidFill>
              <a:srgbClr val="060E1C"/>
            </a:solidFill>
          </p:spPr>
        </p:sp>
        <p:sp>
          <p:nvSpPr>
            <p:cNvPr name="Freeform 64" id="64"/>
            <p:cNvSpPr/>
            <p:nvPr/>
          </p:nvSpPr>
          <p:spPr>
            <a:xfrm flipH="false" flipV="false" rot="0">
              <a:off x="0" y="0"/>
              <a:ext cx="24417782" cy="1679702"/>
            </a:xfrm>
            <a:custGeom>
              <a:avLst/>
              <a:gdLst/>
              <a:ahLst/>
              <a:cxnLst/>
              <a:rect r="r" b="b" t="t" l="l"/>
              <a:pathLst>
                <a:path h="1679702" w="24417782">
                  <a:moveTo>
                    <a:pt x="16891" y="0"/>
                  </a:moveTo>
                  <a:lnTo>
                    <a:pt x="24400890" y="0"/>
                  </a:lnTo>
                  <a:cubicBezTo>
                    <a:pt x="24410290" y="0"/>
                    <a:pt x="24417782" y="7620"/>
                    <a:pt x="24417782" y="16891"/>
                  </a:cubicBezTo>
                  <a:lnTo>
                    <a:pt x="24417782" y="1662811"/>
                  </a:lnTo>
                  <a:cubicBezTo>
                    <a:pt x="24417782" y="1672209"/>
                    <a:pt x="24410163" y="1679702"/>
                    <a:pt x="24400890" y="1679702"/>
                  </a:cubicBezTo>
                  <a:lnTo>
                    <a:pt x="16891" y="1679702"/>
                  </a:lnTo>
                  <a:cubicBezTo>
                    <a:pt x="7493" y="1679702"/>
                    <a:pt x="0" y="1672082"/>
                    <a:pt x="0" y="1662811"/>
                  </a:cubicBezTo>
                  <a:lnTo>
                    <a:pt x="0" y="16891"/>
                  </a:lnTo>
                  <a:cubicBezTo>
                    <a:pt x="0" y="7620"/>
                    <a:pt x="7620" y="0"/>
                    <a:pt x="16891" y="0"/>
                  </a:cubicBezTo>
                  <a:moveTo>
                    <a:pt x="16891" y="33909"/>
                  </a:moveTo>
                  <a:lnTo>
                    <a:pt x="16891" y="16891"/>
                  </a:lnTo>
                  <a:lnTo>
                    <a:pt x="33909" y="16891"/>
                  </a:lnTo>
                  <a:lnTo>
                    <a:pt x="33909" y="1662811"/>
                  </a:lnTo>
                  <a:lnTo>
                    <a:pt x="16891" y="1662811"/>
                  </a:lnTo>
                  <a:lnTo>
                    <a:pt x="16891" y="1645920"/>
                  </a:lnTo>
                  <a:lnTo>
                    <a:pt x="24400890" y="1645920"/>
                  </a:lnTo>
                  <a:lnTo>
                    <a:pt x="24400890" y="1662811"/>
                  </a:lnTo>
                  <a:lnTo>
                    <a:pt x="24384000" y="1662811"/>
                  </a:lnTo>
                  <a:lnTo>
                    <a:pt x="24384000" y="16891"/>
                  </a:lnTo>
                  <a:lnTo>
                    <a:pt x="24400890" y="16891"/>
                  </a:lnTo>
                  <a:lnTo>
                    <a:pt x="24400890" y="33909"/>
                  </a:lnTo>
                  <a:lnTo>
                    <a:pt x="16891" y="33909"/>
                  </a:lnTo>
                  <a:close/>
                </a:path>
              </a:pathLst>
            </a:custGeom>
            <a:solidFill>
              <a:srgbClr val="060E1C"/>
            </a:solidFill>
          </p:spPr>
        </p:sp>
      </p:grpSp>
      <p:grpSp>
        <p:nvGrpSpPr>
          <p:cNvPr name="Group 65" id="65"/>
          <p:cNvGrpSpPr/>
          <p:nvPr/>
        </p:nvGrpSpPr>
        <p:grpSpPr>
          <a:xfrm rot="0">
            <a:off x="731520" y="9089136"/>
            <a:ext cx="16824960" cy="694944"/>
            <a:chOff x="0" y="0"/>
            <a:chExt cx="22433280" cy="926592"/>
          </a:xfrm>
        </p:grpSpPr>
        <p:sp>
          <p:nvSpPr>
            <p:cNvPr name="Freeform 66" id="66"/>
            <p:cNvSpPr/>
            <p:nvPr/>
          </p:nvSpPr>
          <p:spPr>
            <a:xfrm flipH="false" flipV="false" rot="0">
              <a:off x="0" y="0"/>
              <a:ext cx="22433280" cy="926592"/>
            </a:xfrm>
            <a:custGeom>
              <a:avLst/>
              <a:gdLst/>
              <a:ahLst/>
              <a:cxnLst/>
              <a:rect r="r" b="b" t="t" l="l"/>
              <a:pathLst>
                <a:path h="926592" w="22433280">
                  <a:moveTo>
                    <a:pt x="0" y="0"/>
                  </a:moveTo>
                  <a:lnTo>
                    <a:pt x="22433280" y="0"/>
                  </a:lnTo>
                  <a:lnTo>
                    <a:pt x="22433280" y="926592"/>
                  </a:lnTo>
                  <a:lnTo>
                    <a:pt x="0" y="926592"/>
                  </a:lnTo>
                  <a:close/>
                </a:path>
              </a:pathLst>
            </a:custGeom>
            <a:blipFill>
              <a:blip r:embed="rId3">
                <a:alphaModFix amt="0"/>
              </a:blip>
              <a:stretch>
                <a:fillRect l="0" t="-421743" r="0" b="-421743"/>
              </a:stretch>
            </a:blipFill>
          </p:spPr>
        </p:sp>
        <p:sp>
          <p:nvSpPr>
            <p:cNvPr name="TextBox 67" id="67"/>
            <p:cNvSpPr txBox="true"/>
            <p:nvPr/>
          </p:nvSpPr>
          <p:spPr>
            <a:xfrm>
              <a:off x="0" y="-38100"/>
              <a:ext cx="22433280" cy="964692"/>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March 2026  ·  Track 3: Health Data Analytics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A162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A162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14B8A6"/>
                  </a:solidFill>
                  <a:latin typeface="Calibri (MS) Bold"/>
                  <a:ea typeface="Calibri (MS) Bold"/>
                  <a:cs typeface="Calibri (MS) Bold"/>
                  <a:sym typeface="Calibri (MS) Bold"/>
                </a:rPr>
                <a:t>PROBLEM STATEMENT</a:t>
              </a:r>
            </a:p>
          </p:txBody>
        </p:sp>
      </p:grpSp>
      <p:grpSp>
        <p:nvGrpSpPr>
          <p:cNvPr name="Group 8" id="8"/>
          <p:cNvGrpSpPr/>
          <p:nvPr/>
        </p:nvGrpSpPr>
        <p:grpSpPr>
          <a:xfrm rot="0">
            <a:off x="694944" y="1371600"/>
            <a:ext cx="10241280" cy="2103120"/>
            <a:chOff x="0" y="0"/>
            <a:chExt cx="13655040" cy="2804160"/>
          </a:xfrm>
        </p:grpSpPr>
        <p:sp>
          <p:nvSpPr>
            <p:cNvPr name="Freeform 9" id="9"/>
            <p:cNvSpPr/>
            <p:nvPr/>
          </p:nvSpPr>
          <p:spPr>
            <a:xfrm flipH="false" flipV="false" rot="0">
              <a:off x="0" y="0"/>
              <a:ext cx="13655039" cy="2804160"/>
            </a:xfrm>
            <a:custGeom>
              <a:avLst/>
              <a:gdLst/>
              <a:ahLst/>
              <a:cxnLst/>
              <a:rect r="r" b="b" t="t" l="l"/>
              <a:pathLst>
                <a:path h="2804160" w="13655039">
                  <a:moveTo>
                    <a:pt x="0" y="0"/>
                  </a:moveTo>
                  <a:lnTo>
                    <a:pt x="13655039" y="0"/>
                  </a:lnTo>
                  <a:lnTo>
                    <a:pt x="13655039" y="2804160"/>
                  </a:lnTo>
                  <a:lnTo>
                    <a:pt x="0" y="2804160"/>
                  </a:lnTo>
                  <a:close/>
                </a:path>
              </a:pathLst>
            </a:custGeom>
            <a:blipFill>
              <a:blip r:embed="rId3">
                <a:alphaModFix amt="0"/>
              </a:blip>
              <a:stretch>
                <a:fillRect l="0" t="-44883" r="0" b="-44883"/>
              </a:stretch>
            </a:blipFill>
          </p:spPr>
        </p:sp>
        <p:sp>
          <p:nvSpPr>
            <p:cNvPr name="TextBox 10" id="10"/>
            <p:cNvSpPr txBox="true"/>
            <p:nvPr/>
          </p:nvSpPr>
          <p:spPr>
            <a:xfrm>
              <a:off x="0" y="-104775"/>
              <a:ext cx="13655040" cy="2908935"/>
            </a:xfrm>
            <a:prstGeom prst="rect">
              <a:avLst/>
            </a:prstGeom>
          </p:spPr>
          <p:txBody>
            <a:bodyPr anchor="ctr" rtlCol="false" tIns="0" lIns="0" bIns="0" rIns="0"/>
            <a:lstStyle/>
            <a:p>
              <a:pPr algn="l">
                <a:lnSpc>
                  <a:spcPts val="6240"/>
                </a:lnSpc>
              </a:pPr>
              <a:r>
                <a:rPr lang="en-US" sz="5200" b="true">
                  <a:solidFill>
                    <a:srgbClr val="0F172A"/>
                  </a:solidFill>
                  <a:latin typeface="Calibri (MS) Bold"/>
                  <a:ea typeface="Calibri (MS) Bold"/>
                  <a:cs typeface="Calibri (MS) Bold"/>
                  <a:sym typeface="Calibri (MS) Bold"/>
                </a:rPr>
                <a:t>Healthcare is reactive.</a:t>
              </a:r>
            </a:p>
            <a:p>
              <a:pPr algn="l">
                <a:lnSpc>
                  <a:spcPts val="6240"/>
                </a:lnSpc>
              </a:pPr>
              <a:r>
                <a:rPr lang="en-US" sz="5200" b="true">
                  <a:solidFill>
                    <a:srgbClr val="0F172A"/>
                  </a:solidFill>
                  <a:latin typeface="Calibri (MS) Bold"/>
                  <a:ea typeface="Calibri (MS) Bold"/>
                  <a:cs typeface="Calibri (MS) Bold"/>
                  <a:sym typeface="Calibri (MS) Bold"/>
                </a:rPr>
                <a:t>It should be predictive.</a:t>
              </a:r>
            </a:p>
          </p:txBody>
        </p:sp>
      </p:grpSp>
      <p:grpSp>
        <p:nvGrpSpPr>
          <p:cNvPr name="Group 11" id="11"/>
          <p:cNvGrpSpPr/>
          <p:nvPr/>
        </p:nvGrpSpPr>
        <p:grpSpPr>
          <a:xfrm rot="0">
            <a:off x="694944" y="4301623"/>
            <a:ext cx="9404825" cy="2062601"/>
            <a:chOff x="0" y="0"/>
            <a:chExt cx="13411200" cy="2941251"/>
          </a:xfrm>
        </p:grpSpPr>
        <p:sp>
          <p:nvSpPr>
            <p:cNvPr name="Freeform 12" id="12"/>
            <p:cNvSpPr/>
            <p:nvPr/>
          </p:nvSpPr>
          <p:spPr>
            <a:xfrm flipH="false" flipV="false" rot="0">
              <a:off x="0" y="0"/>
              <a:ext cx="13411200" cy="2941251"/>
            </a:xfrm>
            <a:custGeom>
              <a:avLst/>
              <a:gdLst/>
              <a:ahLst/>
              <a:cxnLst/>
              <a:rect r="r" b="b" t="t" l="l"/>
              <a:pathLst>
                <a:path h="2941251" w="13411200">
                  <a:moveTo>
                    <a:pt x="0" y="0"/>
                  </a:moveTo>
                  <a:lnTo>
                    <a:pt x="13411200" y="0"/>
                  </a:lnTo>
                  <a:lnTo>
                    <a:pt x="13411200" y="2941251"/>
                  </a:lnTo>
                  <a:lnTo>
                    <a:pt x="0" y="2941251"/>
                  </a:lnTo>
                  <a:close/>
                </a:path>
              </a:pathLst>
            </a:custGeom>
            <a:blipFill>
              <a:blip r:embed="rId3">
                <a:alphaModFix amt="0"/>
              </a:blip>
              <a:stretch>
                <a:fillRect l="0" t="-54855" r="0" b="-22836"/>
              </a:stretch>
            </a:blipFill>
          </p:spPr>
        </p:sp>
        <p:sp>
          <p:nvSpPr>
            <p:cNvPr name="TextBox 13" id="13"/>
            <p:cNvSpPr txBox="true"/>
            <p:nvPr/>
          </p:nvSpPr>
          <p:spPr>
            <a:xfrm>
              <a:off x="0" y="-47625"/>
              <a:ext cx="13411200" cy="2988876"/>
            </a:xfrm>
            <a:prstGeom prst="rect">
              <a:avLst/>
            </a:prstGeom>
          </p:spPr>
          <p:txBody>
            <a:bodyPr anchor="ctr" rtlCol="false" tIns="0" lIns="0" bIns="0" rIns="0"/>
            <a:lstStyle/>
            <a:p>
              <a:pPr algn="l">
                <a:lnSpc>
                  <a:spcPts val="2640"/>
                </a:lnSpc>
              </a:pPr>
              <a:r>
                <a:rPr lang="en-US" sz="2200">
                  <a:solidFill>
                    <a:srgbClr val="64748B"/>
                  </a:solidFill>
                  <a:latin typeface="Calibri (MS)"/>
                  <a:ea typeface="Calibri (MS)"/>
                  <a:cs typeface="Calibri (MS)"/>
                  <a:sym typeface="Calibri (MS)"/>
                </a:rPr>
                <a:t>Clinicians and patients rarely see the full picture of how a person's health evolves over time. They focus on current symptoms instead of long-term patterns — making it nearly impossible to predict the next disease until it already appears.</a:t>
              </a:r>
            </a:p>
          </p:txBody>
        </p:sp>
      </p:grpSp>
      <p:grpSp>
        <p:nvGrpSpPr>
          <p:cNvPr name="Group 14" id="14"/>
          <p:cNvGrpSpPr/>
          <p:nvPr/>
        </p:nvGrpSpPr>
        <p:grpSpPr>
          <a:xfrm rot="0">
            <a:off x="10740647" y="1230887"/>
            <a:ext cx="7011419" cy="7742939"/>
            <a:chOff x="0" y="0"/>
            <a:chExt cx="9348559" cy="10323919"/>
          </a:xfrm>
        </p:grpSpPr>
        <p:sp>
          <p:nvSpPr>
            <p:cNvPr name="Freeform 15" id="15"/>
            <p:cNvSpPr/>
            <p:nvPr/>
          </p:nvSpPr>
          <p:spPr>
            <a:xfrm flipH="false" flipV="false" rot="0">
              <a:off x="16891" y="16891"/>
              <a:ext cx="9314688" cy="10290048"/>
            </a:xfrm>
            <a:custGeom>
              <a:avLst/>
              <a:gdLst/>
              <a:ahLst/>
              <a:cxnLst/>
              <a:rect r="r" b="b" t="t" l="l"/>
              <a:pathLst>
                <a:path h="10290048" w="9314688">
                  <a:moveTo>
                    <a:pt x="0" y="0"/>
                  </a:moveTo>
                  <a:lnTo>
                    <a:pt x="9314688" y="0"/>
                  </a:lnTo>
                  <a:lnTo>
                    <a:pt x="9314688" y="10290048"/>
                  </a:lnTo>
                  <a:lnTo>
                    <a:pt x="0" y="10290048"/>
                  </a:lnTo>
                  <a:close/>
                </a:path>
              </a:pathLst>
            </a:custGeom>
            <a:solidFill>
              <a:srgbClr val="0A1628"/>
            </a:solidFill>
          </p:spPr>
        </p:sp>
        <p:sp>
          <p:nvSpPr>
            <p:cNvPr name="Freeform 16" id="16"/>
            <p:cNvSpPr/>
            <p:nvPr/>
          </p:nvSpPr>
          <p:spPr>
            <a:xfrm flipH="false" flipV="false" rot="0">
              <a:off x="0" y="0"/>
              <a:ext cx="9348470" cy="10323830"/>
            </a:xfrm>
            <a:custGeom>
              <a:avLst/>
              <a:gdLst/>
              <a:ahLst/>
              <a:cxnLst/>
              <a:rect r="r" b="b" t="t" l="l"/>
              <a:pathLst>
                <a:path h="10323830" w="9348470">
                  <a:moveTo>
                    <a:pt x="16891" y="0"/>
                  </a:moveTo>
                  <a:lnTo>
                    <a:pt x="9331579" y="0"/>
                  </a:lnTo>
                  <a:cubicBezTo>
                    <a:pt x="9340977" y="0"/>
                    <a:pt x="9348470" y="7620"/>
                    <a:pt x="9348470" y="16891"/>
                  </a:cubicBezTo>
                  <a:lnTo>
                    <a:pt x="9348470" y="10306939"/>
                  </a:lnTo>
                  <a:cubicBezTo>
                    <a:pt x="9348470" y="10316337"/>
                    <a:pt x="9340850" y="10323830"/>
                    <a:pt x="9331579" y="10323830"/>
                  </a:cubicBezTo>
                  <a:lnTo>
                    <a:pt x="16891" y="10323830"/>
                  </a:lnTo>
                  <a:cubicBezTo>
                    <a:pt x="7493" y="10323830"/>
                    <a:pt x="0" y="10316210"/>
                    <a:pt x="0" y="10306939"/>
                  </a:cubicBezTo>
                  <a:lnTo>
                    <a:pt x="0" y="16891"/>
                  </a:lnTo>
                  <a:cubicBezTo>
                    <a:pt x="0" y="7620"/>
                    <a:pt x="7620" y="0"/>
                    <a:pt x="16891" y="0"/>
                  </a:cubicBezTo>
                  <a:moveTo>
                    <a:pt x="16891" y="33909"/>
                  </a:moveTo>
                  <a:lnTo>
                    <a:pt x="16891" y="16891"/>
                  </a:lnTo>
                  <a:lnTo>
                    <a:pt x="33909" y="16891"/>
                  </a:lnTo>
                  <a:lnTo>
                    <a:pt x="33909" y="10306939"/>
                  </a:lnTo>
                  <a:lnTo>
                    <a:pt x="16891" y="10306939"/>
                  </a:lnTo>
                  <a:lnTo>
                    <a:pt x="16891" y="10290048"/>
                  </a:lnTo>
                  <a:lnTo>
                    <a:pt x="9331579" y="10290048"/>
                  </a:lnTo>
                  <a:lnTo>
                    <a:pt x="9331579" y="10306939"/>
                  </a:lnTo>
                  <a:lnTo>
                    <a:pt x="9314688" y="10306939"/>
                  </a:lnTo>
                  <a:lnTo>
                    <a:pt x="9314688" y="16891"/>
                  </a:lnTo>
                  <a:lnTo>
                    <a:pt x="9331579" y="16891"/>
                  </a:lnTo>
                  <a:lnTo>
                    <a:pt x="9331579" y="33909"/>
                  </a:lnTo>
                  <a:lnTo>
                    <a:pt x="16891" y="33909"/>
                  </a:lnTo>
                  <a:close/>
                </a:path>
              </a:pathLst>
            </a:custGeom>
            <a:solidFill>
              <a:srgbClr val="0A1628"/>
            </a:solidFill>
          </p:spPr>
        </p:sp>
      </p:grpSp>
      <p:grpSp>
        <p:nvGrpSpPr>
          <p:cNvPr name="Group 17" id="17"/>
          <p:cNvGrpSpPr/>
          <p:nvPr/>
        </p:nvGrpSpPr>
        <p:grpSpPr>
          <a:xfrm rot="0">
            <a:off x="11064240" y="1536192"/>
            <a:ext cx="6400800" cy="621792"/>
            <a:chOff x="0" y="0"/>
            <a:chExt cx="8534400" cy="829056"/>
          </a:xfrm>
        </p:grpSpPr>
        <p:sp>
          <p:nvSpPr>
            <p:cNvPr name="Freeform 18" id="18"/>
            <p:cNvSpPr/>
            <p:nvPr/>
          </p:nvSpPr>
          <p:spPr>
            <a:xfrm flipH="false" flipV="false" rot="0">
              <a:off x="0" y="0"/>
              <a:ext cx="8534400" cy="829056"/>
            </a:xfrm>
            <a:custGeom>
              <a:avLst/>
              <a:gdLst/>
              <a:ahLst/>
              <a:cxnLst/>
              <a:rect r="r" b="b" t="t" l="l"/>
              <a:pathLst>
                <a:path h="829056" w="8534400">
                  <a:moveTo>
                    <a:pt x="0" y="0"/>
                  </a:moveTo>
                  <a:lnTo>
                    <a:pt x="8534400" y="0"/>
                  </a:lnTo>
                  <a:lnTo>
                    <a:pt x="8534400" y="829056"/>
                  </a:lnTo>
                  <a:lnTo>
                    <a:pt x="0" y="829056"/>
                  </a:lnTo>
                  <a:close/>
                </a:path>
              </a:pathLst>
            </a:custGeom>
            <a:blipFill>
              <a:blip r:embed="rId3">
                <a:alphaModFix amt="0"/>
              </a:blip>
              <a:stretch>
                <a:fillRect l="0" t="-150581" r="0" b="-150581"/>
              </a:stretch>
            </a:blipFill>
          </p:spPr>
        </p:sp>
        <p:sp>
          <p:nvSpPr>
            <p:cNvPr name="TextBox 19" id="19"/>
            <p:cNvSpPr txBox="true"/>
            <p:nvPr/>
          </p:nvSpPr>
          <p:spPr>
            <a:xfrm>
              <a:off x="0" y="-47625"/>
              <a:ext cx="8534400" cy="876681"/>
            </a:xfrm>
            <a:prstGeom prst="rect">
              <a:avLst/>
            </a:prstGeom>
          </p:spPr>
          <p:txBody>
            <a:bodyPr anchor="ctr" rtlCol="false" tIns="0" lIns="0" bIns="0" rIns="0"/>
            <a:lstStyle/>
            <a:p>
              <a:pPr algn="l">
                <a:lnSpc>
                  <a:spcPts val="2640"/>
                </a:lnSpc>
              </a:pPr>
              <a:r>
                <a:rPr lang="en-US" sz="2200" b="true">
                  <a:solidFill>
                    <a:srgbClr val="14B8A6"/>
                  </a:solidFill>
                  <a:latin typeface="Calibri (MS) Bold"/>
                  <a:ea typeface="Calibri (MS) Bold"/>
                  <a:cs typeface="Calibri (MS) Bold"/>
                  <a:sym typeface="Calibri (MS) Bold"/>
                </a:rPr>
                <a:t>The gaps no one is solving</a:t>
              </a:r>
            </a:p>
          </p:txBody>
        </p:sp>
      </p:grpSp>
      <p:grpSp>
        <p:nvGrpSpPr>
          <p:cNvPr name="Group 20" id="20"/>
          <p:cNvGrpSpPr/>
          <p:nvPr/>
        </p:nvGrpSpPr>
        <p:grpSpPr>
          <a:xfrm rot="0">
            <a:off x="11106407" y="2437895"/>
            <a:ext cx="427739" cy="427739"/>
            <a:chOff x="0" y="0"/>
            <a:chExt cx="570319" cy="570319"/>
          </a:xfrm>
        </p:grpSpPr>
        <p:sp>
          <p:nvSpPr>
            <p:cNvPr name="Freeform 21" id="21"/>
            <p:cNvSpPr/>
            <p:nvPr/>
          </p:nvSpPr>
          <p:spPr>
            <a:xfrm flipH="false" flipV="false" rot="0">
              <a:off x="16891" y="16891"/>
              <a:ext cx="536448" cy="536448"/>
            </a:xfrm>
            <a:custGeom>
              <a:avLst/>
              <a:gdLst/>
              <a:ahLst/>
              <a:cxnLst/>
              <a:rect r="r" b="b" t="t" l="l"/>
              <a:pathLst>
                <a:path h="536448" w="536448">
                  <a:moveTo>
                    <a:pt x="0" y="268224"/>
                  </a:moveTo>
                  <a:cubicBezTo>
                    <a:pt x="0" y="120142"/>
                    <a:pt x="120142" y="0"/>
                    <a:pt x="268224" y="0"/>
                  </a:cubicBezTo>
                  <a:cubicBezTo>
                    <a:pt x="416306" y="0"/>
                    <a:pt x="536448" y="120142"/>
                    <a:pt x="536448" y="268224"/>
                  </a:cubicBezTo>
                  <a:cubicBezTo>
                    <a:pt x="536448" y="416306"/>
                    <a:pt x="416306" y="536448"/>
                    <a:pt x="268224" y="536448"/>
                  </a:cubicBezTo>
                  <a:cubicBezTo>
                    <a:pt x="120142" y="536448"/>
                    <a:pt x="0" y="416433"/>
                    <a:pt x="0" y="268224"/>
                  </a:cubicBezTo>
                  <a:close/>
                </a:path>
              </a:pathLst>
            </a:custGeom>
            <a:solidFill>
              <a:srgbClr val="0D9488"/>
            </a:solidFill>
          </p:spPr>
        </p:sp>
        <p:sp>
          <p:nvSpPr>
            <p:cNvPr name="Freeform 22" id="22"/>
            <p:cNvSpPr/>
            <p:nvPr/>
          </p:nvSpPr>
          <p:spPr>
            <a:xfrm flipH="false" flipV="false" rot="0">
              <a:off x="0" y="0"/>
              <a:ext cx="570230" cy="570230"/>
            </a:xfrm>
            <a:custGeom>
              <a:avLst/>
              <a:gdLst/>
              <a:ahLst/>
              <a:cxnLst/>
              <a:rect r="r" b="b" t="t" l="l"/>
              <a:pathLst>
                <a:path h="570230" w="570230">
                  <a:moveTo>
                    <a:pt x="0" y="285115"/>
                  </a:moveTo>
                  <a:cubicBezTo>
                    <a:pt x="0" y="127635"/>
                    <a:pt x="127635" y="0"/>
                    <a:pt x="285115" y="0"/>
                  </a:cubicBezTo>
                  <a:lnTo>
                    <a:pt x="285115" y="16891"/>
                  </a:lnTo>
                  <a:lnTo>
                    <a:pt x="285115" y="0"/>
                  </a:lnTo>
                  <a:cubicBezTo>
                    <a:pt x="442595" y="0"/>
                    <a:pt x="570230" y="127635"/>
                    <a:pt x="570230" y="285115"/>
                  </a:cubicBezTo>
                  <a:lnTo>
                    <a:pt x="553339" y="285115"/>
                  </a:lnTo>
                  <a:lnTo>
                    <a:pt x="570230" y="285115"/>
                  </a:lnTo>
                  <a:cubicBezTo>
                    <a:pt x="570230" y="442595"/>
                    <a:pt x="442595" y="570230"/>
                    <a:pt x="285115" y="570230"/>
                  </a:cubicBezTo>
                  <a:lnTo>
                    <a:pt x="285115" y="553339"/>
                  </a:lnTo>
                  <a:lnTo>
                    <a:pt x="285115" y="570230"/>
                  </a:lnTo>
                  <a:cubicBezTo>
                    <a:pt x="127635" y="570357"/>
                    <a:pt x="0" y="442595"/>
                    <a:pt x="0" y="285115"/>
                  </a:cubicBezTo>
                  <a:lnTo>
                    <a:pt x="16891" y="285115"/>
                  </a:lnTo>
                  <a:lnTo>
                    <a:pt x="33909" y="285115"/>
                  </a:lnTo>
                  <a:lnTo>
                    <a:pt x="16891" y="285115"/>
                  </a:lnTo>
                  <a:lnTo>
                    <a:pt x="0" y="285115"/>
                  </a:lnTo>
                  <a:moveTo>
                    <a:pt x="33909" y="285115"/>
                  </a:moveTo>
                  <a:cubicBezTo>
                    <a:pt x="33909" y="294513"/>
                    <a:pt x="26289" y="302006"/>
                    <a:pt x="17018" y="302006"/>
                  </a:cubicBezTo>
                  <a:cubicBezTo>
                    <a:pt x="7747" y="302006"/>
                    <a:pt x="0" y="294513"/>
                    <a:pt x="0" y="285115"/>
                  </a:cubicBezTo>
                  <a:cubicBezTo>
                    <a:pt x="0" y="275717"/>
                    <a:pt x="7620" y="268224"/>
                    <a:pt x="16891" y="268224"/>
                  </a:cubicBezTo>
                  <a:cubicBezTo>
                    <a:pt x="26162" y="268224"/>
                    <a:pt x="33782" y="275844"/>
                    <a:pt x="33782" y="285115"/>
                  </a:cubicBezTo>
                  <a:cubicBezTo>
                    <a:pt x="33782" y="423926"/>
                    <a:pt x="146304" y="536448"/>
                    <a:pt x="285115" y="536448"/>
                  </a:cubicBezTo>
                  <a:cubicBezTo>
                    <a:pt x="423926" y="536448"/>
                    <a:pt x="536448" y="423926"/>
                    <a:pt x="536448" y="285115"/>
                  </a:cubicBezTo>
                  <a:cubicBezTo>
                    <a:pt x="536448" y="146304"/>
                    <a:pt x="423926" y="33782"/>
                    <a:pt x="285115" y="33782"/>
                  </a:cubicBezTo>
                  <a:lnTo>
                    <a:pt x="285115" y="16891"/>
                  </a:lnTo>
                  <a:lnTo>
                    <a:pt x="285115" y="33909"/>
                  </a:lnTo>
                  <a:cubicBezTo>
                    <a:pt x="146304" y="33909"/>
                    <a:pt x="33782" y="146431"/>
                    <a:pt x="33782" y="285242"/>
                  </a:cubicBezTo>
                  <a:close/>
                </a:path>
              </a:pathLst>
            </a:custGeom>
            <a:solidFill>
              <a:srgbClr val="0D9488"/>
            </a:solidFill>
          </p:spPr>
        </p:sp>
      </p:grpSp>
      <p:grpSp>
        <p:nvGrpSpPr>
          <p:cNvPr name="Group 23" id="23"/>
          <p:cNvGrpSpPr/>
          <p:nvPr/>
        </p:nvGrpSpPr>
        <p:grpSpPr>
          <a:xfrm rot="0">
            <a:off x="11667744" y="2340864"/>
            <a:ext cx="5815584" cy="1170432"/>
            <a:chOff x="0" y="0"/>
            <a:chExt cx="7754112" cy="1560576"/>
          </a:xfrm>
        </p:grpSpPr>
        <p:sp>
          <p:nvSpPr>
            <p:cNvPr name="Freeform 24" id="24"/>
            <p:cNvSpPr/>
            <p:nvPr/>
          </p:nvSpPr>
          <p:spPr>
            <a:xfrm flipH="false" flipV="false" rot="0">
              <a:off x="0" y="0"/>
              <a:ext cx="7754112" cy="1560576"/>
            </a:xfrm>
            <a:custGeom>
              <a:avLst/>
              <a:gdLst/>
              <a:ahLst/>
              <a:cxnLst/>
              <a:rect r="r" b="b" t="t" l="l"/>
              <a:pathLst>
                <a:path h="1560576" w="7754112">
                  <a:moveTo>
                    <a:pt x="0" y="0"/>
                  </a:moveTo>
                  <a:lnTo>
                    <a:pt x="7754112" y="0"/>
                  </a:lnTo>
                  <a:lnTo>
                    <a:pt x="7754112" y="1560576"/>
                  </a:lnTo>
                  <a:lnTo>
                    <a:pt x="0" y="1560576"/>
                  </a:lnTo>
                  <a:close/>
                </a:path>
              </a:pathLst>
            </a:custGeom>
            <a:blipFill>
              <a:blip r:embed="rId3">
                <a:alphaModFix amt="0"/>
              </a:blip>
              <a:stretch>
                <a:fillRect l="0" t="-46816" r="0" b="-46816"/>
              </a:stretch>
            </a:blipFill>
          </p:spPr>
        </p:sp>
        <p:sp>
          <p:nvSpPr>
            <p:cNvPr name="TextBox 25" id="25"/>
            <p:cNvSpPr txBox="true"/>
            <p:nvPr/>
          </p:nvSpPr>
          <p:spPr>
            <a:xfrm>
              <a:off x="0" y="-47625"/>
              <a:ext cx="7754112" cy="1608201"/>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Doctors see only the current visit — not 10+ years of history</a:t>
              </a:r>
            </a:p>
          </p:txBody>
        </p:sp>
      </p:grpSp>
      <p:grpSp>
        <p:nvGrpSpPr>
          <p:cNvPr name="Group 26" id="26"/>
          <p:cNvGrpSpPr/>
          <p:nvPr/>
        </p:nvGrpSpPr>
        <p:grpSpPr>
          <a:xfrm rot="0">
            <a:off x="11106407" y="3864359"/>
            <a:ext cx="427739" cy="427739"/>
            <a:chOff x="0" y="0"/>
            <a:chExt cx="570319" cy="570319"/>
          </a:xfrm>
        </p:grpSpPr>
        <p:sp>
          <p:nvSpPr>
            <p:cNvPr name="Freeform 27" id="27"/>
            <p:cNvSpPr/>
            <p:nvPr/>
          </p:nvSpPr>
          <p:spPr>
            <a:xfrm flipH="false" flipV="false" rot="0">
              <a:off x="16891" y="16891"/>
              <a:ext cx="536448" cy="536448"/>
            </a:xfrm>
            <a:custGeom>
              <a:avLst/>
              <a:gdLst/>
              <a:ahLst/>
              <a:cxnLst/>
              <a:rect r="r" b="b" t="t" l="l"/>
              <a:pathLst>
                <a:path h="536448" w="536448">
                  <a:moveTo>
                    <a:pt x="0" y="268224"/>
                  </a:moveTo>
                  <a:cubicBezTo>
                    <a:pt x="0" y="120142"/>
                    <a:pt x="120142" y="0"/>
                    <a:pt x="268224" y="0"/>
                  </a:cubicBezTo>
                  <a:cubicBezTo>
                    <a:pt x="416306" y="0"/>
                    <a:pt x="536448" y="120142"/>
                    <a:pt x="536448" y="268224"/>
                  </a:cubicBezTo>
                  <a:cubicBezTo>
                    <a:pt x="536448" y="416306"/>
                    <a:pt x="416306" y="536448"/>
                    <a:pt x="268224" y="536448"/>
                  </a:cubicBezTo>
                  <a:cubicBezTo>
                    <a:pt x="120142" y="536448"/>
                    <a:pt x="0" y="416433"/>
                    <a:pt x="0" y="268224"/>
                  </a:cubicBezTo>
                  <a:close/>
                </a:path>
              </a:pathLst>
            </a:custGeom>
            <a:solidFill>
              <a:srgbClr val="0D9488"/>
            </a:solidFill>
          </p:spPr>
        </p:sp>
        <p:sp>
          <p:nvSpPr>
            <p:cNvPr name="Freeform 28" id="28"/>
            <p:cNvSpPr/>
            <p:nvPr/>
          </p:nvSpPr>
          <p:spPr>
            <a:xfrm flipH="false" flipV="false" rot="0">
              <a:off x="0" y="0"/>
              <a:ext cx="570230" cy="570230"/>
            </a:xfrm>
            <a:custGeom>
              <a:avLst/>
              <a:gdLst/>
              <a:ahLst/>
              <a:cxnLst/>
              <a:rect r="r" b="b" t="t" l="l"/>
              <a:pathLst>
                <a:path h="570230" w="570230">
                  <a:moveTo>
                    <a:pt x="0" y="285115"/>
                  </a:moveTo>
                  <a:cubicBezTo>
                    <a:pt x="0" y="127635"/>
                    <a:pt x="127635" y="0"/>
                    <a:pt x="285115" y="0"/>
                  </a:cubicBezTo>
                  <a:lnTo>
                    <a:pt x="285115" y="16891"/>
                  </a:lnTo>
                  <a:lnTo>
                    <a:pt x="285115" y="0"/>
                  </a:lnTo>
                  <a:cubicBezTo>
                    <a:pt x="442595" y="0"/>
                    <a:pt x="570230" y="127635"/>
                    <a:pt x="570230" y="285115"/>
                  </a:cubicBezTo>
                  <a:lnTo>
                    <a:pt x="553339" y="285115"/>
                  </a:lnTo>
                  <a:lnTo>
                    <a:pt x="570230" y="285115"/>
                  </a:lnTo>
                  <a:cubicBezTo>
                    <a:pt x="570230" y="442595"/>
                    <a:pt x="442595" y="570230"/>
                    <a:pt x="285115" y="570230"/>
                  </a:cubicBezTo>
                  <a:lnTo>
                    <a:pt x="285115" y="553339"/>
                  </a:lnTo>
                  <a:lnTo>
                    <a:pt x="285115" y="570230"/>
                  </a:lnTo>
                  <a:cubicBezTo>
                    <a:pt x="127635" y="570357"/>
                    <a:pt x="0" y="442595"/>
                    <a:pt x="0" y="285115"/>
                  </a:cubicBezTo>
                  <a:lnTo>
                    <a:pt x="16891" y="285115"/>
                  </a:lnTo>
                  <a:lnTo>
                    <a:pt x="33909" y="285115"/>
                  </a:lnTo>
                  <a:lnTo>
                    <a:pt x="16891" y="285115"/>
                  </a:lnTo>
                  <a:lnTo>
                    <a:pt x="0" y="285115"/>
                  </a:lnTo>
                  <a:moveTo>
                    <a:pt x="33909" y="285115"/>
                  </a:moveTo>
                  <a:cubicBezTo>
                    <a:pt x="33909" y="294513"/>
                    <a:pt x="26289" y="302006"/>
                    <a:pt x="17018" y="302006"/>
                  </a:cubicBezTo>
                  <a:cubicBezTo>
                    <a:pt x="7747" y="302006"/>
                    <a:pt x="0" y="294513"/>
                    <a:pt x="0" y="285115"/>
                  </a:cubicBezTo>
                  <a:cubicBezTo>
                    <a:pt x="0" y="275717"/>
                    <a:pt x="7620" y="268224"/>
                    <a:pt x="16891" y="268224"/>
                  </a:cubicBezTo>
                  <a:cubicBezTo>
                    <a:pt x="26162" y="268224"/>
                    <a:pt x="33782" y="275844"/>
                    <a:pt x="33782" y="285115"/>
                  </a:cubicBezTo>
                  <a:cubicBezTo>
                    <a:pt x="33782" y="423926"/>
                    <a:pt x="146304" y="536448"/>
                    <a:pt x="285115" y="536448"/>
                  </a:cubicBezTo>
                  <a:cubicBezTo>
                    <a:pt x="423926" y="536448"/>
                    <a:pt x="536448" y="423926"/>
                    <a:pt x="536448" y="285115"/>
                  </a:cubicBezTo>
                  <a:cubicBezTo>
                    <a:pt x="536448" y="146304"/>
                    <a:pt x="423926" y="33782"/>
                    <a:pt x="285115" y="33782"/>
                  </a:cubicBezTo>
                  <a:lnTo>
                    <a:pt x="285115" y="16891"/>
                  </a:lnTo>
                  <a:lnTo>
                    <a:pt x="285115" y="33909"/>
                  </a:lnTo>
                  <a:cubicBezTo>
                    <a:pt x="146304" y="33909"/>
                    <a:pt x="33782" y="146431"/>
                    <a:pt x="33782" y="285242"/>
                  </a:cubicBezTo>
                  <a:close/>
                </a:path>
              </a:pathLst>
            </a:custGeom>
            <a:solidFill>
              <a:srgbClr val="0D9488"/>
            </a:solidFill>
          </p:spPr>
        </p:sp>
      </p:grpSp>
      <p:grpSp>
        <p:nvGrpSpPr>
          <p:cNvPr name="Group 29" id="29"/>
          <p:cNvGrpSpPr/>
          <p:nvPr/>
        </p:nvGrpSpPr>
        <p:grpSpPr>
          <a:xfrm rot="0">
            <a:off x="11667744" y="3767328"/>
            <a:ext cx="5815584" cy="1170432"/>
            <a:chOff x="0" y="0"/>
            <a:chExt cx="7754112" cy="1560576"/>
          </a:xfrm>
        </p:grpSpPr>
        <p:sp>
          <p:nvSpPr>
            <p:cNvPr name="Freeform 30" id="30"/>
            <p:cNvSpPr/>
            <p:nvPr/>
          </p:nvSpPr>
          <p:spPr>
            <a:xfrm flipH="false" flipV="false" rot="0">
              <a:off x="0" y="0"/>
              <a:ext cx="7754112" cy="1560576"/>
            </a:xfrm>
            <a:custGeom>
              <a:avLst/>
              <a:gdLst/>
              <a:ahLst/>
              <a:cxnLst/>
              <a:rect r="r" b="b" t="t" l="l"/>
              <a:pathLst>
                <a:path h="1560576" w="7754112">
                  <a:moveTo>
                    <a:pt x="0" y="0"/>
                  </a:moveTo>
                  <a:lnTo>
                    <a:pt x="7754112" y="0"/>
                  </a:lnTo>
                  <a:lnTo>
                    <a:pt x="7754112" y="1560576"/>
                  </a:lnTo>
                  <a:lnTo>
                    <a:pt x="0" y="1560576"/>
                  </a:lnTo>
                  <a:close/>
                </a:path>
              </a:pathLst>
            </a:custGeom>
            <a:blipFill>
              <a:blip r:embed="rId3">
                <a:alphaModFix amt="0"/>
              </a:blip>
              <a:stretch>
                <a:fillRect l="0" t="-46816" r="0" b="-46816"/>
              </a:stretch>
            </a:blipFill>
          </p:spPr>
        </p:sp>
        <p:sp>
          <p:nvSpPr>
            <p:cNvPr name="TextBox 31" id="31"/>
            <p:cNvSpPr txBox="true"/>
            <p:nvPr/>
          </p:nvSpPr>
          <p:spPr>
            <a:xfrm>
              <a:off x="0" y="-47625"/>
              <a:ext cx="7754112" cy="1608201"/>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Disease progression patterns go undetected until it's too late</a:t>
              </a:r>
            </a:p>
          </p:txBody>
        </p:sp>
      </p:grpSp>
      <p:grpSp>
        <p:nvGrpSpPr>
          <p:cNvPr name="Group 32" id="32"/>
          <p:cNvGrpSpPr/>
          <p:nvPr/>
        </p:nvGrpSpPr>
        <p:grpSpPr>
          <a:xfrm rot="0">
            <a:off x="11106407" y="5290823"/>
            <a:ext cx="427739" cy="427739"/>
            <a:chOff x="0" y="0"/>
            <a:chExt cx="570319" cy="570319"/>
          </a:xfrm>
        </p:grpSpPr>
        <p:sp>
          <p:nvSpPr>
            <p:cNvPr name="Freeform 33" id="33"/>
            <p:cNvSpPr/>
            <p:nvPr/>
          </p:nvSpPr>
          <p:spPr>
            <a:xfrm flipH="false" flipV="false" rot="0">
              <a:off x="16891" y="16891"/>
              <a:ext cx="536448" cy="536448"/>
            </a:xfrm>
            <a:custGeom>
              <a:avLst/>
              <a:gdLst/>
              <a:ahLst/>
              <a:cxnLst/>
              <a:rect r="r" b="b" t="t" l="l"/>
              <a:pathLst>
                <a:path h="536448" w="536448">
                  <a:moveTo>
                    <a:pt x="0" y="268224"/>
                  </a:moveTo>
                  <a:cubicBezTo>
                    <a:pt x="0" y="120142"/>
                    <a:pt x="120142" y="0"/>
                    <a:pt x="268224" y="0"/>
                  </a:cubicBezTo>
                  <a:cubicBezTo>
                    <a:pt x="416306" y="0"/>
                    <a:pt x="536448" y="120142"/>
                    <a:pt x="536448" y="268224"/>
                  </a:cubicBezTo>
                  <a:cubicBezTo>
                    <a:pt x="536448" y="416306"/>
                    <a:pt x="416306" y="536448"/>
                    <a:pt x="268224" y="536448"/>
                  </a:cubicBezTo>
                  <a:cubicBezTo>
                    <a:pt x="120142" y="536448"/>
                    <a:pt x="0" y="416433"/>
                    <a:pt x="0" y="268224"/>
                  </a:cubicBezTo>
                  <a:close/>
                </a:path>
              </a:pathLst>
            </a:custGeom>
            <a:solidFill>
              <a:srgbClr val="0D9488"/>
            </a:solidFill>
          </p:spPr>
        </p:sp>
        <p:sp>
          <p:nvSpPr>
            <p:cNvPr name="Freeform 34" id="34"/>
            <p:cNvSpPr/>
            <p:nvPr/>
          </p:nvSpPr>
          <p:spPr>
            <a:xfrm flipH="false" flipV="false" rot="0">
              <a:off x="0" y="0"/>
              <a:ext cx="570230" cy="570230"/>
            </a:xfrm>
            <a:custGeom>
              <a:avLst/>
              <a:gdLst/>
              <a:ahLst/>
              <a:cxnLst/>
              <a:rect r="r" b="b" t="t" l="l"/>
              <a:pathLst>
                <a:path h="570230" w="570230">
                  <a:moveTo>
                    <a:pt x="0" y="285115"/>
                  </a:moveTo>
                  <a:cubicBezTo>
                    <a:pt x="0" y="127635"/>
                    <a:pt x="127635" y="0"/>
                    <a:pt x="285115" y="0"/>
                  </a:cubicBezTo>
                  <a:lnTo>
                    <a:pt x="285115" y="16891"/>
                  </a:lnTo>
                  <a:lnTo>
                    <a:pt x="285115" y="0"/>
                  </a:lnTo>
                  <a:cubicBezTo>
                    <a:pt x="442595" y="0"/>
                    <a:pt x="570230" y="127635"/>
                    <a:pt x="570230" y="285115"/>
                  </a:cubicBezTo>
                  <a:lnTo>
                    <a:pt x="553339" y="285115"/>
                  </a:lnTo>
                  <a:lnTo>
                    <a:pt x="570230" y="285115"/>
                  </a:lnTo>
                  <a:cubicBezTo>
                    <a:pt x="570230" y="442595"/>
                    <a:pt x="442595" y="570230"/>
                    <a:pt x="285115" y="570230"/>
                  </a:cubicBezTo>
                  <a:lnTo>
                    <a:pt x="285115" y="553339"/>
                  </a:lnTo>
                  <a:lnTo>
                    <a:pt x="285115" y="570230"/>
                  </a:lnTo>
                  <a:cubicBezTo>
                    <a:pt x="127635" y="570357"/>
                    <a:pt x="0" y="442595"/>
                    <a:pt x="0" y="285115"/>
                  </a:cubicBezTo>
                  <a:lnTo>
                    <a:pt x="16891" y="285115"/>
                  </a:lnTo>
                  <a:lnTo>
                    <a:pt x="33909" y="285115"/>
                  </a:lnTo>
                  <a:lnTo>
                    <a:pt x="16891" y="285115"/>
                  </a:lnTo>
                  <a:lnTo>
                    <a:pt x="0" y="285115"/>
                  </a:lnTo>
                  <a:moveTo>
                    <a:pt x="33909" y="285115"/>
                  </a:moveTo>
                  <a:cubicBezTo>
                    <a:pt x="33909" y="294513"/>
                    <a:pt x="26289" y="302006"/>
                    <a:pt x="17018" y="302006"/>
                  </a:cubicBezTo>
                  <a:cubicBezTo>
                    <a:pt x="7747" y="302006"/>
                    <a:pt x="0" y="294513"/>
                    <a:pt x="0" y="285115"/>
                  </a:cubicBezTo>
                  <a:cubicBezTo>
                    <a:pt x="0" y="275717"/>
                    <a:pt x="7620" y="268224"/>
                    <a:pt x="16891" y="268224"/>
                  </a:cubicBezTo>
                  <a:cubicBezTo>
                    <a:pt x="26162" y="268224"/>
                    <a:pt x="33782" y="275844"/>
                    <a:pt x="33782" y="285115"/>
                  </a:cubicBezTo>
                  <a:cubicBezTo>
                    <a:pt x="33782" y="423926"/>
                    <a:pt x="146304" y="536448"/>
                    <a:pt x="285115" y="536448"/>
                  </a:cubicBezTo>
                  <a:cubicBezTo>
                    <a:pt x="423926" y="536448"/>
                    <a:pt x="536448" y="423926"/>
                    <a:pt x="536448" y="285115"/>
                  </a:cubicBezTo>
                  <a:cubicBezTo>
                    <a:pt x="536448" y="146304"/>
                    <a:pt x="423926" y="33782"/>
                    <a:pt x="285115" y="33782"/>
                  </a:cubicBezTo>
                  <a:lnTo>
                    <a:pt x="285115" y="16891"/>
                  </a:lnTo>
                  <a:lnTo>
                    <a:pt x="285115" y="33909"/>
                  </a:lnTo>
                  <a:cubicBezTo>
                    <a:pt x="146304" y="33909"/>
                    <a:pt x="33782" y="146431"/>
                    <a:pt x="33782" y="285242"/>
                  </a:cubicBezTo>
                  <a:close/>
                </a:path>
              </a:pathLst>
            </a:custGeom>
            <a:solidFill>
              <a:srgbClr val="0D9488"/>
            </a:solidFill>
          </p:spPr>
        </p:sp>
      </p:grpSp>
      <p:grpSp>
        <p:nvGrpSpPr>
          <p:cNvPr name="Group 35" id="35"/>
          <p:cNvGrpSpPr/>
          <p:nvPr/>
        </p:nvGrpSpPr>
        <p:grpSpPr>
          <a:xfrm rot="0">
            <a:off x="11667744" y="5193792"/>
            <a:ext cx="5815584" cy="1170432"/>
            <a:chOff x="0" y="0"/>
            <a:chExt cx="7754112" cy="1560576"/>
          </a:xfrm>
        </p:grpSpPr>
        <p:sp>
          <p:nvSpPr>
            <p:cNvPr name="Freeform 36" id="36"/>
            <p:cNvSpPr/>
            <p:nvPr/>
          </p:nvSpPr>
          <p:spPr>
            <a:xfrm flipH="false" flipV="false" rot="0">
              <a:off x="0" y="0"/>
              <a:ext cx="7754112" cy="1560576"/>
            </a:xfrm>
            <a:custGeom>
              <a:avLst/>
              <a:gdLst/>
              <a:ahLst/>
              <a:cxnLst/>
              <a:rect r="r" b="b" t="t" l="l"/>
              <a:pathLst>
                <a:path h="1560576" w="7754112">
                  <a:moveTo>
                    <a:pt x="0" y="0"/>
                  </a:moveTo>
                  <a:lnTo>
                    <a:pt x="7754112" y="0"/>
                  </a:lnTo>
                  <a:lnTo>
                    <a:pt x="7754112" y="1560576"/>
                  </a:lnTo>
                  <a:lnTo>
                    <a:pt x="0" y="1560576"/>
                  </a:lnTo>
                  <a:close/>
                </a:path>
              </a:pathLst>
            </a:custGeom>
            <a:blipFill>
              <a:blip r:embed="rId3">
                <a:alphaModFix amt="0"/>
              </a:blip>
              <a:stretch>
                <a:fillRect l="0" t="-46816" r="0" b="-46816"/>
              </a:stretch>
            </a:blipFill>
          </p:spPr>
        </p:sp>
        <p:sp>
          <p:nvSpPr>
            <p:cNvPr name="TextBox 37" id="37"/>
            <p:cNvSpPr txBox="true"/>
            <p:nvPr/>
          </p:nvSpPr>
          <p:spPr>
            <a:xfrm>
              <a:off x="0" y="-47625"/>
              <a:ext cx="7754112" cy="1608201"/>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No system connects past records to future disease risk</a:t>
              </a:r>
            </a:p>
          </p:txBody>
        </p:sp>
      </p:grpSp>
      <p:grpSp>
        <p:nvGrpSpPr>
          <p:cNvPr name="Group 38" id="38"/>
          <p:cNvGrpSpPr/>
          <p:nvPr/>
        </p:nvGrpSpPr>
        <p:grpSpPr>
          <a:xfrm rot="0">
            <a:off x="11106407" y="6717287"/>
            <a:ext cx="427739" cy="427739"/>
            <a:chOff x="0" y="0"/>
            <a:chExt cx="570319" cy="570319"/>
          </a:xfrm>
        </p:grpSpPr>
        <p:sp>
          <p:nvSpPr>
            <p:cNvPr name="Freeform 39" id="39"/>
            <p:cNvSpPr/>
            <p:nvPr/>
          </p:nvSpPr>
          <p:spPr>
            <a:xfrm flipH="false" flipV="false" rot="0">
              <a:off x="16891" y="16891"/>
              <a:ext cx="536448" cy="536448"/>
            </a:xfrm>
            <a:custGeom>
              <a:avLst/>
              <a:gdLst/>
              <a:ahLst/>
              <a:cxnLst/>
              <a:rect r="r" b="b" t="t" l="l"/>
              <a:pathLst>
                <a:path h="536448" w="536448">
                  <a:moveTo>
                    <a:pt x="0" y="268224"/>
                  </a:moveTo>
                  <a:cubicBezTo>
                    <a:pt x="0" y="120142"/>
                    <a:pt x="120142" y="0"/>
                    <a:pt x="268224" y="0"/>
                  </a:cubicBezTo>
                  <a:cubicBezTo>
                    <a:pt x="416306" y="0"/>
                    <a:pt x="536448" y="120142"/>
                    <a:pt x="536448" y="268224"/>
                  </a:cubicBezTo>
                  <a:cubicBezTo>
                    <a:pt x="536448" y="416306"/>
                    <a:pt x="416306" y="536448"/>
                    <a:pt x="268224" y="536448"/>
                  </a:cubicBezTo>
                  <a:cubicBezTo>
                    <a:pt x="120142" y="536448"/>
                    <a:pt x="0" y="416433"/>
                    <a:pt x="0" y="268224"/>
                  </a:cubicBezTo>
                  <a:close/>
                </a:path>
              </a:pathLst>
            </a:custGeom>
            <a:solidFill>
              <a:srgbClr val="0D9488"/>
            </a:solidFill>
          </p:spPr>
        </p:sp>
        <p:sp>
          <p:nvSpPr>
            <p:cNvPr name="Freeform 40" id="40"/>
            <p:cNvSpPr/>
            <p:nvPr/>
          </p:nvSpPr>
          <p:spPr>
            <a:xfrm flipH="false" flipV="false" rot="0">
              <a:off x="0" y="0"/>
              <a:ext cx="570230" cy="570230"/>
            </a:xfrm>
            <a:custGeom>
              <a:avLst/>
              <a:gdLst/>
              <a:ahLst/>
              <a:cxnLst/>
              <a:rect r="r" b="b" t="t" l="l"/>
              <a:pathLst>
                <a:path h="570230" w="570230">
                  <a:moveTo>
                    <a:pt x="0" y="285115"/>
                  </a:moveTo>
                  <a:cubicBezTo>
                    <a:pt x="0" y="127635"/>
                    <a:pt x="127635" y="0"/>
                    <a:pt x="285115" y="0"/>
                  </a:cubicBezTo>
                  <a:lnTo>
                    <a:pt x="285115" y="16891"/>
                  </a:lnTo>
                  <a:lnTo>
                    <a:pt x="285115" y="0"/>
                  </a:lnTo>
                  <a:cubicBezTo>
                    <a:pt x="442595" y="0"/>
                    <a:pt x="570230" y="127635"/>
                    <a:pt x="570230" y="285115"/>
                  </a:cubicBezTo>
                  <a:lnTo>
                    <a:pt x="553339" y="285115"/>
                  </a:lnTo>
                  <a:lnTo>
                    <a:pt x="570230" y="285115"/>
                  </a:lnTo>
                  <a:cubicBezTo>
                    <a:pt x="570230" y="442595"/>
                    <a:pt x="442595" y="570230"/>
                    <a:pt x="285115" y="570230"/>
                  </a:cubicBezTo>
                  <a:lnTo>
                    <a:pt x="285115" y="553339"/>
                  </a:lnTo>
                  <a:lnTo>
                    <a:pt x="285115" y="570230"/>
                  </a:lnTo>
                  <a:cubicBezTo>
                    <a:pt x="127635" y="570357"/>
                    <a:pt x="0" y="442595"/>
                    <a:pt x="0" y="285115"/>
                  </a:cubicBezTo>
                  <a:lnTo>
                    <a:pt x="16891" y="285115"/>
                  </a:lnTo>
                  <a:lnTo>
                    <a:pt x="33909" y="285115"/>
                  </a:lnTo>
                  <a:lnTo>
                    <a:pt x="16891" y="285115"/>
                  </a:lnTo>
                  <a:lnTo>
                    <a:pt x="0" y="285115"/>
                  </a:lnTo>
                  <a:moveTo>
                    <a:pt x="33909" y="285115"/>
                  </a:moveTo>
                  <a:cubicBezTo>
                    <a:pt x="33909" y="294513"/>
                    <a:pt x="26289" y="302006"/>
                    <a:pt x="17018" y="302006"/>
                  </a:cubicBezTo>
                  <a:cubicBezTo>
                    <a:pt x="7747" y="302006"/>
                    <a:pt x="0" y="294513"/>
                    <a:pt x="0" y="285115"/>
                  </a:cubicBezTo>
                  <a:cubicBezTo>
                    <a:pt x="0" y="275717"/>
                    <a:pt x="7620" y="268224"/>
                    <a:pt x="16891" y="268224"/>
                  </a:cubicBezTo>
                  <a:cubicBezTo>
                    <a:pt x="26162" y="268224"/>
                    <a:pt x="33782" y="275844"/>
                    <a:pt x="33782" y="285115"/>
                  </a:cubicBezTo>
                  <a:cubicBezTo>
                    <a:pt x="33782" y="423926"/>
                    <a:pt x="146304" y="536448"/>
                    <a:pt x="285115" y="536448"/>
                  </a:cubicBezTo>
                  <a:cubicBezTo>
                    <a:pt x="423926" y="536448"/>
                    <a:pt x="536448" y="423926"/>
                    <a:pt x="536448" y="285115"/>
                  </a:cubicBezTo>
                  <a:cubicBezTo>
                    <a:pt x="536448" y="146304"/>
                    <a:pt x="423926" y="33782"/>
                    <a:pt x="285115" y="33782"/>
                  </a:cubicBezTo>
                  <a:lnTo>
                    <a:pt x="285115" y="16891"/>
                  </a:lnTo>
                  <a:lnTo>
                    <a:pt x="285115" y="33909"/>
                  </a:lnTo>
                  <a:cubicBezTo>
                    <a:pt x="146304" y="33909"/>
                    <a:pt x="33782" y="146431"/>
                    <a:pt x="33782" y="285242"/>
                  </a:cubicBezTo>
                  <a:close/>
                </a:path>
              </a:pathLst>
            </a:custGeom>
            <a:solidFill>
              <a:srgbClr val="0D9488"/>
            </a:solidFill>
          </p:spPr>
        </p:sp>
      </p:grpSp>
      <p:grpSp>
        <p:nvGrpSpPr>
          <p:cNvPr name="Group 41" id="41"/>
          <p:cNvGrpSpPr/>
          <p:nvPr/>
        </p:nvGrpSpPr>
        <p:grpSpPr>
          <a:xfrm rot="0">
            <a:off x="11667744" y="6620256"/>
            <a:ext cx="5815584" cy="1170432"/>
            <a:chOff x="0" y="0"/>
            <a:chExt cx="7754112" cy="1560576"/>
          </a:xfrm>
        </p:grpSpPr>
        <p:sp>
          <p:nvSpPr>
            <p:cNvPr name="Freeform 42" id="42"/>
            <p:cNvSpPr/>
            <p:nvPr/>
          </p:nvSpPr>
          <p:spPr>
            <a:xfrm flipH="false" flipV="false" rot="0">
              <a:off x="0" y="0"/>
              <a:ext cx="7754112" cy="1560576"/>
            </a:xfrm>
            <a:custGeom>
              <a:avLst/>
              <a:gdLst/>
              <a:ahLst/>
              <a:cxnLst/>
              <a:rect r="r" b="b" t="t" l="l"/>
              <a:pathLst>
                <a:path h="1560576" w="7754112">
                  <a:moveTo>
                    <a:pt x="0" y="0"/>
                  </a:moveTo>
                  <a:lnTo>
                    <a:pt x="7754112" y="0"/>
                  </a:lnTo>
                  <a:lnTo>
                    <a:pt x="7754112" y="1560576"/>
                  </a:lnTo>
                  <a:lnTo>
                    <a:pt x="0" y="1560576"/>
                  </a:lnTo>
                  <a:close/>
                </a:path>
              </a:pathLst>
            </a:custGeom>
            <a:blipFill>
              <a:blip r:embed="rId3">
                <a:alphaModFix amt="0"/>
              </a:blip>
              <a:stretch>
                <a:fillRect l="0" t="-46816" r="0" b="-46816"/>
              </a:stretch>
            </a:blipFill>
          </p:spPr>
        </p:sp>
        <p:sp>
          <p:nvSpPr>
            <p:cNvPr name="TextBox 43" id="43"/>
            <p:cNvSpPr txBox="true"/>
            <p:nvPr/>
          </p:nvSpPr>
          <p:spPr>
            <a:xfrm>
              <a:off x="0" y="-47625"/>
              <a:ext cx="7754112" cy="1608201"/>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Result: treating disease instead of preventing it</a:t>
              </a:r>
            </a:p>
          </p:txBody>
        </p:sp>
      </p:grpSp>
      <p:grpSp>
        <p:nvGrpSpPr>
          <p:cNvPr name="Group 44" id="44"/>
          <p:cNvGrpSpPr/>
          <p:nvPr/>
        </p:nvGrpSpPr>
        <p:grpSpPr>
          <a:xfrm rot="0">
            <a:off x="633727" y="8369551"/>
            <a:ext cx="9796777" cy="1256281"/>
            <a:chOff x="0" y="0"/>
            <a:chExt cx="13062369" cy="1675041"/>
          </a:xfrm>
        </p:grpSpPr>
        <p:sp>
          <p:nvSpPr>
            <p:cNvPr name="Freeform 45" id="45"/>
            <p:cNvSpPr/>
            <p:nvPr/>
          </p:nvSpPr>
          <p:spPr>
            <a:xfrm flipH="false" flipV="false" rot="0">
              <a:off x="8509" y="8509"/>
              <a:ext cx="13045440" cy="1658112"/>
            </a:xfrm>
            <a:custGeom>
              <a:avLst/>
              <a:gdLst/>
              <a:ahLst/>
              <a:cxnLst/>
              <a:rect r="r" b="b" t="t" l="l"/>
              <a:pathLst>
                <a:path h="1658112" w="13045440">
                  <a:moveTo>
                    <a:pt x="0" y="0"/>
                  </a:moveTo>
                  <a:lnTo>
                    <a:pt x="13045440" y="0"/>
                  </a:lnTo>
                  <a:lnTo>
                    <a:pt x="13045440" y="1658112"/>
                  </a:lnTo>
                  <a:lnTo>
                    <a:pt x="0" y="1658112"/>
                  </a:lnTo>
                  <a:close/>
                </a:path>
              </a:pathLst>
            </a:custGeom>
            <a:solidFill>
              <a:srgbClr val="FEF3C7"/>
            </a:solidFill>
          </p:spPr>
        </p:sp>
        <p:sp>
          <p:nvSpPr>
            <p:cNvPr name="Freeform 46" id="46"/>
            <p:cNvSpPr/>
            <p:nvPr/>
          </p:nvSpPr>
          <p:spPr>
            <a:xfrm flipH="false" flipV="false" rot="0">
              <a:off x="0" y="0"/>
              <a:ext cx="13062457" cy="1675130"/>
            </a:xfrm>
            <a:custGeom>
              <a:avLst/>
              <a:gdLst/>
              <a:ahLst/>
              <a:cxnLst/>
              <a:rect r="r" b="b" t="t" l="l"/>
              <a:pathLst>
                <a:path h="1675130" w="13062457">
                  <a:moveTo>
                    <a:pt x="8509" y="0"/>
                  </a:moveTo>
                  <a:lnTo>
                    <a:pt x="13053949" y="0"/>
                  </a:lnTo>
                  <a:cubicBezTo>
                    <a:pt x="13058648" y="0"/>
                    <a:pt x="13062457" y="3810"/>
                    <a:pt x="13062457" y="8509"/>
                  </a:cubicBezTo>
                  <a:lnTo>
                    <a:pt x="13062457" y="1666621"/>
                  </a:lnTo>
                  <a:cubicBezTo>
                    <a:pt x="13062457" y="1671320"/>
                    <a:pt x="13058648" y="1675130"/>
                    <a:pt x="13053949" y="1675130"/>
                  </a:cubicBezTo>
                  <a:lnTo>
                    <a:pt x="8509" y="1675130"/>
                  </a:lnTo>
                  <a:cubicBezTo>
                    <a:pt x="3810" y="1675130"/>
                    <a:pt x="0" y="1671320"/>
                    <a:pt x="0" y="1666621"/>
                  </a:cubicBezTo>
                  <a:lnTo>
                    <a:pt x="0" y="8509"/>
                  </a:lnTo>
                  <a:cubicBezTo>
                    <a:pt x="0" y="3810"/>
                    <a:pt x="3810" y="0"/>
                    <a:pt x="8509" y="0"/>
                  </a:cubicBezTo>
                  <a:moveTo>
                    <a:pt x="8509" y="16891"/>
                  </a:moveTo>
                  <a:lnTo>
                    <a:pt x="8509" y="8509"/>
                  </a:lnTo>
                  <a:lnTo>
                    <a:pt x="17018" y="8509"/>
                  </a:lnTo>
                  <a:lnTo>
                    <a:pt x="17018" y="1666621"/>
                  </a:lnTo>
                  <a:lnTo>
                    <a:pt x="8509" y="1666621"/>
                  </a:lnTo>
                  <a:lnTo>
                    <a:pt x="8509" y="1658112"/>
                  </a:lnTo>
                  <a:lnTo>
                    <a:pt x="13053949" y="1658112"/>
                  </a:lnTo>
                  <a:lnTo>
                    <a:pt x="13053949" y="1666621"/>
                  </a:lnTo>
                  <a:lnTo>
                    <a:pt x="13045439" y="1666621"/>
                  </a:lnTo>
                  <a:lnTo>
                    <a:pt x="13045439" y="8509"/>
                  </a:lnTo>
                  <a:lnTo>
                    <a:pt x="13053949" y="8509"/>
                  </a:lnTo>
                  <a:lnTo>
                    <a:pt x="13053949" y="17018"/>
                  </a:lnTo>
                  <a:lnTo>
                    <a:pt x="8509" y="17018"/>
                  </a:lnTo>
                  <a:close/>
                </a:path>
              </a:pathLst>
            </a:custGeom>
            <a:solidFill>
              <a:srgbClr val="F59E0B"/>
            </a:solidFill>
          </p:spPr>
        </p:sp>
      </p:grpSp>
      <p:grpSp>
        <p:nvGrpSpPr>
          <p:cNvPr name="Group 47" id="47"/>
          <p:cNvGrpSpPr/>
          <p:nvPr/>
        </p:nvGrpSpPr>
        <p:grpSpPr>
          <a:xfrm rot="0">
            <a:off x="914400" y="8412480"/>
            <a:ext cx="9326880" cy="1170432"/>
            <a:chOff x="0" y="0"/>
            <a:chExt cx="12435840" cy="1560576"/>
          </a:xfrm>
        </p:grpSpPr>
        <p:sp>
          <p:nvSpPr>
            <p:cNvPr name="Freeform 48" id="48"/>
            <p:cNvSpPr/>
            <p:nvPr/>
          </p:nvSpPr>
          <p:spPr>
            <a:xfrm flipH="false" flipV="false" rot="0">
              <a:off x="0" y="0"/>
              <a:ext cx="12435840" cy="1560576"/>
            </a:xfrm>
            <a:custGeom>
              <a:avLst/>
              <a:gdLst/>
              <a:ahLst/>
              <a:cxnLst/>
              <a:rect r="r" b="b" t="t" l="l"/>
              <a:pathLst>
                <a:path h="1560576" w="12435840">
                  <a:moveTo>
                    <a:pt x="0" y="0"/>
                  </a:moveTo>
                  <a:lnTo>
                    <a:pt x="12435840" y="0"/>
                  </a:lnTo>
                  <a:lnTo>
                    <a:pt x="12435840" y="1560576"/>
                  </a:lnTo>
                  <a:lnTo>
                    <a:pt x="0" y="1560576"/>
                  </a:lnTo>
                  <a:close/>
                </a:path>
              </a:pathLst>
            </a:custGeom>
            <a:blipFill>
              <a:blip r:embed="rId3">
                <a:alphaModFix amt="0"/>
              </a:blip>
              <a:stretch>
                <a:fillRect l="0" t="-105271" r="0" b="-105271"/>
              </a:stretch>
            </a:blipFill>
          </p:spPr>
        </p:sp>
        <p:sp>
          <p:nvSpPr>
            <p:cNvPr name="TextBox 49" id="49"/>
            <p:cNvSpPr txBox="true"/>
            <p:nvPr/>
          </p:nvSpPr>
          <p:spPr>
            <a:xfrm>
              <a:off x="0" y="-38100"/>
              <a:ext cx="12435840" cy="1598676"/>
            </a:xfrm>
            <a:prstGeom prst="rect">
              <a:avLst/>
            </a:prstGeom>
          </p:spPr>
          <p:txBody>
            <a:bodyPr anchor="ctr" rtlCol="false" tIns="0" lIns="0" bIns="0" rIns="0"/>
            <a:lstStyle/>
            <a:p>
              <a:pPr algn="l">
                <a:lnSpc>
                  <a:spcPts val="2160"/>
                </a:lnSpc>
              </a:pPr>
              <a:r>
                <a:rPr lang="en-US" sz="1800" i="true">
                  <a:solidFill>
                    <a:srgbClr val="92400E"/>
                  </a:solidFill>
                  <a:latin typeface="Calibri (MS) Italics"/>
                  <a:ea typeface="Calibri (MS) Italics"/>
                  <a:cs typeface="Calibri (MS) Italics"/>
                  <a:sym typeface="Calibri (MS) Italics"/>
                </a:rPr>
                <a:t>In sub-Saharan Africa, 80% of chronic disease deaths occur before age 70 — almost all due to late or missed diagnosis. (WHO, 2023)</a:t>
              </a:r>
            </a:p>
          </p:txBody>
        </p:sp>
      </p:grpSp>
      <p:grpSp>
        <p:nvGrpSpPr>
          <p:cNvPr name="Group 50" id="50"/>
          <p:cNvGrpSpPr/>
          <p:nvPr/>
        </p:nvGrpSpPr>
        <p:grpSpPr>
          <a:xfrm rot="0">
            <a:off x="-12697" y="9588503"/>
            <a:ext cx="18313403" cy="711203"/>
            <a:chOff x="0" y="0"/>
            <a:chExt cx="24417871" cy="948271"/>
          </a:xfrm>
        </p:grpSpPr>
        <p:sp>
          <p:nvSpPr>
            <p:cNvPr name="Freeform 51" id="51"/>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52" id="52"/>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53" id="53"/>
          <p:cNvGrpSpPr/>
          <p:nvPr/>
        </p:nvGrpSpPr>
        <p:grpSpPr>
          <a:xfrm rot="0">
            <a:off x="731520" y="9637776"/>
            <a:ext cx="16824960" cy="585216"/>
            <a:chOff x="0" y="0"/>
            <a:chExt cx="22433280" cy="780288"/>
          </a:xfrm>
        </p:grpSpPr>
        <p:sp>
          <p:nvSpPr>
            <p:cNvPr name="Freeform 54" id="54"/>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55" id="55"/>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D948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D948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FFFFFF"/>
                  </a:solidFill>
                  <a:latin typeface="Calibri (MS) Bold"/>
                  <a:ea typeface="Calibri (MS) Bold"/>
                  <a:cs typeface="Calibri (MS) Bold"/>
                  <a:sym typeface="Calibri (MS) Bold"/>
                </a:rPr>
                <a:t>PROBLEM DEFINITION</a:t>
              </a:r>
            </a:p>
          </p:txBody>
        </p:sp>
      </p:grpSp>
      <p:grpSp>
        <p:nvGrpSpPr>
          <p:cNvPr name="Group 8" id="8"/>
          <p:cNvGrpSpPr/>
          <p:nvPr/>
        </p:nvGrpSpPr>
        <p:grpSpPr>
          <a:xfrm rot="0">
            <a:off x="731520" y="1371600"/>
            <a:ext cx="16824960" cy="694944"/>
            <a:chOff x="0" y="0"/>
            <a:chExt cx="22433280" cy="926592"/>
          </a:xfrm>
        </p:grpSpPr>
        <p:sp>
          <p:nvSpPr>
            <p:cNvPr name="Freeform 9" id="9"/>
            <p:cNvSpPr/>
            <p:nvPr/>
          </p:nvSpPr>
          <p:spPr>
            <a:xfrm flipH="false" flipV="false" rot="0">
              <a:off x="0" y="0"/>
              <a:ext cx="22433280" cy="926592"/>
            </a:xfrm>
            <a:custGeom>
              <a:avLst/>
              <a:gdLst/>
              <a:ahLst/>
              <a:cxnLst/>
              <a:rect r="r" b="b" t="t" l="l"/>
              <a:pathLst>
                <a:path h="926592" w="22433280">
                  <a:moveTo>
                    <a:pt x="0" y="0"/>
                  </a:moveTo>
                  <a:lnTo>
                    <a:pt x="22433280" y="0"/>
                  </a:lnTo>
                  <a:lnTo>
                    <a:pt x="22433280" y="926592"/>
                  </a:lnTo>
                  <a:lnTo>
                    <a:pt x="0" y="926592"/>
                  </a:lnTo>
                  <a:close/>
                </a:path>
              </a:pathLst>
            </a:custGeom>
            <a:blipFill>
              <a:blip r:embed="rId3">
                <a:alphaModFix amt="0"/>
              </a:blip>
              <a:stretch>
                <a:fillRect l="0" t="-421743" r="0" b="-421743"/>
              </a:stretch>
            </a:blipFill>
          </p:spPr>
        </p:sp>
        <p:sp>
          <p:nvSpPr>
            <p:cNvPr name="TextBox 10" id="10"/>
            <p:cNvSpPr txBox="true"/>
            <p:nvPr/>
          </p:nvSpPr>
          <p:spPr>
            <a:xfrm>
              <a:off x="0" y="-57150"/>
              <a:ext cx="22433280" cy="983742"/>
            </a:xfrm>
            <a:prstGeom prst="rect">
              <a:avLst/>
            </a:prstGeom>
          </p:spPr>
          <p:txBody>
            <a:bodyPr anchor="ctr" rtlCol="false" tIns="0" lIns="0" bIns="0" rIns="0"/>
            <a:lstStyle/>
            <a:p>
              <a:pPr algn="l">
                <a:lnSpc>
                  <a:spcPts val="3120"/>
                </a:lnSpc>
              </a:pPr>
              <a:r>
                <a:rPr lang="en-US" sz="2600" i="true">
                  <a:solidFill>
                    <a:srgbClr val="14B8A6"/>
                  </a:solidFill>
                  <a:latin typeface="Calibri (MS) Italics"/>
                  <a:ea typeface="Calibri (MS) Italics"/>
                  <a:cs typeface="Calibri (MS) Italics"/>
                  <a:sym typeface="Calibri (MS) Italics"/>
                </a:rPr>
                <a:t>Defining the challenge clearly — before writing a single line of code.</a:t>
              </a:r>
            </a:p>
          </p:txBody>
        </p:sp>
      </p:grpSp>
      <p:grpSp>
        <p:nvGrpSpPr>
          <p:cNvPr name="Group 11" id="11"/>
          <p:cNvGrpSpPr/>
          <p:nvPr/>
        </p:nvGrpSpPr>
        <p:grpSpPr>
          <a:xfrm rot="0">
            <a:off x="627383" y="2401319"/>
            <a:ext cx="8437883" cy="2914907"/>
            <a:chOff x="0" y="0"/>
            <a:chExt cx="11250511" cy="3886543"/>
          </a:xfrm>
        </p:grpSpPr>
        <p:sp>
          <p:nvSpPr>
            <p:cNvPr name="Freeform 12" id="12"/>
            <p:cNvSpPr/>
            <p:nvPr/>
          </p:nvSpPr>
          <p:spPr>
            <a:xfrm flipH="false" flipV="false" rot="0">
              <a:off x="16891" y="16891"/>
              <a:ext cx="11216640" cy="3852672"/>
            </a:xfrm>
            <a:custGeom>
              <a:avLst/>
              <a:gdLst/>
              <a:ahLst/>
              <a:cxnLst/>
              <a:rect r="r" b="b" t="t" l="l"/>
              <a:pathLst>
                <a:path h="3852672" w="11216640">
                  <a:moveTo>
                    <a:pt x="0" y="0"/>
                  </a:moveTo>
                  <a:lnTo>
                    <a:pt x="11216640" y="0"/>
                  </a:lnTo>
                  <a:lnTo>
                    <a:pt x="11216640" y="3852672"/>
                  </a:lnTo>
                  <a:lnTo>
                    <a:pt x="0" y="3852672"/>
                  </a:lnTo>
                  <a:close/>
                </a:path>
              </a:pathLst>
            </a:custGeom>
            <a:solidFill>
              <a:srgbClr val="FFFFFF"/>
            </a:solidFill>
          </p:spPr>
        </p:sp>
        <p:sp>
          <p:nvSpPr>
            <p:cNvPr name="Freeform 13" id="13"/>
            <p:cNvSpPr/>
            <p:nvPr/>
          </p:nvSpPr>
          <p:spPr>
            <a:xfrm flipH="false" flipV="false" rot="0">
              <a:off x="0" y="0"/>
              <a:ext cx="11250422" cy="3886454"/>
            </a:xfrm>
            <a:custGeom>
              <a:avLst/>
              <a:gdLst/>
              <a:ahLst/>
              <a:cxnLst/>
              <a:rect r="r" b="b" t="t" l="l"/>
              <a:pathLst>
                <a:path h="3886454" w="11250422">
                  <a:moveTo>
                    <a:pt x="16891" y="0"/>
                  </a:moveTo>
                  <a:lnTo>
                    <a:pt x="11233531" y="0"/>
                  </a:lnTo>
                  <a:cubicBezTo>
                    <a:pt x="11242929" y="0"/>
                    <a:pt x="11250422" y="7620"/>
                    <a:pt x="11250422" y="16891"/>
                  </a:cubicBezTo>
                  <a:lnTo>
                    <a:pt x="11250422" y="3869563"/>
                  </a:lnTo>
                  <a:cubicBezTo>
                    <a:pt x="11250422" y="3878961"/>
                    <a:pt x="11242802" y="3886454"/>
                    <a:pt x="11233531" y="3886454"/>
                  </a:cubicBezTo>
                  <a:lnTo>
                    <a:pt x="16891" y="3886454"/>
                  </a:lnTo>
                  <a:cubicBezTo>
                    <a:pt x="7493" y="3886454"/>
                    <a:pt x="0" y="3878834"/>
                    <a:pt x="0" y="3869563"/>
                  </a:cubicBezTo>
                  <a:lnTo>
                    <a:pt x="0" y="16891"/>
                  </a:lnTo>
                  <a:cubicBezTo>
                    <a:pt x="0" y="7620"/>
                    <a:pt x="7620" y="0"/>
                    <a:pt x="16891" y="0"/>
                  </a:cubicBezTo>
                  <a:moveTo>
                    <a:pt x="16891" y="33909"/>
                  </a:moveTo>
                  <a:lnTo>
                    <a:pt x="16891" y="16891"/>
                  </a:lnTo>
                  <a:lnTo>
                    <a:pt x="33909" y="16891"/>
                  </a:lnTo>
                  <a:lnTo>
                    <a:pt x="33909" y="3869563"/>
                  </a:lnTo>
                  <a:lnTo>
                    <a:pt x="16891" y="3869563"/>
                  </a:lnTo>
                  <a:lnTo>
                    <a:pt x="16891" y="3852672"/>
                  </a:lnTo>
                  <a:lnTo>
                    <a:pt x="11233531" y="3852672"/>
                  </a:lnTo>
                  <a:lnTo>
                    <a:pt x="11233531" y="3869563"/>
                  </a:lnTo>
                  <a:lnTo>
                    <a:pt x="11216640" y="3869563"/>
                  </a:lnTo>
                  <a:lnTo>
                    <a:pt x="11216640" y="16891"/>
                  </a:lnTo>
                  <a:lnTo>
                    <a:pt x="11233531" y="16891"/>
                  </a:lnTo>
                  <a:lnTo>
                    <a:pt x="11233531" y="33909"/>
                  </a:lnTo>
                  <a:lnTo>
                    <a:pt x="16891" y="33909"/>
                  </a:lnTo>
                  <a:close/>
                </a:path>
              </a:pathLst>
            </a:custGeom>
            <a:solidFill>
              <a:srgbClr val="E2E8F0"/>
            </a:solidFill>
          </p:spPr>
        </p:sp>
      </p:grpSp>
      <p:grpSp>
        <p:nvGrpSpPr>
          <p:cNvPr name="Group 14" id="14"/>
          <p:cNvGrpSpPr/>
          <p:nvPr/>
        </p:nvGrpSpPr>
        <p:grpSpPr>
          <a:xfrm rot="0">
            <a:off x="627383" y="2401319"/>
            <a:ext cx="189995" cy="2914907"/>
            <a:chOff x="0" y="0"/>
            <a:chExt cx="253327" cy="3886543"/>
          </a:xfrm>
        </p:grpSpPr>
        <p:sp>
          <p:nvSpPr>
            <p:cNvPr name="Freeform 15" id="15"/>
            <p:cNvSpPr/>
            <p:nvPr/>
          </p:nvSpPr>
          <p:spPr>
            <a:xfrm flipH="false" flipV="false" rot="0">
              <a:off x="16891" y="16891"/>
              <a:ext cx="219456" cy="3852672"/>
            </a:xfrm>
            <a:custGeom>
              <a:avLst/>
              <a:gdLst/>
              <a:ahLst/>
              <a:cxnLst/>
              <a:rect r="r" b="b" t="t" l="l"/>
              <a:pathLst>
                <a:path h="3852672" w="219456">
                  <a:moveTo>
                    <a:pt x="0" y="0"/>
                  </a:moveTo>
                  <a:lnTo>
                    <a:pt x="219456" y="0"/>
                  </a:lnTo>
                  <a:lnTo>
                    <a:pt x="219456" y="3852672"/>
                  </a:lnTo>
                  <a:lnTo>
                    <a:pt x="0" y="3852672"/>
                  </a:lnTo>
                  <a:close/>
                </a:path>
              </a:pathLst>
            </a:custGeom>
            <a:solidFill>
              <a:srgbClr val="0D9488"/>
            </a:solidFill>
          </p:spPr>
        </p:sp>
        <p:sp>
          <p:nvSpPr>
            <p:cNvPr name="Freeform 16" id="16"/>
            <p:cNvSpPr/>
            <p:nvPr/>
          </p:nvSpPr>
          <p:spPr>
            <a:xfrm flipH="false" flipV="false" rot="0">
              <a:off x="0" y="0"/>
              <a:ext cx="253238" cy="3886454"/>
            </a:xfrm>
            <a:custGeom>
              <a:avLst/>
              <a:gdLst/>
              <a:ahLst/>
              <a:cxnLst/>
              <a:rect r="r" b="b" t="t" l="l"/>
              <a:pathLst>
                <a:path h="3886454" w="253238">
                  <a:moveTo>
                    <a:pt x="16891" y="0"/>
                  </a:moveTo>
                  <a:lnTo>
                    <a:pt x="236347" y="0"/>
                  </a:lnTo>
                  <a:cubicBezTo>
                    <a:pt x="245745" y="0"/>
                    <a:pt x="253238" y="7620"/>
                    <a:pt x="253238" y="16891"/>
                  </a:cubicBezTo>
                  <a:lnTo>
                    <a:pt x="253238" y="3869563"/>
                  </a:lnTo>
                  <a:cubicBezTo>
                    <a:pt x="253238" y="3878961"/>
                    <a:pt x="245618" y="3886454"/>
                    <a:pt x="236347" y="3886454"/>
                  </a:cubicBezTo>
                  <a:lnTo>
                    <a:pt x="16891" y="3886454"/>
                  </a:lnTo>
                  <a:cubicBezTo>
                    <a:pt x="7493" y="3886454"/>
                    <a:pt x="0" y="3878834"/>
                    <a:pt x="0" y="3869563"/>
                  </a:cubicBezTo>
                  <a:lnTo>
                    <a:pt x="0" y="16891"/>
                  </a:lnTo>
                  <a:cubicBezTo>
                    <a:pt x="0" y="7620"/>
                    <a:pt x="7620" y="0"/>
                    <a:pt x="16891" y="0"/>
                  </a:cubicBezTo>
                  <a:moveTo>
                    <a:pt x="16891" y="33909"/>
                  </a:moveTo>
                  <a:lnTo>
                    <a:pt x="16891" y="16891"/>
                  </a:lnTo>
                  <a:lnTo>
                    <a:pt x="33909" y="16891"/>
                  </a:lnTo>
                  <a:lnTo>
                    <a:pt x="33909" y="3869563"/>
                  </a:lnTo>
                  <a:lnTo>
                    <a:pt x="16891" y="3869563"/>
                  </a:lnTo>
                  <a:lnTo>
                    <a:pt x="16891" y="3852672"/>
                  </a:lnTo>
                  <a:lnTo>
                    <a:pt x="236347" y="3852672"/>
                  </a:lnTo>
                  <a:lnTo>
                    <a:pt x="236347" y="3869563"/>
                  </a:lnTo>
                  <a:lnTo>
                    <a:pt x="219456" y="3869563"/>
                  </a:lnTo>
                  <a:lnTo>
                    <a:pt x="219456" y="16891"/>
                  </a:lnTo>
                  <a:lnTo>
                    <a:pt x="236347" y="16891"/>
                  </a:lnTo>
                  <a:lnTo>
                    <a:pt x="236347" y="33909"/>
                  </a:lnTo>
                  <a:lnTo>
                    <a:pt x="16891" y="33909"/>
                  </a:lnTo>
                  <a:close/>
                </a:path>
              </a:pathLst>
            </a:custGeom>
            <a:solidFill>
              <a:srgbClr val="0D9488"/>
            </a:solidFill>
          </p:spPr>
        </p:sp>
      </p:grpSp>
      <p:grpSp>
        <p:nvGrpSpPr>
          <p:cNvPr name="Group 17" id="17"/>
          <p:cNvGrpSpPr/>
          <p:nvPr/>
        </p:nvGrpSpPr>
        <p:grpSpPr>
          <a:xfrm rot="0">
            <a:off x="1005840" y="2596896"/>
            <a:ext cx="7772400" cy="585216"/>
            <a:chOff x="0" y="0"/>
            <a:chExt cx="10363200" cy="780288"/>
          </a:xfrm>
        </p:grpSpPr>
        <p:sp>
          <p:nvSpPr>
            <p:cNvPr name="Freeform 18" id="18"/>
            <p:cNvSpPr/>
            <p:nvPr/>
          </p:nvSpPr>
          <p:spPr>
            <a:xfrm flipH="false" flipV="false" rot="0">
              <a:off x="0" y="0"/>
              <a:ext cx="10363200" cy="780288"/>
            </a:xfrm>
            <a:custGeom>
              <a:avLst/>
              <a:gdLst/>
              <a:ahLst/>
              <a:cxnLst/>
              <a:rect r="r" b="b" t="t" l="l"/>
              <a:pathLst>
                <a:path h="780288" w="10363200">
                  <a:moveTo>
                    <a:pt x="0" y="0"/>
                  </a:moveTo>
                  <a:lnTo>
                    <a:pt x="10363200" y="0"/>
                  </a:lnTo>
                  <a:lnTo>
                    <a:pt x="10363200" y="780288"/>
                  </a:lnTo>
                  <a:lnTo>
                    <a:pt x="0" y="780288"/>
                  </a:lnTo>
                  <a:close/>
                </a:path>
              </a:pathLst>
            </a:custGeom>
            <a:blipFill>
              <a:blip r:embed="rId3">
                <a:alphaModFix amt="0"/>
              </a:blip>
              <a:stretch>
                <a:fillRect l="0" t="-208785" r="0" b="-208785"/>
              </a:stretch>
            </a:blipFill>
          </p:spPr>
        </p:sp>
        <p:sp>
          <p:nvSpPr>
            <p:cNvPr name="TextBox 19" id="19"/>
            <p:cNvSpPr txBox="true"/>
            <p:nvPr/>
          </p:nvSpPr>
          <p:spPr>
            <a:xfrm>
              <a:off x="0" y="-47625"/>
              <a:ext cx="10363200"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The specific problem</a:t>
              </a:r>
            </a:p>
          </p:txBody>
        </p:sp>
      </p:grpSp>
      <p:grpSp>
        <p:nvGrpSpPr>
          <p:cNvPr name="Group 20" id="20"/>
          <p:cNvGrpSpPr/>
          <p:nvPr/>
        </p:nvGrpSpPr>
        <p:grpSpPr>
          <a:xfrm rot="0">
            <a:off x="1005840" y="3236976"/>
            <a:ext cx="7772400" cy="1828800"/>
            <a:chOff x="0" y="0"/>
            <a:chExt cx="10363200" cy="2438400"/>
          </a:xfrm>
        </p:grpSpPr>
        <p:sp>
          <p:nvSpPr>
            <p:cNvPr name="Freeform 21" id="21"/>
            <p:cNvSpPr/>
            <p:nvPr/>
          </p:nvSpPr>
          <p:spPr>
            <a:xfrm flipH="false" flipV="false" rot="0">
              <a:off x="0" y="0"/>
              <a:ext cx="10363200" cy="2438400"/>
            </a:xfrm>
            <a:custGeom>
              <a:avLst/>
              <a:gdLst/>
              <a:ahLst/>
              <a:cxnLst/>
              <a:rect r="r" b="b" t="t" l="l"/>
              <a:pathLst>
                <a:path h="2438400" w="10363200">
                  <a:moveTo>
                    <a:pt x="0" y="0"/>
                  </a:moveTo>
                  <a:lnTo>
                    <a:pt x="10363200" y="0"/>
                  </a:lnTo>
                  <a:lnTo>
                    <a:pt x="10363200" y="2438400"/>
                  </a:lnTo>
                  <a:lnTo>
                    <a:pt x="0" y="2438400"/>
                  </a:lnTo>
                  <a:close/>
                </a:path>
              </a:pathLst>
            </a:custGeom>
            <a:blipFill>
              <a:blip r:embed="rId3">
                <a:alphaModFix amt="0"/>
              </a:blip>
              <a:stretch>
                <a:fillRect l="0" t="-32811" r="0" b="-32811"/>
              </a:stretch>
            </a:blipFill>
          </p:spPr>
        </p:sp>
        <p:sp>
          <p:nvSpPr>
            <p:cNvPr name="TextBox 22" id="22"/>
            <p:cNvSpPr txBox="true"/>
            <p:nvPr/>
          </p:nvSpPr>
          <p:spPr>
            <a:xfrm>
              <a:off x="0" y="-38100"/>
              <a:ext cx="10363200" cy="2476500"/>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Clinicians lack a tool that uses a patient's long-term disease history to predict future conditions. Current EMR systems store data but do not analyse progression patterns. The gap between data collection and actionable prediction is the core problem MediPATH solves.</a:t>
              </a:r>
            </a:p>
          </p:txBody>
        </p:sp>
      </p:grpSp>
      <p:grpSp>
        <p:nvGrpSpPr>
          <p:cNvPr name="Group 23" id="23"/>
          <p:cNvGrpSpPr/>
          <p:nvPr/>
        </p:nvGrpSpPr>
        <p:grpSpPr>
          <a:xfrm rot="0">
            <a:off x="9442199" y="2401319"/>
            <a:ext cx="8437883" cy="2914907"/>
            <a:chOff x="0" y="0"/>
            <a:chExt cx="11250511" cy="3886543"/>
          </a:xfrm>
        </p:grpSpPr>
        <p:sp>
          <p:nvSpPr>
            <p:cNvPr name="Freeform 24" id="24"/>
            <p:cNvSpPr/>
            <p:nvPr/>
          </p:nvSpPr>
          <p:spPr>
            <a:xfrm flipH="false" flipV="false" rot="0">
              <a:off x="16891" y="16891"/>
              <a:ext cx="11216640" cy="3852672"/>
            </a:xfrm>
            <a:custGeom>
              <a:avLst/>
              <a:gdLst/>
              <a:ahLst/>
              <a:cxnLst/>
              <a:rect r="r" b="b" t="t" l="l"/>
              <a:pathLst>
                <a:path h="3852672" w="11216640">
                  <a:moveTo>
                    <a:pt x="0" y="0"/>
                  </a:moveTo>
                  <a:lnTo>
                    <a:pt x="11216640" y="0"/>
                  </a:lnTo>
                  <a:lnTo>
                    <a:pt x="11216640" y="3852672"/>
                  </a:lnTo>
                  <a:lnTo>
                    <a:pt x="0" y="3852672"/>
                  </a:lnTo>
                  <a:close/>
                </a:path>
              </a:pathLst>
            </a:custGeom>
            <a:solidFill>
              <a:srgbClr val="FFFFFF"/>
            </a:solidFill>
          </p:spPr>
        </p:sp>
        <p:sp>
          <p:nvSpPr>
            <p:cNvPr name="Freeform 25" id="25"/>
            <p:cNvSpPr/>
            <p:nvPr/>
          </p:nvSpPr>
          <p:spPr>
            <a:xfrm flipH="false" flipV="false" rot="0">
              <a:off x="0" y="0"/>
              <a:ext cx="11250422" cy="3886454"/>
            </a:xfrm>
            <a:custGeom>
              <a:avLst/>
              <a:gdLst/>
              <a:ahLst/>
              <a:cxnLst/>
              <a:rect r="r" b="b" t="t" l="l"/>
              <a:pathLst>
                <a:path h="3886454" w="11250422">
                  <a:moveTo>
                    <a:pt x="16891" y="0"/>
                  </a:moveTo>
                  <a:lnTo>
                    <a:pt x="11233531" y="0"/>
                  </a:lnTo>
                  <a:cubicBezTo>
                    <a:pt x="11242929" y="0"/>
                    <a:pt x="11250422" y="7620"/>
                    <a:pt x="11250422" y="16891"/>
                  </a:cubicBezTo>
                  <a:lnTo>
                    <a:pt x="11250422" y="3869563"/>
                  </a:lnTo>
                  <a:cubicBezTo>
                    <a:pt x="11250422" y="3878961"/>
                    <a:pt x="11242802" y="3886454"/>
                    <a:pt x="11233531" y="3886454"/>
                  </a:cubicBezTo>
                  <a:lnTo>
                    <a:pt x="16891" y="3886454"/>
                  </a:lnTo>
                  <a:cubicBezTo>
                    <a:pt x="7493" y="3886454"/>
                    <a:pt x="0" y="3878834"/>
                    <a:pt x="0" y="3869563"/>
                  </a:cubicBezTo>
                  <a:lnTo>
                    <a:pt x="0" y="16891"/>
                  </a:lnTo>
                  <a:cubicBezTo>
                    <a:pt x="0" y="7620"/>
                    <a:pt x="7620" y="0"/>
                    <a:pt x="16891" y="0"/>
                  </a:cubicBezTo>
                  <a:moveTo>
                    <a:pt x="16891" y="33909"/>
                  </a:moveTo>
                  <a:lnTo>
                    <a:pt x="16891" y="16891"/>
                  </a:lnTo>
                  <a:lnTo>
                    <a:pt x="33909" y="16891"/>
                  </a:lnTo>
                  <a:lnTo>
                    <a:pt x="33909" y="3869563"/>
                  </a:lnTo>
                  <a:lnTo>
                    <a:pt x="16891" y="3869563"/>
                  </a:lnTo>
                  <a:lnTo>
                    <a:pt x="16891" y="3852672"/>
                  </a:lnTo>
                  <a:lnTo>
                    <a:pt x="11233531" y="3852672"/>
                  </a:lnTo>
                  <a:lnTo>
                    <a:pt x="11233531" y="3869563"/>
                  </a:lnTo>
                  <a:lnTo>
                    <a:pt x="11216640" y="3869563"/>
                  </a:lnTo>
                  <a:lnTo>
                    <a:pt x="11216640" y="16891"/>
                  </a:lnTo>
                  <a:lnTo>
                    <a:pt x="11233531" y="16891"/>
                  </a:lnTo>
                  <a:lnTo>
                    <a:pt x="11233531" y="33909"/>
                  </a:lnTo>
                  <a:lnTo>
                    <a:pt x="16891" y="33909"/>
                  </a:lnTo>
                  <a:close/>
                </a:path>
              </a:pathLst>
            </a:custGeom>
            <a:solidFill>
              <a:srgbClr val="E2E8F0"/>
            </a:solidFill>
          </p:spPr>
        </p:sp>
      </p:grpSp>
      <p:grpSp>
        <p:nvGrpSpPr>
          <p:cNvPr name="Group 26" id="26"/>
          <p:cNvGrpSpPr/>
          <p:nvPr/>
        </p:nvGrpSpPr>
        <p:grpSpPr>
          <a:xfrm rot="0">
            <a:off x="9442199" y="2401319"/>
            <a:ext cx="189995" cy="2914907"/>
            <a:chOff x="0" y="0"/>
            <a:chExt cx="253327" cy="3886543"/>
          </a:xfrm>
        </p:grpSpPr>
        <p:sp>
          <p:nvSpPr>
            <p:cNvPr name="Freeform 27" id="27"/>
            <p:cNvSpPr/>
            <p:nvPr/>
          </p:nvSpPr>
          <p:spPr>
            <a:xfrm flipH="false" flipV="false" rot="0">
              <a:off x="16891" y="16891"/>
              <a:ext cx="219456" cy="3852672"/>
            </a:xfrm>
            <a:custGeom>
              <a:avLst/>
              <a:gdLst/>
              <a:ahLst/>
              <a:cxnLst/>
              <a:rect r="r" b="b" t="t" l="l"/>
              <a:pathLst>
                <a:path h="3852672" w="219456">
                  <a:moveTo>
                    <a:pt x="0" y="0"/>
                  </a:moveTo>
                  <a:lnTo>
                    <a:pt x="219456" y="0"/>
                  </a:lnTo>
                  <a:lnTo>
                    <a:pt x="219456" y="3852672"/>
                  </a:lnTo>
                  <a:lnTo>
                    <a:pt x="0" y="3852672"/>
                  </a:lnTo>
                  <a:close/>
                </a:path>
              </a:pathLst>
            </a:custGeom>
            <a:solidFill>
              <a:srgbClr val="F59E0B"/>
            </a:solidFill>
          </p:spPr>
        </p:sp>
        <p:sp>
          <p:nvSpPr>
            <p:cNvPr name="Freeform 28" id="28"/>
            <p:cNvSpPr/>
            <p:nvPr/>
          </p:nvSpPr>
          <p:spPr>
            <a:xfrm flipH="false" flipV="false" rot="0">
              <a:off x="0" y="0"/>
              <a:ext cx="253238" cy="3886454"/>
            </a:xfrm>
            <a:custGeom>
              <a:avLst/>
              <a:gdLst/>
              <a:ahLst/>
              <a:cxnLst/>
              <a:rect r="r" b="b" t="t" l="l"/>
              <a:pathLst>
                <a:path h="3886454" w="253238">
                  <a:moveTo>
                    <a:pt x="16891" y="0"/>
                  </a:moveTo>
                  <a:lnTo>
                    <a:pt x="236347" y="0"/>
                  </a:lnTo>
                  <a:cubicBezTo>
                    <a:pt x="245745" y="0"/>
                    <a:pt x="253238" y="7620"/>
                    <a:pt x="253238" y="16891"/>
                  </a:cubicBezTo>
                  <a:lnTo>
                    <a:pt x="253238" y="3869563"/>
                  </a:lnTo>
                  <a:cubicBezTo>
                    <a:pt x="253238" y="3878961"/>
                    <a:pt x="245618" y="3886454"/>
                    <a:pt x="236347" y="3886454"/>
                  </a:cubicBezTo>
                  <a:lnTo>
                    <a:pt x="16891" y="3886454"/>
                  </a:lnTo>
                  <a:cubicBezTo>
                    <a:pt x="7493" y="3886454"/>
                    <a:pt x="0" y="3878834"/>
                    <a:pt x="0" y="3869563"/>
                  </a:cubicBezTo>
                  <a:lnTo>
                    <a:pt x="0" y="16891"/>
                  </a:lnTo>
                  <a:cubicBezTo>
                    <a:pt x="0" y="7620"/>
                    <a:pt x="7620" y="0"/>
                    <a:pt x="16891" y="0"/>
                  </a:cubicBezTo>
                  <a:moveTo>
                    <a:pt x="16891" y="33909"/>
                  </a:moveTo>
                  <a:lnTo>
                    <a:pt x="16891" y="16891"/>
                  </a:lnTo>
                  <a:lnTo>
                    <a:pt x="33909" y="16891"/>
                  </a:lnTo>
                  <a:lnTo>
                    <a:pt x="33909" y="3869563"/>
                  </a:lnTo>
                  <a:lnTo>
                    <a:pt x="16891" y="3869563"/>
                  </a:lnTo>
                  <a:lnTo>
                    <a:pt x="16891" y="3852672"/>
                  </a:lnTo>
                  <a:lnTo>
                    <a:pt x="236347" y="3852672"/>
                  </a:lnTo>
                  <a:lnTo>
                    <a:pt x="236347" y="3869563"/>
                  </a:lnTo>
                  <a:lnTo>
                    <a:pt x="219456" y="3869563"/>
                  </a:lnTo>
                  <a:lnTo>
                    <a:pt x="219456" y="16891"/>
                  </a:lnTo>
                  <a:lnTo>
                    <a:pt x="236347" y="16891"/>
                  </a:lnTo>
                  <a:lnTo>
                    <a:pt x="236347" y="33909"/>
                  </a:lnTo>
                  <a:lnTo>
                    <a:pt x="16891" y="33909"/>
                  </a:lnTo>
                  <a:close/>
                </a:path>
              </a:pathLst>
            </a:custGeom>
            <a:solidFill>
              <a:srgbClr val="F59E0B"/>
            </a:solidFill>
          </p:spPr>
        </p:sp>
      </p:grpSp>
      <p:grpSp>
        <p:nvGrpSpPr>
          <p:cNvPr name="Group 29" id="29"/>
          <p:cNvGrpSpPr/>
          <p:nvPr/>
        </p:nvGrpSpPr>
        <p:grpSpPr>
          <a:xfrm rot="0">
            <a:off x="9820656" y="2596896"/>
            <a:ext cx="7772400" cy="585216"/>
            <a:chOff x="0" y="0"/>
            <a:chExt cx="10363200" cy="780288"/>
          </a:xfrm>
        </p:grpSpPr>
        <p:sp>
          <p:nvSpPr>
            <p:cNvPr name="Freeform 30" id="30"/>
            <p:cNvSpPr/>
            <p:nvPr/>
          </p:nvSpPr>
          <p:spPr>
            <a:xfrm flipH="false" flipV="false" rot="0">
              <a:off x="0" y="0"/>
              <a:ext cx="10363200" cy="780288"/>
            </a:xfrm>
            <a:custGeom>
              <a:avLst/>
              <a:gdLst/>
              <a:ahLst/>
              <a:cxnLst/>
              <a:rect r="r" b="b" t="t" l="l"/>
              <a:pathLst>
                <a:path h="780288" w="10363200">
                  <a:moveTo>
                    <a:pt x="0" y="0"/>
                  </a:moveTo>
                  <a:lnTo>
                    <a:pt x="10363200" y="0"/>
                  </a:lnTo>
                  <a:lnTo>
                    <a:pt x="10363200" y="780288"/>
                  </a:lnTo>
                  <a:lnTo>
                    <a:pt x="0" y="780288"/>
                  </a:lnTo>
                  <a:close/>
                </a:path>
              </a:pathLst>
            </a:custGeom>
            <a:blipFill>
              <a:blip r:embed="rId3">
                <a:alphaModFix amt="0"/>
              </a:blip>
              <a:stretch>
                <a:fillRect l="0" t="-208785" r="0" b="-208785"/>
              </a:stretch>
            </a:blipFill>
          </p:spPr>
        </p:sp>
        <p:sp>
          <p:nvSpPr>
            <p:cNvPr name="TextBox 31" id="31"/>
            <p:cNvSpPr txBox="true"/>
            <p:nvPr/>
          </p:nvSpPr>
          <p:spPr>
            <a:xfrm>
              <a:off x="0" y="-47625"/>
              <a:ext cx="10363200"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Target users</a:t>
              </a:r>
            </a:p>
          </p:txBody>
        </p:sp>
      </p:grpSp>
      <p:grpSp>
        <p:nvGrpSpPr>
          <p:cNvPr name="Group 32" id="32"/>
          <p:cNvGrpSpPr/>
          <p:nvPr/>
        </p:nvGrpSpPr>
        <p:grpSpPr>
          <a:xfrm rot="0">
            <a:off x="9820656" y="3236976"/>
            <a:ext cx="7772400" cy="1828800"/>
            <a:chOff x="0" y="0"/>
            <a:chExt cx="10363200" cy="2438400"/>
          </a:xfrm>
        </p:grpSpPr>
        <p:sp>
          <p:nvSpPr>
            <p:cNvPr name="Freeform 33" id="33"/>
            <p:cNvSpPr/>
            <p:nvPr/>
          </p:nvSpPr>
          <p:spPr>
            <a:xfrm flipH="false" flipV="false" rot="0">
              <a:off x="0" y="0"/>
              <a:ext cx="10363200" cy="2438400"/>
            </a:xfrm>
            <a:custGeom>
              <a:avLst/>
              <a:gdLst/>
              <a:ahLst/>
              <a:cxnLst/>
              <a:rect r="r" b="b" t="t" l="l"/>
              <a:pathLst>
                <a:path h="2438400" w="10363200">
                  <a:moveTo>
                    <a:pt x="0" y="0"/>
                  </a:moveTo>
                  <a:lnTo>
                    <a:pt x="10363200" y="0"/>
                  </a:lnTo>
                  <a:lnTo>
                    <a:pt x="10363200" y="2438400"/>
                  </a:lnTo>
                  <a:lnTo>
                    <a:pt x="0" y="2438400"/>
                  </a:lnTo>
                  <a:close/>
                </a:path>
              </a:pathLst>
            </a:custGeom>
            <a:blipFill>
              <a:blip r:embed="rId3">
                <a:alphaModFix amt="0"/>
              </a:blip>
              <a:stretch>
                <a:fillRect l="0" t="-32811" r="0" b="-32811"/>
              </a:stretch>
            </a:blipFill>
          </p:spPr>
        </p:sp>
        <p:sp>
          <p:nvSpPr>
            <p:cNvPr name="TextBox 34" id="34"/>
            <p:cNvSpPr txBox="true"/>
            <p:nvPr/>
          </p:nvSpPr>
          <p:spPr>
            <a:xfrm>
              <a:off x="0" y="-38100"/>
              <a:ext cx="10363200" cy="2476500"/>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Primary: clinicians and general practitioners in hospital and clinic settings.</a:t>
              </a:r>
            </a:p>
            <a:p>
              <a:pPr algn="l">
                <a:lnSpc>
                  <a:spcPts val="2280"/>
                </a:lnSpc>
              </a:pPr>
              <a:r>
                <a:rPr lang="en-US" sz="1900">
                  <a:solidFill>
                    <a:srgbClr val="64748B"/>
                  </a:solidFill>
                  <a:latin typeface="Calibri (MS)"/>
                  <a:ea typeface="Calibri (MS)"/>
                  <a:cs typeface="Calibri (MS)"/>
                  <a:sym typeface="Calibri (MS)"/>
                </a:rPr>
                <a:t>Secondary: patients seeking proactive health management.</a:t>
              </a:r>
            </a:p>
            <a:p>
              <a:pPr algn="l">
                <a:lnSpc>
                  <a:spcPts val="2280"/>
                </a:lnSpc>
              </a:pPr>
              <a:r>
                <a:rPr lang="en-US" sz="1900">
                  <a:solidFill>
                    <a:srgbClr val="64748B"/>
                  </a:solidFill>
                  <a:latin typeface="Calibri (MS)"/>
                  <a:ea typeface="Calibri (MS)"/>
                  <a:cs typeface="Calibri (MS)"/>
                  <a:sym typeface="Calibri (MS)"/>
                </a:rPr>
                <a:t>Future: public health officials and policymakers tracking population-level risk.</a:t>
              </a:r>
            </a:p>
          </p:txBody>
        </p:sp>
      </p:grpSp>
      <p:grpSp>
        <p:nvGrpSpPr>
          <p:cNvPr name="Group 35" id="35"/>
          <p:cNvGrpSpPr/>
          <p:nvPr/>
        </p:nvGrpSpPr>
        <p:grpSpPr>
          <a:xfrm rot="0">
            <a:off x="627383" y="5601719"/>
            <a:ext cx="8437883" cy="2914907"/>
            <a:chOff x="0" y="0"/>
            <a:chExt cx="11250511" cy="3886543"/>
          </a:xfrm>
        </p:grpSpPr>
        <p:sp>
          <p:nvSpPr>
            <p:cNvPr name="Freeform 36" id="36"/>
            <p:cNvSpPr/>
            <p:nvPr/>
          </p:nvSpPr>
          <p:spPr>
            <a:xfrm flipH="false" flipV="false" rot="0">
              <a:off x="16891" y="16891"/>
              <a:ext cx="11216640" cy="3852672"/>
            </a:xfrm>
            <a:custGeom>
              <a:avLst/>
              <a:gdLst/>
              <a:ahLst/>
              <a:cxnLst/>
              <a:rect r="r" b="b" t="t" l="l"/>
              <a:pathLst>
                <a:path h="3852672" w="11216640">
                  <a:moveTo>
                    <a:pt x="0" y="0"/>
                  </a:moveTo>
                  <a:lnTo>
                    <a:pt x="11216640" y="0"/>
                  </a:lnTo>
                  <a:lnTo>
                    <a:pt x="11216640" y="3852672"/>
                  </a:lnTo>
                  <a:lnTo>
                    <a:pt x="0" y="3852672"/>
                  </a:lnTo>
                  <a:close/>
                </a:path>
              </a:pathLst>
            </a:custGeom>
            <a:solidFill>
              <a:srgbClr val="FFFFFF"/>
            </a:solidFill>
          </p:spPr>
        </p:sp>
        <p:sp>
          <p:nvSpPr>
            <p:cNvPr name="Freeform 37" id="37"/>
            <p:cNvSpPr/>
            <p:nvPr/>
          </p:nvSpPr>
          <p:spPr>
            <a:xfrm flipH="false" flipV="false" rot="0">
              <a:off x="0" y="0"/>
              <a:ext cx="11250422" cy="3886454"/>
            </a:xfrm>
            <a:custGeom>
              <a:avLst/>
              <a:gdLst/>
              <a:ahLst/>
              <a:cxnLst/>
              <a:rect r="r" b="b" t="t" l="l"/>
              <a:pathLst>
                <a:path h="3886454" w="11250422">
                  <a:moveTo>
                    <a:pt x="16891" y="0"/>
                  </a:moveTo>
                  <a:lnTo>
                    <a:pt x="11233531" y="0"/>
                  </a:lnTo>
                  <a:cubicBezTo>
                    <a:pt x="11242929" y="0"/>
                    <a:pt x="11250422" y="7620"/>
                    <a:pt x="11250422" y="16891"/>
                  </a:cubicBezTo>
                  <a:lnTo>
                    <a:pt x="11250422" y="3869563"/>
                  </a:lnTo>
                  <a:cubicBezTo>
                    <a:pt x="11250422" y="3878961"/>
                    <a:pt x="11242802" y="3886454"/>
                    <a:pt x="11233531" y="3886454"/>
                  </a:cubicBezTo>
                  <a:lnTo>
                    <a:pt x="16891" y="3886454"/>
                  </a:lnTo>
                  <a:cubicBezTo>
                    <a:pt x="7493" y="3886454"/>
                    <a:pt x="0" y="3878834"/>
                    <a:pt x="0" y="3869563"/>
                  </a:cubicBezTo>
                  <a:lnTo>
                    <a:pt x="0" y="16891"/>
                  </a:lnTo>
                  <a:cubicBezTo>
                    <a:pt x="0" y="7620"/>
                    <a:pt x="7620" y="0"/>
                    <a:pt x="16891" y="0"/>
                  </a:cubicBezTo>
                  <a:moveTo>
                    <a:pt x="16891" y="33909"/>
                  </a:moveTo>
                  <a:lnTo>
                    <a:pt x="16891" y="16891"/>
                  </a:lnTo>
                  <a:lnTo>
                    <a:pt x="33909" y="16891"/>
                  </a:lnTo>
                  <a:lnTo>
                    <a:pt x="33909" y="3869563"/>
                  </a:lnTo>
                  <a:lnTo>
                    <a:pt x="16891" y="3869563"/>
                  </a:lnTo>
                  <a:lnTo>
                    <a:pt x="16891" y="3852672"/>
                  </a:lnTo>
                  <a:lnTo>
                    <a:pt x="11233531" y="3852672"/>
                  </a:lnTo>
                  <a:lnTo>
                    <a:pt x="11233531" y="3869563"/>
                  </a:lnTo>
                  <a:lnTo>
                    <a:pt x="11216640" y="3869563"/>
                  </a:lnTo>
                  <a:lnTo>
                    <a:pt x="11216640" y="16891"/>
                  </a:lnTo>
                  <a:lnTo>
                    <a:pt x="11233531" y="16891"/>
                  </a:lnTo>
                  <a:lnTo>
                    <a:pt x="11233531" y="33909"/>
                  </a:lnTo>
                  <a:lnTo>
                    <a:pt x="16891" y="33909"/>
                  </a:lnTo>
                  <a:close/>
                </a:path>
              </a:pathLst>
            </a:custGeom>
            <a:solidFill>
              <a:srgbClr val="E2E8F0"/>
            </a:solidFill>
          </p:spPr>
        </p:sp>
      </p:grpSp>
      <p:grpSp>
        <p:nvGrpSpPr>
          <p:cNvPr name="Group 38" id="38"/>
          <p:cNvGrpSpPr/>
          <p:nvPr/>
        </p:nvGrpSpPr>
        <p:grpSpPr>
          <a:xfrm rot="0">
            <a:off x="627383" y="5601719"/>
            <a:ext cx="189995" cy="2914907"/>
            <a:chOff x="0" y="0"/>
            <a:chExt cx="253327" cy="3886543"/>
          </a:xfrm>
        </p:grpSpPr>
        <p:sp>
          <p:nvSpPr>
            <p:cNvPr name="Freeform 39" id="39"/>
            <p:cNvSpPr/>
            <p:nvPr/>
          </p:nvSpPr>
          <p:spPr>
            <a:xfrm flipH="false" flipV="false" rot="0">
              <a:off x="16891" y="16891"/>
              <a:ext cx="219456" cy="3852672"/>
            </a:xfrm>
            <a:custGeom>
              <a:avLst/>
              <a:gdLst/>
              <a:ahLst/>
              <a:cxnLst/>
              <a:rect r="r" b="b" t="t" l="l"/>
              <a:pathLst>
                <a:path h="3852672" w="219456">
                  <a:moveTo>
                    <a:pt x="0" y="0"/>
                  </a:moveTo>
                  <a:lnTo>
                    <a:pt x="219456" y="0"/>
                  </a:lnTo>
                  <a:lnTo>
                    <a:pt x="219456" y="3852672"/>
                  </a:lnTo>
                  <a:lnTo>
                    <a:pt x="0" y="3852672"/>
                  </a:lnTo>
                  <a:close/>
                </a:path>
              </a:pathLst>
            </a:custGeom>
            <a:solidFill>
              <a:srgbClr val="8B5CF6"/>
            </a:solidFill>
          </p:spPr>
        </p:sp>
        <p:sp>
          <p:nvSpPr>
            <p:cNvPr name="Freeform 40" id="40"/>
            <p:cNvSpPr/>
            <p:nvPr/>
          </p:nvSpPr>
          <p:spPr>
            <a:xfrm flipH="false" flipV="false" rot="0">
              <a:off x="0" y="0"/>
              <a:ext cx="253238" cy="3886454"/>
            </a:xfrm>
            <a:custGeom>
              <a:avLst/>
              <a:gdLst/>
              <a:ahLst/>
              <a:cxnLst/>
              <a:rect r="r" b="b" t="t" l="l"/>
              <a:pathLst>
                <a:path h="3886454" w="253238">
                  <a:moveTo>
                    <a:pt x="16891" y="0"/>
                  </a:moveTo>
                  <a:lnTo>
                    <a:pt x="236347" y="0"/>
                  </a:lnTo>
                  <a:cubicBezTo>
                    <a:pt x="245745" y="0"/>
                    <a:pt x="253238" y="7620"/>
                    <a:pt x="253238" y="16891"/>
                  </a:cubicBezTo>
                  <a:lnTo>
                    <a:pt x="253238" y="3869563"/>
                  </a:lnTo>
                  <a:cubicBezTo>
                    <a:pt x="253238" y="3878961"/>
                    <a:pt x="245618" y="3886454"/>
                    <a:pt x="236347" y="3886454"/>
                  </a:cubicBezTo>
                  <a:lnTo>
                    <a:pt x="16891" y="3886454"/>
                  </a:lnTo>
                  <a:cubicBezTo>
                    <a:pt x="7493" y="3886454"/>
                    <a:pt x="0" y="3878834"/>
                    <a:pt x="0" y="3869563"/>
                  </a:cubicBezTo>
                  <a:lnTo>
                    <a:pt x="0" y="16891"/>
                  </a:lnTo>
                  <a:cubicBezTo>
                    <a:pt x="0" y="7620"/>
                    <a:pt x="7620" y="0"/>
                    <a:pt x="16891" y="0"/>
                  </a:cubicBezTo>
                  <a:moveTo>
                    <a:pt x="16891" y="33909"/>
                  </a:moveTo>
                  <a:lnTo>
                    <a:pt x="16891" y="16891"/>
                  </a:lnTo>
                  <a:lnTo>
                    <a:pt x="33909" y="16891"/>
                  </a:lnTo>
                  <a:lnTo>
                    <a:pt x="33909" y="3869563"/>
                  </a:lnTo>
                  <a:lnTo>
                    <a:pt x="16891" y="3869563"/>
                  </a:lnTo>
                  <a:lnTo>
                    <a:pt x="16891" y="3852672"/>
                  </a:lnTo>
                  <a:lnTo>
                    <a:pt x="236347" y="3852672"/>
                  </a:lnTo>
                  <a:lnTo>
                    <a:pt x="236347" y="3869563"/>
                  </a:lnTo>
                  <a:lnTo>
                    <a:pt x="219456" y="3869563"/>
                  </a:lnTo>
                  <a:lnTo>
                    <a:pt x="219456" y="16891"/>
                  </a:lnTo>
                  <a:lnTo>
                    <a:pt x="236347" y="16891"/>
                  </a:lnTo>
                  <a:lnTo>
                    <a:pt x="236347" y="33909"/>
                  </a:lnTo>
                  <a:lnTo>
                    <a:pt x="16891" y="33909"/>
                  </a:lnTo>
                  <a:close/>
                </a:path>
              </a:pathLst>
            </a:custGeom>
            <a:solidFill>
              <a:srgbClr val="8B5CF6"/>
            </a:solidFill>
          </p:spPr>
        </p:sp>
      </p:grpSp>
      <p:grpSp>
        <p:nvGrpSpPr>
          <p:cNvPr name="Group 41" id="41"/>
          <p:cNvGrpSpPr/>
          <p:nvPr/>
        </p:nvGrpSpPr>
        <p:grpSpPr>
          <a:xfrm rot="0">
            <a:off x="1005840" y="5797296"/>
            <a:ext cx="7772400" cy="585216"/>
            <a:chOff x="0" y="0"/>
            <a:chExt cx="10363200" cy="780288"/>
          </a:xfrm>
        </p:grpSpPr>
        <p:sp>
          <p:nvSpPr>
            <p:cNvPr name="Freeform 42" id="42"/>
            <p:cNvSpPr/>
            <p:nvPr/>
          </p:nvSpPr>
          <p:spPr>
            <a:xfrm flipH="false" flipV="false" rot="0">
              <a:off x="0" y="0"/>
              <a:ext cx="10363200" cy="780288"/>
            </a:xfrm>
            <a:custGeom>
              <a:avLst/>
              <a:gdLst/>
              <a:ahLst/>
              <a:cxnLst/>
              <a:rect r="r" b="b" t="t" l="l"/>
              <a:pathLst>
                <a:path h="780288" w="10363200">
                  <a:moveTo>
                    <a:pt x="0" y="0"/>
                  </a:moveTo>
                  <a:lnTo>
                    <a:pt x="10363200" y="0"/>
                  </a:lnTo>
                  <a:lnTo>
                    <a:pt x="10363200" y="780288"/>
                  </a:lnTo>
                  <a:lnTo>
                    <a:pt x="0" y="780288"/>
                  </a:lnTo>
                  <a:close/>
                </a:path>
              </a:pathLst>
            </a:custGeom>
            <a:blipFill>
              <a:blip r:embed="rId3">
                <a:alphaModFix amt="0"/>
              </a:blip>
              <a:stretch>
                <a:fillRect l="0" t="-208785" r="0" b="-208785"/>
              </a:stretch>
            </a:blipFill>
          </p:spPr>
        </p:sp>
        <p:sp>
          <p:nvSpPr>
            <p:cNvPr name="TextBox 43" id="43"/>
            <p:cNvSpPr txBox="true"/>
            <p:nvPr/>
          </p:nvSpPr>
          <p:spPr>
            <a:xfrm>
              <a:off x="0" y="-47625"/>
              <a:ext cx="10363200"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Real-world significance</a:t>
              </a:r>
            </a:p>
          </p:txBody>
        </p:sp>
      </p:grpSp>
      <p:grpSp>
        <p:nvGrpSpPr>
          <p:cNvPr name="Group 44" id="44"/>
          <p:cNvGrpSpPr/>
          <p:nvPr/>
        </p:nvGrpSpPr>
        <p:grpSpPr>
          <a:xfrm rot="0">
            <a:off x="1005840" y="6437376"/>
            <a:ext cx="7772400" cy="1828800"/>
            <a:chOff x="0" y="0"/>
            <a:chExt cx="10363200" cy="2438400"/>
          </a:xfrm>
        </p:grpSpPr>
        <p:sp>
          <p:nvSpPr>
            <p:cNvPr name="Freeform 45" id="45"/>
            <p:cNvSpPr/>
            <p:nvPr/>
          </p:nvSpPr>
          <p:spPr>
            <a:xfrm flipH="false" flipV="false" rot="0">
              <a:off x="0" y="0"/>
              <a:ext cx="10363200" cy="2438400"/>
            </a:xfrm>
            <a:custGeom>
              <a:avLst/>
              <a:gdLst/>
              <a:ahLst/>
              <a:cxnLst/>
              <a:rect r="r" b="b" t="t" l="l"/>
              <a:pathLst>
                <a:path h="2438400" w="10363200">
                  <a:moveTo>
                    <a:pt x="0" y="0"/>
                  </a:moveTo>
                  <a:lnTo>
                    <a:pt x="10363200" y="0"/>
                  </a:lnTo>
                  <a:lnTo>
                    <a:pt x="10363200" y="2438400"/>
                  </a:lnTo>
                  <a:lnTo>
                    <a:pt x="0" y="2438400"/>
                  </a:lnTo>
                  <a:close/>
                </a:path>
              </a:pathLst>
            </a:custGeom>
            <a:blipFill>
              <a:blip r:embed="rId3">
                <a:alphaModFix amt="0"/>
              </a:blip>
              <a:stretch>
                <a:fillRect l="0" t="-32811" r="0" b="-32811"/>
              </a:stretch>
            </a:blipFill>
          </p:spPr>
        </p:sp>
        <p:sp>
          <p:nvSpPr>
            <p:cNvPr name="TextBox 46" id="46"/>
            <p:cNvSpPr txBox="true"/>
            <p:nvPr/>
          </p:nvSpPr>
          <p:spPr>
            <a:xfrm>
              <a:off x="0" y="-38100"/>
              <a:ext cx="10363200" cy="2476500"/>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Chronic diseases — diabetes, hypertension, heart disease, kidney failure — are the leading causes of death globally. Most are detectable early. MediPATH creates a measurable opportunity to intervene before diseases develop.</a:t>
              </a:r>
            </a:p>
          </p:txBody>
        </p:sp>
      </p:grpSp>
      <p:grpSp>
        <p:nvGrpSpPr>
          <p:cNvPr name="Group 47" id="47"/>
          <p:cNvGrpSpPr/>
          <p:nvPr/>
        </p:nvGrpSpPr>
        <p:grpSpPr>
          <a:xfrm rot="0">
            <a:off x="9442199" y="5601719"/>
            <a:ext cx="8437883" cy="2914907"/>
            <a:chOff x="0" y="0"/>
            <a:chExt cx="11250511" cy="3886543"/>
          </a:xfrm>
        </p:grpSpPr>
        <p:sp>
          <p:nvSpPr>
            <p:cNvPr name="Freeform 48" id="48"/>
            <p:cNvSpPr/>
            <p:nvPr/>
          </p:nvSpPr>
          <p:spPr>
            <a:xfrm flipH="false" flipV="false" rot="0">
              <a:off x="16891" y="16891"/>
              <a:ext cx="11216640" cy="3852672"/>
            </a:xfrm>
            <a:custGeom>
              <a:avLst/>
              <a:gdLst/>
              <a:ahLst/>
              <a:cxnLst/>
              <a:rect r="r" b="b" t="t" l="l"/>
              <a:pathLst>
                <a:path h="3852672" w="11216640">
                  <a:moveTo>
                    <a:pt x="0" y="0"/>
                  </a:moveTo>
                  <a:lnTo>
                    <a:pt x="11216640" y="0"/>
                  </a:lnTo>
                  <a:lnTo>
                    <a:pt x="11216640" y="3852672"/>
                  </a:lnTo>
                  <a:lnTo>
                    <a:pt x="0" y="3852672"/>
                  </a:lnTo>
                  <a:close/>
                </a:path>
              </a:pathLst>
            </a:custGeom>
            <a:solidFill>
              <a:srgbClr val="FFFFFF"/>
            </a:solidFill>
          </p:spPr>
        </p:sp>
        <p:sp>
          <p:nvSpPr>
            <p:cNvPr name="Freeform 49" id="49"/>
            <p:cNvSpPr/>
            <p:nvPr/>
          </p:nvSpPr>
          <p:spPr>
            <a:xfrm flipH="false" flipV="false" rot="0">
              <a:off x="0" y="0"/>
              <a:ext cx="11250422" cy="3886454"/>
            </a:xfrm>
            <a:custGeom>
              <a:avLst/>
              <a:gdLst/>
              <a:ahLst/>
              <a:cxnLst/>
              <a:rect r="r" b="b" t="t" l="l"/>
              <a:pathLst>
                <a:path h="3886454" w="11250422">
                  <a:moveTo>
                    <a:pt x="16891" y="0"/>
                  </a:moveTo>
                  <a:lnTo>
                    <a:pt x="11233531" y="0"/>
                  </a:lnTo>
                  <a:cubicBezTo>
                    <a:pt x="11242929" y="0"/>
                    <a:pt x="11250422" y="7620"/>
                    <a:pt x="11250422" y="16891"/>
                  </a:cubicBezTo>
                  <a:lnTo>
                    <a:pt x="11250422" y="3869563"/>
                  </a:lnTo>
                  <a:cubicBezTo>
                    <a:pt x="11250422" y="3878961"/>
                    <a:pt x="11242802" y="3886454"/>
                    <a:pt x="11233531" y="3886454"/>
                  </a:cubicBezTo>
                  <a:lnTo>
                    <a:pt x="16891" y="3886454"/>
                  </a:lnTo>
                  <a:cubicBezTo>
                    <a:pt x="7493" y="3886454"/>
                    <a:pt x="0" y="3878834"/>
                    <a:pt x="0" y="3869563"/>
                  </a:cubicBezTo>
                  <a:lnTo>
                    <a:pt x="0" y="16891"/>
                  </a:lnTo>
                  <a:cubicBezTo>
                    <a:pt x="0" y="7620"/>
                    <a:pt x="7620" y="0"/>
                    <a:pt x="16891" y="0"/>
                  </a:cubicBezTo>
                  <a:moveTo>
                    <a:pt x="16891" y="33909"/>
                  </a:moveTo>
                  <a:lnTo>
                    <a:pt x="16891" y="16891"/>
                  </a:lnTo>
                  <a:lnTo>
                    <a:pt x="33909" y="16891"/>
                  </a:lnTo>
                  <a:lnTo>
                    <a:pt x="33909" y="3869563"/>
                  </a:lnTo>
                  <a:lnTo>
                    <a:pt x="16891" y="3869563"/>
                  </a:lnTo>
                  <a:lnTo>
                    <a:pt x="16891" y="3852672"/>
                  </a:lnTo>
                  <a:lnTo>
                    <a:pt x="11233531" y="3852672"/>
                  </a:lnTo>
                  <a:lnTo>
                    <a:pt x="11233531" y="3869563"/>
                  </a:lnTo>
                  <a:lnTo>
                    <a:pt x="11216640" y="3869563"/>
                  </a:lnTo>
                  <a:lnTo>
                    <a:pt x="11216640" y="16891"/>
                  </a:lnTo>
                  <a:lnTo>
                    <a:pt x="11233531" y="16891"/>
                  </a:lnTo>
                  <a:lnTo>
                    <a:pt x="11233531" y="33909"/>
                  </a:lnTo>
                  <a:lnTo>
                    <a:pt x="16891" y="33909"/>
                  </a:lnTo>
                  <a:close/>
                </a:path>
              </a:pathLst>
            </a:custGeom>
            <a:solidFill>
              <a:srgbClr val="E2E8F0"/>
            </a:solidFill>
          </p:spPr>
        </p:sp>
      </p:grpSp>
      <p:grpSp>
        <p:nvGrpSpPr>
          <p:cNvPr name="Group 50" id="50"/>
          <p:cNvGrpSpPr/>
          <p:nvPr/>
        </p:nvGrpSpPr>
        <p:grpSpPr>
          <a:xfrm rot="0">
            <a:off x="9442199" y="5601719"/>
            <a:ext cx="189995" cy="2914907"/>
            <a:chOff x="0" y="0"/>
            <a:chExt cx="253327" cy="3886543"/>
          </a:xfrm>
        </p:grpSpPr>
        <p:sp>
          <p:nvSpPr>
            <p:cNvPr name="Freeform 51" id="51"/>
            <p:cNvSpPr/>
            <p:nvPr/>
          </p:nvSpPr>
          <p:spPr>
            <a:xfrm flipH="false" flipV="false" rot="0">
              <a:off x="16891" y="16891"/>
              <a:ext cx="219456" cy="3852672"/>
            </a:xfrm>
            <a:custGeom>
              <a:avLst/>
              <a:gdLst/>
              <a:ahLst/>
              <a:cxnLst/>
              <a:rect r="r" b="b" t="t" l="l"/>
              <a:pathLst>
                <a:path h="3852672" w="219456">
                  <a:moveTo>
                    <a:pt x="0" y="0"/>
                  </a:moveTo>
                  <a:lnTo>
                    <a:pt x="219456" y="0"/>
                  </a:lnTo>
                  <a:lnTo>
                    <a:pt x="219456" y="3852672"/>
                  </a:lnTo>
                  <a:lnTo>
                    <a:pt x="0" y="3852672"/>
                  </a:lnTo>
                  <a:close/>
                </a:path>
              </a:pathLst>
            </a:custGeom>
            <a:solidFill>
              <a:srgbClr val="EF4444"/>
            </a:solidFill>
          </p:spPr>
        </p:sp>
        <p:sp>
          <p:nvSpPr>
            <p:cNvPr name="Freeform 52" id="52"/>
            <p:cNvSpPr/>
            <p:nvPr/>
          </p:nvSpPr>
          <p:spPr>
            <a:xfrm flipH="false" flipV="false" rot="0">
              <a:off x="0" y="0"/>
              <a:ext cx="253238" cy="3886454"/>
            </a:xfrm>
            <a:custGeom>
              <a:avLst/>
              <a:gdLst/>
              <a:ahLst/>
              <a:cxnLst/>
              <a:rect r="r" b="b" t="t" l="l"/>
              <a:pathLst>
                <a:path h="3886454" w="253238">
                  <a:moveTo>
                    <a:pt x="16891" y="0"/>
                  </a:moveTo>
                  <a:lnTo>
                    <a:pt x="236347" y="0"/>
                  </a:lnTo>
                  <a:cubicBezTo>
                    <a:pt x="245745" y="0"/>
                    <a:pt x="253238" y="7620"/>
                    <a:pt x="253238" y="16891"/>
                  </a:cubicBezTo>
                  <a:lnTo>
                    <a:pt x="253238" y="3869563"/>
                  </a:lnTo>
                  <a:cubicBezTo>
                    <a:pt x="253238" y="3878961"/>
                    <a:pt x="245618" y="3886454"/>
                    <a:pt x="236347" y="3886454"/>
                  </a:cubicBezTo>
                  <a:lnTo>
                    <a:pt x="16891" y="3886454"/>
                  </a:lnTo>
                  <a:cubicBezTo>
                    <a:pt x="7493" y="3886454"/>
                    <a:pt x="0" y="3878834"/>
                    <a:pt x="0" y="3869563"/>
                  </a:cubicBezTo>
                  <a:lnTo>
                    <a:pt x="0" y="16891"/>
                  </a:lnTo>
                  <a:cubicBezTo>
                    <a:pt x="0" y="7620"/>
                    <a:pt x="7620" y="0"/>
                    <a:pt x="16891" y="0"/>
                  </a:cubicBezTo>
                  <a:moveTo>
                    <a:pt x="16891" y="33909"/>
                  </a:moveTo>
                  <a:lnTo>
                    <a:pt x="16891" y="16891"/>
                  </a:lnTo>
                  <a:lnTo>
                    <a:pt x="33909" y="16891"/>
                  </a:lnTo>
                  <a:lnTo>
                    <a:pt x="33909" y="3869563"/>
                  </a:lnTo>
                  <a:lnTo>
                    <a:pt x="16891" y="3869563"/>
                  </a:lnTo>
                  <a:lnTo>
                    <a:pt x="16891" y="3852672"/>
                  </a:lnTo>
                  <a:lnTo>
                    <a:pt x="236347" y="3852672"/>
                  </a:lnTo>
                  <a:lnTo>
                    <a:pt x="236347" y="3869563"/>
                  </a:lnTo>
                  <a:lnTo>
                    <a:pt x="219456" y="3869563"/>
                  </a:lnTo>
                  <a:lnTo>
                    <a:pt x="219456" y="16891"/>
                  </a:lnTo>
                  <a:lnTo>
                    <a:pt x="236347" y="16891"/>
                  </a:lnTo>
                  <a:lnTo>
                    <a:pt x="236347" y="33909"/>
                  </a:lnTo>
                  <a:lnTo>
                    <a:pt x="16891" y="33909"/>
                  </a:lnTo>
                  <a:close/>
                </a:path>
              </a:pathLst>
            </a:custGeom>
            <a:solidFill>
              <a:srgbClr val="EF4444"/>
            </a:solidFill>
          </p:spPr>
        </p:sp>
      </p:grpSp>
      <p:grpSp>
        <p:nvGrpSpPr>
          <p:cNvPr name="Group 53" id="53"/>
          <p:cNvGrpSpPr/>
          <p:nvPr/>
        </p:nvGrpSpPr>
        <p:grpSpPr>
          <a:xfrm rot="0">
            <a:off x="9820656" y="5797296"/>
            <a:ext cx="7772400" cy="585216"/>
            <a:chOff x="0" y="0"/>
            <a:chExt cx="10363200" cy="780288"/>
          </a:xfrm>
        </p:grpSpPr>
        <p:sp>
          <p:nvSpPr>
            <p:cNvPr name="Freeform 54" id="54"/>
            <p:cNvSpPr/>
            <p:nvPr/>
          </p:nvSpPr>
          <p:spPr>
            <a:xfrm flipH="false" flipV="false" rot="0">
              <a:off x="0" y="0"/>
              <a:ext cx="10363200" cy="780288"/>
            </a:xfrm>
            <a:custGeom>
              <a:avLst/>
              <a:gdLst/>
              <a:ahLst/>
              <a:cxnLst/>
              <a:rect r="r" b="b" t="t" l="l"/>
              <a:pathLst>
                <a:path h="780288" w="10363200">
                  <a:moveTo>
                    <a:pt x="0" y="0"/>
                  </a:moveTo>
                  <a:lnTo>
                    <a:pt x="10363200" y="0"/>
                  </a:lnTo>
                  <a:lnTo>
                    <a:pt x="10363200" y="780288"/>
                  </a:lnTo>
                  <a:lnTo>
                    <a:pt x="0" y="780288"/>
                  </a:lnTo>
                  <a:close/>
                </a:path>
              </a:pathLst>
            </a:custGeom>
            <a:blipFill>
              <a:blip r:embed="rId3">
                <a:alphaModFix amt="0"/>
              </a:blip>
              <a:stretch>
                <a:fillRect l="0" t="-208785" r="0" b="-208785"/>
              </a:stretch>
            </a:blipFill>
          </p:spPr>
        </p:sp>
        <p:sp>
          <p:nvSpPr>
            <p:cNvPr name="TextBox 55" id="55"/>
            <p:cNvSpPr txBox="true"/>
            <p:nvPr/>
          </p:nvSpPr>
          <p:spPr>
            <a:xfrm>
              <a:off x="0" y="-47625"/>
              <a:ext cx="10363200"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Gaps in existing solutions</a:t>
              </a:r>
            </a:p>
          </p:txBody>
        </p:sp>
      </p:grpSp>
      <p:grpSp>
        <p:nvGrpSpPr>
          <p:cNvPr name="Group 56" id="56"/>
          <p:cNvGrpSpPr/>
          <p:nvPr/>
        </p:nvGrpSpPr>
        <p:grpSpPr>
          <a:xfrm rot="0">
            <a:off x="9820656" y="6437376"/>
            <a:ext cx="7772400" cy="1828800"/>
            <a:chOff x="0" y="0"/>
            <a:chExt cx="10363200" cy="2438400"/>
          </a:xfrm>
        </p:grpSpPr>
        <p:sp>
          <p:nvSpPr>
            <p:cNvPr name="Freeform 57" id="57"/>
            <p:cNvSpPr/>
            <p:nvPr/>
          </p:nvSpPr>
          <p:spPr>
            <a:xfrm flipH="false" flipV="false" rot="0">
              <a:off x="0" y="0"/>
              <a:ext cx="10363200" cy="2438400"/>
            </a:xfrm>
            <a:custGeom>
              <a:avLst/>
              <a:gdLst/>
              <a:ahLst/>
              <a:cxnLst/>
              <a:rect r="r" b="b" t="t" l="l"/>
              <a:pathLst>
                <a:path h="2438400" w="10363200">
                  <a:moveTo>
                    <a:pt x="0" y="0"/>
                  </a:moveTo>
                  <a:lnTo>
                    <a:pt x="10363200" y="0"/>
                  </a:lnTo>
                  <a:lnTo>
                    <a:pt x="10363200" y="2438400"/>
                  </a:lnTo>
                  <a:lnTo>
                    <a:pt x="0" y="2438400"/>
                  </a:lnTo>
                  <a:close/>
                </a:path>
              </a:pathLst>
            </a:custGeom>
            <a:blipFill>
              <a:blip r:embed="rId3">
                <a:alphaModFix amt="0"/>
              </a:blip>
              <a:stretch>
                <a:fillRect l="0" t="-32811" r="0" b="-32811"/>
              </a:stretch>
            </a:blipFill>
          </p:spPr>
        </p:sp>
        <p:sp>
          <p:nvSpPr>
            <p:cNvPr name="TextBox 58" id="58"/>
            <p:cNvSpPr txBox="true"/>
            <p:nvPr/>
          </p:nvSpPr>
          <p:spPr>
            <a:xfrm>
              <a:off x="0" y="-38100"/>
              <a:ext cx="10363200" cy="2476500"/>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No existing clinical tool combines multi-year disease history, Markov chain progression modelling, and contextual fallback (environment, family, lifestyle) into one unified prediction system available at point of care.</a:t>
              </a:r>
            </a:p>
          </p:txBody>
        </p:sp>
      </p:grpSp>
      <p:grpSp>
        <p:nvGrpSpPr>
          <p:cNvPr name="Group 59" id="59"/>
          <p:cNvGrpSpPr/>
          <p:nvPr/>
        </p:nvGrpSpPr>
        <p:grpSpPr>
          <a:xfrm rot="0">
            <a:off x="633727" y="8863327"/>
            <a:ext cx="17020537" cy="927097"/>
            <a:chOff x="0" y="0"/>
            <a:chExt cx="22694049" cy="1236129"/>
          </a:xfrm>
        </p:grpSpPr>
        <p:sp>
          <p:nvSpPr>
            <p:cNvPr name="Freeform 60" id="60"/>
            <p:cNvSpPr/>
            <p:nvPr/>
          </p:nvSpPr>
          <p:spPr>
            <a:xfrm flipH="false" flipV="false" rot="0">
              <a:off x="8509" y="8509"/>
              <a:ext cx="22677120" cy="1219200"/>
            </a:xfrm>
            <a:custGeom>
              <a:avLst/>
              <a:gdLst/>
              <a:ahLst/>
              <a:cxnLst/>
              <a:rect r="r" b="b" t="t" l="l"/>
              <a:pathLst>
                <a:path h="1219200" w="22677120">
                  <a:moveTo>
                    <a:pt x="0" y="0"/>
                  </a:moveTo>
                  <a:lnTo>
                    <a:pt x="22677120" y="0"/>
                  </a:lnTo>
                  <a:lnTo>
                    <a:pt x="22677120" y="1219200"/>
                  </a:lnTo>
                  <a:lnTo>
                    <a:pt x="0" y="1219200"/>
                  </a:lnTo>
                  <a:close/>
                </a:path>
              </a:pathLst>
            </a:custGeom>
            <a:solidFill>
              <a:srgbClr val="0D1F38"/>
            </a:solidFill>
          </p:spPr>
        </p:sp>
        <p:sp>
          <p:nvSpPr>
            <p:cNvPr name="Freeform 61" id="61"/>
            <p:cNvSpPr/>
            <p:nvPr/>
          </p:nvSpPr>
          <p:spPr>
            <a:xfrm flipH="false" flipV="false" rot="0">
              <a:off x="0" y="0"/>
              <a:ext cx="22694137" cy="1236218"/>
            </a:xfrm>
            <a:custGeom>
              <a:avLst/>
              <a:gdLst/>
              <a:ahLst/>
              <a:cxnLst/>
              <a:rect r="r" b="b" t="t" l="l"/>
              <a:pathLst>
                <a:path h="1236218" w="22694137">
                  <a:moveTo>
                    <a:pt x="8509" y="0"/>
                  </a:moveTo>
                  <a:lnTo>
                    <a:pt x="22685629" y="0"/>
                  </a:lnTo>
                  <a:cubicBezTo>
                    <a:pt x="22690328" y="0"/>
                    <a:pt x="22694137" y="3810"/>
                    <a:pt x="22694137" y="8509"/>
                  </a:cubicBezTo>
                  <a:lnTo>
                    <a:pt x="22694137" y="1227709"/>
                  </a:lnTo>
                  <a:cubicBezTo>
                    <a:pt x="22694137" y="1232408"/>
                    <a:pt x="22690328" y="1236218"/>
                    <a:pt x="22685629" y="1236218"/>
                  </a:cubicBezTo>
                  <a:lnTo>
                    <a:pt x="8509" y="1236218"/>
                  </a:lnTo>
                  <a:cubicBezTo>
                    <a:pt x="3810" y="1236218"/>
                    <a:pt x="0" y="1232408"/>
                    <a:pt x="0" y="1227709"/>
                  </a:cubicBezTo>
                  <a:lnTo>
                    <a:pt x="0" y="8509"/>
                  </a:lnTo>
                  <a:cubicBezTo>
                    <a:pt x="0" y="3810"/>
                    <a:pt x="3810" y="0"/>
                    <a:pt x="8509" y="0"/>
                  </a:cubicBezTo>
                  <a:moveTo>
                    <a:pt x="8509" y="16891"/>
                  </a:moveTo>
                  <a:lnTo>
                    <a:pt x="8509" y="8509"/>
                  </a:lnTo>
                  <a:lnTo>
                    <a:pt x="17018" y="8509"/>
                  </a:lnTo>
                  <a:lnTo>
                    <a:pt x="17018" y="1227709"/>
                  </a:lnTo>
                  <a:lnTo>
                    <a:pt x="8509" y="1227709"/>
                  </a:lnTo>
                  <a:lnTo>
                    <a:pt x="8509" y="1219200"/>
                  </a:lnTo>
                  <a:lnTo>
                    <a:pt x="22685629" y="1219200"/>
                  </a:lnTo>
                  <a:lnTo>
                    <a:pt x="22685629" y="1227709"/>
                  </a:lnTo>
                  <a:lnTo>
                    <a:pt x="22677120" y="1227709"/>
                  </a:lnTo>
                  <a:lnTo>
                    <a:pt x="22677120" y="8509"/>
                  </a:lnTo>
                  <a:lnTo>
                    <a:pt x="22685629" y="8509"/>
                  </a:lnTo>
                  <a:lnTo>
                    <a:pt x="22685629" y="17018"/>
                  </a:lnTo>
                  <a:lnTo>
                    <a:pt x="8509" y="17018"/>
                  </a:lnTo>
                  <a:close/>
                </a:path>
              </a:pathLst>
            </a:custGeom>
            <a:solidFill>
              <a:srgbClr val="0D9488"/>
            </a:solidFill>
          </p:spPr>
        </p:sp>
      </p:grpSp>
      <p:grpSp>
        <p:nvGrpSpPr>
          <p:cNvPr name="Group 62" id="62"/>
          <p:cNvGrpSpPr/>
          <p:nvPr/>
        </p:nvGrpSpPr>
        <p:grpSpPr>
          <a:xfrm rot="0">
            <a:off x="914400" y="8924544"/>
            <a:ext cx="16459200" cy="804672"/>
            <a:chOff x="0" y="0"/>
            <a:chExt cx="21945600" cy="1072896"/>
          </a:xfrm>
        </p:grpSpPr>
        <p:sp>
          <p:nvSpPr>
            <p:cNvPr name="Freeform 63" id="63"/>
            <p:cNvSpPr/>
            <p:nvPr/>
          </p:nvSpPr>
          <p:spPr>
            <a:xfrm flipH="false" flipV="false" rot="0">
              <a:off x="0" y="0"/>
              <a:ext cx="21945600" cy="1072896"/>
            </a:xfrm>
            <a:custGeom>
              <a:avLst/>
              <a:gdLst/>
              <a:ahLst/>
              <a:cxnLst/>
              <a:rect r="r" b="b" t="t" l="l"/>
              <a:pathLst>
                <a:path h="1072896" w="21945600">
                  <a:moveTo>
                    <a:pt x="0" y="0"/>
                  </a:moveTo>
                  <a:lnTo>
                    <a:pt x="21945600" y="0"/>
                  </a:lnTo>
                  <a:lnTo>
                    <a:pt x="21945600" y="1072896"/>
                  </a:lnTo>
                  <a:lnTo>
                    <a:pt x="0" y="1072896"/>
                  </a:lnTo>
                  <a:close/>
                </a:path>
              </a:pathLst>
            </a:custGeom>
            <a:blipFill>
              <a:blip r:embed="rId3">
                <a:alphaModFix amt="0"/>
              </a:blip>
              <a:stretch>
                <a:fillRect l="0" t="-348557" r="0" b="-348557"/>
              </a:stretch>
            </a:blipFill>
          </p:spPr>
        </p:sp>
        <p:sp>
          <p:nvSpPr>
            <p:cNvPr name="TextBox 64" id="64"/>
            <p:cNvSpPr txBox="true"/>
            <p:nvPr/>
          </p:nvSpPr>
          <p:spPr>
            <a:xfrm>
              <a:off x="0" y="-38100"/>
              <a:ext cx="21945600" cy="1110996"/>
            </a:xfrm>
            <a:prstGeom prst="rect">
              <a:avLst/>
            </a:prstGeom>
          </p:spPr>
          <p:txBody>
            <a:bodyPr anchor="ctr" rtlCol="false" tIns="0" lIns="0" bIns="0" rIns="0"/>
            <a:lstStyle/>
            <a:p>
              <a:pPr algn="l">
                <a:lnSpc>
                  <a:spcPts val="2400"/>
                </a:lnSpc>
              </a:pPr>
              <a:r>
                <a:rPr lang="en-US" sz="2000" i="true">
                  <a:solidFill>
                    <a:srgbClr val="14B8A6"/>
                  </a:solidFill>
                  <a:latin typeface="Calibri (MS) Italics"/>
                  <a:ea typeface="Calibri (MS) Italics"/>
                  <a:cs typeface="Calibri (MS) Italics"/>
                  <a:sym typeface="Calibri (MS) Italics"/>
                </a:rPr>
                <a:t>MediPATH is specific: reduce preventable disease progression in patients with complex histories by predicting the next likely condition before it develops.</a:t>
              </a:r>
            </a:p>
          </p:txBody>
        </p:sp>
      </p:grpSp>
      <p:grpSp>
        <p:nvGrpSpPr>
          <p:cNvPr name="Group 65" id="65"/>
          <p:cNvGrpSpPr/>
          <p:nvPr/>
        </p:nvGrpSpPr>
        <p:grpSpPr>
          <a:xfrm rot="0">
            <a:off x="-12697" y="9588503"/>
            <a:ext cx="18313403" cy="711203"/>
            <a:chOff x="0" y="0"/>
            <a:chExt cx="24417871" cy="948271"/>
          </a:xfrm>
        </p:grpSpPr>
        <p:sp>
          <p:nvSpPr>
            <p:cNvPr name="Freeform 66" id="66"/>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67" id="67"/>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68" id="68"/>
          <p:cNvGrpSpPr/>
          <p:nvPr/>
        </p:nvGrpSpPr>
        <p:grpSpPr>
          <a:xfrm rot="0">
            <a:off x="731520" y="9637776"/>
            <a:ext cx="16824960" cy="585216"/>
            <a:chOff x="0" y="0"/>
            <a:chExt cx="22433280" cy="780288"/>
          </a:xfrm>
        </p:grpSpPr>
        <p:sp>
          <p:nvSpPr>
            <p:cNvPr name="Freeform 69" id="69"/>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70" id="70"/>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A162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A162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14B8A6"/>
                  </a:solidFill>
                  <a:latin typeface="Calibri (MS) Bold"/>
                  <a:ea typeface="Calibri (MS) Bold"/>
                  <a:cs typeface="Calibri (MS) Bold"/>
                  <a:sym typeface="Calibri (MS) Bold"/>
                </a:rPr>
                <a:t>AIM OF PROJECT</a:t>
              </a:r>
            </a:p>
          </p:txBody>
        </p:sp>
      </p:grpSp>
      <p:grpSp>
        <p:nvGrpSpPr>
          <p:cNvPr name="Group 8" id="8"/>
          <p:cNvGrpSpPr/>
          <p:nvPr/>
        </p:nvGrpSpPr>
        <p:grpSpPr>
          <a:xfrm rot="0">
            <a:off x="627383" y="1358903"/>
            <a:ext cx="17033243" cy="3042923"/>
            <a:chOff x="0" y="0"/>
            <a:chExt cx="22710991" cy="4057231"/>
          </a:xfrm>
        </p:grpSpPr>
        <p:sp>
          <p:nvSpPr>
            <p:cNvPr name="Freeform 9" id="9"/>
            <p:cNvSpPr/>
            <p:nvPr/>
          </p:nvSpPr>
          <p:spPr>
            <a:xfrm flipH="false" flipV="false" rot="0">
              <a:off x="16891" y="16891"/>
              <a:ext cx="22677119" cy="4023360"/>
            </a:xfrm>
            <a:custGeom>
              <a:avLst/>
              <a:gdLst/>
              <a:ahLst/>
              <a:cxnLst/>
              <a:rect r="r" b="b" t="t" l="l"/>
              <a:pathLst>
                <a:path h="4023360" w="22677119">
                  <a:moveTo>
                    <a:pt x="0" y="0"/>
                  </a:moveTo>
                  <a:lnTo>
                    <a:pt x="22677119" y="0"/>
                  </a:lnTo>
                  <a:lnTo>
                    <a:pt x="22677119" y="4023360"/>
                  </a:lnTo>
                  <a:lnTo>
                    <a:pt x="0" y="4023360"/>
                  </a:lnTo>
                  <a:close/>
                </a:path>
              </a:pathLst>
            </a:custGeom>
            <a:solidFill>
              <a:srgbClr val="0A1628"/>
            </a:solidFill>
          </p:spPr>
        </p:sp>
        <p:sp>
          <p:nvSpPr>
            <p:cNvPr name="Freeform 10" id="10"/>
            <p:cNvSpPr/>
            <p:nvPr/>
          </p:nvSpPr>
          <p:spPr>
            <a:xfrm flipH="false" flipV="false" rot="0">
              <a:off x="0" y="0"/>
              <a:ext cx="22710902" cy="4057142"/>
            </a:xfrm>
            <a:custGeom>
              <a:avLst/>
              <a:gdLst/>
              <a:ahLst/>
              <a:cxnLst/>
              <a:rect r="r" b="b" t="t" l="l"/>
              <a:pathLst>
                <a:path h="4057142" w="22710902">
                  <a:moveTo>
                    <a:pt x="16891" y="0"/>
                  </a:moveTo>
                  <a:lnTo>
                    <a:pt x="22694010" y="0"/>
                  </a:lnTo>
                  <a:cubicBezTo>
                    <a:pt x="22703408" y="0"/>
                    <a:pt x="22710902" y="7620"/>
                    <a:pt x="22710902" y="16891"/>
                  </a:cubicBezTo>
                  <a:lnTo>
                    <a:pt x="22710902" y="4040251"/>
                  </a:lnTo>
                  <a:cubicBezTo>
                    <a:pt x="22710902" y="4049649"/>
                    <a:pt x="22703282" y="4057142"/>
                    <a:pt x="22694010"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22694010" y="4023360"/>
                  </a:lnTo>
                  <a:lnTo>
                    <a:pt x="22694010" y="4040251"/>
                  </a:lnTo>
                  <a:lnTo>
                    <a:pt x="22677120" y="4040251"/>
                  </a:lnTo>
                  <a:lnTo>
                    <a:pt x="22677120" y="16891"/>
                  </a:lnTo>
                  <a:lnTo>
                    <a:pt x="22694010" y="16891"/>
                  </a:lnTo>
                  <a:lnTo>
                    <a:pt x="22694010" y="33909"/>
                  </a:lnTo>
                  <a:lnTo>
                    <a:pt x="16891" y="33909"/>
                  </a:lnTo>
                  <a:close/>
                </a:path>
              </a:pathLst>
            </a:custGeom>
            <a:solidFill>
              <a:srgbClr val="0A1628"/>
            </a:solidFill>
          </p:spPr>
        </p:sp>
      </p:grpSp>
      <p:grpSp>
        <p:nvGrpSpPr>
          <p:cNvPr name="Group 11" id="11"/>
          <p:cNvGrpSpPr/>
          <p:nvPr/>
        </p:nvGrpSpPr>
        <p:grpSpPr>
          <a:xfrm rot="0">
            <a:off x="627383" y="1358903"/>
            <a:ext cx="208283" cy="3042923"/>
            <a:chOff x="0" y="0"/>
            <a:chExt cx="277711" cy="4057231"/>
          </a:xfrm>
        </p:grpSpPr>
        <p:sp>
          <p:nvSpPr>
            <p:cNvPr name="Freeform 12" id="12"/>
            <p:cNvSpPr/>
            <p:nvPr/>
          </p:nvSpPr>
          <p:spPr>
            <a:xfrm flipH="false" flipV="false" rot="0">
              <a:off x="16891" y="16891"/>
              <a:ext cx="243840" cy="4023360"/>
            </a:xfrm>
            <a:custGeom>
              <a:avLst/>
              <a:gdLst/>
              <a:ahLst/>
              <a:cxnLst/>
              <a:rect r="r" b="b" t="t" l="l"/>
              <a:pathLst>
                <a:path h="4023360" w="243840">
                  <a:moveTo>
                    <a:pt x="0" y="0"/>
                  </a:moveTo>
                  <a:lnTo>
                    <a:pt x="243840" y="0"/>
                  </a:lnTo>
                  <a:lnTo>
                    <a:pt x="243840" y="4023360"/>
                  </a:lnTo>
                  <a:lnTo>
                    <a:pt x="0" y="4023360"/>
                  </a:lnTo>
                  <a:close/>
                </a:path>
              </a:pathLst>
            </a:custGeom>
            <a:solidFill>
              <a:srgbClr val="0D9488"/>
            </a:solidFill>
          </p:spPr>
        </p:sp>
        <p:sp>
          <p:nvSpPr>
            <p:cNvPr name="Freeform 13" id="13"/>
            <p:cNvSpPr/>
            <p:nvPr/>
          </p:nvSpPr>
          <p:spPr>
            <a:xfrm flipH="false" flipV="false" rot="0">
              <a:off x="0" y="0"/>
              <a:ext cx="277622" cy="4057142"/>
            </a:xfrm>
            <a:custGeom>
              <a:avLst/>
              <a:gdLst/>
              <a:ahLst/>
              <a:cxnLst/>
              <a:rect r="r" b="b" t="t" l="l"/>
              <a:pathLst>
                <a:path h="4057142" w="277622">
                  <a:moveTo>
                    <a:pt x="16891" y="0"/>
                  </a:moveTo>
                  <a:lnTo>
                    <a:pt x="260731" y="0"/>
                  </a:lnTo>
                  <a:cubicBezTo>
                    <a:pt x="270129" y="0"/>
                    <a:pt x="277622" y="7620"/>
                    <a:pt x="277622" y="16891"/>
                  </a:cubicBezTo>
                  <a:lnTo>
                    <a:pt x="277622" y="4040251"/>
                  </a:lnTo>
                  <a:cubicBezTo>
                    <a:pt x="277622" y="4049649"/>
                    <a:pt x="270002" y="4057142"/>
                    <a:pt x="26073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260731" y="4023360"/>
                  </a:lnTo>
                  <a:lnTo>
                    <a:pt x="260731" y="4040251"/>
                  </a:lnTo>
                  <a:lnTo>
                    <a:pt x="243840" y="4040251"/>
                  </a:lnTo>
                  <a:lnTo>
                    <a:pt x="243840" y="16891"/>
                  </a:lnTo>
                  <a:lnTo>
                    <a:pt x="260731" y="16891"/>
                  </a:lnTo>
                  <a:lnTo>
                    <a:pt x="260731" y="33909"/>
                  </a:lnTo>
                  <a:lnTo>
                    <a:pt x="16891" y="33909"/>
                  </a:lnTo>
                  <a:close/>
                </a:path>
              </a:pathLst>
            </a:custGeom>
            <a:solidFill>
              <a:srgbClr val="0D9488"/>
            </a:solidFill>
          </p:spPr>
        </p:sp>
      </p:grpSp>
      <p:grpSp>
        <p:nvGrpSpPr>
          <p:cNvPr name="Group 14" id="14"/>
          <p:cNvGrpSpPr/>
          <p:nvPr/>
        </p:nvGrpSpPr>
        <p:grpSpPr>
          <a:xfrm rot="0">
            <a:off x="1060704" y="1536192"/>
            <a:ext cx="16276320" cy="548640"/>
            <a:chOff x="0" y="0"/>
            <a:chExt cx="21701760" cy="731520"/>
          </a:xfrm>
        </p:grpSpPr>
        <p:sp>
          <p:nvSpPr>
            <p:cNvPr name="Freeform 15" id="15"/>
            <p:cNvSpPr/>
            <p:nvPr/>
          </p:nvSpPr>
          <p:spPr>
            <a:xfrm flipH="false" flipV="false" rot="0">
              <a:off x="0" y="0"/>
              <a:ext cx="21701761" cy="731520"/>
            </a:xfrm>
            <a:custGeom>
              <a:avLst/>
              <a:gdLst/>
              <a:ahLst/>
              <a:cxnLst/>
              <a:rect r="r" b="b" t="t" l="l"/>
              <a:pathLst>
                <a:path h="731520" w="21701761">
                  <a:moveTo>
                    <a:pt x="0" y="0"/>
                  </a:moveTo>
                  <a:lnTo>
                    <a:pt x="21701761" y="0"/>
                  </a:lnTo>
                  <a:lnTo>
                    <a:pt x="21701761" y="731520"/>
                  </a:lnTo>
                  <a:lnTo>
                    <a:pt x="0" y="731520"/>
                  </a:lnTo>
                  <a:close/>
                </a:path>
              </a:pathLst>
            </a:custGeom>
            <a:blipFill>
              <a:blip r:embed="rId3">
                <a:alphaModFix amt="0"/>
              </a:blip>
              <a:stretch>
                <a:fillRect l="0" t="-528056" r="0" b="-528056"/>
              </a:stretch>
            </a:blipFill>
          </p:spPr>
        </p:sp>
        <p:sp>
          <p:nvSpPr>
            <p:cNvPr name="TextBox 16" id="16"/>
            <p:cNvSpPr txBox="true"/>
            <p:nvPr/>
          </p:nvSpPr>
          <p:spPr>
            <a:xfrm>
              <a:off x="0" y="-38100"/>
              <a:ext cx="21701760" cy="769620"/>
            </a:xfrm>
            <a:prstGeom prst="rect">
              <a:avLst/>
            </a:prstGeom>
          </p:spPr>
          <p:txBody>
            <a:bodyPr anchor="ctr" rtlCol="false" tIns="0" lIns="0" bIns="0" rIns="0"/>
            <a:lstStyle/>
            <a:p>
              <a:pPr algn="l">
                <a:lnSpc>
                  <a:spcPts val="2400"/>
                </a:lnSpc>
              </a:pPr>
              <a:r>
                <a:rPr lang="en-US" sz="2000" b="true">
                  <a:solidFill>
                    <a:srgbClr val="0D9488"/>
                  </a:solidFill>
                  <a:latin typeface="Calibri (MS) Bold"/>
                  <a:ea typeface="Calibri (MS) Bold"/>
                  <a:cs typeface="Calibri (MS) Bold"/>
                  <a:sym typeface="Calibri (MS) Bold"/>
                </a:rPr>
                <a:t>The Aim</a:t>
              </a:r>
            </a:p>
          </p:txBody>
        </p:sp>
      </p:grpSp>
      <p:grpSp>
        <p:nvGrpSpPr>
          <p:cNvPr name="Group 17" id="17"/>
          <p:cNvGrpSpPr/>
          <p:nvPr/>
        </p:nvGrpSpPr>
        <p:grpSpPr>
          <a:xfrm rot="0">
            <a:off x="1060704" y="2157984"/>
            <a:ext cx="16184880" cy="1920240"/>
            <a:chOff x="0" y="0"/>
            <a:chExt cx="21579840" cy="2560320"/>
          </a:xfrm>
        </p:grpSpPr>
        <p:sp>
          <p:nvSpPr>
            <p:cNvPr name="Freeform 18" id="18"/>
            <p:cNvSpPr/>
            <p:nvPr/>
          </p:nvSpPr>
          <p:spPr>
            <a:xfrm flipH="false" flipV="false" rot="0">
              <a:off x="0" y="0"/>
              <a:ext cx="21579839" cy="2560320"/>
            </a:xfrm>
            <a:custGeom>
              <a:avLst/>
              <a:gdLst/>
              <a:ahLst/>
              <a:cxnLst/>
              <a:rect r="r" b="b" t="t" l="l"/>
              <a:pathLst>
                <a:path h="2560320" w="21579839">
                  <a:moveTo>
                    <a:pt x="0" y="0"/>
                  </a:moveTo>
                  <a:lnTo>
                    <a:pt x="21579839" y="0"/>
                  </a:lnTo>
                  <a:lnTo>
                    <a:pt x="21579839" y="2560320"/>
                  </a:lnTo>
                  <a:lnTo>
                    <a:pt x="0" y="2560320"/>
                  </a:lnTo>
                  <a:close/>
                </a:path>
              </a:pathLst>
            </a:custGeom>
            <a:blipFill>
              <a:blip r:embed="rId3">
                <a:alphaModFix amt="0"/>
              </a:blip>
              <a:stretch>
                <a:fillRect l="0" t="-114231" r="0" b="-114231"/>
              </a:stretch>
            </a:blipFill>
          </p:spPr>
        </p:sp>
        <p:sp>
          <p:nvSpPr>
            <p:cNvPr name="TextBox 19" id="19"/>
            <p:cNvSpPr txBox="true"/>
            <p:nvPr/>
          </p:nvSpPr>
          <p:spPr>
            <a:xfrm>
              <a:off x="0" y="-38100"/>
              <a:ext cx="21579840" cy="2598420"/>
            </a:xfrm>
            <a:prstGeom prst="rect">
              <a:avLst/>
            </a:prstGeom>
          </p:spPr>
          <p:txBody>
            <a:bodyPr anchor="ctr" rtlCol="false" tIns="0" lIns="0" bIns="0" rIns="0"/>
            <a:lstStyle/>
            <a:p>
              <a:pPr algn="l">
                <a:lnSpc>
                  <a:spcPts val="2879"/>
                </a:lnSpc>
              </a:pPr>
              <a:r>
                <a:rPr lang="en-US" sz="2400">
                  <a:solidFill>
                    <a:srgbClr val="FFFFFF"/>
                  </a:solidFill>
                  <a:latin typeface="Calibri (MS)"/>
                  <a:ea typeface="Calibri (MS)"/>
                  <a:cs typeface="Calibri (MS)"/>
                  <a:sym typeface="Calibri (MS)"/>
                </a:rPr>
                <a:t>To develop an AI-based clinical decision-support system that uses a patient's long-term health history to predict their next most likely disease — by comparing their symptom patterns and risk factors with similar patients in the system — and to support early, personalised prevention.</a:t>
              </a:r>
            </a:p>
          </p:txBody>
        </p:sp>
      </p:grpSp>
      <p:grpSp>
        <p:nvGrpSpPr>
          <p:cNvPr name="Group 20" id="20"/>
          <p:cNvGrpSpPr/>
          <p:nvPr/>
        </p:nvGrpSpPr>
        <p:grpSpPr>
          <a:xfrm rot="0">
            <a:off x="627383" y="4742183"/>
            <a:ext cx="5511803" cy="4780283"/>
            <a:chOff x="0" y="0"/>
            <a:chExt cx="7349071" cy="6373711"/>
          </a:xfrm>
        </p:grpSpPr>
        <p:sp>
          <p:nvSpPr>
            <p:cNvPr name="Freeform 21" id="21"/>
            <p:cNvSpPr/>
            <p:nvPr/>
          </p:nvSpPr>
          <p:spPr>
            <a:xfrm flipH="false" flipV="false" rot="0">
              <a:off x="16891" y="16891"/>
              <a:ext cx="7315200" cy="6339840"/>
            </a:xfrm>
            <a:custGeom>
              <a:avLst/>
              <a:gdLst/>
              <a:ahLst/>
              <a:cxnLst/>
              <a:rect r="r" b="b" t="t" l="l"/>
              <a:pathLst>
                <a:path h="6339840" w="7315200">
                  <a:moveTo>
                    <a:pt x="0" y="0"/>
                  </a:moveTo>
                  <a:lnTo>
                    <a:pt x="7315200" y="0"/>
                  </a:lnTo>
                  <a:lnTo>
                    <a:pt x="7315200" y="6339840"/>
                  </a:lnTo>
                  <a:lnTo>
                    <a:pt x="0" y="6339840"/>
                  </a:lnTo>
                  <a:close/>
                </a:path>
              </a:pathLst>
            </a:custGeom>
            <a:solidFill>
              <a:srgbClr val="FFFFFF"/>
            </a:solidFill>
          </p:spPr>
        </p:sp>
        <p:sp>
          <p:nvSpPr>
            <p:cNvPr name="Freeform 22" id="22"/>
            <p:cNvSpPr/>
            <p:nvPr/>
          </p:nvSpPr>
          <p:spPr>
            <a:xfrm flipH="false" flipV="false" rot="0">
              <a:off x="0" y="0"/>
              <a:ext cx="7348982" cy="6373622"/>
            </a:xfrm>
            <a:custGeom>
              <a:avLst/>
              <a:gdLst/>
              <a:ahLst/>
              <a:cxnLst/>
              <a:rect r="r" b="b" t="t" l="l"/>
              <a:pathLst>
                <a:path h="6373622" w="7348982">
                  <a:moveTo>
                    <a:pt x="16891" y="0"/>
                  </a:moveTo>
                  <a:lnTo>
                    <a:pt x="7332091" y="0"/>
                  </a:lnTo>
                  <a:cubicBezTo>
                    <a:pt x="7341489" y="0"/>
                    <a:pt x="7348982" y="7620"/>
                    <a:pt x="7348982" y="16891"/>
                  </a:cubicBezTo>
                  <a:lnTo>
                    <a:pt x="7348982" y="6356731"/>
                  </a:lnTo>
                  <a:cubicBezTo>
                    <a:pt x="7348982" y="6366129"/>
                    <a:pt x="7341362" y="6373622"/>
                    <a:pt x="7332091" y="6373622"/>
                  </a:cubicBezTo>
                  <a:lnTo>
                    <a:pt x="16891" y="6373622"/>
                  </a:lnTo>
                  <a:cubicBezTo>
                    <a:pt x="7493" y="6373622"/>
                    <a:pt x="0" y="6366002"/>
                    <a:pt x="0" y="6356731"/>
                  </a:cubicBezTo>
                  <a:lnTo>
                    <a:pt x="0" y="16891"/>
                  </a:lnTo>
                  <a:cubicBezTo>
                    <a:pt x="0" y="7620"/>
                    <a:pt x="7620" y="0"/>
                    <a:pt x="16891" y="0"/>
                  </a:cubicBezTo>
                  <a:moveTo>
                    <a:pt x="16891" y="33909"/>
                  </a:moveTo>
                  <a:lnTo>
                    <a:pt x="16891" y="16891"/>
                  </a:lnTo>
                  <a:lnTo>
                    <a:pt x="33909" y="16891"/>
                  </a:lnTo>
                  <a:lnTo>
                    <a:pt x="33909" y="6356731"/>
                  </a:lnTo>
                  <a:lnTo>
                    <a:pt x="16891" y="6356731"/>
                  </a:lnTo>
                  <a:lnTo>
                    <a:pt x="16891" y="6339840"/>
                  </a:lnTo>
                  <a:lnTo>
                    <a:pt x="7332091" y="6339840"/>
                  </a:lnTo>
                  <a:lnTo>
                    <a:pt x="7332091" y="6356731"/>
                  </a:lnTo>
                  <a:lnTo>
                    <a:pt x="7315200" y="6356731"/>
                  </a:lnTo>
                  <a:lnTo>
                    <a:pt x="7315200" y="16891"/>
                  </a:lnTo>
                  <a:lnTo>
                    <a:pt x="7332091" y="16891"/>
                  </a:lnTo>
                  <a:lnTo>
                    <a:pt x="7332091" y="33909"/>
                  </a:lnTo>
                  <a:lnTo>
                    <a:pt x="16891" y="33909"/>
                  </a:lnTo>
                  <a:close/>
                </a:path>
              </a:pathLst>
            </a:custGeom>
            <a:solidFill>
              <a:srgbClr val="E2E8F0"/>
            </a:solidFill>
          </p:spPr>
        </p:sp>
      </p:grpSp>
      <p:grpSp>
        <p:nvGrpSpPr>
          <p:cNvPr name="Group 23" id="23"/>
          <p:cNvGrpSpPr/>
          <p:nvPr/>
        </p:nvGrpSpPr>
        <p:grpSpPr>
          <a:xfrm rot="0">
            <a:off x="627383" y="4742183"/>
            <a:ext cx="5511803" cy="171707"/>
            <a:chOff x="0" y="0"/>
            <a:chExt cx="7349071" cy="228943"/>
          </a:xfrm>
        </p:grpSpPr>
        <p:sp>
          <p:nvSpPr>
            <p:cNvPr name="Freeform 24" id="24"/>
            <p:cNvSpPr/>
            <p:nvPr/>
          </p:nvSpPr>
          <p:spPr>
            <a:xfrm flipH="false" flipV="false" rot="0">
              <a:off x="16891" y="16891"/>
              <a:ext cx="7315200" cy="195072"/>
            </a:xfrm>
            <a:custGeom>
              <a:avLst/>
              <a:gdLst/>
              <a:ahLst/>
              <a:cxnLst/>
              <a:rect r="r" b="b" t="t" l="l"/>
              <a:pathLst>
                <a:path h="195072" w="7315200">
                  <a:moveTo>
                    <a:pt x="0" y="0"/>
                  </a:moveTo>
                  <a:lnTo>
                    <a:pt x="7315200" y="0"/>
                  </a:lnTo>
                  <a:lnTo>
                    <a:pt x="7315200" y="195072"/>
                  </a:lnTo>
                  <a:lnTo>
                    <a:pt x="0" y="195072"/>
                  </a:lnTo>
                  <a:close/>
                </a:path>
              </a:pathLst>
            </a:custGeom>
            <a:solidFill>
              <a:srgbClr val="0D9488"/>
            </a:solidFill>
          </p:spPr>
        </p:sp>
        <p:sp>
          <p:nvSpPr>
            <p:cNvPr name="Freeform 25" id="25"/>
            <p:cNvSpPr/>
            <p:nvPr/>
          </p:nvSpPr>
          <p:spPr>
            <a:xfrm flipH="false" flipV="false" rot="0">
              <a:off x="0" y="0"/>
              <a:ext cx="7348982" cy="228856"/>
            </a:xfrm>
            <a:custGeom>
              <a:avLst/>
              <a:gdLst/>
              <a:ahLst/>
              <a:cxnLst/>
              <a:rect r="r" b="b" t="t" l="l"/>
              <a:pathLst>
                <a:path h="228856" w="7348982">
                  <a:moveTo>
                    <a:pt x="16891" y="0"/>
                  </a:moveTo>
                  <a:lnTo>
                    <a:pt x="7332091" y="0"/>
                  </a:lnTo>
                  <a:cubicBezTo>
                    <a:pt x="7341489" y="0"/>
                    <a:pt x="7348982" y="7620"/>
                    <a:pt x="7348982" y="16891"/>
                  </a:cubicBezTo>
                  <a:lnTo>
                    <a:pt x="7348982" y="211963"/>
                  </a:lnTo>
                  <a:cubicBezTo>
                    <a:pt x="7348982" y="221361"/>
                    <a:pt x="7341362" y="228854"/>
                    <a:pt x="7332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7332091" y="195072"/>
                  </a:lnTo>
                  <a:lnTo>
                    <a:pt x="7332091" y="211963"/>
                  </a:lnTo>
                  <a:lnTo>
                    <a:pt x="7315200" y="211963"/>
                  </a:lnTo>
                  <a:lnTo>
                    <a:pt x="7315200" y="16891"/>
                  </a:lnTo>
                  <a:lnTo>
                    <a:pt x="7332091" y="16891"/>
                  </a:lnTo>
                  <a:lnTo>
                    <a:pt x="7332091" y="33909"/>
                  </a:lnTo>
                  <a:lnTo>
                    <a:pt x="16891" y="33909"/>
                  </a:lnTo>
                  <a:close/>
                </a:path>
              </a:pathLst>
            </a:custGeom>
            <a:solidFill>
              <a:srgbClr val="0D9488"/>
            </a:solidFill>
          </p:spPr>
        </p:sp>
      </p:grpSp>
      <p:grpSp>
        <p:nvGrpSpPr>
          <p:cNvPr name="Group 26" id="26"/>
          <p:cNvGrpSpPr/>
          <p:nvPr/>
        </p:nvGrpSpPr>
        <p:grpSpPr>
          <a:xfrm rot="0">
            <a:off x="640080" y="4937760"/>
            <a:ext cx="5486400" cy="914400"/>
            <a:chOff x="0" y="0"/>
            <a:chExt cx="7315200" cy="1219200"/>
          </a:xfrm>
        </p:grpSpPr>
        <p:sp>
          <p:nvSpPr>
            <p:cNvPr name="Freeform 27" id="27"/>
            <p:cNvSpPr/>
            <p:nvPr/>
          </p:nvSpPr>
          <p:spPr>
            <a:xfrm flipH="false" flipV="false" rot="0">
              <a:off x="0" y="0"/>
              <a:ext cx="7315200" cy="1219200"/>
            </a:xfrm>
            <a:custGeom>
              <a:avLst/>
              <a:gdLst/>
              <a:ahLst/>
              <a:cxnLst/>
              <a:rect r="r" b="b" t="t" l="l"/>
              <a:pathLst>
                <a:path h="1219200" w="7315200">
                  <a:moveTo>
                    <a:pt x="0" y="0"/>
                  </a:moveTo>
                  <a:lnTo>
                    <a:pt x="7315200" y="0"/>
                  </a:lnTo>
                  <a:lnTo>
                    <a:pt x="7315200" y="1219200"/>
                  </a:lnTo>
                  <a:lnTo>
                    <a:pt x="0" y="1219200"/>
                  </a:lnTo>
                  <a:close/>
                </a:path>
              </a:pathLst>
            </a:custGeom>
            <a:blipFill>
              <a:blip r:embed="rId3">
                <a:alphaModFix amt="0"/>
              </a:blip>
              <a:stretch>
                <a:fillRect l="0" t="-66910" r="0" b="-66910"/>
              </a:stretch>
            </a:blipFill>
          </p:spPr>
        </p:sp>
        <p:sp>
          <p:nvSpPr>
            <p:cNvPr name="TextBox 28" id="28"/>
            <p:cNvSpPr txBox="true"/>
            <p:nvPr/>
          </p:nvSpPr>
          <p:spPr>
            <a:xfrm>
              <a:off x="0" y="-76200"/>
              <a:ext cx="7315200" cy="1295400"/>
            </a:xfrm>
            <a:prstGeom prst="rect">
              <a:avLst/>
            </a:prstGeom>
          </p:spPr>
          <p:txBody>
            <a:bodyPr anchor="ctr" rtlCol="false" tIns="0" lIns="0" bIns="0" rIns="0"/>
            <a:lstStyle/>
            <a:p>
              <a:pPr algn="ctr">
                <a:lnSpc>
                  <a:spcPts val="5280"/>
                </a:lnSpc>
              </a:pPr>
              <a:r>
                <a:rPr lang="en-US" sz="4400" b="true">
                  <a:solidFill>
                    <a:srgbClr val="0D9488"/>
                  </a:solidFill>
                  <a:latin typeface="Calibri (MS) Bold"/>
                  <a:ea typeface="Calibri (MS) Bold"/>
                  <a:cs typeface="Calibri (MS) Bold"/>
                  <a:sym typeface="Calibri (MS) Bold"/>
                </a:rPr>
                <a:t>01</a:t>
              </a:r>
            </a:p>
          </p:txBody>
        </p:sp>
      </p:grpSp>
      <p:grpSp>
        <p:nvGrpSpPr>
          <p:cNvPr name="Group 29" id="29"/>
          <p:cNvGrpSpPr/>
          <p:nvPr/>
        </p:nvGrpSpPr>
        <p:grpSpPr>
          <a:xfrm rot="0">
            <a:off x="859536" y="5998464"/>
            <a:ext cx="5047488" cy="658368"/>
            <a:chOff x="0" y="0"/>
            <a:chExt cx="6729984" cy="877824"/>
          </a:xfrm>
        </p:grpSpPr>
        <p:sp>
          <p:nvSpPr>
            <p:cNvPr name="Freeform 30" id="30"/>
            <p:cNvSpPr/>
            <p:nvPr/>
          </p:nvSpPr>
          <p:spPr>
            <a:xfrm flipH="false" flipV="false" rot="0">
              <a:off x="0" y="0"/>
              <a:ext cx="6729984" cy="877824"/>
            </a:xfrm>
            <a:custGeom>
              <a:avLst/>
              <a:gdLst/>
              <a:ahLst/>
              <a:cxnLst/>
              <a:rect r="r" b="b" t="t" l="l"/>
              <a:pathLst>
                <a:path h="877824" w="6729984">
                  <a:moveTo>
                    <a:pt x="0" y="0"/>
                  </a:moveTo>
                  <a:lnTo>
                    <a:pt x="6729984" y="0"/>
                  </a:lnTo>
                  <a:lnTo>
                    <a:pt x="6729984" y="877824"/>
                  </a:lnTo>
                  <a:lnTo>
                    <a:pt x="0" y="877824"/>
                  </a:lnTo>
                  <a:close/>
                </a:path>
              </a:pathLst>
            </a:custGeom>
            <a:blipFill>
              <a:blip r:embed="rId3">
                <a:alphaModFix amt="0"/>
              </a:blip>
              <a:stretch>
                <a:fillRect l="0" t="-99385" r="0" b="-99385"/>
              </a:stretch>
            </a:blipFill>
          </p:spPr>
        </p:sp>
        <p:sp>
          <p:nvSpPr>
            <p:cNvPr name="TextBox 31" id="31"/>
            <p:cNvSpPr txBox="true"/>
            <p:nvPr/>
          </p:nvSpPr>
          <p:spPr>
            <a:xfrm>
              <a:off x="0" y="-38100"/>
              <a:ext cx="6729984" cy="915924"/>
            </a:xfrm>
            <a:prstGeom prst="rect">
              <a:avLst/>
            </a:prstGeom>
          </p:spPr>
          <p:txBody>
            <a:bodyPr anchor="ctr" rtlCol="false" tIns="0" lIns="0" bIns="0" rIns="0"/>
            <a:lstStyle/>
            <a:p>
              <a:pPr algn="l">
                <a:lnSpc>
                  <a:spcPts val="2879"/>
                </a:lnSpc>
              </a:pPr>
              <a:r>
                <a:rPr lang="en-US" sz="2400" b="true">
                  <a:solidFill>
                    <a:srgbClr val="0F172A"/>
                  </a:solidFill>
                  <a:latin typeface="Calibri (MS) Bold"/>
                  <a:ea typeface="Calibri (MS) Bold"/>
                  <a:cs typeface="Calibri (MS) Bold"/>
                  <a:sym typeface="Calibri (MS) Bold"/>
                </a:rPr>
                <a:t>Learn from the past</a:t>
              </a:r>
            </a:p>
          </p:txBody>
        </p:sp>
      </p:grpSp>
      <p:grpSp>
        <p:nvGrpSpPr>
          <p:cNvPr name="Group 32" id="32"/>
          <p:cNvGrpSpPr/>
          <p:nvPr/>
        </p:nvGrpSpPr>
        <p:grpSpPr>
          <a:xfrm rot="0">
            <a:off x="859536" y="6766560"/>
            <a:ext cx="5047488" cy="2414016"/>
            <a:chOff x="0" y="0"/>
            <a:chExt cx="6729984" cy="3218688"/>
          </a:xfrm>
        </p:grpSpPr>
        <p:sp>
          <p:nvSpPr>
            <p:cNvPr name="Freeform 33" id="33"/>
            <p:cNvSpPr/>
            <p:nvPr/>
          </p:nvSpPr>
          <p:spPr>
            <a:xfrm flipH="false" flipV="false" rot="0">
              <a:off x="0" y="0"/>
              <a:ext cx="6729984" cy="3218688"/>
            </a:xfrm>
            <a:custGeom>
              <a:avLst/>
              <a:gdLst/>
              <a:ahLst/>
              <a:cxnLst/>
              <a:rect r="r" b="b" t="t" l="l"/>
              <a:pathLst>
                <a:path h="3218688" w="6729984">
                  <a:moveTo>
                    <a:pt x="0" y="0"/>
                  </a:moveTo>
                  <a:lnTo>
                    <a:pt x="6729984" y="0"/>
                  </a:lnTo>
                  <a:lnTo>
                    <a:pt x="6729984" y="3218688"/>
                  </a:lnTo>
                  <a:lnTo>
                    <a:pt x="0" y="3218688"/>
                  </a:lnTo>
                  <a:close/>
                </a:path>
              </a:pathLst>
            </a:custGeom>
            <a:blipFill>
              <a:blip r:embed="rId3">
                <a:alphaModFix amt="0"/>
              </a:blip>
              <a:stretch>
                <a:fillRect l="-11362" t="0" r="-11362" b="0"/>
              </a:stretch>
            </a:blipFill>
          </p:spPr>
        </p:sp>
        <p:sp>
          <p:nvSpPr>
            <p:cNvPr name="TextBox 34" id="34"/>
            <p:cNvSpPr txBox="true"/>
            <p:nvPr/>
          </p:nvSpPr>
          <p:spPr>
            <a:xfrm>
              <a:off x="0" y="-38100"/>
              <a:ext cx="6729984" cy="3256788"/>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The model learns typical disease progression patterns from thousands of patients who developed diabetes, hypertension, stroke, kidney disease, and other conditions over 10–15 years.</a:t>
              </a:r>
            </a:p>
          </p:txBody>
        </p:sp>
      </p:grpSp>
      <p:grpSp>
        <p:nvGrpSpPr>
          <p:cNvPr name="Group 35" id="35"/>
          <p:cNvGrpSpPr/>
          <p:nvPr/>
        </p:nvGrpSpPr>
        <p:grpSpPr>
          <a:xfrm rot="0">
            <a:off x="6479543" y="4742183"/>
            <a:ext cx="5511803" cy="4780283"/>
            <a:chOff x="0" y="0"/>
            <a:chExt cx="7349071" cy="6373711"/>
          </a:xfrm>
        </p:grpSpPr>
        <p:sp>
          <p:nvSpPr>
            <p:cNvPr name="Freeform 36" id="36"/>
            <p:cNvSpPr/>
            <p:nvPr/>
          </p:nvSpPr>
          <p:spPr>
            <a:xfrm flipH="false" flipV="false" rot="0">
              <a:off x="16891" y="16891"/>
              <a:ext cx="7315200" cy="6339840"/>
            </a:xfrm>
            <a:custGeom>
              <a:avLst/>
              <a:gdLst/>
              <a:ahLst/>
              <a:cxnLst/>
              <a:rect r="r" b="b" t="t" l="l"/>
              <a:pathLst>
                <a:path h="6339840" w="7315200">
                  <a:moveTo>
                    <a:pt x="0" y="0"/>
                  </a:moveTo>
                  <a:lnTo>
                    <a:pt x="7315200" y="0"/>
                  </a:lnTo>
                  <a:lnTo>
                    <a:pt x="7315200" y="6339840"/>
                  </a:lnTo>
                  <a:lnTo>
                    <a:pt x="0" y="6339840"/>
                  </a:lnTo>
                  <a:close/>
                </a:path>
              </a:pathLst>
            </a:custGeom>
            <a:solidFill>
              <a:srgbClr val="FFFFFF"/>
            </a:solidFill>
          </p:spPr>
        </p:sp>
        <p:sp>
          <p:nvSpPr>
            <p:cNvPr name="Freeform 37" id="37"/>
            <p:cNvSpPr/>
            <p:nvPr/>
          </p:nvSpPr>
          <p:spPr>
            <a:xfrm flipH="false" flipV="false" rot="0">
              <a:off x="0" y="0"/>
              <a:ext cx="7348982" cy="6373622"/>
            </a:xfrm>
            <a:custGeom>
              <a:avLst/>
              <a:gdLst/>
              <a:ahLst/>
              <a:cxnLst/>
              <a:rect r="r" b="b" t="t" l="l"/>
              <a:pathLst>
                <a:path h="6373622" w="7348982">
                  <a:moveTo>
                    <a:pt x="16891" y="0"/>
                  </a:moveTo>
                  <a:lnTo>
                    <a:pt x="7332091" y="0"/>
                  </a:lnTo>
                  <a:cubicBezTo>
                    <a:pt x="7341489" y="0"/>
                    <a:pt x="7348982" y="7620"/>
                    <a:pt x="7348982" y="16891"/>
                  </a:cubicBezTo>
                  <a:lnTo>
                    <a:pt x="7348982" y="6356731"/>
                  </a:lnTo>
                  <a:cubicBezTo>
                    <a:pt x="7348982" y="6366129"/>
                    <a:pt x="7341362" y="6373622"/>
                    <a:pt x="7332091" y="6373622"/>
                  </a:cubicBezTo>
                  <a:lnTo>
                    <a:pt x="16891" y="6373622"/>
                  </a:lnTo>
                  <a:cubicBezTo>
                    <a:pt x="7493" y="6373622"/>
                    <a:pt x="0" y="6366002"/>
                    <a:pt x="0" y="6356731"/>
                  </a:cubicBezTo>
                  <a:lnTo>
                    <a:pt x="0" y="16891"/>
                  </a:lnTo>
                  <a:cubicBezTo>
                    <a:pt x="0" y="7620"/>
                    <a:pt x="7620" y="0"/>
                    <a:pt x="16891" y="0"/>
                  </a:cubicBezTo>
                  <a:moveTo>
                    <a:pt x="16891" y="33909"/>
                  </a:moveTo>
                  <a:lnTo>
                    <a:pt x="16891" y="16891"/>
                  </a:lnTo>
                  <a:lnTo>
                    <a:pt x="33909" y="16891"/>
                  </a:lnTo>
                  <a:lnTo>
                    <a:pt x="33909" y="6356731"/>
                  </a:lnTo>
                  <a:lnTo>
                    <a:pt x="16891" y="6356731"/>
                  </a:lnTo>
                  <a:lnTo>
                    <a:pt x="16891" y="6339840"/>
                  </a:lnTo>
                  <a:lnTo>
                    <a:pt x="7332091" y="6339840"/>
                  </a:lnTo>
                  <a:lnTo>
                    <a:pt x="7332091" y="6356731"/>
                  </a:lnTo>
                  <a:lnTo>
                    <a:pt x="7315200" y="6356731"/>
                  </a:lnTo>
                  <a:lnTo>
                    <a:pt x="7315200" y="16891"/>
                  </a:lnTo>
                  <a:lnTo>
                    <a:pt x="7332091" y="16891"/>
                  </a:lnTo>
                  <a:lnTo>
                    <a:pt x="7332091" y="33909"/>
                  </a:lnTo>
                  <a:lnTo>
                    <a:pt x="16891" y="33909"/>
                  </a:lnTo>
                  <a:close/>
                </a:path>
              </a:pathLst>
            </a:custGeom>
            <a:solidFill>
              <a:srgbClr val="E2E8F0"/>
            </a:solidFill>
          </p:spPr>
        </p:sp>
      </p:grpSp>
      <p:grpSp>
        <p:nvGrpSpPr>
          <p:cNvPr name="Group 38" id="38"/>
          <p:cNvGrpSpPr/>
          <p:nvPr/>
        </p:nvGrpSpPr>
        <p:grpSpPr>
          <a:xfrm rot="0">
            <a:off x="6479543" y="4742183"/>
            <a:ext cx="5511803" cy="171707"/>
            <a:chOff x="0" y="0"/>
            <a:chExt cx="7349071" cy="228943"/>
          </a:xfrm>
        </p:grpSpPr>
        <p:sp>
          <p:nvSpPr>
            <p:cNvPr name="Freeform 39" id="39"/>
            <p:cNvSpPr/>
            <p:nvPr/>
          </p:nvSpPr>
          <p:spPr>
            <a:xfrm flipH="false" flipV="false" rot="0">
              <a:off x="16891" y="16891"/>
              <a:ext cx="7315200" cy="195072"/>
            </a:xfrm>
            <a:custGeom>
              <a:avLst/>
              <a:gdLst/>
              <a:ahLst/>
              <a:cxnLst/>
              <a:rect r="r" b="b" t="t" l="l"/>
              <a:pathLst>
                <a:path h="195072" w="7315200">
                  <a:moveTo>
                    <a:pt x="0" y="0"/>
                  </a:moveTo>
                  <a:lnTo>
                    <a:pt x="7315200" y="0"/>
                  </a:lnTo>
                  <a:lnTo>
                    <a:pt x="7315200" y="195072"/>
                  </a:lnTo>
                  <a:lnTo>
                    <a:pt x="0" y="195072"/>
                  </a:lnTo>
                  <a:close/>
                </a:path>
              </a:pathLst>
            </a:custGeom>
            <a:solidFill>
              <a:srgbClr val="F59E0B"/>
            </a:solidFill>
          </p:spPr>
        </p:sp>
        <p:sp>
          <p:nvSpPr>
            <p:cNvPr name="Freeform 40" id="40"/>
            <p:cNvSpPr/>
            <p:nvPr/>
          </p:nvSpPr>
          <p:spPr>
            <a:xfrm flipH="false" flipV="false" rot="0">
              <a:off x="0" y="0"/>
              <a:ext cx="7348982" cy="228856"/>
            </a:xfrm>
            <a:custGeom>
              <a:avLst/>
              <a:gdLst/>
              <a:ahLst/>
              <a:cxnLst/>
              <a:rect r="r" b="b" t="t" l="l"/>
              <a:pathLst>
                <a:path h="228856" w="7348982">
                  <a:moveTo>
                    <a:pt x="16891" y="0"/>
                  </a:moveTo>
                  <a:lnTo>
                    <a:pt x="7332091" y="0"/>
                  </a:lnTo>
                  <a:cubicBezTo>
                    <a:pt x="7341489" y="0"/>
                    <a:pt x="7348982" y="7620"/>
                    <a:pt x="7348982" y="16891"/>
                  </a:cubicBezTo>
                  <a:lnTo>
                    <a:pt x="7348982" y="211963"/>
                  </a:lnTo>
                  <a:cubicBezTo>
                    <a:pt x="7348982" y="221361"/>
                    <a:pt x="7341362" y="228854"/>
                    <a:pt x="7332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7332091" y="195072"/>
                  </a:lnTo>
                  <a:lnTo>
                    <a:pt x="7332091" y="211963"/>
                  </a:lnTo>
                  <a:lnTo>
                    <a:pt x="7315200" y="211963"/>
                  </a:lnTo>
                  <a:lnTo>
                    <a:pt x="7315200" y="16891"/>
                  </a:lnTo>
                  <a:lnTo>
                    <a:pt x="7332091" y="16891"/>
                  </a:lnTo>
                  <a:lnTo>
                    <a:pt x="7332091" y="33909"/>
                  </a:lnTo>
                  <a:lnTo>
                    <a:pt x="16891" y="33909"/>
                  </a:lnTo>
                  <a:close/>
                </a:path>
              </a:pathLst>
            </a:custGeom>
            <a:solidFill>
              <a:srgbClr val="F59E0B"/>
            </a:solidFill>
          </p:spPr>
        </p:sp>
      </p:grpSp>
      <p:grpSp>
        <p:nvGrpSpPr>
          <p:cNvPr name="Group 41" id="41"/>
          <p:cNvGrpSpPr/>
          <p:nvPr/>
        </p:nvGrpSpPr>
        <p:grpSpPr>
          <a:xfrm rot="0">
            <a:off x="6492240" y="4937760"/>
            <a:ext cx="5486400" cy="914400"/>
            <a:chOff x="0" y="0"/>
            <a:chExt cx="7315200" cy="1219200"/>
          </a:xfrm>
        </p:grpSpPr>
        <p:sp>
          <p:nvSpPr>
            <p:cNvPr name="Freeform 42" id="42"/>
            <p:cNvSpPr/>
            <p:nvPr/>
          </p:nvSpPr>
          <p:spPr>
            <a:xfrm flipH="false" flipV="false" rot="0">
              <a:off x="0" y="0"/>
              <a:ext cx="7315200" cy="1219200"/>
            </a:xfrm>
            <a:custGeom>
              <a:avLst/>
              <a:gdLst/>
              <a:ahLst/>
              <a:cxnLst/>
              <a:rect r="r" b="b" t="t" l="l"/>
              <a:pathLst>
                <a:path h="1219200" w="7315200">
                  <a:moveTo>
                    <a:pt x="0" y="0"/>
                  </a:moveTo>
                  <a:lnTo>
                    <a:pt x="7315200" y="0"/>
                  </a:lnTo>
                  <a:lnTo>
                    <a:pt x="7315200" y="1219200"/>
                  </a:lnTo>
                  <a:lnTo>
                    <a:pt x="0" y="1219200"/>
                  </a:lnTo>
                  <a:close/>
                </a:path>
              </a:pathLst>
            </a:custGeom>
            <a:blipFill>
              <a:blip r:embed="rId3">
                <a:alphaModFix amt="0"/>
              </a:blip>
              <a:stretch>
                <a:fillRect l="0" t="-66910" r="0" b="-66910"/>
              </a:stretch>
            </a:blipFill>
          </p:spPr>
        </p:sp>
        <p:sp>
          <p:nvSpPr>
            <p:cNvPr name="TextBox 43" id="43"/>
            <p:cNvSpPr txBox="true"/>
            <p:nvPr/>
          </p:nvSpPr>
          <p:spPr>
            <a:xfrm>
              <a:off x="0" y="-76200"/>
              <a:ext cx="7315200" cy="1295400"/>
            </a:xfrm>
            <a:prstGeom prst="rect">
              <a:avLst/>
            </a:prstGeom>
          </p:spPr>
          <p:txBody>
            <a:bodyPr anchor="ctr" rtlCol="false" tIns="0" lIns="0" bIns="0" rIns="0"/>
            <a:lstStyle/>
            <a:p>
              <a:pPr algn="ctr">
                <a:lnSpc>
                  <a:spcPts val="5280"/>
                </a:lnSpc>
              </a:pPr>
              <a:r>
                <a:rPr lang="en-US" sz="4400" b="true">
                  <a:solidFill>
                    <a:srgbClr val="F59E0B"/>
                  </a:solidFill>
                  <a:latin typeface="Calibri (MS) Bold"/>
                  <a:ea typeface="Calibri (MS) Bold"/>
                  <a:cs typeface="Calibri (MS) Bold"/>
                  <a:sym typeface="Calibri (MS) Bold"/>
                </a:rPr>
                <a:t>02</a:t>
              </a:r>
            </a:p>
          </p:txBody>
        </p:sp>
      </p:grpSp>
      <p:grpSp>
        <p:nvGrpSpPr>
          <p:cNvPr name="Group 44" id="44"/>
          <p:cNvGrpSpPr/>
          <p:nvPr/>
        </p:nvGrpSpPr>
        <p:grpSpPr>
          <a:xfrm rot="0">
            <a:off x="6711696" y="5998464"/>
            <a:ext cx="5047488" cy="658368"/>
            <a:chOff x="0" y="0"/>
            <a:chExt cx="6729984" cy="877824"/>
          </a:xfrm>
        </p:grpSpPr>
        <p:sp>
          <p:nvSpPr>
            <p:cNvPr name="Freeform 45" id="45"/>
            <p:cNvSpPr/>
            <p:nvPr/>
          </p:nvSpPr>
          <p:spPr>
            <a:xfrm flipH="false" flipV="false" rot="0">
              <a:off x="0" y="0"/>
              <a:ext cx="6729984" cy="877824"/>
            </a:xfrm>
            <a:custGeom>
              <a:avLst/>
              <a:gdLst/>
              <a:ahLst/>
              <a:cxnLst/>
              <a:rect r="r" b="b" t="t" l="l"/>
              <a:pathLst>
                <a:path h="877824" w="6729984">
                  <a:moveTo>
                    <a:pt x="0" y="0"/>
                  </a:moveTo>
                  <a:lnTo>
                    <a:pt x="6729984" y="0"/>
                  </a:lnTo>
                  <a:lnTo>
                    <a:pt x="6729984" y="877824"/>
                  </a:lnTo>
                  <a:lnTo>
                    <a:pt x="0" y="877824"/>
                  </a:lnTo>
                  <a:close/>
                </a:path>
              </a:pathLst>
            </a:custGeom>
            <a:blipFill>
              <a:blip r:embed="rId3">
                <a:alphaModFix amt="0"/>
              </a:blip>
              <a:stretch>
                <a:fillRect l="0" t="-99385" r="0" b="-99385"/>
              </a:stretch>
            </a:blipFill>
          </p:spPr>
        </p:sp>
        <p:sp>
          <p:nvSpPr>
            <p:cNvPr name="TextBox 46" id="46"/>
            <p:cNvSpPr txBox="true"/>
            <p:nvPr/>
          </p:nvSpPr>
          <p:spPr>
            <a:xfrm>
              <a:off x="0" y="-38100"/>
              <a:ext cx="6729984" cy="915924"/>
            </a:xfrm>
            <a:prstGeom prst="rect">
              <a:avLst/>
            </a:prstGeom>
          </p:spPr>
          <p:txBody>
            <a:bodyPr anchor="ctr" rtlCol="false" tIns="0" lIns="0" bIns="0" rIns="0"/>
            <a:lstStyle/>
            <a:p>
              <a:pPr algn="l">
                <a:lnSpc>
                  <a:spcPts val="2879"/>
                </a:lnSpc>
              </a:pPr>
              <a:r>
                <a:rPr lang="en-US" sz="2400" b="true">
                  <a:solidFill>
                    <a:srgbClr val="0F172A"/>
                  </a:solidFill>
                  <a:latin typeface="Calibri (MS) Bold"/>
                  <a:ea typeface="Calibri (MS) Bold"/>
                  <a:cs typeface="Calibri (MS) Bold"/>
                  <a:sym typeface="Calibri (MS) Bold"/>
                </a:rPr>
                <a:t>Compare and match</a:t>
              </a:r>
            </a:p>
          </p:txBody>
        </p:sp>
      </p:grpSp>
      <p:grpSp>
        <p:nvGrpSpPr>
          <p:cNvPr name="Group 47" id="47"/>
          <p:cNvGrpSpPr/>
          <p:nvPr/>
        </p:nvGrpSpPr>
        <p:grpSpPr>
          <a:xfrm rot="0">
            <a:off x="6711696" y="6766560"/>
            <a:ext cx="5047488" cy="2414016"/>
            <a:chOff x="0" y="0"/>
            <a:chExt cx="6729984" cy="3218688"/>
          </a:xfrm>
        </p:grpSpPr>
        <p:sp>
          <p:nvSpPr>
            <p:cNvPr name="Freeform 48" id="48"/>
            <p:cNvSpPr/>
            <p:nvPr/>
          </p:nvSpPr>
          <p:spPr>
            <a:xfrm flipH="false" flipV="false" rot="0">
              <a:off x="0" y="0"/>
              <a:ext cx="6729984" cy="3218688"/>
            </a:xfrm>
            <a:custGeom>
              <a:avLst/>
              <a:gdLst/>
              <a:ahLst/>
              <a:cxnLst/>
              <a:rect r="r" b="b" t="t" l="l"/>
              <a:pathLst>
                <a:path h="3218688" w="6729984">
                  <a:moveTo>
                    <a:pt x="0" y="0"/>
                  </a:moveTo>
                  <a:lnTo>
                    <a:pt x="6729984" y="0"/>
                  </a:lnTo>
                  <a:lnTo>
                    <a:pt x="6729984" y="3218688"/>
                  </a:lnTo>
                  <a:lnTo>
                    <a:pt x="0" y="3218688"/>
                  </a:lnTo>
                  <a:close/>
                </a:path>
              </a:pathLst>
            </a:custGeom>
            <a:blipFill>
              <a:blip r:embed="rId3">
                <a:alphaModFix amt="0"/>
              </a:blip>
              <a:stretch>
                <a:fillRect l="-11362" t="0" r="-11362" b="0"/>
              </a:stretch>
            </a:blipFill>
          </p:spPr>
        </p:sp>
        <p:sp>
          <p:nvSpPr>
            <p:cNvPr name="TextBox 49" id="49"/>
            <p:cNvSpPr txBox="true"/>
            <p:nvPr/>
          </p:nvSpPr>
          <p:spPr>
            <a:xfrm>
              <a:off x="0" y="-38100"/>
              <a:ext cx="6729984" cy="3256788"/>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For each new patient, MediPATH checks whether their symptoms, history, and risk factors match known disease trajectories — and estimates how likely they are to follow a similar path.</a:t>
              </a:r>
            </a:p>
          </p:txBody>
        </p:sp>
      </p:grpSp>
      <p:grpSp>
        <p:nvGrpSpPr>
          <p:cNvPr name="Group 50" id="50"/>
          <p:cNvGrpSpPr/>
          <p:nvPr/>
        </p:nvGrpSpPr>
        <p:grpSpPr>
          <a:xfrm rot="0">
            <a:off x="12331703" y="4742183"/>
            <a:ext cx="5511803" cy="4780283"/>
            <a:chOff x="0" y="0"/>
            <a:chExt cx="7349071" cy="6373711"/>
          </a:xfrm>
        </p:grpSpPr>
        <p:sp>
          <p:nvSpPr>
            <p:cNvPr name="Freeform 51" id="51"/>
            <p:cNvSpPr/>
            <p:nvPr/>
          </p:nvSpPr>
          <p:spPr>
            <a:xfrm flipH="false" flipV="false" rot="0">
              <a:off x="16891" y="16891"/>
              <a:ext cx="7315200" cy="6339840"/>
            </a:xfrm>
            <a:custGeom>
              <a:avLst/>
              <a:gdLst/>
              <a:ahLst/>
              <a:cxnLst/>
              <a:rect r="r" b="b" t="t" l="l"/>
              <a:pathLst>
                <a:path h="6339840" w="7315200">
                  <a:moveTo>
                    <a:pt x="0" y="0"/>
                  </a:moveTo>
                  <a:lnTo>
                    <a:pt x="7315200" y="0"/>
                  </a:lnTo>
                  <a:lnTo>
                    <a:pt x="7315200" y="6339840"/>
                  </a:lnTo>
                  <a:lnTo>
                    <a:pt x="0" y="6339840"/>
                  </a:lnTo>
                  <a:close/>
                </a:path>
              </a:pathLst>
            </a:custGeom>
            <a:solidFill>
              <a:srgbClr val="FFFFFF"/>
            </a:solidFill>
          </p:spPr>
        </p:sp>
        <p:sp>
          <p:nvSpPr>
            <p:cNvPr name="Freeform 52" id="52"/>
            <p:cNvSpPr/>
            <p:nvPr/>
          </p:nvSpPr>
          <p:spPr>
            <a:xfrm flipH="false" flipV="false" rot="0">
              <a:off x="0" y="0"/>
              <a:ext cx="7348982" cy="6373622"/>
            </a:xfrm>
            <a:custGeom>
              <a:avLst/>
              <a:gdLst/>
              <a:ahLst/>
              <a:cxnLst/>
              <a:rect r="r" b="b" t="t" l="l"/>
              <a:pathLst>
                <a:path h="6373622" w="7348982">
                  <a:moveTo>
                    <a:pt x="16891" y="0"/>
                  </a:moveTo>
                  <a:lnTo>
                    <a:pt x="7332091" y="0"/>
                  </a:lnTo>
                  <a:cubicBezTo>
                    <a:pt x="7341489" y="0"/>
                    <a:pt x="7348982" y="7620"/>
                    <a:pt x="7348982" y="16891"/>
                  </a:cubicBezTo>
                  <a:lnTo>
                    <a:pt x="7348982" y="6356731"/>
                  </a:lnTo>
                  <a:cubicBezTo>
                    <a:pt x="7348982" y="6366129"/>
                    <a:pt x="7341362" y="6373622"/>
                    <a:pt x="7332091" y="6373622"/>
                  </a:cubicBezTo>
                  <a:lnTo>
                    <a:pt x="16891" y="6373622"/>
                  </a:lnTo>
                  <a:cubicBezTo>
                    <a:pt x="7493" y="6373622"/>
                    <a:pt x="0" y="6366002"/>
                    <a:pt x="0" y="6356731"/>
                  </a:cubicBezTo>
                  <a:lnTo>
                    <a:pt x="0" y="16891"/>
                  </a:lnTo>
                  <a:cubicBezTo>
                    <a:pt x="0" y="7620"/>
                    <a:pt x="7620" y="0"/>
                    <a:pt x="16891" y="0"/>
                  </a:cubicBezTo>
                  <a:moveTo>
                    <a:pt x="16891" y="33909"/>
                  </a:moveTo>
                  <a:lnTo>
                    <a:pt x="16891" y="16891"/>
                  </a:lnTo>
                  <a:lnTo>
                    <a:pt x="33909" y="16891"/>
                  </a:lnTo>
                  <a:lnTo>
                    <a:pt x="33909" y="6356731"/>
                  </a:lnTo>
                  <a:lnTo>
                    <a:pt x="16891" y="6356731"/>
                  </a:lnTo>
                  <a:lnTo>
                    <a:pt x="16891" y="6339840"/>
                  </a:lnTo>
                  <a:lnTo>
                    <a:pt x="7332091" y="6339840"/>
                  </a:lnTo>
                  <a:lnTo>
                    <a:pt x="7332091" y="6356731"/>
                  </a:lnTo>
                  <a:lnTo>
                    <a:pt x="7315200" y="6356731"/>
                  </a:lnTo>
                  <a:lnTo>
                    <a:pt x="7315200" y="16891"/>
                  </a:lnTo>
                  <a:lnTo>
                    <a:pt x="7332091" y="16891"/>
                  </a:lnTo>
                  <a:lnTo>
                    <a:pt x="7332091" y="33909"/>
                  </a:lnTo>
                  <a:lnTo>
                    <a:pt x="16891" y="33909"/>
                  </a:lnTo>
                  <a:close/>
                </a:path>
              </a:pathLst>
            </a:custGeom>
            <a:solidFill>
              <a:srgbClr val="E2E8F0"/>
            </a:solidFill>
          </p:spPr>
        </p:sp>
      </p:grpSp>
      <p:grpSp>
        <p:nvGrpSpPr>
          <p:cNvPr name="Group 53" id="53"/>
          <p:cNvGrpSpPr/>
          <p:nvPr/>
        </p:nvGrpSpPr>
        <p:grpSpPr>
          <a:xfrm rot="0">
            <a:off x="12331703" y="4742183"/>
            <a:ext cx="5511803" cy="171707"/>
            <a:chOff x="0" y="0"/>
            <a:chExt cx="7349071" cy="228943"/>
          </a:xfrm>
        </p:grpSpPr>
        <p:sp>
          <p:nvSpPr>
            <p:cNvPr name="Freeform 54" id="54"/>
            <p:cNvSpPr/>
            <p:nvPr/>
          </p:nvSpPr>
          <p:spPr>
            <a:xfrm flipH="false" flipV="false" rot="0">
              <a:off x="16891" y="16891"/>
              <a:ext cx="7315200" cy="195072"/>
            </a:xfrm>
            <a:custGeom>
              <a:avLst/>
              <a:gdLst/>
              <a:ahLst/>
              <a:cxnLst/>
              <a:rect r="r" b="b" t="t" l="l"/>
              <a:pathLst>
                <a:path h="195072" w="7315200">
                  <a:moveTo>
                    <a:pt x="0" y="0"/>
                  </a:moveTo>
                  <a:lnTo>
                    <a:pt x="7315200" y="0"/>
                  </a:lnTo>
                  <a:lnTo>
                    <a:pt x="7315200" y="195072"/>
                  </a:lnTo>
                  <a:lnTo>
                    <a:pt x="0" y="195072"/>
                  </a:lnTo>
                  <a:close/>
                </a:path>
              </a:pathLst>
            </a:custGeom>
            <a:solidFill>
              <a:srgbClr val="8B5CF6"/>
            </a:solidFill>
          </p:spPr>
        </p:sp>
        <p:sp>
          <p:nvSpPr>
            <p:cNvPr name="Freeform 55" id="55"/>
            <p:cNvSpPr/>
            <p:nvPr/>
          </p:nvSpPr>
          <p:spPr>
            <a:xfrm flipH="false" flipV="false" rot="0">
              <a:off x="0" y="0"/>
              <a:ext cx="7348982" cy="228856"/>
            </a:xfrm>
            <a:custGeom>
              <a:avLst/>
              <a:gdLst/>
              <a:ahLst/>
              <a:cxnLst/>
              <a:rect r="r" b="b" t="t" l="l"/>
              <a:pathLst>
                <a:path h="228856" w="7348982">
                  <a:moveTo>
                    <a:pt x="16891" y="0"/>
                  </a:moveTo>
                  <a:lnTo>
                    <a:pt x="7332091" y="0"/>
                  </a:lnTo>
                  <a:cubicBezTo>
                    <a:pt x="7341489" y="0"/>
                    <a:pt x="7348982" y="7620"/>
                    <a:pt x="7348982" y="16891"/>
                  </a:cubicBezTo>
                  <a:lnTo>
                    <a:pt x="7348982" y="211963"/>
                  </a:lnTo>
                  <a:cubicBezTo>
                    <a:pt x="7348982" y="221361"/>
                    <a:pt x="7341362" y="228854"/>
                    <a:pt x="7332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7332091" y="195072"/>
                  </a:lnTo>
                  <a:lnTo>
                    <a:pt x="7332091" y="211963"/>
                  </a:lnTo>
                  <a:lnTo>
                    <a:pt x="7315200" y="211963"/>
                  </a:lnTo>
                  <a:lnTo>
                    <a:pt x="7315200" y="16891"/>
                  </a:lnTo>
                  <a:lnTo>
                    <a:pt x="7332091" y="16891"/>
                  </a:lnTo>
                  <a:lnTo>
                    <a:pt x="7332091" y="33909"/>
                  </a:lnTo>
                  <a:lnTo>
                    <a:pt x="16891" y="33909"/>
                  </a:lnTo>
                  <a:close/>
                </a:path>
              </a:pathLst>
            </a:custGeom>
            <a:solidFill>
              <a:srgbClr val="8B5CF6"/>
            </a:solidFill>
          </p:spPr>
        </p:sp>
      </p:grpSp>
      <p:grpSp>
        <p:nvGrpSpPr>
          <p:cNvPr name="Group 56" id="56"/>
          <p:cNvGrpSpPr/>
          <p:nvPr/>
        </p:nvGrpSpPr>
        <p:grpSpPr>
          <a:xfrm rot="0">
            <a:off x="12344400" y="4937760"/>
            <a:ext cx="5486400" cy="914400"/>
            <a:chOff x="0" y="0"/>
            <a:chExt cx="7315200" cy="1219200"/>
          </a:xfrm>
        </p:grpSpPr>
        <p:sp>
          <p:nvSpPr>
            <p:cNvPr name="Freeform 57" id="57"/>
            <p:cNvSpPr/>
            <p:nvPr/>
          </p:nvSpPr>
          <p:spPr>
            <a:xfrm flipH="false" flipV="false" rot="0">
              <a:off x="0" y="0"/>
              <a:ext cx="7315200" cy="1219200"/>
            </a:xfrm>
            <a:custGeom>
              <a:avLst/>
              <a:gdLst/>
              <a:ahLst/>
              <a:cxnLst/>
              <a:rect r="r" b="b" t="t" l="l"/>
              <a:pathLst>
                <a:path h="1219200" w="7315200">
                  <a:moveTo>
                    <a:pt x="0" y="0"/>
                  </a:moveTo>
                  <a:lnTo>
                    <a:pt x="7315200" y="0"/>
                  </a:lnTo>
                  <a:lnTo>
                    <a:pt x="7315200" y="1219200"/>
                  </a:lnTo>
                  <a:lnTo>
                    <a:pt x="0" y="1219200"/>
                  </a:lnTo>
                  <a:close/>
                </a:path>
              </a:pathLst>
            </a:custGeom>
            <a:blipFill>
              <a:blip r:embed="rId3">
                <a:alphaModFix amt="0"/>
              </a:blip>
              <a:stretch>
                <a:fillRect l="0" t="-66910" r="0" b="-66910"/>
              </a:stretch>
            </a:blipFill>
          </p:spPr>
        </p:sp>
        <p:sp>
          <p:nvSpPr>
            <p:cNvPr name="TextBox 58" id="58"/>
            <p:cNvSpPr txBox="true"/>
            <p:nvPr/>
          </p:nvSpPr>
          <p:spPr>
            <a:xfrm>
              <a:off x="0" y="-76200"/>
              <a:ext cx="7315200" cy="1295400"/>
            </a:xfrm>
            <a:prstGeom prst="rect">
              <a:avLst/>
            </a:prstGeom>
          </p:spPr>
          <p:txBody>
            <a:bodyPr anchor="ctr" rtlCol="false" tIns="0" lIns="0" bIns="0" rIns="0"/>
            <a:lstStyle/>
            <a:p>
              <a:pPr algn="ctr">
                <a:lnSpc>
                  <a:spcPts val="5280"/>
                </a:lnSpc>
              </a:pPr>
              <a:r>
                <a:rPr lang="en-US" sz="4400" b="true">
                  <a:solidFill>
                    <a:srgbClr val="8B5CF6"/>
                  </a:solidFill>
                  <a:latin typeface="Calibri (MS) Bold"/>
                  <a:ea typeface="Calibri (MS) Bold"/>
                  <a:cs typeface="Calibri (MS) Bold"/>
                  <a:sym typeface="Calibri (MS) Bold"/>
                </a:rPr>
                <a:t>03</a:t>
              </a:r>
            </a:p>
          </p:txBody>
        </p:sp>
      </p:grpSp>
      <p:grpSp>
        <p:nvGrpSpPr>
          <p:cNvPr name="Group 59" id="59"/>
          <p:cNvGrpSpPr/>
          <p:nvPr/>
        </p:nvGrpSpPr>
        <p:grpSpPr>
          <a:xfrm rot="0">
            <a:off x="12563856" y="5998464"/>
            <a:ext cx="5047488" cy="658368"/>
            <a:chOff x="0" y="0"/>
            <a:chExt cx="6729984" cy="877824"/>
          </a:xfrm>
        </p:grpSpPr>
        <p:sp>
          <p:nvSpPr>
            <p:cNvPr name="Freeform 60" id="60"/>
            <p:cNvSpPr/>
            <p:nvPr/>
          </p:nvSpPr>
          <p:spPr>
            <a:xfrm flipH="false" flipV="false" rot="0">
              <a:off x="0" y="0"/>
              <a:ext cx="6729984" cy="877824"/>
            </a:xfrm>
            <a:custGeom>
              <a:avLst/>
              <a:gdLst/>
              <a:ahLst/>
              <a:cxnLst/>
              <a:rect r="r" b="b" t="t" l="l"/>
              <a:pathLst>
                <a:path h="877824" w="6729984">
                  <a:moveTo>
                    <a:pt x="0" y="0"/>
                  </a:moveTo>
                  <a:lnTo>
                    <a:pt x="6729984" y="0"/>
                  </a:lnTo>
                  <a:lnTo>
                    <a:pt x="6729984" y="877824"/>
                  </a:lnTo>
                  <a:lnTo>
                    <a:pt x="0" y="877824"/>
                  </a:lnTo>
                  <a:close/>
                </a:path>
              </a:pathLst>
            </a:custGeom>
            <a:blipFill>
              <a:blip r:embed="rId3">
                <a:alphaModFix amt="0"/>
              </a:blip>
              <a:stretch>
                <a:fillRect l="0" t="-99385" r="0" b="-99385"/>
              </a:stretch>
            </a:blipFill>
          </p:spPr>
        </p:sp>
        <p:sp>
          <p:nvSpPr>
            <p:cNvPr name="TextBox 61" id="61"/>
            <p:cNvSpPr txBox="true"/>
            <p:nvPr/>
          </p:nvSpPr>
          <p:spPr>
            <a:xfrm>
              <a:off x="0" y="-38100"/>
              <a:ext cx="6729984" cy="915924"/>
            </a:xfrm>
            <a:prstGeom prst="rect">
              <a:avLst/>
            </a:prstGeom>
          </p:spPr>
          <p:txBody>
            <a:bodyPr anchor="ctr" rtlCol="false" tIns="0" lIns="0" bIns="0" rIns="0"/>
            <a:lstStyle/>
            <a:p>
              <a:pPr algn="l">
                <a:lnSpc>
                  <a:spcPts val="2879"/>
                </a:lnSpc>
              </a:pPr>
              <a:r>
                <a:rPr lang="en-US" sz="2400" b="true">
                  <a:solidFill>
                    <a:srgbClr val="0F172A"/>
                  </a:solidFill>
                  <a:latin typeface="Calibri (MS) Bold"/>
                  <a:ea typeface="Calibri (MS) Bold"/>
                  <a:cs typeface="Calibri (MS) Bold"/>
                  <a:sym typeface="Calibri (MS) Bold"/>
                </a:rPr>
                <a:t>Predict and prevent</a:t>
              </a:r>
            </a:p>
          </p:txBody>
        </p:sp>
      </p:grpSp>
      <p:grpSp>
        <p:nvGrpSpPr>
          <p:cNvPr name="Group 62" id="62"/>
          <p:cNvGrpSpPr/>
          <p:nvPr/>
        </p:nvGrpSpPr>
        <p:grpSpPr>
          <a:xfrm rot="0">
            <a:off x="12563856" y="6766560"/>
            <a:ext cx="5047488" cy="2414016"/>
            <a:chOff x="0" y="0"/>
            <a:chExt cx="6729984" cy="3218688"/>
          </a:xfrm>
        </p:grpSpPr>
        <p:sp>
          <p:nvSpPr>
            <p:cNvPr name="Freeform 63" id="63"/>
            <p:cNvSpPr/>
            <p:nvPr/>
          </p:nvSpPr>
          <p:spPr>
            <a:xfrm flipH="false" flipV="false" rot="0">
              <a:off x="0" y="0"/>
              <a:ext cx="6729984" cy="3218688"/>
            </a:xfrm>
            <a:custGeom>
              <a:avLst/>
              <a:gdLst/>
              <a:ahLst/>
              <a:cxnLst/>
              <a:rect r="r" b="b" t="t" l="l"/>
              <a:pathLst>
                <a:path h="3218688" w="6729984">
                  <a:moveTo>
                    <a:pt x="0" y="0"/>
                  </a:moveTo>
                  <a:lnTo>
                    <a:pt x="6729984" y="0"/>
                  </a:lnTo>
                  <a:lnTo>
                    <a:pt x="6729984" y="3218688"/>
                  </a:lnTo>
                  <a:lnTo>
                    <a:pt x="0" y="3218688"/>
                  </a:lnTo>
                  <a:close/>
                </a:path>
              </a:pathLst>
            </a:custGeom>
            <a:blipFill>
              <a:blip r:embed="rId3">
                <a:alphaModFix amt="0"/>
              </a:blip>
              <a:stretch>
                <a:fillRect l="-11362" t="0" r="-11362" b="0"/>
              </a:stretch>
            </a:blipFill>
          </p:spPr>
        </p:sp>
        <p:sp>
          <p:nvSpPr>
            <p:cNvPr name="TextBox 64" id="64"/>
            <p:cNvSpPr txBox="true"/>
            <p:nvPr/>
          </p:nvSpPr>
          <p:spPr>
            <a:xfrm>
              <a:off x="0" y="-38100"/>
              <a:ext cx="6729984" cy="3256788"/>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The system outputs a ranked list of likely future conditions with probability scores and recommended clinical actions — delivered to the doctor before the next disease appears.</a:t>
              </a:r>
            </a:p>
          </p:txBody>
        </p:sp>
      </p:grpSp>
      <p:grpSp>
        <p:nvGrpSpPr>
          <p:cNvPr name="Group 65" id="65"/>
          <p:cNvGrpSpPr/>
          <p:nvPr/>
        </p:nvGrpSpPr>
        <p:grpSpPr>
          <a:xfrm rot="0">
            <a:off x="-12697" y="9588503"/>
            <a:ext cx="18313403" cy="711203"/>
            <a:chOff x="0" y="0"/>
            <a:chExt cx="24417871" cy="948271"/>
          </a:xfrm>
        </p:grpSpPr>
        <p:sp>
          <p:nvSpPr>
            <p:cNvPr name="Freeform 66" id="66"/>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67" id="67"/>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68" id="68"/>
          <p:cNvGrpSpPr/>
          <p:nvPr/>
        </p:nvGrpSpPr>
        <p:grpSpPr>
          <a:xfrm rot="0">
            <a:off x="731520" y="9637776"/>
            <a:ext cx="16824960" cy="585216"/>
            <a:chOff x="0" y="0"/>
            <a:chExt cx="22433280" cy="780288"/>
          </a:xfrm>
        </p:grpSpPr>
        <p:sp>
          <p:nvSpPr>
            <p:cNvPr name="Freeform 69" id="69"/>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70" id="70"/>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D948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D948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FFFFFF"/>
                  </a:solidFill>
                  <a:latin typeface="Calibri (MS) Bold"/>
                  <a:ea typeface="Calibri (MS) Bold"/>
                  <a:cs typeface="Calibri (MS) Bold"/>
                  <a:sym typeface="Calibri (MS) Bold"/>
                </a:rPr>
                <a:t>OBJECTIVES</a:t>
              </a:r>
            </a:p>
          </p:txBody>
        </p:sp>
      </p:grpSp>
      <p:grpSp>
        <p:nvGrpSpPr>
          <p:cNvPr name="Group 8" id="8"/>
          <p:cNvGrpSpPr/>
          <p:nvPr/>
        </p:nvGrpSpPr>
        <p:grpSpPr>
          <a:xfrm rot="0">
            <a:off x="633727" y="1365247"/>
            <a:ext cx="8425177" cy="2536441"/>
            <a:chOff x="0" y="0"/>
            <a:chExt cx="11233569" cy="3381921"/>
          </a:xfrm>
        </p:grpSpPr>
        <p:sp>
          <p:nvSpPr>
            <p:cNvPr name="Freeform 9" id="9"/>
            <p:cNvSpPr/>
            <p:nvPr/>
          </p:nvSpPr>
          <p:spPr>
            <a:xfrm flipH="false" flipV="false" rot="0">
              <a:off x="8509" y="8509"/>
              <a:ext cx="11216640" cy="3364992"/>
            </a:xfrm>
            <a:custGeom>
              <a:avLst/>
              <a:gdLst/>
              <a:ahLst/>
              <a:cxnLst/>
              <a:rect r="r" b="b" t="t" l="l"/>
              <a:pathLst>
                <a:path h="3364992" w="11216640">
                  <a:moveTo>
                    <a:pt x="0" y="0"/>
                  </a:moveTo>
                  <a:lnTo>
                    <a:pt x="11216640" y="0"/>
                  </a:lnTo>
                  <a:lnTo>
                    <a:pt x="11216640" y="3364992"/>
                  </a:lnTo>
                  <a:lnTo>
                    <a:pt x="0" y="3364992"/>
                  </a:lnTo>
                  <a:close/>
                </a:path>
              </a:pathLst>
            </a:custGeom>
            <a:solidFill>
              <a:srgbClr val="0D1F38"/>
            </a:solidFill>
          </p:spPr>
        </p:sp>
        <p:sp>
          <p:nvSpPr>
            <p:cNvPr name="Freeform 10" id="10"/>
            <p:cNvSpPr/>
            <p:nvPr/>
          </p:nvSpPr>
          <p:spPr>
            <a:xfrm flipH="false" flipV="false" rot="0">
              <a:off x="0" y="0"/>
              <a:ext cx="11233658" cy="3382010"/>
            </a:xfrm>
            <a:custGeom>
              <a:avLst/>
              <a:gdLst/>
              <a:ahLst/>
              <a:cxnLst/>
              <a:rect r="r" b="b" t="t" l="l"/>
              <a:pathLst>
                <a:path h="3382010" w="11233658">
                  <a:moveTo>
                    <a:pt x="8509" y="0"/>
                  </a:moveTo>
                  <a:lnTo>
                    <a:pt x="11225149" y="0"/>
                  </a:lnTo>
                  <a:cubicBezTo>
                    <a:pt x="11229848" y="0"/>
                    <a:pt x="11233658" y="3810"/>
                    <a:pt x="11233658" y="8509"/>
                  </a:cubicBezTo>
                  <a:lnTo>
                    <a:pt x="11233658" y="3373501"/>
                  </a:lnTo>
                  <a:cubicBezTo>
                    <a:pt x="11233658" y="3378200"/>
                    <a:pt x="11229848" y="3382010"/>
                    <a:pt x="11225149" y="3382010"/>
                  </a:cubicBezTo>
                  <a:lnTo>
                    <a:pt x="8509" y="3382010"/>
                  </a:lnTo>
                  <a:cubicBezTo>
                    <a:pt x="3810" y="3382010"/>
                    <a:pt x="0" y="3378200"/>
                    <a:pt x="0" y="3373501"/>
                  </a:cubicBezTo>
                  <a:lnTo>
                    <a:pt x="0" y="8509"/>
                  </a:lnTo>
                  <a:cubicBezTo>
                    <a:pt x="0" y="3810"/>
                    <a:pt x="3810" y="0"/>
                    <a:pt x="8509" y="0"/>
                  </a:cubicBezTo>
                  <a:moveTo>
                    <a:pt x="8509" y="16891"/>
                  </a:moveTo>
                  <a:lnTo>
                    <a:pt x="8509" y="8509"/>
                  </a:lnTo>
                  <a:lnTo>
                    <a:pt x="17018" y="8509"/>
                  </a:lnTo>
                  <a:lnTo>
                    <a:pt x="17018" y="3373501"/>
                  </a:lnTo>
                  <a:lnTo>
                    <a:pt x="8509" y="3373501"/>
                  </a:lnTo>
                  <a:lnTo>
                    <a:pt x="8509" y="3364992"/>
                  </a:lnTo>
                  <a:lnTo>
                    <a:pt x="11225149" y="3364992"/>
                  </a:lnTo>
                  <a:lnTo>
                    <a:pt x="11225149" y="3373501"/>
                  </a:lnTo>
                  <a:lnTo>
                    <a:pt x="11216640" y="3373501"/>
                  </a:lnTo>
                  <a:lnTo>
                    <a:pt x="11216640" y="8509"/>
                  </a:lnTo>
                  <a:lnTo>
                    <a:pt x="11225149" y="8509"/>
                  </a:lnTo>
                  <a:lnTo>
                    <a:pt x="11225149" y="17018"/>
                  </a:lnTo>
                  <a:lnTo>
                    <a:pt x="8509" y="17018"/>
                  </a:lnTo>
                  <a:close/>
                </a:path>
              </a:pathLst>
            </a:custGeom>
            <a:solidFill>
              <a:srgbClr val="0D9488"/>
            </a:solidFill>
          </p:spPr>
        </p:sp>
      </p:grpSp>
      <p:grpSp>
        <p:nvGrpSpPr>
          <p:cNvPr name="Group 11" id="11"/>
          <p:cNvGrpSpPr/>
          <p:nvPr/>
        </p:nvGrpSpPr>
        <p:grpSpPr>
          <a:xfrm rot="0">
            <a:off x="846839" y="1541783"/>
            <a:ext cx="793499" cy="793499"/>
            <a:chOff x="0" y="0"/>
            <a:chExt cx="1057999" cy="1057999"/>
          </a:xfrm>
        </p:grpSpPr>
        <p:sp>
          <p:nvSpPr>
            <p:cNvPr name="Freeform 12" id="12"/>
            <p:cNvSpPr/>
            <p:nvPr/>
          </p:nvSpPr>
          <p:spPr>
            <a:xfrm flipH="false" flipV="false" rot="0">
              <a:off x="16891" y="16891"/>
              <a:ext cx="1024128" cy="1024128"/>
            </a:xfrm>
            <a:custGeom>
              <a:avLst/>
              <a:gdLst/>
              <a:ahLst/>
              <a:cxnLst/>
              <a:rect r="r" b="b" t="t" l="l"/>
              <a:pathLst>
                <a:path h="1024128" w="1024128">
                  <a:moveTo>
                    <a:pt x="0" y="512064"/>
                  </a:moveTo>
                  <a:cubicBezTo>
                    <a:pt x="0" y="229235"/>
                    <a:pt x="229235" y="0"/>
                    <a:pt x="512064" y="0"/>
                  </a:cubicBezTo>
                  <a:cubicBezTo>
                    <a:pt x="794893" y="0"/>
                    <a:pt x="1024128" y="229362"/>
                    <a:pt x="1024128" y="512064"/>
                  </a:cubicBezTo>
                  <a:cubicBezTo>
                    <a:pt x="1024128" y="794766"/>
                    <a:pt x="794893" y="1024128"/>
                    <a:pt x="512064" y="1024128"/>
                  </a:cubicBezTo>
                  <a:cubicBezTo>
                    <a:pt x="229235" y="1024128"/>
                    <a:pt x="0" y="794893"/>
                    <a:pt x="0" y="512064"/>
                  </a:cubicBezTo>
                  <a:close/>
                </a:path>
              </a:pathLst>
            </a:custGeom>
            <a:solidFill>
              <a:srgbClr val="0D9488"/>
            </a:solidFill>
          </p:spPr>
        </p:sp>
        <p:sp>
          <p:nvSpPr>
            <p:cNvPr name="Freeform 13" id="13"/>
            <p:cNvSpPr/>
            <p:nvPr/>
          </p:nvSpPr>
          <p:spPr>
            <a:xfrm flipH="false" flipV="false" rot="0">
              <a:off x="0" y="0"/>
              <a:ext cx="1057910" cy="1057910"/>
            </a:xfrm>
            <a:custGeom>
              <a:avLst/>
              <a:gdLst/>
              <a:ahLst/>
              <a:cxnLst/>
              <a:rect r="r" b="b" t="t" l="l"/>
              <a:pathLst>
                <a:path h="1057910" w="1057910">
                  <a:moveTo>
                    <a:pt x="0" y="528955"/>
                  </a:moveTo>
                  <a:cubicBezTo>
                    <a:pt x="0" y="236855"/>
                    <a:pt x="236855" y="0"/>
                    <a:pt x="528955" y="0"/>
                  </a:cubicBezTo>
                  <a:lnTo>
                    <a:pt x="528955" y="16891"/>
                  </a:lnTo>
                  <a:lnTo>
                    <a:pt x="528955" y="0"/>
                  </a:lnTo>
                  <a:cubicBezTo>
                    <a:pt x="821055" y="0"/>
                    <a:pt x="1057910" y="236855"/>
                    <a:pt x="1057910" y="528955"/>
                  </a:cubicBezTo>
                  <a:lnTo>
                    <a:pt x="1041019" y="528955"/>
                  </a:lnTo>
                  <a:lnTo>
                    <a:pt x="1057910" y="528955"/>
                  </a:lnTo>
                  <a:cubicBezTo>
                    <a:pt x="1057910" y="821055"/>
                    <a:pt x="821055" y="1057910"/>
                    <a:pt x="528955" y="1057910"/>
                  </a:cubicBezTo>
                  <a:lnTo>
                    <a:pt x="528955" y="1041019"/>
                  </a:lnTo>
                  <a:lnTo>
                    <a:pt x="528955" y="1057910"/>
                  </a:lnTo>
                  <a:cubicBezTo>
                    <a:pt x="236855" y="1058037"/>
                    <a:pt x="0" y="821182"/>
                    <a:pt x="0" y="528955"/>
                  </a:cubicBezTo>
                  <a:lnTo>
                    <a:pt x="16891" y="528955"/>
                  </a:lnTo>
                  <a:lnTo>
                    <a:pt x="33909" y="528955"/>
                  </a:lnTo>
                  <a:lnTo>
                    <a:pt x="16891" y="528955"/>
                  </a:lnTo>
                  <a:lnTo>
                    <a:pt x="0" y="528955"/>
                  </a:lnTo>
                  <a:moveTo>
                    <a:pt x="33909" y="528955"/>
                  </a:moveTo>
                  <a:cubicBezTo>
                    <a:pt x="33909" y="538353"/>
                    <a:pt x="26289" y="545846"/>
                    <a:pt x="17018" y="545846"/>
                  </a:cubicBezTo>
                  <a:cubicBezTo>
                    <a:pt x="7747" y="545846"/>
                    <a:pt x="0" y="538353"/>
                    <a:pt x="0" y="528955"/>
                  </a:cubicBezTo>
                  <a:cubicBezTo>
                    <a:pt x="0" y="519557"/>
                    <a:pt x="7620" y="512064"/>
                    <a:pt x="16891" y="512064"/>
                  </a:cubicBezTo>
                  <a:cubicBezTo>
                    <a:pt x="26162" y="512064"/>
                    <a:pt x="33782" y="519684"/>
                    <a:pt x="33782" y="528955"/>
                  </a:cubicBezTo>
                  <a:cubicBezTo>
                    <a:pt x="33782" y="802386"/>
                    <a:pt x="255397" y="1024128"/>
                    <a:pt x="528955" y="1024128"/>
                  </a:cubicBezTo>
                  <a:cubicBezTo>
                    <a:pt x="802386" y="1024128"/>
                    <a:pt x="1024128" y="802513"/>
                    <a:pt x="1024128" y="528955"/>
                  </a:cubicBezTo>
                  <a:cubicBezTo>
                    <a:pt x="1024128" y="255524"/>
                    <a:pt x="802513" y="33782"/>
                    <a:pt x="528955" y="33782"/>
                  </a:cubicBezTo>
                  <a:lnTo>
                    <a:pt x="528955" y="16891"/>
                  </a:lnTo>
                  <a:lnTo>
                    <a:pt x="528955" y="33909"/>
                  </a:lnTo>
                  <a:cubicBezTo>
                    <a:pt x="255524" y="33909"/>
                    <a:pt x="33909" y="255524"/>
                    <a:pt x="33909" y="528955"/>
                  </a:cubicBezTo>
                  <a:close/>
                </a:path>
              </a:pathLst>
            </a:custGeom>
            <a:solidFill>
              <a:srgbClr val="0D9488"/>
            </a:solidFill>
          </p:spPr>
        </p:sp>
      </p:grpSp>
      <p:grpSp>
        <p:nvGrpSpPr>
          <p:cNvPr name="Group 14" id="14"/>
          <p:cNvGrpSpPr/>
          <p:nvPr/>
        </p:nvGrpSpPr>
        <p:grpSpPr>
          <a:xfrm rot="0">
            <a:off x="859536" y="1554480"/>
            <a:ext cx="768096" cy="768096"/>
            <a:chOff x="0" y="0"/>
            <a:chExt cx="1024128" cy="1024128"/>
          </a:xfrm>
        </p:grpSpPr>
        <p:sp>
          <p:nvSpPr>
            <p:cNvPr name="Freeform 15" id="15"/>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16" id="16"/>
            <p:cNvSpPr txBox="true"/>
            <p:nvPr/>
          </p:nvSpPr>
          <p:spPr>
            <a:xfrm>
              <a:off x="0" y="-47625"/>
              <a:ext cx="1024128" cy="1071753"/>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01</a:t>
              </a:r>
            </a:p>
          </p:txBody>
        </p:sp>
      </p:grpSp>
      <p:grpSp>
        <p:nvGrpSpPr>
          <p:cNvPr name="Group 17" id="17"/>
          <p:cNvGrpSpPr/>
          <p:nvPr/>
        </p:nvGrpSpPr>
        <p:grpSpPr>
          <a:xfrm rot="0">
            <a:off x="1828800" y="1554480"/>
            <a:ext cx="7040880" cy="585216"/>
            <a:chOff x="0" y="0"/>
            <a:chExt cx="9387840" cy="780288"/>
          </a:xfrm>
        </p:grpSpPr>
        <p:sp>
          <p:nvSpPr>
            <p:cNvPr name="Freeform 18" id="18"/>
            <p:cNvSpPr/>
            <p:nvPr/>
          </p:nvSpPr>
          <p:spPr>
            <a:xfrm flipH="false" flipV="false" rot="0">
              <a:off x="0" y="0"/>
              <a:ext cx="9387840" cy="780288"/>
            </a:xfrm>
            <a:custGeom>
              <a:avLst/>
              <a:gdLst/>
              <a:ahLst/>
              <a:cxnLst/>
              <a:rect r="r" b="b" t="t" l="l"/>
              <a:pathLst>
                <a:path h="780288" w="9387840">
                  <a:moveTo>
                    <a:pt x="0" y="0"/>
                  </a:moveTo>
                  <a:lnTo>
                    <a:pt x="9387840" y="0"/>
                  </a:lnTo>
                  <a:lnTo>
                    <a:pt x="9387840" y="780288"/>
                  </a:lnTo>
                  <a:lnTo>
                    <a:pt x="0" y="780288"/>
                  </a:lnTo>
                  <a:close/>
                </a:path>
              </a:pathLst>
            </a:custGeom>
            <a:blipFill>
              <a:blip r:embed="rId3">
                <a:alphaModFix amt="0"/>
              </a:blip>
              <a:stretch>
                <a:fillRect l="0" t="-184429" r="0" b="-184429"/>
              </a:stretch>
            </a:blipFill>
          </p:spPr>
        </p:sp>
        <p:sp>
          <p:nvSpPr>
            <p:cNvPr name="TextBox 19" id="19"/>
            <p:cNvSpPr txBox="true"/>
            <p:nvPr/>
          </p:nvSpPr>
          <p:spPr>
            <a:xfrm>
              <a:off x="0" y="-47625"/>
              <a:ext cx="9387840" cy="827913"/>
            </a:xfrm>
            <a:prstGeom prst="rect">
              <a:avLst/>
            </a:prstGeom>
          </p:spPr>
          <p:txBody>
            <a:bodyPr anchor="ctr" rtlCol="false" tIns="0" lIns="0" bIns="0" rIns="0"/>
            <a:lstStyle/>
            <a:p>
              <a:pPr algn="l">
                <a:lnSpc>
                  <a:spcPts val="2520"/>
                </a:lnSpc>
              </a:pPr>
              <a:r>
                <a:rPr lang="en-US" sz="2100" b="true">
                  <a:solidFill>
                    <a:srgbClr val="0D9488"/>
                  </a:solidFill>
                  <a:latin typeface="Calibri (MS) Bold"/>
                  <a:ea typeface="Calibri (MS) Bold"/>
                  <a:cs typeface="Calibri (MS) Bold"/>
                  <a:sym typeface="Calibri (MS) Bold"/>
                </a:rPr>
                <a:t>Collect &amp; structure patient data</a:t>
              </a:r>
            </a:p>
          </p:txBody>
        </p:sp>
      </p:grpSp>
      <p:grpSp>
        <p:nvGrpSpPr>
          <p:cNvPr name="Group 20" id="20"/>
          <p:cNvGrpSpPr/>
          <p:nvPr/>
        </p:nvGrpSpPr>
        <p:grpSpPr>
          <a:xfrm rot="0">
            <a:off x="1828800" y="2212848"/>
            <a:ext cx="7040880" cy="1426464"/>
            <a:chOff x="0" y="0"/>
            <a:chExt cx="9387840" cy="1901952"/>
          </a:xfrm>
        </p:grpSpPr>
        <p:sp>
          <p:nvSpPr>
            <p:cNvPr name="Freeform 21" id="21"/>
            <p:cNvSpPr/>
            <p:nvPr/>
          </p:nvSpPr>
          <p:spPr>
            <a:xfrm flipH="false" flipV="false" rot="0">
              <a:off x="0" y="0"/>
              <a:ext cx="9387840" cy="1901952"/>
            </a:xfrm>
            <a:custGeom>
              <a:avLst/>
              <a:gdLst/>
              <a:ahLst/>
              <a:cxnLst/>
              <a:rect r="r" b="b" t="t" l="l"/>
              <a:pathLst>
                <a:path h="1901952" w="9387840">
                  <a:moveTo>
                    <a:pt x="0" y="0"/>
                  </a:moveTo>
                  <a:lnTo>
                    <a:pt x="9387840" y="0"/>
                  </a:lnTo>
                  <a:lnTo>
                    <a:pt x="9387840" y="1901952"/>
                  </a:lnTo>
                  <a:lnTo>
                    <a:pt x="0" y="1901952"/>
                  </a:lnTo>
                  <a:close/>
                </a:path>
              </a:pathLst>
            </a:custGeom>
            <a:blipFill>
              <a:blip r:embed="rId3">
                <a:alphaModFix amt="0"/>
              </a:blip>
              <a:stretch>
                <a:fillRect l="0" t="-46176" r="0" b="-46176"/>
              </a:stretch>
            </a:blipFill>
          </p:spPr>
        </p:sp>
        <p:sp>
          <p:nvSpPr>
            <p:cNvPr name="TextBox 22" id="22"/>
            <p:cNvSpPr txBox="true"/>
            <p:nvPr/>
          </p:nvSpPr>
          <p:spPr>
            <a:xfrm>
              <a:off x="0" y="-38100"/>
              <a:ext cx="9387840" cy="19400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Gather long-term records — symptoms, diagnoses, lab results, medications, and medical history — into a unified, structured database ready for ML processing.</a:t>
              </a:r>
            </a:p>
          </p:txBody>
        </p:sp>
      </p:grpSp>
      <p:grpSp>
        <p:nvGrpSpPr>
          <p:cNvPr name="Group 23" id="23"/>
          <p:cNvGrpSpPr/>
          <p:nvPr/>
        </p:nvGrpSpPr>
        <p:grpSpPr>
          <a:xfrm rot="0">
            <a:off x="9448543" y="1365247"/>
            <a:ext cx="8425177" cy="2536441"/>
            <a:chOff x="0" y="0"/>
            <a:chExt cx="11233569" cy="3381921"/>
          </a:xfrm>
        </p:grpSpPr>
        <p:sp>
          <p:nvSpPr>
            <p:cNvPr name="Freeform 24" id="24"/>
            <p:cNvSpPr/>
            <p:nvPr/>
          </p:nvSpPr>
          <p:spPr>
            <a:xfrm flipH="false" flipV="false" rot="0">
              <a:off x="8509" y="8509"/>
              <a:ext cx="11216640" cy="3364992"/>
            </a:xfrm>
            <a:custGeom>
              <a:avLst/>
              <a:gdLst/>
              <a:ahLst/>
              <a:cxnLst/>
              <a:rect r="r" b="b" t="t" l="l"/>
              <a:pathLst>
                <a:path h="3364992" w="11216640">
                  <a:moveTo>
                    <a:pt x="0" y="0"/>
                  </a:moveTo>
                  <a:lnTo>
                    <a:pt x="11216640" y="0"/>
                  </a:lnTo>
                  <a:lnTo>
                    <a:pt x="11216640" y="3364992"/>
                  </a:lnTo>
                  <a:lnTo>
                    <a:pt x="0" y="3364992"/>
                  </a:lnTo>
                  <a:close/>
                </a:path>
              </a:pathLst>
            </a:custGeom>
            <a:solidFill>
              <a:srgbClr val="0D1F38"/>
            </a:solidFill>
          </p:spPr>
        </p:sp>
        <p:sp>
          <p:nvSpPr>
            <p:cNvPr name="Freeform 25" id="25"/>
            <p:cNvSpPr/>
            <p:nvPr/>
          </p:nvSpPr>
          <p:spPr>
            <a:xfrm flipH="false" flipV="false" rot="0">
              <a:off x="0" y="0"/>
              <a:ext cx="11233658" cy="3382010"/>
            </a:xfrm>
            <a:custGeom>
              <a:avLst/>
              <a:gdLst/>
              <a:ahLst/>
              <a:cxnLst/>
              <a:rect r="r" b="b" t="t" l="l"/>
              <a:pathLst>
                <a:path h="3382010" w="11233658">
                  <a:moveTo>
                    <a:pt x="8509" y="0"/>
                  </a:moveTo>
                  <a:lnTo>
                    <a:pt x="11225149" y="0"/>
                  </a:lnTo>
                  <a:cubicBezTo>
                    <a:pt x="11229848" y="0"/>
                    <a:pt x="11233658" y="3810"/>
                    <a:pt x="11233658" y="8509"/>
                  </a:cubicBezTo>
                  <a:lnTo>
                    <a:pt x="11233658" y="3373501"/>
                  </a:lnTo>
                  <a:cubicBezTo>
                    <a:pt x="11233658" y="3378200"/>
                    <a:pt x="11229848" y="3382010"/>
                    <a:pt x="11225149" y="3382010"/>
                  </a:cubicBezTo>
                  <a:lnTo>
                    <a:pt x="8509" y="3382010"/>
                  </a:lnTo>
                  <a:cubicBezTo>
                    <a:pt x="3810" y="3382010"/>
                    <a:pt x="0" y="3378200"/>
                    <a:pt x="0" y="3373501"/>
                  </a:cubicBezTo>
                  <a:lnTo>
                    <a:pt x="0" y="8509"/>
                  </a:lnTo>
                  <a:cubicBezTo>
                    <a:pt x="0" y="3810"/>
                    <a:pt x="3810" y="0"/>
                    <a:pt x="8509" y="0"/>
                  </a:cubicBezTo>
                  <a:moveTo>
                    <a:pt x="8509" y="16891"/>
                  </a:moveTo>
                  <a:lnTo>
                    <a:pt x="8509" y="8509"/>
                  </a:lnTo>
                  <a:lnTo>
                    <a:pt x="17018" y="8509"/>
                  </a:lnTo>
                  <a:lnTo>
                    <a:pt x="17018" y="3373501"/>
                  </a:lnTo>
                  <a:lnTo>
                    <a:pt x="8509" y="3373501"/>
                  </a:lnTo>
                  <a:lnTo>
                    <a:pt x="8509" y="3364992"/>
                  </a:lnTo>
                  <a:lnTo>
                    <a:pt x="11225149" y="3364992"/>
                  </a:lnTo>
                  <a:lnTo>
                    <a:pt x="11225149" y="3373501"/>
                  </a:lnTo>
                  <a:lnTo>
                    <a:pt x="11216640" y="3373501"/>
                  </a:lnTo>
                  <a:lnTo>
                    <a:pt x="11216640" y="8509"/>
                  </a:lnTo>
                  <a:lnTo>
                    <a:pt x="11225149" y="8509"/>
                  </a:lnTo>
                  <a:lnTo>
                    <a:pt x="11225149" y="17018"/>
                  </a:lnTo>
                  <a:lnTo>
                    <a:pt x="8509" y="17018"/>
                  </a:lnTo>
                  <a:close/>
                </a:path>
              </a:pathLst>
            </a:custGeom>
            <a:solidFill>
              <a:srgbClr val="F59E0B"/>
            </a:solidFill>
          </p:spPr>
        </p:sp>
      </p:grpSp>
      <p:grpSp>
        <p:nvGrpSpPr>
          <p:cNvPr name="Group 26" id="26"/>
          <p:cNvGrpSpPr/>
          <p:nvPr/>
        </p:nvGrpSpPr>
        <p:grpSpPr>
          <a:xfrm rot="0">
            <a:off x="9661655" y="1541783"/>
            <a:ext cx="793499" cy="793499"/>
            <a:chOff x="0" y="0"/>
            <a:chExt cx="1057999" cy="1057999"/>
          </a:xfrm>
        </p:grpSpPr>
        <p:sp>
          <p:nvSpPr>
            <p:cNvPr name="Freeform 27" id="27"/>
            <p:cNvSpPr/>
            <p:nvPr/>
          </p:nvSpPr>
          <p:spPr>
            <a:xfrm flipH="false" flipV="false" rot="0">
              <a:off x="16891" y="16891"/>
              <a:ext cx="1024128" cy="1024128"/>
            </a:xfrm>
            <a:custGeom>
              <a:avLst/>
              <a:gdLst/>
              <a:ahLst/>
              <a:cxnLst/>
              <a:rect r="r" b="b" t="t" l="l"/>
              <a:pathLst>
                <a:path h="1024128" w="1024128">
                  <a:moveTo>
                    <a:pt x="0" y="512064"/>
                  </a:moveTo>
                  <a:cubicBezTo>
                    <a:pt x="0" y="229235"/>
                    <a:pt x="229235" y="0"/>
                    <a:pt x="512064" y="0"/>
                  </a:cubicBezTo>
                  <a:cubicBezTo>
                    <a:pt x="794893" y="0"/>
                    <a:pt x="1024128" y="229362"/>
                    <a:pt x="1024128" y="512064"/>
                  </a:cubicBezTo>
                  <a:cubicBezTo>
                    <a:pt x="1024128" y="794766"/>
                    <a:pt x="794893" y="1024128"/>
                    <a:pt x="512064" y="1024128"/>
                  </a:cubicBezTo>
                  <a:cubicBezTo>
                    <a:pt x="229235" y="1024128"/>
                    <a:pt x="0" y="794893"/>
                    <a:pt x="0" y="512064"/>
                  </a:cubicBezTo>
                  <a:close/>
                </a:path>
              </a:pathLst>
            </a:custGeom>
            <a:solidFill>
              <a:srgbClr val="F59E0B"/>
            </a:solidFill>
          </p:spPr>
        </p:sp>
        <p:sp>
          <p:nvSpPr>
            <p:cNvPr name="Freeform 28" id="28"/>
            <p:cNvSpPr/>
            <p:nvPr/>
          </p:nvSpPr>
          <p:spPr>
            <a:xfrm flipH="false" flipV="false" rot="0">
              <a:off x="0" y="0"/>
              <a:ext cx="1057910" cy="1057910"/>
            </a:xfrm>
            <a:custGeom>
              <a:avLst/>
              <a:gdLst/>
              <a:ahLst/>
              <a:cxnLst/>
              <a:rect r="r" b="b" t="t" l="l"/>
              <a:pathLst>
                <a:path h="1057910" w="1057910">
                  <a:moveTo>
                    <a:pt x="0" y="528955"/>
                  </a:moveTo>
                  <a:cubicBezTo>
                    <a:pt x="0" y="236855"/>
                    <a:pt x="236855" y="0"/>
                    <a:pt x="528955" y="0"/>
                  </a:cubicBezTo>
                  <a:lnTo>
                    <a:pt x="528955" y="16891"/>
                  </a:lnTo>
                  <a:lnTo>
                    <a:pt x="528955" y="0"/>
                  </a:lnTo>
                  <a:cubicBezTo>
                    <a:pt x="821055" y="0"/>
                    <a:pt x="1057910" y="236855"/>
                    <a:pt x="1057910" y="528955"/>
                  </a:cubicBezTo>
                  <a:lnTo>
                    <a:pt x="1041019" y="528955"/>
                  </a:lnTo>
                  <a:lnTo>
                    <a:pt x="1057910" y="528955"/>
                  </a:lnTo>
                  <a:cubicBezTo>
                    <a:pt x="1057910" y="821055"/>
                    <a:pt x="821055" y="1057910"/>
                    <a:pt x="528955" y="1057910"/>
                  </a:cubicBezTo>
                  <a:lnTo>
                    <a:pt x="528955" y="1041019"/>
                  </a:lnTo>
                  <a:lnTo>
                    <a:pt x="528955" y="1057910"/>
                  </a:lnTo>
                  <a:cubicBezTo>
                    <a:pt x="236855" y="1058037"/>
                    <a:pt x="0" y="821182"/>
                    <a:pt x="0" y="528955"/>
                  </a:cubicBezTo>
                  <a:lnTo>
                    <a:pt x="16891" y="528955"/>
                  </a:lnTo>
                  <a:lnTo>
                    <a:pt x="33909" y="528955"/>
                  </a:lnTo>
                  <a:lnTo>
                    <a:pt x="16891" y="528955"/>
                  </a:lnTo>
                  <a:lnTo>
                    <a:pt x="0" y="528955"/>
                  </a:lnTo>
                  <a:moveTo>
                    <a:pt x="33909" y="528955"/>
                  </a:moveTo>
                  <a:cubicBezTo>
                    <a:pt x="33909" y="538353"/>
                    <a:pt x="26289" y="545846"/>
                    <a:pt x="17018" y="545846"/>
                  </a:cubicBezTo>
                  <a:cubicBezTo>
                    <a:pt x="7747" y="545846"/>
                    <a:pt x="0" y="538353"/>
                    <a:pt x="0" y="528955"/>
                  </a:cubicBezTo>
                  <a:cubicBezTo>
                    <a:pt x="0" y="519557"/>
                    <a:pt x="7620" y="512064"/>
                    <a:pt x="16891" y="512064"/>
                  </a:cubicBezTo>
                  <a:cubicBezTo>
                    <a:pt x="26162" y="512064"/>
                    <a:pt x="33782" y="519684"/>
                    <a:pt x="33782" y="528955"/>
                  </a:cubicBezTo>
                  <a:cubicBezTo>
                    <a:pt x="33782" y="802386"/>
                    <a:pt x="255397" y="1024128"/>
                    <a:pt x="528955" y="1024128"/>
                  </a:cubicBezTo>
                  <a:cubicBezTo>
                    <a:pt x="802386" y="1024128"/>
                    <a:pt x="1024128" y="802513"/>
                    <a:pt x="1024128" y="528955"/>
                  </a:cubicBezTo>
                  <a:cubicBezTo>
                    <a:pt x="1024128" y="255524"/>
                    <a:pt x="802513" y="33782"/>
                    <a:pt x="528955" y="33782"/>
                  </a:cubicBezTo>
                  <a:lnTo>
                    <a:pt x="528955" y="16891"/>
                  </a:lnTo>
                  <a:lnTo>
                    <a:pt x="528955" y="33909"/>
                  </a:lnTo>
                  <a:cubicBezTo>
                    <a:pt x="255524" y="33909"/>
                    <a:pt x="33909" y="255524"/>
                    <a:pt x="33909" y="528955"/>
                  </a:cubicBezTo>
                  <a:close/>
                </a:path>
              </a:pathLst>
            </a:custGeom>
            <a:solidFill>
              <a:srgbClr val="F59E0B"/>
            </a:solidFill>
          </p:spPr>
        </p:sp>
      </p:grpSp>
      <p:grpSp>
        <p:nvGrpSpPr>
          <p:cNvPr name="Group 29" id="29"/>
          <p:cNvGrpSpPr/>
          <p:nvPr/>
        </p:nvGrpSpPr>
        <p:grpSpPr>
          <a:xfrm rot="0">
            <a:off x="9674352" y="1554480"/>
            <a:ext cx="768096" cy="768096"/>
            <a:chOff x="0" y="0"/>
            <a:chExt cx="1024128" cy="1024128"/>
          </a:xfrm>
        </p:grpSpPr>
        <p:sp>
          <p:nvSpPr>
            <p:cNvPr name="Freeform 30" id="30"/>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31" id="31"/>
            <p:cNvSpPr txBox="true"/>
            <p:nvPr/>
          </p:nvSpPr>
          <p:spPr>
            <a:xfrm>
              <a:off x="0" y="-47625"/>
              <a:ext cx="1024128" cy="1071753"/>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02</a:t>
              </a:r>
            </a:p>
          </p:txBody>
        </p:sp>
      </p:grpSp>
      <p:grpSp>
        <p:nvGrpSpPr>
          <p:cNvPr name="Group 32" id="32"/>
          <p:cNvGrpSpPr/>
          <p:nvPr/>
        </p:nvGrpSpPr>
        <p:grpSpPr>
          <a:xfrm rot="0">
            <a:off x="10643616" y="1554480"/>
            <a:ext cx="7040880" cy="585216"/>
            <a:chOff x="0" y="0"/>
            <a:chExt cx="9387840" cy="780288"/>
          </a:xfrm>
        </p:grpSpPr>
        <p:sp>
          <p:nvSpPr>
            <p:cNvPr name="Freeform 33" id="33"/>
            <p:cNvSpPr/>
            <p:nvPr/>
          </p:nvSpPr>
          <p:spPr>
            <a:xfrm flipH="false" flipV="false" rot="0">
              <a:off x="0" y="0"/>
              <a:ext cx="9387840" cy="780288"/>
            </a:xfrm>
            <a:custGeom>
              <a:avLst/>
              <a:gdLst/>
              <a:ahLst/>
              <a:cxnLst/>
              <a:rect r="r" b="b" t="t" l="l"/>
              <a:pathLst>
                <a:path h="780288" w="9387840">
                  <a:moveTo>
                    <a:pt x="0" y="0"/>
                  </a:moveTo>
                  <a:lnTo>
                    <a:pt x="9387840" y="0"/>
                  </a:lnTo>
                  <a:lnTo>
                    <a:pt x="9387840" y="780288"/>
                  </a:lnTo>
                  <a:lnTo>
                    <a:pt x="0" y="780288"/>
                  </a:lnTo>
                  <a:close/>
                </a:path>
              </a:pathLst>
            </a:custGeom>
            <a:blipFill>
              <a:blip r:embed="rId3">
                <a:alphaModFix amt="0"/>
              </a:blip>
              <a:stretch>
                <a:fillRect l="0" t="-184429" r="0" b="-184429"/>
              </a:stretch>
            </a:blipFill>
          </p:spPr>
        </p:sp>
        <p:sp>
          <p:nvSpPr>
            <p:cNvPr name="TextBox 34" id="34"/>
            <p:cNvSpPr txBox="true"/>
            <p:nvPr/>
          </p:nvSpPr>
          <p:spPr>
            <a:xfrm>
              <a:off x="0" y="-47625"/>
              <a:ext cx="9387840" cy="827913"/>
            </a:xfrm>
            <a:prstGeom prst="rect">
              <a:avLst/>
            </a:prstGeom>
          </p:spPr>
          <p:txBody>
            <a:bodyPr anchor="ctr" rtlCol="false" tIns="0" lIns="0" bIns="0" rIns="0"/>
            <a:lstStyle/>
            <a:p>
              <a:pPr algn="l">
                <a:lnSpc>
                  <a:spcPts val="2520"/>
                </a:lnSpc>
              </a:pPr>
              <a:r>
                <a:rPr lang="en-US" sz="2100" b="true">
                  <a:solidFill>
                    <a:srgbClr val="F59E0B"/>
                  </a:solidFill>
                  <a:latin typeface="Calibri (MS) Bold"/>
                  <a:ea typeface="Calibri (MS) Bold"/>
                  <a:cs typeface="Calibri (MS) Bold"/>
                  <a:sym typeface="Calibri (MS) Bold"/>
                </a:rPr>
                <a:t>Analyse patterns &amp; disease trends</a:t>
              </a:r>
            </a:p>
          </p:txBody>
        </p:sp>
      </p:grpSp>
      <p:grpSp>
        <p:nvGrpSpPr>
          <p:cNvPr name="Group 35" id="35"/>
          <p:cNvGrpSpPr/>
          <p:nvPr/>
        </p:nvGrpSpPr>
        <p:grpSpPr>
          <a:xfrm rot="0">
            <a:off x="10643616" y="2212848"/>
            <a:ext cx="7040880" cy="1426464"/>
            <a:chOff x="0" y="0"/>
            <a:chExt cx="9387840" cy="1901952"/>
          </a:xfrm>
        </p:grpSpPr>
        <p:sp>
          <p:nvSpPr>
            <p:cNvPr name="Freeform 36" id="36"/>
            <p:cNvSpPr/>
            <p:nvPr/>
          </p:nvSpPr>
          <p:spPr>
            <a:xfrm flipH="false" flipV="false" rot="0">
              <a:off x="0" y="0"/>
              <a:ext cx="9387840" cy="1901952"/>
            </a:xfrm>
            <a:custGeom>
              <a:avLst/>
              <a:gdLst/>
              <a:ahLst/>
              <a:cxnLst/>
              <a:rect r="r" b="b" t="t" l="l"/>
              <a:pathLst>
                <a:path h="1901952" w="9387840">
                  <a:moveTo>
                    <a:pt x="0" y="0"/>
                  </a:moveTo>
                  <a:lnTo>
                    <a:pt x="9387840" y="0"/>
                  </a:lnTo>
                  <a:lnTo>
                    <a:pt x="9387840" y="1901952"/>
                  </a:lnTo>
                  <a:lnTo>
                    <a:pt x="0" y="1901952"/>
                  </a:lnTo>
                  <a:close/>
                </a:path>
              </a:pathLst>
            </a:custGeom>
            <a:blipFill>
              <a:blip r:embed="rId3">
                <a:alphaModFix amt="0"/>
              </a:blip>
              <a:stretch>
                <a:fillRect l="0" t="-46176" r="0" b="-46176"/>
              </a:stretch>
            </a:blipFill>
          </p:spPr>
        </p:sp>
        <p:sp>
          <p:nvSpPr>
            <p:cNvPr name="TextBox 37" id="37"/>
            <p:cNvSpPr txBox="true"/>
            <p:nvPr/>
          </p:nvSpPr>
          <p:spPr>
            <a:xfrm>
              <a:off x="0" y="-38100"/>
              <a:ext cx="9387840" cy="19400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Apply machine learning to detect correlations, recurring disease sequences, and risk factor trends across thousands of patient records.</a:t>
              </a:r>
            </a:p>
          </p:txBody>
        </p:sp>
      </p:grpSp>
      <p:grpSp>
        <p:nvGrpSpPr>
          <p:cNvPr name="Group 38" id="38"/>
          <p:cNvGrpSpPr/>
          <p:nvPr/>
        </p:nvGrpSpPr>
        <p:grpSpPr>
          <a:xfrm rot="0">
            <a:off x="633727" y="4199887"/>
            <a:ext cx="8425177" cy="2536441"/>
            <a:chOff x="0" y="0"/>
            <a:chExt cx="11233569" cy="3381921"/>
          </a:xfrm>
        </p:grpSpPr>
        <p:sp>
          <p:nvSpPr>
            <p:cNvPr name="Freeform 39" id="39"/>
            <p:cNvSpPr/>
            <p:nvPr/>
          </p:nvSpPr>
          <p:spPr>
            <a:xfrm flipH="false" flipV="false" rot="0">
              <a:off x="8509" y="8509"/>
              <a:ext cx="11216640" cy="3364992"/>
            </a:xfrm>
            <a:custGeom>
              <a:avLst/>
              <a:gdLst/>
              <a:ahLst/>
              <a:cxnLst/>
              <a:rect r="r" b="b" t="t" l="l"/>
              <a:pathLst>
                <a:path h="3364992" w="11216640">
                  <a:moveTo>
                    <a:pt x="0" y="0"/>
                  </a:moveTo>
                  <a:lnTo>
                    <a:pt x="11216640" y="0"/>
                  </a:lnTo>
                  <a:lnTo>
                    <a:pt x="11216640" y="3364992"/>
                  </a:lnTo>
                  <a:lnTo>
                    <a:pt x="0" y="3364992"/>
                  </a:lnTo>
                  <a:close/>
                </a:path>
              </a:pathLst>
            </a:custGeom>
            <a:solidFill>
              <a:srgbClr val="0D1F38"/>
            </a:solidFill>
          </p:spPr>
        </p:sp>
        <p:sp>
          <p:nvSpPr>
            <p:cNvPr name="Freeform 40" id="40"/>
            <p:cNvSpPr/>
            <p:nvPr/>
          </p:nvSpPr>
          <p:spPr>
            <a:xfrm flipH="false" flipV="false" rot="0">
              <a:off x="0" y="0"/>
              <a:ext cx="11233658" cy="3382010"/>
            </a:xfrm>
            <a:custGeom>
              <a:avLst/>
              <a:gdLst/>
              <a:ahLst/>
              <a:cxnLst/>
              <a:rect r="r" b="b" t="t" l="l"/>
              <a:pathLst>
                <a:path h="3382010" w="11233658">
                  <a:moveTo>
                    <a:pt x="8509" y="0"/>
                  </a:moveTo>
                  <a:lnTo>
                    <a:pt x="11225149" y="0"/>
                  </a:lnTo>
                  <a:cubicBezTo>
                    <a:pt x="11229848" y="0"/>
                    <a:pt x="11233658" y="3810"/>
                    <a:pt x="11233658" y="8509"/>
                  </a:cubicBezTo>
                  <a:lnTo>
                    <a:pt x="11233658" y="3373501"/>
                  </a:lnTo>
                  <a:cubicBezTo>
                    <a:pt x="11233658" y="3378200"/>
                    <a:pt x="11229848" y="3382010"/>
                    <a:pt x="11225149" y="3382010"/>
                  </a:cubicBezTo>
                  <a:lnTo>
                    <a:pt x="8509" y="3382010"/>
                  </a:lnTo>
                  <a:cubicBezTo>
                    <a:pt x="3810" y="3382010"/>
                    <a:pt x="0" y="3378200"/>
                    <a:pt x="0" y="3373501"/>
                  </a:cubicBezTo>
                  <a:lnTo>
                    <a:pt x="0" y="8509"/>
                  </a:lnTo>
                  <a:cubicBezTo>
                    <a:pt x="0" y="3810"/>
                    <a:pt x="3810" y="0"/>
                    <a:pt x="8509" y="0"/>
                  </a:cubicBezTo>
                  <a:moveTo>
                    <a:pt x="8509" y="16891"/>
                  </a:moveTo>
                  <a:lnTo>
                    <a:pt x="8509" y="8509"/>
                  </a:lnTo>
                  <a:lnTo>
                    <a:pt x="17018" y="8509"/>
                  </a:lnTo>
                  <a:lnTo>
                    <a:pt x="17018" y="3373501"/>
                  </a:lnTo>
                  <a:lnTo>
                    <a:pt x="8509" y="3373501"/>
                  </a:lnTo>
                  <a:lnTo>
                    <a:pt x="8509" y="3364992"/>
                  </a:lnTo>
                  <a:lnTo>
                    <a:pt x="11225149" y="3364992"/>
                  </a:lnTo>
                  <a:lnTo>
                    <a:pt x="11225149" y="3373501"/>
                  </a:lnTo>
                  <a:lnTo>
                    <a:pt x="11216640" y="3373501"/>
                  </a:lnTo>
                  <a:lnTo>
                    <a:pt x="11216640" y="8509"/>
                  </a:lnTo>
                  <a:lnTo>
                    <a:pt x="11225149" y="8509"/>
                  </a:lnTo>
                  <a:lnTo>
                    <a:pt x="11225149" y="17018"/>
                  </a:lnTo>
                  <a:lnTo>
                    <a:pt x="8509" y="17018"/>
                  </a:lnTo>
                  <a:close/>
                </a:path>
              </a:pathLst>
            </a:custGeom>
            <a:solidFill>
              <a:srgbClr val="8B5CF6"/>
            </a:solidFill>
          </p:spPr>
        </p:sp>
      </p:grpSp>
      <p:grpSp>
        <p:nvGrpSpPr>
          <p:cNvPr name="Group 41" id="41"/>
          <p:cNvGrpSpPr/>
          <p:nvPr/>
        </p:nvGrpSpPr>
        <p:grpSpPr>
          <a:xfrm rot="0">
            <a:off x="846839" y="4376423"/>
            <a:ext cx="793499" cy="793499"/>
            <a:chOff x="0" y="0"/>
            <a:chExt cx="1057999" cy="1057999"/>
          </a:xfrm>
        </p:grpSpPr>
        <p:sp>
          <p:nvSpPr>
            <p:cNvPr name="Freeform 42" id="42"/>
            <p:cNvSpPr/>
            <p:nvPr/>
          </p:nvSpPr>
          <p:spPr>
            <a:xfrm flipH="false" flipV="false" rot="0">
              <a:off x="16891" y="16891"/>
              <a:ext cx="1024128" cy="1024128"/>
            </a:xfrm>
            <a:custGeom>
              <a:avLst/>
              <a:gdLst/>
              <a:ahLst/>
              <a:cxnLst/>
              <a:rect r="r" b="b" t="t" l="l"/>
              <a:pathLst>
                <a:path h="1024128" w="1024128">
                  <a:moveTo>
                    <a:pt x="0" y="512064"/>
                  </a:moveTo>
                  <a:cubicBezTo>
                    <a:pt x="0" y="229235"/>
                    <a:pt x="229235" y="0"/>
                    <a:pt x="512064" y="0"/>
                  </a:cubicBezTo>
                  <a:cubicBezTo>
                    <a:pt x="794893" y="0"/>
                    <a:pt x="1024128" y="229362"/>
                    <a:pt x="1024128" y="512064"/>
                  </a:cubicBezTo>
                  <a:cubicBezTo>
                    <a:pt x="1024128" y="794766"/>
                    <a:pt x="794893" y="1024128"/>
                    <a:pt x="512064" y="1024128"/>
                  </a:cubicBezTo>
                  <a:cubicBezTo>
                    <a:pt x="229235" y="1024128"/>
                    <a:pt x="0" y="794893"/>
                    <a:pt x="0" y="512064"/>
                  </a:cubicBezTo>
                  <a:close/>
                </a:path>
              </a:pathLst>
            </a:custGeom>
            <a:solidFill>
              <a:srgbClr val="8B5CF6"/>
            </a:solidFill>
          </p:spPr>
        </p:sp>
        <p:sp>
          <p:nvSpPr>
            <p:cNvPr name="Freeform 43" id="43"/>
            <p:cNvSpPr/>
            <p:nvPr/>
          </p:nvSpPr>
          <p:spPr>
            <a:xfrm flipH="false" flipV="false" rot="0">
              <a:off x="0" y="0"/>
              <a:ext cx="1057910" cy="1057910"/>
            </a:xfrm>
            <a:custGeom>
              <a:avLst/>
              <a:gdLst/>
              <a:ahLst/>
              <a:cxnLst/>
              <a:rect r="r" b="b" t="t" l="l"/>
              <a:pathLst>
                <a:path h="1057910" w="1057910">
                  <a:moveTo>
                    <a:pt x="0" y="528955"/>
                  </a:moveTo>
                  <a:cubicBezTo>
                    <a:pt x="0" y="236855"/>
                    <a:pt x="236855" y="0"/>
                    <a:pt x="528955" y="0"/>
                  </a:cubicBezTo>
                  <a:lnTo>
                    <a:pt x="528955" y="16891"/>
                  </a:lnTo>
                  <a:lnTo>
                    <a:pt x="528955" y="0"/>
                  </a:lnTo>
                  <a:cubicBezTo>
                    <a:pt x="821055" y="0"/>
                    <a:pt x="1057910" y="236855"/>
                    <a:pt x="1057910" y="528955"/>
                  </a:cubicBezTo>
                  <a:lnTo>
                    <a:pt x="1041019" y="528955"/>
                  </a:lnTo>
                  <a:lnTo>
                    <a:pt x="1057910" y="528955"/>
                  </a:lnTo>
                  <a:cubicBezTo>
                    <a:pt x="1057910" y="821055"/>
                    <a:pt x="821055" y="1057910"/>
                    <a:pt x="528955" y="1057910"/>
                  </a:cubicBezTo>
                  <a:lnTo>
                    <a:pt x="528955" y="1041019"/>
                  </a:lnTo>
                  <a:lnTo>
                    <a:pt x="528955" y="1057910"/>
                  </a:lnTo>
                  <a:cubicBezTo>
                    <a:pt x="236855" y="1058037"/>
                    <a:pt x="0" y="821182"/>
                    <a:pt x="0" y="528955"/>
                  </a:cubicBezTo>
                  <a:lnTo>
                    <a:pt x="16891" y="528955"/>
                  </a:lnTo>
                  <a:lnTo>
                    <a:pt x="33909" y="528955"/>
                  </a:lnTo>
                  <a:lnTo>
                    <a:pt x="16891" y="528955"/>
                  </a:lnTo>
                  <a:lnTo>
                    <a:pt x="0" y="528955"/>
                  </a:lnTo>
                  <a:moveTo>
                    <a:pt x="33909" y="528955"/>
                  </a:moveTo>
                  <a:cubicBezTo>
                    <a:pt x="33909" y="538353"/>
                    <a:pt x="26289" y="545846"/>
                    <a:pt x="17018" y="545846"/>
                  </a:cubicBezTo>
                  <a:cubicBezTo>
                    <a:pt x="7747" y="545846"/>
                    <a:pt x="0" y="538353"/>
                    <a:pt x="0" y="528955"/>
                  </a:cubicBezTo>
                  <a:cubicBezTo>
                    <a:pt x="0" y="519557"/>
                    <a:pt x="7620" y="512064"/>
                    <a:pt x="16891" y="512064"/>
                  </a:cubicBezTo>
                  <a:cubicBezTo>
                    <a:pt x="26162" y="512064"/>
                    <a:pt x="33782" y="519684"/>
                    <a:pt x="33782" y="528955"/>
                  </a:cubicBezTo>
                  <a:cubicBezTo>
                    <a:pt x="33782" y="802386"/>
                    <a:pt x="255397" y="1024128"/>
                    <a:pt x="528955" y="1024128"/>
                  </a:cubicBezTo>
                  <a:cubicBezTo>
                    <a:pt x="802386" y="1024128"/>
                    <a:pt x="1024128" y="802513"/>
                    <a:pt x="1024128" y="528955"/>
                  </a:cubicBezTo>
                  <a:cubicBezTo>
                    <a:pt x="1024128" y="255524"/>
                    <a:pt x="802513" y="33782"/>
                    <a:pt x="528955" y="33782"/>
                  </a:cubicBezTo>
                  <a:lnTo>
                    <a:pt x="528955" y="16891"/>
                  </a:lnTo>
                  <a:lnTo>
                    <a:pt x="528955" y="33909"/>
                  </a:lnTo>
                  <a:cubicBezTo>
                    <a:pt x="255524" y="33909"/>
                    <a:pt x="33909" y="255524"/>
                    <a:pt x="33909" y="528955"/>
                  </a:cubicBezTo>
                  <a:close/>
                </a:path>
              </a:pathLst>
            </a:custGeom>
            <a:solidFill>
              <a:srgbClr val="8B5CF6"/>
            </a:solidFill>
          </p:spPr>
        </p:sp>
      </p:grpSp>
      <p:grpSp>
        <p:nvGrpSpPr>
          <p:cNvPr name="Group 44" id="44"/>
          <p:cNvGrpSpPr/>
          <p:nvPr/>
        </p:nvGrpSpPr>
        <p:grpSpPr>
          <a:xfrm rot="0">
            <a:off x="859536" y="4389120"/>
            <a:ext cx="768096" cy="768096"/>
            <a:chOff x="0" y="0"/>
            <a:chExt cx="1024128" cy="1024128"/>
          </a:xfrm>
        </p:grpSpPr>
        <p:sp>
          <p:nvSpPr>
            <p:cNvPr name="Freeform 45" id="45"/>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46" id="46"/>
            <p:cNvSpPr txBox="true"/>
            <p:nvPr/>
          </p:nvSpPr>
          <p:spPr>
            <a:xfrm>
              <a:off x="0" y="-47625"/>
              <a:ext cx="1024128" cy="1071753"/>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03</a:t>
              </a:r>
            </a:p>
          </p:txBody>
        </p:sp>
      </p:grpSp>
      <p:grpSp>
        <p:nvGrpSpPr>
          <p:cNvPr name="Group 47" id="47"/>
          <p:cNvGrpSpPr/>
          <p:nvPr/>
        </p:nvGrpSpPr>
        <p:grpSpPr>
          <a:xfrm rot="0">
            <a:off x="1828800" y="4389120"/>
            <a:ext cx="7040880" cy="585216"/>
            <a:chOff x="0" y="0"/>
            <a:chExt cx="9387840" cy="780288"/>
          </a:xfrm>
        </p:grpSpPr>
        <p:sp>
          <p:nvSpPr>
            <p:cNvPr name="Freeform 48" id="48"/>
            <p:cNvSpPr/>
            <p:nvPr/>
          </p:nvSpPr>
          <p:spPr>
            <a:xfrm flipH="false" flipV="false" rot="0">
              <a:off x="0" y="0"/>
              <a:ext cx="9387840" cy="780288"/>
            </a:xfrm>
            <a:custGeom>
              <a:avLst/>
              <a:gdLst/>
              <a:ahLst/>
              <a:cxnLst/>
              <a:rect r="r" b="b" t="t" l="l"/>
              <a:pathLst>
                <a:path h="780288" w="9387840">
                  <a:moveTo>
                    <a:pt x="0" y="0"/>
                  </a:moveTo>
                  <a:lnTo>
                    <a:pt x="9387840" y="0"/>
                  </a:lnTo>
                  <a:lnTo>
                    <a:pt x="9387840" y="780288"/>
                  </a:lnTo>
                  <a:lnTo>
                    <a:pt x="0" y="780288"/>
                  </a:lnTo>
                  <a:close/>
                </a:path>
              </a:pathLst>
            </a:custGeom>
            <a:blipFill>
              <a:blip r:embed="rId3">
                <a:alphaModFix amt="0"/>
              </a:blip>
              <a:stretch>
                <a:fillRect l="0" t="-184429" r="0" b="-184429"/>
              </a:stretch>
            </a:blipFill>
          </p:spPr>
        </p:sp>
        <p:sp>
          <p:nvSpPr>
            <p:cNvPr name="TextBox 49" id="49"/>
            <p:cNvSpPr txBox="true"/>
            <p:nvPr/>
          </p:nvSpPr>
          <p:spPr>
            <a:xfrm>
              <a:off x="0" y="-47625"/>
              <a:ext cx="9387840" cy="827913"/>
            </a:xfrm>
            <a:prstGeom prst="rect">
              <a:avLst/>
            </a:prstGeom>
          </p:spPr>
          <p:txBody>
            <a:bodyPr anchor="ctr" rtlCol="false" tIns="0" lIns="0" bIns="0" rIns="0"/>
            <a:lstStyle/>
            <a:p>
              <a:pPr algn="l">
                <a:lnSpc>
                  <a:spcPts val="2520"/>
                </a:lnSpc>
              </a:pPr>
              <a:r>
                <a:rPr lang="en-US" sz="2100" b="true">
                  <a:solidFill>
                    <a:srgbClr val="8B5CF6"/>
                  </a:solidFill>
                  <a:latin typeface="Calibri (MS) Bold"/>
                  <a:ea typeface="Calibri (MS) Bold"/>
                  <a:cs typeface="Calibri (MS) Bold"/>
                  <a:sym typeface="Calibri (MS) Bold"/>
                </a:rPr>
                <a:t>Build a Markov chain progression model</a:t>
              </a:r>
            </a:p>
          </p:txBody>
        </p:sp>
      </p:grpSp>
      <p:grpSp>
        <p:nvGrpSpPr>
          <p:cNvPr name="Group 50" id="50"/>
          <p:cNvGrpSpPr/>
          <p:nvPr/>
        </p:nvGrpSpPr>
        <p:grpSpPr>
          <a:xfrm rot="0">
            <a:off x="1828800" y="5047488"/>
            <a:ext cx="7040880" cy="1426464"/>
            <a:chOff x="0" y="0"/>
            <a:chExt cx="9387840" cy="1901952"/>
          </a:xfrm>
        </p:grpSpPr>
        <p:sp>
          <p:nvSpPr>
            <p:cNvPr name="Freeform 51" id="51"/>
            <p:cNvSpPr/>
            <p:nvPr/>
          </p:nvSpPr>
          <p:spPr>
            <a:xfrm flipH="false" flipV="false" rot="0">
              <a:off x="0" y="0"/>
              <a:ext cx="9387840" cy="1901952"/>
            </a:xfrm>
            <a:custGeom>
              <a:avLst/>
              <a:gdLst/>
              <a:ahLst/>
              <a:cxnLst/>
              <a:rect r="r" b="b" t="t" l="l"/>
              <a:pathLst>
                <a:path h="1901952" w="9387840">
                  <a:moveTo>
                    <a:pt x="0" y="0"/>
                  </a:moveTo>
                  <a:lnTo>
                    <a:pt x="9387840" y="0"/>
                  </a:lnTo>
                  <a:lnTo>
                    <a:pt x="9387840" y="1901952"/>
                  </a:lnTo>
                  <a:lnTo>
                    <a:pt x="0" y="1901952"/>
                  </a:lnTo>
                  <a:close/>
                </a:path>
              </a:pathLst>
            </a:custGeom>
            <a:blipFill>
              <a:blip r:embed="rId3">
                <a:alphaModFix amt="0"/>
              </a:blip>
              <a:stretch>
                <a:fillRect l="0" t="-46176" r="0" b="-46176"/>
              </a:stretch>
            </a:blipFill>
          </p:spPr>
        </p:sp>
        <p:sp>
          <p:nvSpPr>
            <p:cNvPr name="TextBox 52" id="52"/>
            <p:cNvSpPr txBox="true"/>
            <p:nvPr/>
          </p:nvSpPr>
          <p:spPr>
            <a:xfrm>
              <a:off x="0" y="-38100"/>
              <a:ext cx="9387840" cy="19400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Model how diseases transition from one stage to the next over time — capturing both typical sequential chains and random atypical co-morbidity patterns.</a:t>
              </a:r>
            </a:p>
          </p:txBody>
        </p:sp>
      </p:grpSp>
      <p:grpSp>
        <p:nvGrpSpPr>
          <p:cNvPr name="Group 53" id="53"/>
          <p:cNvGrpSpPr/>
          <p:nvPr/>
        </p:nvGrpSpPr>
        <p:grpSpPr>
          <a:xfrm rot="0">
            <a:off x="9448543" y="4199887"/>
            <a:ext cx="8425177" cy="2536441"/>
            <a:chOff x="0" y="0"/>
            <a:chExt cx="11233569" cy="3381921"/>
          </a:xfrm>
        </p:grpSpPr>
        <p:sp>
          <p:nvSpPr>
            <p:cNvPr name="Freeform 54" id="54"/>
            <p:cNvSpPr/>
            <p:nvPr/>
          </p:nvSpPr>
          <p:spPr>
            <a:xfrm flipH="false" flipV="false" rot="0">
              <a:off x="8509" y="8509"/>
              <a:ext cx="11216640" cy="3364992"/>
            </a:xfrm>
            <a:custGeom>
              <a:avLst/>
              <a:gdLst/>
              <a:ahLst/>
              <a:cxnLst/>
              <a:rect r="r" b="b" t="t" l="l"/>
              <a:pathLst>
                <a:path h="3364992" w="11216640">
                  <a:moveTo>
                    <a:pt x="0" y="0"/>
                  </a:moveTo>
                  <a:lnTo>
                    <a:pt x="11216640" y="0"/>
                  </a:lnTo>
                  <a:lnTo>
                    <a:pt x="11216640" y="3364992"/>
                  </a:lnTo>
                  <a:lnTo>
                    <a:pt x="0" y="3364992"/>
                  </a:lnTo>
                  <a:close/>
                </a:path>
              </a:pathLst>
            </a:custGeom>
            <a:solidFill>
              <a:srgbClr val="0D1F38"/>
            </a:solidFill>
          </p:spPr>
        </p:sp>
        <p:sp>
          <p:nvSpPr>
            <p:cNvPr name="Freeform 55" id="55"/>
            <p:cNvSpPr/>
            <p:nvPr/>
          </p:nvSpPr>
          <p:spPr>
            <a:xfrm flipH="false" flipV="false" rot="0">
              <a:off x="0" y="0"/>
              <a:ext cx="11233658" cy="3382010"/>
            </a:xfrm>
            <a:custGeom>
              <a:avLst/>
              <a:gdLst/>
              <a:ahLst/>
              <a:cxnLst/>
              <a:rect r="r" b="b" t="t" l="l"/>
              <a:pathLst>
                <a:path h="3382010" w="11233658">
                  <a:moveTo>
                    <a:pt x="8509" y="0"/>
                  </a:moveTo>
                  <a:lnTo>
                    <a:pt x="11225149" y="0"/>
                  </a:lnTo>
                  <a:cubicBezTo>
                    <a:pt x="11229848" y="0"/>
                    <a:pt x="11233658" y="3810"/>
                    <a:pt x="11233658" y="8509"/>
                  </a:cubicBezTo>
                  <a:lnTo>
                    <a:pt x="11233658" y="3373501"/>
                  </a:lnTo>
                  <a:cubicBezTo>
                    <a:pt x="11233658" y="3378200"/>
                    <a:pt x="11229848" y="3382010"/>
                    <a:pt x="11225149" y="3382010"/>
                  </a:cubicBezTo>
                  <a:lnTo>
                    <a:pt x="8509" y="3382010"/>
                  </a:lnTo>
                  <a:cubicBezTo>
                    <a:pt x="3810" y="3382010"/>
                    <a:pt x="0" y="3378200"/>
                    <a:pt x="0" y="3373501"/>
                  </a:cubicBezTo>
                  <a:lnTo>
                    <a:pt x="0" y="8509"/>
                  </a:lnTo>
                  <a:cubicBezTo>
                    <a:pt x="0" y="3810"/>
                    <a:pt x="3810" y="0"/>
                    <a:pt x="8509" y="0"/>
                  </a:cubicBezTo>
                  <a:moveTo>
                    <a:pt x="8509" y="16891"/>
                  </a:moveTo>
                  <a:lnTo>
                    <a:pt x="8509" y="8509"/>
                  </a:lnTo>
                  <a:lnTo>
                    <a:pt x="17018" y="8509"/>
                  </a:lnTo>
                  <a:lnTo>
                    <a:pt x="17018" y="3373501"/>
                  </a:lnTo>
                  <a:lnTo>
                    <a:pt x="8509" y="3373501"/>
                  </a:lnTo>
                  <a:lnTo>
                    <a:pt x="8509" y="3364992"/>
                  </a:lnTo>
                  <a:lnTo>
                    <a:pt x="11225149" y="3364992"/>
                  </a:lnTo>
                  <a:lnTo>
                    <a:pt x="11225149" y="3373501"/>
                  </a:lnTo>
                  <a:lnTo>
                    <a:pt x="11216640" y="3373501"/>
                  </a:lnTo>
                  <a:lnTo>
                    <a:pt x="11216640" y="8509"/>
                  </a:lnTo>
                  <a:lnTo>
                    <a:pt x="11225149" y="8509"/>
                  </a:lnTo>
                  <a:lnTo>
                    <a:pt x="11225149" y="17018"/>
                  </a:lnTo>
                  <a:lnTo>
                    <a:pt x="8509" y="17018"/>
                  </a:lnTo>
                  <a:close/>
                </a:path>
              </a:pathLst>
            </a:custGeom>
            <a:solidFill>
              <a:srgbClr val="EF4444"/>
            </a:solidFill>
          </p:spPr>
        </p:sp>
      </p:grpSp>
      <p:grpSp>
        <p:nvGrpSpPr>
          <p:cNvPr name="Group 56" id="56"/>
          <p:cNvGrpSpPr/>
          <p:nvPr/>
        </p:nvGrpSpPr>
        <p:grpSpPr>
          <a:xfrm rot="0">
            <a:off x="9661655" y="4376423"/>
            <a:ext cx="793499" cy="793499"/>
            <a:chOff x="0" y="0"/>
            <a:chExt cx="1057999" cy="1057999"/>
          </a:xfrm>
        </p:grpSpPr>
        <p:sp>
          <p:nvSpPr>
            <p:cNvPr name="Freeform 57" id="57"/>
            <p:cNvSpPr/>
            <p:nvPr/>
          </p:nvSpPr>
          <p:spPr>
            <a:xfrm flipH="false" flipV="false" rot="0">
              <a:off x="16891" y="16891"/>
              <a:ext cx="1024128" cy="1024128"/>
            </a:xfrm>
            <a:custGeom>
              <a:avLst/>
              <a:gdLst/>
              <a:ahLst/>
              <a:cxnLst/>
              <a:rect r="r" b="b" t="t" l="l"/>
              <a:pathLst>
                <a:path h="1024128" w="1024128">
                  <a:moveTo>
                    <a:pt x="0" y="512064"/>
                  </a:moveTo>
                  <a:cubicBezTo>
                    <a:pt x="0" y="229235"/>
                    <a:pt x="229235" y="0"/>
                    <a:pt x="512064" y="0"/>
                  </a:cubicBezTo>
                  <a:cubicBezTo>
                    <a:pt x="794893" y="0"/>
                    <a:pt x="1024128" y="229362"/>
                    <a:pt x="1024128" y="512064"/>
                  </a:cubicBezTo>
                  <a:cubicBezTo>
                    <a:pt x="1024128" y="794766"/>
                    <a:pt x="794893" y="1024128"/>
                    <a:pt x="512064" y="1024128"/>
                  </a:cubicBezTo>
                  <a:cubicBezTo>
                    <a:pt x="229235" y="1024128"/>
                    <a:pt x="0" y="794893"/>
                    <a:pt x="0" y="512064"/>
                  </a:cubicBezTo>
                  <a:close/>
                </a:path>
              </a:pathLst>
            </a:custGeom>
            <a:solidFill>
              <a:srgbClr val="EF4444"/>
            </a:solidFill>
          </p:spPr>
        </p:sp>
        <p:sp>
          <p:nvSpPr>
            <p:cNvPr name="Freeform 58" id="58"/>
            <p:cNvSpPr/>
            <p:nvPr/>
          </p:nvSpPr>
          <p:spPr>
            <a:xfrm flipH="false" flipV="false" rot="0">
              <a:off x="0" y="0"/>
              <a:ext cx="1057910" cy="1057910"/>
            </a:xfrm>
            <a:custGeom>
              <a:avLst/>
              <a:gdLst/>
              <a:ahLst/>
              <a:cxnLst/>
              <a:rect r="r" b="b" t="t" l="l"/>
              <a:pathLst>
                <a:path h="1057910" w="1057910">
                  <a:moveTo>
                    <a:pt x="0" y="528955"/>
                  </a:moveTo>
                  <a:cubicBezTo>
                    <a:pt x="0" y="236855"/>
                    <a:pt x="236855" y="0"/>
                    <a:pt x="528955" y="0"/>
                  </a:cubicBezTo>
                  <a:lnTo>
                    <a:pt x="528955" y="16891"/>
                  </a:lnTo>
                  <a:lnTo>
                    <a:pt x="528955" y="0"/>
                  </a:lnTo>
                  <a:cubicBezTo>
                    <a:pt x="821055" y="0"/>
                    <a:pt x="1057910" y="236855"/>
                    <a:pt x="1057910" y="528955"/>
                  </a:cubicBezTo>
                  <a:lnTo>
                    <a:pt x="1041019" y="528955"/>
                  </a:lnTo>
                  <a:lnTo>
                    <a:pt x="1057910" y="528955"/>
                  </a:lnTo>
                  <a:cubicBezTo>
                    <a:pt x="1057910" y="821055"/>
                    <a:pt x="821055" y="1057910"/>
                    <a:pt x="528955" y="1057910"/>
                  </a:cubicBezTo>
                  <a:lnTo>
                    <a:pt x="528955" y="1041019"/>
                  </a:lnTo>
                  <a:lnTo>
                    <a:pt x="528955" y="1057910"/>
                  </a:lnTo>
                  <a:cubicBezTo>
                    <a:pt x="236855" y="1058037"/>
                    <a:pt x="0" y="821182"/>
                    <a:pt x="0" y="528955"/>
                  </a:cubicBezTo>
                  <a:lnTo>
                    <a:pt x="16891" y="528955"/>
                  </a:lnTo>
                  <a:lnTo>
                    <a:pt x="33909" y="528955"/>
                  </a:lnTo>
                  <a:lnTo>
                    <a:pt x="16891" y="528955"/>
                  </a:lnTo>
                  <a:lnTo>
                    <a:pt x="0" y="528955"/>
                  </a:lnTo>
                  <a:moveTo>
                    <a:pt x="33909" y="528955"/>
                  </a:moveTo>
                  <a:cubicBezTo>
                    <a:pt x="33909" y="538353"/>
                    <a:pt x="26289" y="545846"/>
                    <a:pt x="17018" y="545846"/>
                  </a:cubicBezTo>
                  <a:cubicBezTo>
                    <a:pt x="7747" y="545846"/>
                    <a:pt x="0" y="538353"/>
                    <a:pt x="0" y="528955"/>
                  </a:cubicBezTo>
                  <a:cubicBezTo>
                    <a:pt x="0" y="519557"/>
                    <a:pt x="7620" y="512064"/>
                    <a:pt x="16891" y="512064"/>
                  </a:cubicBezTo>
                  <a:cubicBezTo>
                    <a:pt x="26162" y="512064"/>
                    <a:pt x="33782" y="519684"/>
                    <a:pt x="33782" y="528955"/>
                  </a:cubicBezTo>
                  <a:cubicBezTo>
                    <a:pt x="33782" y="802386"/>
                    <a:pt x="255397" y="1024128"/>
                    <a:pt x="528955" y="1024128"/>
                  </a:cubicBezTo>
                  <a:cubicBezTo>
                    <a:pt x="802386" y="1024128"/>
                    <a:pt x="1024128" y="802513"/>
                    <a:pt x="1024128" y="528955"/>
                  </a:cubicBezTo>
                  <a:cubicBezTo>
                    <a:pt x="1024128" y="255524"/>
                    <a:pt x="802513" y="33782"/>
                    <a:pt x="528955" y="33782"/>
                  </a:cubicBezTo>
                  <a:lnTo>
                    <a:pt x="528955" y="16891"/>
                  </a:lnTo>
                  <a:lnTo>
                    <a:pt x="528955" y="33909"/>
                  </a:lnTo>
                  <a:cubicBezTo>
                    <a:pt x="255524" y="33909"/>
                    <a:pt x="33909" y="255524"/>
                    <a:pt x="33909" y="528955"/>
                  </a:cubicBezTo>
                  <a:close/>
                </a:path>
              </a:pathLst>
            </a:custGeom>
            <a:solidFill>
              <a:srgbClr val="EF4444"/>
            </a:solidFill>
          </p:spPr>
        </p:sp>
      </p:grpSp>
      <p:grpSp>
        <p:nvGrpSpPr>
          <p:cNvPr name="Group 59" id="59"/>
          <p:cNvGrpSpPr/>
          <p:nvPr/>
        </p:nvGrpSpPr>
        <p:grpSpPr>
          <a:xfrm rot="0">
            <a:off x="9674352" y="4389120"/>
            <a:ext cx="768096" cy="768096"/>
            <a:chOff x="0" y="0"/>
            <a:chExt cx="1024128" cy="1024128"/>
          </a:xfrm>
        </p:grpSpPr>
        <p:sp>
          <p:nvSpPr>
            <p:cNvPr name="Freeform 60" id="60"/>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61" id="61"/>
            <p:cNvSpPr txBox="true"/>
            <p:nvPr/>
          </p:nvSpPr>
          <p:spPr>
            <a:xfrm>
              <a:off x="0" y="-47625"/>
              <a:ext cx="1024128" cy="1071753"/>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04</a:t>
              </a:r>
            </a:p>
          </p:txBody>
        </p:sp>
      </p:grpSp>
      <p:grpSp>
        <p:nvGrpSpPr>
          <p:cNvPr name="Group 62" id="62"/>
          <p:cNvGrpSpPr/>
          <p:nvPr/>
        </p:nvGrpSpPr>
        <p:grpSpPr>
          <a:xfrm rot="0">
            <a:off x="10643616" y="4389120"/>
            <a:ext cx="7040880" cy="585216"/>
            <a:chOff x="0" y="0"/>
            <a:chExt cx="9387840" cy="780288"/>
          </a:xfrm>
        </p:grpSpPr>
        <p:sp>
          <p:nvSpPr>
            <p:cNvPr name="Freeform 63" id="63"/>
            <p:cNvSpPr/>
            <p:nvPr/>
          </p:nvSpPr>
          <p:spPr>
            <a:xfrm flipH="false" flipV="false" rot="0">
              <a:off x="0" y="0"/>
              <a:ext cx="9387840" cy="780288"/>
            </a:xfrm>
            <a:custGeom>
              <a:avLst/>
              <a:gdLst/>
              <a:ahLst/>
              <a:cxnLst/>
              <a:rect r="r" b="b" t="t" l="l"/>
              <a:pathLst>
                <a:path h="780288" w="9387840">
                  <a:moveTo>
                    <a:pt x="0" y="0"/>
                  </a:moveTo>
                  <a:lnTo>
                    <a:pt x="9387840" y="0"/>
                  </a:lnTo>
                  <a:lnTo>
                    <a:pt x="9387840" y="780288"/>
                  </a:lnTo>
                  <a:lnTo>
                    <a:pt x="0" y="780288"/>
                  </a:lnTo>
                  <a:close/>
                </a:path>
              </a:pathLst>
            </a:custGeom>
            <a:blipFill>
              <a:blip r:embed="rId3">
                <a:alphaModFix amt="0"/>
              </a:blip>
              <a:stretch>
                <a:fillRect l="0" t="-184429" r="0" b="-184429"/>
              </a:stretch>
            </a:blipFill>
          </p:spPr>
        </p:sp>
        <p:sp>
          <p:nvSpPr>
            <p:cNvPr name="TextBox 64" id="64"/>
            <p:cNvSpPr txBox="true"/>
            <p:nvPr/>
          </p:nvSpPr>
          <p:spPr>
            <a:xfrm>
              <a:off x="0" y="-47625"/>
              <a:ext cx="9387840" cy="827913"/>
            </a:xfrm>
            <a:prstGeom prst="rect">
              <a:avLst/>
            </a:prstGeom>
          </p:spPr>
          <p:txBody>
            <a:bodyPr anchor="ctr" rtlCol="false" tIns="0" lIns="0" bIns="0" rIns="0"/>
            <a:lstStyle/>
            <a:p>
              <a:pPr algn="l">
                <a:lnSpc>
                  <a:spcPts val="2520"/>
                </a:lnSpc>
              </a:pPr>
              <a:r>
                <a:rPr lang="en-US" sz="2100" b="true">
                  <a:solidFill>
                    <a:srgbClr val="EF4444"/>
                  </a:solidFill>
                  <a:latin typeface="Calibri (MS) Bold"/>
                  <a:ea typeface="Calibri (MS) Bold"/>
                  <a:cs typeface="Calibri (MS) Bold"/>
                  <a:sym typeface="Calibri (MS) Bold"/>
                </a:rPr>
                <a:t>Solve the cold-start problem</a:t>
              </a:r>
            </a:p>
          </p:txBody>
        </p:sp>
      </p:grpSp>
      <p:grpSp>
        <p:nvGrpSpPr>
          <p:cNvPr name="Group 65" id="65"/>
          <p:cNvGrpSpPr/>
          <p:nvPr/>
        </p:nvGrpSpPr>
        <p:grpSpPr>
          <a:xfrm rot="0">
            <a:off x="10643616" y="5047488"/>
            <a:ext cx="7040880" cy="1426464"/>
            <a:chOff x="0" y="0"/>
            <a:chExt cx="9387840" cy="1901952"/>
          </a:xfrm>
        </p:grpSpPr>
        <p:sp>
          <p:nvSpPr>
            <p:cNvPr name="Freeform 66" id="66"/>
            <p:cNvSpPr/>
            <p:nvPr/>
          </p:nvSpPr>
          <p:spPr>
            <a:xfrm flipH="false" flipV="false" rot="0">
              <a:off x="0" y="0"/>
              <a:ext cx="9387840" cy="1901952"/>
            </a:xfrm>
            <a:custGeom>
              <a:avLst/>
              <a:gdLst/>
              <a:ahLst/>
              <a:cxnLst/>
              <a:rect r="r" b="b" t="t" l="l"/>
              <a:pathLst>
                <a:path h="1901952" w="9387840">
                  <a:moveTo>
                    <a:pt x="0" y="0"/>
                  </a:moveTo>
                  <a:lnTo>
                    <a:pt x="9387840" y="0"/>
                  </a:lnTo>
                  <a:lnTo>
                    <a:pt x="9387840" y="1901952"/>
                  </a:lnTo>
                  <a:lnTo>
                    <a:pt x="0" y="1901952"/>
                  </a:lnTo>
                  <a:close/>
                </a:path>
              </a:pathLst>
            </a:custGeom>
            <a:blipFill>
              <a:blip r:embed="rId3">
                <a:alphaModFix amt="0"/>
              </a:blip>
              <a:stretch>
                <a:fillRect l="0" t="-46176" r="0" b="-46176"/>
              </a:stretch>
            </a:blipFill>
          </p:spPr>
        </p:sp>
        <p:sp>
          <p:nvSpPr>
            <p:cNvPr name="TextBox 67" id="67"/>
            <p:cNvSpPr txBox="true"/>
            <p:nvPr/>
          </p:nvSpPr>
          <p:spPr>
            <a:xfrm>
              <a:off x="0" y="-38100"/>
              <a:ext cx="9387840" cy="19400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Use real doctor-observed progression records as high-weight seed training data, enabling accurate predictions even when patient data is sparse at launch.</a:t>
              </a:r>
            </a:p>
          </p:txBody>
        </p:sp>
      </p:grpSp>
      <p:grpSp>
        <p:nvGrpSpPr>
          <p:cNvPr name="Group 68" id="68"/>
          <p:cNvGrpSpPr/>
          <p:nvPr/>
        </p:nvGrpSpPr>
        <p:grpSpPr>
          <a:xfrm rot="0">
            <a:off x="633727" y="7034527"/>
            <a:ext cx="8425177" cy="2536441"/>
            <a:chOff x="0" y="0"/>
            <a:chExt cx="11233569" cy="3381921"/>
          </a:xfrm>
        </p:grpSpPr>
        <p:sp>
          <p:nvSpPr>
            <p:cNvPr name="Freeform 69" id="69"/>
            <p:cNvSpPr/>
            <p:nvPr/>
          </p:nvSpPr>
          <p:spPr>
            <a:xfrm flipH="false" flipV="false" rot="0">
              <a:off x="8509" y="8509"/>
              <a:ext cx="11216640" cy="3364992"/>
            </a:xfrm>
            <a:custGeom>
              <a:avLst/>
              <a:gdLst/>
              <a:ahLst/>
              <a:cxnLst/>
              <a:rect r="r" b="b" t="t" l="l"/>
              <a:pathLst>
                <a:path h="3364992" w="11216640">
                  <a:moveTo>
                    <a:pt x="0" y="0"/>
                  </a:moveTo>
                  <a:lnTo>
                    <a:pt x="11216640" y="0"/>
                  </a:lnTo>
                  <a:lnTo>
                    <a:pt x="11216640" y="3364992"/>
                  </a:lnTo>
                  <a:lnTo>
                    <a:pt x="0" y="3364992"/>
                  </a:lnTo>
                  <a:close/>
                </a:path>
              </a:pathLst>
            </a:custGeom>
            <a:solidFill>
              <a:srgbClr val="0D1F38"/>
            </a:solidFill>
          </p:spPr>
        </p:sp>
        <p:sp>
          <p:nvSpPr>
            <p:cNvPr name="Freeform 70" id="70"/>
            <p:cNvSpPr/>
            <p:nvPr/>
          </p:nvSpPr>
          <p:spPr>
            <a:xfrm flipH="false" flipV="false" rot="0">
              <a:off x="0" y="0"/>
              <a:ext cx="11233658" cy="3382010"/>
            </a:xfrm>
            <a:custGeom>
              <a:avLst/>
              <a:gdLst/>
              <a:ahLst/>
              <a:cxnLst/>
              <a:rect r="r" b="b" t="t" l="l"/>
              <a:pathLst>
                <a:path h="3382010" w="11233658">
                  <a:moveTo>
                    <a:pt x="8509" y="0"/>
                  </a:moveTo>
                  <a:lnTo>
                    <a:pt x="11225149" y="0"/>
                  </a:lnTo>
                  <a:cubicBezTo>
                    <a:pt x="11229848" y="0"/>
                    <a:pt x="11233658" y="3810"/>
                    <a:pt x="11233658" y="8509"/>
                  </a:cubicBezTo>
                  <a:lnTo>
                    <a:pt x="11233658" y="3373501"/>
                  </a:lnTo>
                  <a:cubicBezTo>
                    <a:pt x="11233658" y="3378200"/>
                    <a:pt x="11229848" y="3382010"/>
                    <a:pt x="11225149" y="3382010"/>
                  </a:cubicBezTo>
                  <a:lnTo>
                    <a:pt x="8509" y="3382010"/>
                  </a:lnTo>
                  <a:cubicBezTo>
                    <a:pt x="3810" y="3382010"/>
                    <a:pt x="0" y="3378200"/>
                    <a:pt x="0" y="3373501"/>
                  </a:cubicBezTo>
                  <a:lnTo>
                    <a:pt x="0" y="8509"/>
                  </a:lnTo>
                  <a:cubicBezTo>
                    <a:pt x="0" y="3810"/>
                    <a:pt x="3810" y="0"/>
                    <a:pt x="8509" y="0"/>
                  </a:cubicBezTo>
                  <a:moveTo>
                    <a:pt x="8509" y="16891"/>
                  </a:moveTo>
                  <a:lnTo>
                    <a:pt x="8509" y="8509"/>
                  </a:lnTo>
                  <a:lnTo>
                    <a:pt x="17018" y="8509"/>
                  </a:lnTo>
                  <a:lnTo>
                    <a:pt x="17018" y="3373501"/>
                  </a:lnTo>
                  <a:lnTo>
                    <a:pt x="8509" y="3373501"/>
                  </a:lnTo>
                  <a:lnTo>
                    <a:pt x="8509" y="3364992"/>
                  </a:lnTo>
                  <a:lnTo>
                    <a:pt x="11225149" y="3364992"/>
                  </a:lnTo>
                  <a:lnTo>
                    <a:pt x="11225149" y="3373501"/>
                  </a:lnTo>
                  <a:lnTo>
                    <a:pt x="11216640" y="3373501"/>
                  </a:lnTo>
                  <a:lnTo>
                    <a:pt x="11216640" y="8509"/>
                  </a:lnTo>
                  <a:lnTo>
                    <a:pt x="11225149" y="8509"/>
                  </a:lnTo>
                  <a:lnTo>
                    <a:pt x="11225149" y="17018"/>
                  </a:lnTo>
                  <a:lnTo>
                    <a:pt x="8509" y="17018"/>
                  </a:lnTo>
                  <a:close/>
                </a:path>
              </a:pathLst>
            </a:custGeom>
            <a:solidFill>
              <a:srgbClr val="10B981"/>
            </a:solidFill>
          </p:spPr>
        </p:sp>
      </p:grpSp>
      <p:grpSp>
        <p:nvGrpSpPr>
          <p:cNvPr name="Group 71" id="71"/>
          <p:cNvGrpSpPr/>
          <p:nvPr/>
        </p:nvGrpSpPr>
        <p:grpSpPr>
          <a:xfrm rot="0">
            <a:off x="846839" y="7211063"/>
            <a:ext cx="793499" cy="793499"/>
            <a:chOff x="0" y="0"/>
            <a:chExt cx="1057999" cy="1057999"/>
          </a:xfrm>
        </p:grpSpPr>
        <p:sp>
          <p:nvSpPr>
            <p:cNvPr name="Freeform 72" id="72"/>
            <p:cNvSpPr/>
            <p:nvPr/>
          </p:nvSpPr>
          <p:spPr>
            <a:xfrm flipH="false" flipV="false" rot="0">
              <a:off x="16891" y="16891"/>
              <a:ext cx="1024128" cy="1024128"/>
            </a:xfrm>
            <a:custGeom>
              <a:avLst/>
              <a:gdLst/>
              <a:ahLst/>
              <a:cxnLst/>
              <a:rect r="r" b="b" t="t" l="l"/>
              <a:pathLst>
                <a:path h="1024128" w="1024128">
                  <a:moveTo>
                    <a:pt x="0" y="512064"/>
                  </a:moveTo>
                  <a:cubicBezTo>
                    <a:pt x="0" y="229235"/>
                    <a:pt x="229235" y="0"/>
                    <a:pt x="512064" y="0"/>
                  </a:cubicBezTo>
                  <a:cubicBezTo>
                    <a:pt x="794893" y="0"/>
                    <a:pt x="1024128" y="229362"/>
                    <a:pt x="1024128" y="512064"/>
                  </a:cubicBezTo>
                  <a:cubicBezTo>
                    <a:pt x="1024128" y="794766"/>
                    <a:pt x="794893" y="1024128"/>
                    <a:pt x="512064" y="1024128"/>
                  </a:cubicBezTo>
                  <a:cubicBezTo>
                    <a:pt x="229235" y="1024128"/>
                    <a:pt x="0" y="794893"/>
                    <a:pt x="0" y="512064"/>
                  </a:cubicBezTo>
                  <a:close/>
                </a:path>
              </a:pathLst>
            </a:custGeom>
            <a:solidFill>
              <a:srgbClr val="10B981"/>
            </a:solidFill>
          </p:spPr>
        </p:sp>
        <p:sp>
          <p:nvSpPr>
            <p:cNvPr name="Freeform 73" id="73"/>
            <p:cNvSpPr/>
            <p:nvPr/>
          </p:nvSpPr>
          <p:spPr>
            <a:xfrm flipH="false" flipV="false" rot="0">
              <a:off x="0" y="0"/>
              <a:ext cx="1057910" cy="1057910"/>
            </a:xfrm>
            <a:custGeom>
              <a:avLst/>
              <a:gdLst/>
              <a:ahLst/>
              <a:cxnLst/>
              <a:rect r="r" b="b" t="t" l="l"/>
              <a:pathLst>
                <a:path h="1057910" w="1057910">
                  <a:moveTo>
                    <a:pt x="0" y="528955"/>
                  </a:moveTo>
                  <a:cubicBezTo>
                    <a:pt x="0" y="236855"/>
                    <a:pt x="236855" y="0"/>
                    <a:pt x="528955" y="0"/>
                  </a:cubicBezTo>
                  <a:lnTo>
                    <a:pt x="528955" y="16891"/>
                  </a:lnTo>
                  <a:lnTo>
                    <a:pt x="528955" y="0"/>
                  </a:lnTo>
                  <a:cubicBezTo>
                    <a:pt x="821055" y="0"/>
                    <a:pt x="1057910" y="236855"/>
                    <a:pt x="1057910" y="528955"/>
                  </a:cubicBezTo>
                  <a:lnTo>
                    <a:pt x="1041019" y="528955"/>
                  </a:lnTo>
                  <a:lnTo>
                    <a:pt x="1057910" y="528955"/>
                  </a:lnTo>
                  <a:cubicBezTo>
                    <a:pt x="1057910" y="821055"/>
                    <a:pt x="821055" y="1057910"/>
                    <a:pt x="528955" y="1057910"/>
                  </a:cubicBezTo>
                  <a:lnTo>
                    <a:pt x="528955" y="1041019"/>
                  </a:lnTo>
                  <a:lnTo>
                    <a:pt x="528955" y="1057910"/>
                  </a:lnTo>
                  <a:cubicBezTo>
                    <a:pt x="236855" y="1058037"/>
                    <a:pt x="0" y="821182"/>
                    <a:pt x="0" y="528955"/>
                  </a:cubicBezTo>
                  <a:lnTo>
                    <a:pt x="16891" y="528955"/>
                  </a:lnTo>
                  <a:lnTo>
                    <a:pt x="33909" y="528955"/>
                  </a:lnTo>
                  <a:lnTo>
                    <a:pt x="16891" y="528955"/>
                  </a:lnTo>
                  <a:lnTo>
                    <a:pt x="0" y="528955"/>
                  </a:lnTo>
                  <a:moveTo>
                    <a:pt x="33909" y="528955"/>
                  </a:moveTo>
                  <a:cubicBezTo>
                    <a:pt x="33909" y="538353"/>
                    <a:pt x="26289" y="545846"/>
                    <a:pt x="17018" y="545846"/>
                  </a:cubicBezTo>
                  <a:cubicBezTo>
                    <a:pt x="7747" y="545846"/>
                    <a:pt x="0" y="538353"/>
                    <a:pt x="0" y="528955"/>
                  </a:cubicBezTo>
                  <a:cubicBezTo>
                    <a:pt x="0" y="519557"/>
                    <a:pt x="7620" y="512064"/>
                    <a:pt x="16891" y="512064"/>
                  </a:cubicBezTo>
                  <a:cubicBezTo>
                    <a:pt x="26162" y="512064"/>
                    <a:pt x="33782" y="519684"/>
                    <a:pt x="33782" y="528955"/>
                  </a:cubicBezTo>
                  <a:cubicBezTo>
                    <a:pt x="33782" y="802386"/>
                    <a:pt x="255397" y="1024128"/>
                    <a:pt x="528955" y="1024128"/>
                  </a:cubicBezTo>
                  <a:cubicBezTo>
                    <a:pt x="802386" y="1024128"/>
                    <a:pt x="1024128" y="802513"/>
                    <a:pt x="1024128" y="528955"/>
                  </a:cubicBezTo>
                  <a:cubicBezTo>
                    <a:pt x="1024128" y="255524"/>
                    <a:pt x="802513" y="33782"/>
                    <a:pt x="528955" y="33782"/>
                  </a:cubicBezTo>
                  <a:lnTo>
                    <a:pt x="528955" y="16891"/>
                  </a:lnTo>
                  <a:lnTo>
                    <a:pt x="528955" y="33909"/>
                  </a:lnTo>
                  <a:cubicBezTo>
                    <a:pt x="255524" y="33909"/>
                    <a:pt x="33909" y="255524"/>
                    <a:pt x="33909" y="528955"/>
                  </a:cubicBezTo>
                  <a:close/>
                </a:path>
              </a:pathLst>
            </a:custGeom>
            <a:solidFill>
              <a:srgbClr val="10B981"/>
            </a:solidFill>
          </p:spPr>
        </p:sp>
      </p:grpSp>
      <p:grpSp>
        <p:nvGrpSpPr>
          <p:cNvPr name="Group 74" id="74"/>
          <p:cNvGrpSpPr/>
          <p:nvPr/>
        </p:nvGrpSpPr>
        <p:grpSpPr>
          <a:xfrm rot="0">
            <a:off x="859536" y="7223760"/>
            <a:ext cx="768096" cy="768096"/>
            <a:chOff x="0" y="0"/>
            <a:chExt cx="1024128" cy="1024128"/>
          </a:xfrm>
        </p:grpSpPr>
        <p:sp>
          <p:nvSpPr>
            <p:cNvPr name="Freeform 75" id="75"/>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76" id="76"/>
            <p:cNvSpPr txBox="true"/>
            <p:nvPr/>
          </p:nvSpPr>
          <p:spPr>
            <a:xfrm>
              <a:off x="0" y="-47625"/>
              <a:ext cx="1024128" cy="1071753"/>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05</a:t>
              </a:r>
            </a:p>
          </p:txBody>
        </p:sp>
      </p:grpSp>
      <p:grpSp>
        <p:nvGrpSpPr>
          <p:cNvPr name="Group 77" id="77"/>
          <p:cNvGrpSpPr/>
          <p:nvPr/>
        </p:nvGrpSpPr>
        <p:grpSpPr>
          <a:xfrm rot="0">
            <a:off x="1828800" y="7223760"/>
            <a:ext cx="7040880" cy="585216"/>
            <a:chOff x="0" y="0"/>
            <a:chExt cx="9387840" cy="780288"/>
          </a:xfrm>
        </p:grpSpPr>
        <p:sp>
          <p:nvSpPr>
            <p:cNvPr name="Freeform 78" id="78"/>
            <p:cNvSpPr/>
            <p:nvPr/>
          </p:nvSpPr>
          <p:spPr>
            <a:xfrm flipH="false" flipV="false" rot="0">
              <a:off x="0" y="0"/>
              <a:ext cx="9387840" cy="780288"/>
            </a:xfrm>
            <a:custGeom>
              <a:avLst/>
              <a:gdLst/>
              <a:ahLst/>
              <a:cxnLst/>
              <a:rect r="r" b="b" t="t" l="l"/>
              <a:pathLst>
                <a:path h="780288" w="9387840">
                  <a:moveTo>
                    <a:pt x="0" y="0"/>
                  </a:moveTo>
                  <a:lnTo>
                    <a:pt x="9387840" y="0"/>
                  </a:lnTo>
                  <a:lnTo>
                    <a:pt x="9387840" y="780288"/>
                  </a:lnTo>
                  <a:lnTo>
                    <a:pt x="0" y="780288"/>
                  </a:lnTo>
                  <a:close/>
                </a:path>
              </a:pathLst>
            </a:custGeom>
            <a:blipFill>
              <a:blip r:embed="rId3">
                <a:alphaModFix amt="0"/>
              </a:blip>
              <a:stretch>
                <a:fillRect l="0" t="-184429" r="0" b="-184429"/>
              </a:stretch>
            </a:blipFill>
          </p:spPr>
        </p:sp>
        <p:sp>
          <p:nvSpPr>
            <p:cNvPr name="TextBox 79" id="79"/>
            <p:cNvSpPr txBox="true"/>
            <p:nvPr/>
          </p:nvSpPr>
          <p:spPr>
            <a:xfrm>
              <a:off x="0" y="-47625"/>
              <a:ext cx="9387840" cy="827913"/>
            </a:xfrm>
            <a:prstGeom prst="rect">
              <a:avLst/>
            </a:prstGeom>
          </p:spPr>
          <p:txBody>
            <a:bodyPr anchor="ctr" rtlCol="false" tIns="0" lIns="0" bIns="0" rIns="0"/>
            <a:lstStyle/>
            <a:p>
              <a:pPr algn="l">
                <a:lnSpc>
                  <a:spcPts val="2520"/>
                </a:lnSpc>
              </a:pPr>
              <a:r>
                <a:rPr lang="en-US" sz="2100" b="true">
                  <a:solidFill>
                    <a:srgbClr val="10B981"/>
                  </a:solidFill>
                  <a:latin typeface="Calibri (MS) Bold"/>
                  <a:ea typeface="Calibri (MS) Bold"/>
                  <a:cs typeface="Calibri (MS) Bold"/>
                  <a:sym typeface="Calibri (MS) Bold"/>
                </a:rPr>
                <a:t>Develop a predictive AI model</a:t>
              </a:r>
            </a:p>
          </p:txBody>
        </p:sp>
      </p:grpSp>
      <p:grpSp>
        <p:nvGrpSpPr>
          <p:cNvPr name="Group 80" id="80"/>
          <p:cNvGrpSpPr/>
          <p:nvPr/>
        </p:nvGrpSpPr>
        <p:grpSpPr>
          <a:xfrm rot="0">
            <a:off x="1828800" y="7882128"/>
            <a:ext cx="7040880" cy="1426464"/>
            <a:chOff x="0" y="0"/>
            <a:chExt cx="9387840" cy="1901952"/>
          </a:xfrm>
        </p:grpSpPr>
        <p:sp>
          <p:nvSpPr>
            <p:cNvPr name="Freeform 81" id="81"/>
            <p:cNvSpPr/>
            <p:nvPr/>
          </p:nvSpPr>
          <p:spPr>
            <a:xfrm flipH="false" flipV="false" rot="0">
              <a:off x="0" y="0"/>
              <a:ext cx="9387840" cy="1901952"/>
            </a:xfrm>
            <a:custGeom>
              <a:avLst/>
              <a:gdLst/>
              <a:ahLst/>
              <a:cxnLst/>
              <a:rect r="r" b="b" t="t" l="l"/>
              <a:pathLst>
                <a:path h="1901952" w="9387840">
                  <a:moveTo>
                    <a:pt x="0" y="0"/>
                  </a:moveTo>
                  <a:lnTo>
                    <a:pt x="9387840" y="0"/>
                  </a:lnTo>
                  <a:lnTo>
                    <a:pt x="9387840" y="1901952"/>
                  </a:lnTo>
                  <a:lnTo>
                    <a:pt x="0" y="1901952"/>
                  </a:lnTo>
                  <a:close/>
                </a:path>
              </a:pathLst>
            </a:custGeom>
            <a:blipFill>
              <a:blip r:embed="rId3">
                <a:alphaModFix amt="0"/>
              </a:blip>
              <a:stretch>
                <a:fillRect l="0" t="-46176" r="0" b="-46176"/>
              </a:stretch>
            </a:blipFill>
          </p:spPr>
        </p:sp>
        <p:sp>
          <p:nvSpPr>
            <p:cNvPr name="TextBox 82" id="82"/>
            <p:cNvSpPr txBox="true"/>
            <p:nvPr/>
          </p:nvSpPr>
          <p:spPr>
            <a:xfrm>
              <a:off x="0" y="-38100"/>
              <a:ext cx="9387840" cy="19400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Train a model that forecasts the next likely disease for each patient, with probability scores, time-horizon estimates, and SHAP-based explanations.</a:t>
              </a:r>
            </a:p>
          </p:txBody>
        </p:sp>
      </p:grpSp>
      <p:grpSp>
        <p:nvGrpSpPr>
          <p:cNvPr name="Group 83" id="83"/>
          <p:cNvGrpSpPr/>
          <p:nvPr/>
        </p:nvGrpSpPr>
        <p:grpSpPr>
          <a:xfrm rot="0">
            <a:off x="9448543" y="7034527"/>
            <a:ext cx="8425177" cy="2536441"/>
            <a:chOff x="0" y="0"/>
            <a:chExt cx="11233569" cy="3381921"/>
          </a:xfrm>
        </p:grpSpPr>
        <p:sp>
          <p:nvSpPr>
            <p:cNvPr name="Freeform 84" id="84"/>
            <p:cNvSpPr/>
            <p:nvPr/>
          </p:nvSpPr>
          <p:spPr>
            <a:xfrm flipH="false" flipV="false" rot="0">
              <a:off x="8509" y="8509"/>
              <a:ext cx="11216640" cy="3364992"/>
            </a:xfrm>
            <a:custGeom>
              <a:avLst/>
              <a:gdLst/>
              <a:ahLst/>
              <a:cxnLst/>
              <a:rect r="r" b="b" t="t" l="l"/>
              <a:pathLst>
                <a:path h="3364992" w="11216640">
                  <a:moveTo>
                    <a:pt x="0" y="0"/>
                  </a:moveTo>
                  <a:lnTo>
                    <a:pt x="11216640" y="0"/>
                  </a:lnTo>
                  <a:lnTo>
                    <a:pt x="11216640" y="3364992"/>
                  </a:lnTo>
                  <a:lnTo>
                    <a:pt x="0" y="3364992"/>
                  </a:lnTo>
                  <a:close/>
                </a:path>
              </a:pathLst>
            </a:custGeom>
            <a:solidFill>
              <a:srgbClr val="0D1F38"/>
            </a:solidFill>
          </p:spPr>
        </p:sp>
        <p:sp>
          <p:nvSpPr>
            <p:cNvPr name="Freeform 85" id="85"/>
            <p:cNvSpPr/>
            <p:nvPr/>
          </p:nvSpPr>
          <p:spPr>
            <a:xfrm flipH="false" flipV="false" rot="0">
              <a:off x="0" y="0"/>
              <a:ext cx="11233658" cy="3382010"/>
            </a:xfrm>
            <a:custGeom>
              <a:avLst/>
              <a:gdLst/>
              <a:ahLst/>
              <a:cxnLst/>
              <a:rect r="r" b="b" t="t" l="l"/>
              <a:pathLst>
                <a:path h="3382010" w="11233658">
                  <a:moveTo>
                    <a:pt x="8509" y="0"/>
                  </a:moveTo>
                  <a:lnTo>
                    <a:pt x="11225149" y="0"/>
                  </a:lnTo>
                  <a:cubicBezTo>
                    <a:pt x="11229848" y="0"/>
                    <a:pt x="11233658" y="3810"/>
                    <a:pt x="11233658" y="8509"/>
                  </a:cubicBezTo>
                  <a:lnTo>
                    <a:pt x="11233658" y="3373501"/>
                  </a:lnTo>
                  <a:cubicBezTo>
                    <a:pt x="11233658" y="3378200"/>
                    <a:pt x="11229848" y="3382010"/>
                    <a:pt x="11225149" y="3382010"/>
                  </a:cubicBezTo>
                  <a:lnTo>
                    <a:pt x="8509" y="3382010"/>
                  </a:lnTo>
                  <a:cubicBezTo>
                    <a:pt x="3810" y="3382010"/>
                    <a:pt x="0" y="3378200"/>
                    <a:pt x="0" y="3373501"/>
                  </a:cubicBezTo>
                  <a:lnTo>
                    <a:pt x="0" y="8509"/>
                  </a:lnTo>
                  <a:cubicBezTo>
                    <a:pt x="0" y="3810"/>
                    <a:pt x="3810" y="0"/>
                    <a:pt x="8509" y="0"/>
                  </a:cubicBezTo>
                  <a:moveTo>
                    <a:pt x="8509" y="16891"/>
                  </a:moveTo>
                  <a:lnTo>
                    <a:pt x="8509" y="8509"/>
                  </a:lnTo>
                  <a:lnTo>
                    <a:pt x="17018" y="8509"/>
                  </a:lnTo>
                  <a:lnTo>
                    <a:pt x="17018" y="3373501"/>
                  </a:lnTo>
                  <a:lnTo>
                    <a:pt x="8509" y="3373501"/>
                  </a:lnTo>
                  <a:lnTo>
                    <a:pt x="8509" y="3364992"/>
                  </a:lnTo>
                  <a:lnTo>
                    <a:pt x="11225149" y="3364992"/>
                  </a:lnTo>
                  <a:lnTo>
                    <a:pt x="11225149" y="3373501"/>
                  </a:lnTo>
                  <a:lnTo>
                    <a:pt x="11216640" y="3373501"/>
                  </a:lnTo>
                  <a:lnTo>
                    <a:pt x="11216640" y="8509"/>
                  </a:lnTo>
                  <a:lnTo>
                    <a:pt x="11225149" y="8509"/>
                  </a:lnTo>
                  <a:lnTo>
                    <a:pt x="11225149" y="17018"/>
                  </a:lnTo>
                  <a:lnTo>
                    <a:pt x="8509" y="17018"/>
                  </a:lnTo>
                  <a:close/>
                </a:path>
              </a:pathLst>
            </a:custGeom>
            <a:solidFill>
              <a:srgbClr val="14B8A6"/>
            </a:solidFill>
          </p:spPr>
        </p:sp>
      </p:grpSp>
      <p:grpSp>
        <p:nvGrpSpPr>
          <p:cNvPr name="Group 86" id="86"/>
          <p:cNvGrpSpPr/>
          <p:nvPr/>
        </p:nvGrpSpPr>
        <p:grpSpPr>
          <a:xfrm rot="0">
            <a:off x="9661655" y="7211063"/>
            <a:ext cx="793499" cy="793499"/>
            <a:chOff x="0" y="0"/>
            <a:chExt cx="1057999" cy="1057999"/>
          </a:xfrm>
        </p:grpSpPr>
        <p:sp>
          <p:nvSpPr>
            <p:cNvPr name="Freeform 87" id="87"/>
            <p:cNvSpPr/>
            <p:nvPr/>
          </p:nvSpPr>
          <p:spPr>
            <a:xfrm flipH="false" flipV="false" rot="0">
              <a:off x="16891" y="16891"/>
              <a:ext cx="1024128" cy="1024128"/>
            </a:xfrm>
            <a:custGeom>
              <a:avLst/>
              <a:gdLst/>
              <a:ahLst/>
              <a:cxnLst/>
              <a:rect r="r" b="b" t="t" l="l"/>
              <a:pathLst>
                <a:path h="1024128" w="1024128">
                  <a:moveTo>
                    <a:pt x="0" y="512064"/>
                  </a:moveTo>
                  <a:cubicBezTo>
                    <a:pt x="0" y="229235"/>
                    <a:pt x="229235" y="0"/>
                    <a:pt x="512064" y="0"/>
                  </a:cubicBezTo>
                  <a:cubicBezTo>
                    <a:pt x="794893" y="0"/>
                    <a:pt x="1024128" y="229362"/>
                    <a:pt x="1024128" y="512064"/>
                  </a:cubicBezTo>
                  <a:cubicBezTo>
                    <a:pt x="1024128" y="794766"/>
                    <a:pt x="794893" y="1024128"/>
                    <a:pt x="512064" y="1024128"/>
                  </a:cubicBezTo>
                  <a:cubicBezTo>
                    <a:pt x="229235" y="1024128"/>
                    <a:pt x="0" y="794893"/>
                    <a:pt x="0" y="512064"/>
                  </a:cubicBezTo>
                  <a:close/>
                </a:path>
              </a:pathLst>
            </a:custGeom>
            <a:solidFill>
              <a:srgbClr val="14B8A6"/>
            </a:solidFill>
          </p:spPr>
        </p:sp>
        <p:sp>
          <p:nvSpPr>
            <p:cNvPr name="Freeform 88" id="88"/>
            <p:cNvSpPr/>
            <p:nvPr/>
          </p:nvSpPr>
          <p:spPr>
            <a:xfrm flipH="false" flipV="false" rot="0">
              <a:off x="0" y="0"/>
              <a:ext cx="1057910" cy="1057910"/>
            </a:xfrm>
            <a:custGeom>
              <a:avLst/>
              <a:gdLst/>
              <a:ahLst/>
              <a:cxnLst/>
              <a:rect r="r" b="b" t="t" l="l"/>
              <a:pathLst>
                <a:path h="1057910" w="1057910">
                  <a:moveTo>
                    <a:pt x="0" y="528955"/>
                  </a:moveTo>
                  <a:cubicBezTo>
                    <a:pt x="0" y="236855"/>
                    <a:pt x="236855" y="0"/>
                    <a:pt x="528955" y="0"/>
                  </a:cubicBezTo>
                  <a:lnTo>
                    <a:pt x="528955" y="16891"/>
                  </a:lnTo>
                  <a:lnTo>
                    <a:pt x="528955" y="0"/>
                  </a:lnTo>
                  <a:cubicBezTo>
                    <a:pt x="821055" y="0"/>
                    <a:pt x="1057910" y="236855"/>
                    <a:pt x="1057910" y="528955"/>
                  </a:cubicBezTo>
                  <a:lnTo>
                    <a:pt x="1041019" y="528955"/>
                  </a:lnTo>
                  <a:lnTo>
                    <a:pt x="1057910" y="528955"/>
                  </a:lnTo>
                  <a:cubicBezTo>
                    <a:pt x="1057910" y="821055"/>
                    <a:pt x="821055" y="1057910"/>
                    <a:pt x="528955" y="1057910"/>
                  </a:cubicBezTo>
                  <a:lnTo>
                    <a:pt x="528955" y="1041019"/>
                  </a:lnTo>
                  <a:lnTo>
                    <a:pt x="528955" y="1057910"/>
                  </a:lnTo>
                  <a:cubicBezTo>
                    <a:pt x="236855" y="1058037"/>
                    <a:pt x="0" y="821182"/>
                    <a:pt x="0" y="528955"/>
                  </a:cubicBezTo>
                  <a:lnTo>
                    <a:pt x="16891" y="528955"/>
                  </a:lnTo>
                  <a:lnTo>
                    <a:pt x="33909" y="528955"/>
                  </a:lnTo>
                  <a:lnTo>
                    <a:pt x="16891" y="528955"/>
                  </a:lnTo>
                  <a:lnTo>
                    <a:pt x="0" y="528955"/>
                  </a:lnTo>
                  <a:moveTo>
                    <a:pt x="33909" y="528955"/>
                  </a:moveTo>
                  <a:cubicBezTo>
                    <a:pt x="33909" y="538353"/>
                    <a:pt x="26289" y="545846"/>
                    <a:pt x="17018" y="545846"/>
                  </a:cubicBezTo>
                  <a:cubicBezTo>
                    <a:pt x="7747" y="545846"/>
                    <a:pt x="0" y="538353"/>
                    <a:pt x="0" y="528955"/>
                  </a:cubicBezTo>
                  <a:cubicBezTo>
                    <a:pt x="0" y="519557"/>
                    <a:pt x="7620" y="512064"/>
                    <a:pt x="16891" y="512064"/>
                  </a:cubicBezTo>
                  <a:cubicBezTo>
                    <a:pt x="26162" y="512064"/>
                    <a:pt x="33782" y="519684"/>
                    <a:pt x="33782" y="528955"/>
                  </a:cubicBezTo>
                  <a:cubicBezTo>
                    <a:pt x="33782" y="802386"/>
                    <a:pt x="255397" y="1024128"/>
                    <a:pt x="528955" y="1024128"/>
                  </a:cubicBezTo>
                  <a:cubicBezTo>
                    <a:pt x="802386" y="1024128"/>
                    <a:pt x="1024128" y="802513"/>
                    <a:pt x="1024128" y="528955"/>
                  </a:cubicBezTo>
                  <a:cubicBezTo>
                    <a:pt x="1024128" y="255524"/>
                    <a:pt x="802513" y="33782"/>
                    <a:pt x="528955" y="33782"/>
                  </a:cubicBezTo>
                  <a:lnTo>
                    <a:pt x="528955" y="16891"/>
                  </a:lnTo>
                  <a:lnTo>
                    <a:pt x="528955" y="33909"/>
                  </a:lnTo>
                  <a:cubicBezTo>
                    <a:pt x="255524" y="33909"/>
                    <a:pt x="33909" y="255524"/>
                    <a:pt x="33909" y="528955"/>
                  </a:cubicBezTo>
                  <a:close/>
                </a:path>
              </a:pathLst>
            </a:custGeom>
            <a:solidFill>
              <a:srgbClr val="14B8A6"/>
            </a:solidFill>
          </p:spPr>
        </p:sp>
      </p:grpSp>
      <p:grpSp>
        <p:nvGrpSpPr>
          <p:cNvPr name="Group 89" id="89"/>
          <p:cNvGrpSpPr/>
          <p:nvPr/>
        </p:nvGrpSpPr>
        <p:grpSpPr>
          <a:xfrm rot="0">
            <a:off x="9674352" y="7223760"/>
            <a:ext cx="768096" cy="768096"/>
            <a:chOff x="0" y="0"/>
            <a:chExt cx="1024128" cy="1024128"/>
          </a:xfrm>
        </p:grpSpPr>
        <p:sp>
          <p:nvSpPr>
            <p:cNvPr name="Freeform 90" id="90"/>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91" id="91"/>
            <p:cNvSpPr txBox="true"/>
            <p:nvPr/>
          </p:nvSpPr>
          <p:spPr>
            <a:xfrm>
              <a:off x="0" y="-47625"/>
              <a:ext cx="1024128" cy="1071753"/>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06</a:t>
              </a:r>
            </a:p>
          </p:txBody>
        </p:sp>
      </p:grpSp>
      <p:grpSp>
        <p:nvGrpSpPr>
          <p:cNvPr name="Group 92" id="92"/>
          <p:cNvGrpSpPr/>
          <p:nvPr/>
        </p:nvGrpSpPr>
        <p:grpSpPr>
          <a:xfrm rot="0">
            <a:off x="10643616" y="7223760"/>
            <a:ext cx="7040880" cy="585216"/>
            <a:chOff x="0" y="0"/>
            <a:chExt cx="9387840" cy="780288"/>
          </a:xfrm>
        </p:grpSpPr>
        <p:sp>
          <p:nvSpPr>
            <p:cNvPr name="Freeform 93" id="93"/>
            <p:cNvSpPr/>
            <p:nvPr/>
          </p:nvSpPr>
          <p:spPr>
            <a:xfrm flipH="false" flipV="false" rot="0">
              <a:off x="0" y="0"/>
              <a:ext cx="9387840" cy="780288"/>
            </a:xfrm>
            <a:custGeom>
              <a:avLst/>
              <a:gdLst/>
              <a:ahLst/>
              <a:cxnLst/>
              <a:rect r="r" b="b" t="t" l="l"/>
              <a:pathLst>
                <a:path h="780288" w="9387840">
                  <a:moveTo>
                    <a:pt x="0" y="0"/>
                  </a:moveTo>
                  <a:lnTo>
                    <a:pt x="9387840" y="0"/>
                  </a:lnTo>
                  <a:lnTo>
                    <a:pt x="9387840" y="780288"/>
                  </a:lnTo>
                  <a:lnTo>
                    <a:pt x="0" y="780288"/>
                  </a:lnTo>
                  <a:close/>
                </a:path>
              </a:pathLst>
            </a:custGeom>
            <a:blipFill>
              <a:blip r:embed="rId3">
                <a:alphaModFix amt="0"/>
              </a:blip>
              <a:stretch>
                <a:fillRect l="0" t="-184429" r="0" b="-184429"/>
              </a:stretch>
            </a:blipFill>
          </p:spPr>
        </p:sp>
        <p:sp>
          <p:nvSpPr>
            <p:cNvPr name="TextBox 94" id="94"/>
            <p:cNvSpPr txBox="true"/>
            <p:nvPr/>
          </p:nvSpPr>
          <p:spPr>
            <a:xfrm>
              <a:off x="0" y="-47625"/>
              <a:ext cx="9387840" cy="827913"/>
            </a:xfrm>
            <a:prstGeom prst="rect">
              <a:avLst/>
            </a:prstGeom>
          </p:spPr>
          <p:txBody>
            <a:bodyPr anchor="ctr" rtlCol="false" tIns="0" lIns="0" bIns="0" rIns="0"/>
            <a:lstStyle/>
            <a:p>
              <a:pPr algn="l">
                <a:lnSpc>
                  <a:spcPts val="2520"/>
                </a:lnSpc>
              </a:pPr>
              <a:r>
                <a:rPr lang="en-US" sz="2100" b="true">
                  <a:solidFill>
                    <a:srgbClr val="14B8A6"/>
                  </a:solidFill>
                  <a:latin typeface="Calibri (MS) Bold"/>
                  <a:ea typeface="Calibri (MS) Bold"/>
                  <a:cs typeface="Calibri (MS) Bold"/>
                  <a:sym typeface="Calibri (MS) Bold"/>
                </a:rPr>
                <a:t>Enable early clinical intervention</a:t>
              </a:r>
            </a:p>
          </p:txBody>
        </p:sp>
      </p:grpSp>
      <p:grpSp>
        <p:nvGrpSpPr>
          <p:cNvPr name="Group 95" id="95"/>
          <p:cNvGrpSpPr/>
          <p:nvPr/>
        </p:nvGrpSpPr>
        <p:grpSpPr>
          <a:xfrm rot="0">
            <a:off x="10643616" y="7882128"/>
            <a:ext cx="7040880" cy="1426464"/>
            <a:chOff x="0" y="0"/>
            <a:chExt cx="9387840" cy="1901952"/>
          </a:xfrm>
        </p:grpSpPr>
        <p:sp>
          <p:nvSpPr>
            <p:cNvPr name="Freeform 96" id="96"/>
            <p:cNvSpPr/>
            <p:nvPr/>
          </p:nvSpPr>
          <p:spPr>
            <a:xfrm flipH="false" flipV="false" rot="0">
              <a:off x="0" y="0"/>
              <a:ext cx="9387840" cy="1901952"/>
            </a:xfrm>
            <a:custGeom>
              <a:avLst/>
              <a:gdLst/>
              <a:ahLst/>
              <a:cxnLst/>
              <a:rect r="r" b="b" t="t" l="l"/>
              <a:pathLst>
                <a:path h="1901952" w="9387840">
                  <a:moveTo>
                    <a:pt x="0" y="0"/>
                  </a:moveTo>
                  <a:lnTo>
                    <a:pt x="9387840" y="0"/>
                  </a:lnTo>
                  <a:lnTo>
                    <a:pt x="9387840" y="1901952"/>
                  </a:lnTo>
                  <a:lnTo>
                    <a:pt x="0" y="1901952"/>
                  </a:lnTo>
                  <a:close/>
                </a:path>
              </a:pathLst>
            </a:custGeom>
            <a:blipFill>
              <a:blip r:embed="rId3">
                <a:alphaModFix amt="0"/>
              </a:blip>
              <a:stretch>
                <a:fillRect l="0" t="-46176" r="0" b="-46176"/>
              </a:stretch>
            </a:blipFill>
          </p:spPr>
        </p:sp>
        <p:sp>
          <p:nvSpPr>
            <p:cNvPr name="TextBox 97" id="97"/>
            <p:cNvSpPr txBox="true"/>
            <p:nvPr/>
          </p:nvSpPr>
          <p:spPr>
            <a:xfrm>
              <a:off x="0" y="-38100"/>
              <a:ext cx="9387840" cy="194005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Deliver actionable risk scores and recommended preventive measures to doctors before a disease develops — shifting care from reactive to preventive.</a:t>
              </a:r>
            </a:p>
          </p:txBody>
        </p:sp>
      </p:grpSp>
      <p:grpSp>
        <p:nvGrpSpPr>
          <p:cNvPr name="Group 98" id="98"/>
          <p:cNvGrpSpPr/>
          <p:nvPr/>
        </p:nvGrpSpPr>
        <p:grpSpPr>
          <a:xfrm rot="0">
            <a:off x="-12697" y="9588503"/>
            <a:ext cx="18313403" cy="711203"/>
            <a:chOff x="0" y="0"/>
            <a:chExt cx="24417871" cy="948271"/>
          </a:xfrm>
        </p:grpSpPr>
        <p:sp>
          <p:nvSpPr>
            <p:cNvPr name="Freeform 99" id="99"/>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100" id="100"/>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101" id="101"/>
          <p:cNvGrpSpPr/>
          <p:nvPr/>
        </p:nvGrpSpPr>
        <p:grpSpPr>
          <a:xfrm rot="0">
            <a:off x="731520" y="9637776"/>
            <a:ext cx="16824960" cy="585216"/>
            <a:chOff x="0" y="0"/>
            <a:chExt cx="22433280" cy="780288"/>
          </a:xfrm>
        </p:grpSpPr>
        <p:sp>
          <p:nvSpPr>
            <p:cNvPr name="Freeform 102" id="102"/>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103" id="103"/>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A162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A162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14B8A6"/>
                  </a:solidFill>
                  <a:latin typeface="Calibri (MS) Bold"/>
                  <a:ea typeface="Calibri (MS) Bold"/>
                  <a:cs typeface="Calibri (MS) Bold"/>
                  <a:sym typeface="Calibri (MS) Bold"/>
                </a:rPr>
                <a:t>IMPACT</a:t>
              </a:r>
            </a:p>
          </p:txBody>
        </p:sp>
      </p:grpSp>
      <p:grpSp>
        <p:nvGrpSpPr>
          <p:cNvPr name="Group 8" id="8"/>
          <p:cNvGrpSpPr/>
          <p:nvPr/>
        </p:nvGrpSpPr>
        <p:grpSpPr>
          <a:xfrm rot="0">
            <a:off x="694944" y="1371600"/>
            <a:ext cx="16824960" cy="768096"/>
            <a:chOff x="0" y="0"/>
            <a:chExt cx="22433280" cy="1024128"/>
          </a:xfrm>
        </p:grpSpPr>
        <p:sp>
          <p:nvSpPr>
            <p:cNvPr name="Freeform 9" id="9"/>
            <p:cNvSpPr/>
            <p:nvPr/>
          </p:nvSpPr>
          <p:spPr>
            <a:xfrm flipH="false" flipV="false" rot="0">
              <a:off x="0" y="0"/>
              <a:ext cx="22433280" cy="1024128"/>
            </a:xfrm>
            <a:custGeom>
              <a:avLst/>
              <a:gdLst/>
              <a:ahLst/>
              <a:cxnLst/>
              <a:rect r="r" b="b" t="t" l="l"/>
              <a:pathLst>
                <a:path h="1024128" w="22433280">
                  <a:moveTo>
                    <a:pt x="0" y="0"/>
                  </a:moveTo>
                  <a:lnTo>
                    <a:pt x="22433280" y="0"/>
                  </a:lnTo>
                  <a:lnTo>
                    <a:pt x="22433280" y="1024128"/>
                  </a:lnTo>
                  <a:lnTo>
                    <a:pt x="0" y="1024128"/>
                  </a:lnTo>
                  <a:close/>
                </a:path>
              </a:pathLst>
            </a:custGeom>
            <a:blipFill>
              <a:blip r:embed="rId3">
                <a:alphaModFix amt="0"/>
              </a:blip>
              <a:stretch>
                <a:fillRect l="0" t="-376815" r="0" b="-376815"/>
              </a:stretch>
            </a:blipFill>
          </p:spPr>
        </p:sp>
        <p:sp>
          <p:nvSpPr>
            <p:cNvPr name="TextBox 10" id="10"/>
            <p:cNvSpPr txBox="true"/>
            <p:nvPr/>
          </p:nvSpPr>
          <p:spPr>
            <a:xfrm>
              <a:off x="0" y="-57150"/>
              <a:ext cx="22433280" cy="1081278"/>
            </a:xfrm>
            <a:prstGeom prst="rect">
              <a:avLst/>
            </a:prstGeom>
          </p:spPr>
          <p:txBody>
            <a:bodyPr anchor="ctr" rtlCol="false" tIns="0" lIns="0" bIns="0" rIns="0"/>
            <a:lstStyle/>
            <a:p>
              <a:pPr algn="l">
                <a:lnSpc>
                  <a:spcPts val="3840"/>
                </a:lnSpc>
              </a:pPr>
              <a:r>
                <a:rPr lang="en-US" sz="3200" b="true">
                  <a:solidFill>
                    <a:srgbClr val="0F172A"/>
                  </a:solidFill>
                  <a:latin typeface="Calibri (MS) Bold"/>
                  <a:ea typeface="Calibri (MS) Bold"/>
                  <a:cs typeface="Calibri (MS) Bold"/>
                  <a:sym typeface="Calibri (MS) Bold"/>
                </a:rPr>
                <a:t>MediPATH shifts healthcare from crisis-driven to prevention-first.</a:t>
              </a:r>
            </a:p>
          </p:txBody>
        </p:sp>
      </p:grpSp>
      <p:grpSp>
        <p:nvGrpSpPr>
          <p:cNvPr name="Group 11" id="11"/>
          <p:cNvGrpSpPr/>
          <p:nvPr/>
        </p:nvGrpSpPr>
        <p:grpSpPr>
          <a:xfrm rot="0">
            <a:off x="627383" y="2456183"/>
            <a:ext cx="5511803" cy="2860043"/>
            <a:chOff x="0" y="0"/>
            <a:chExt cx="7349071" cy="3813391"/>
          </a:xfrm>
        </p:grpSpPr>
        <p:sp>
          <p:nvSpPr>
            <p:cNvPr name="Freeform 12" id="12"/>
            <p:cNvSpPr/>
            <p:nvPr/>
          </p:nvSpPr>
          <p:spPr>
            <a:xfrm flipH="false" flipV="false" rot="0">
              <a:off x="16891" y="16891"/>
              <a:ext cx="7315200" cy="3779520"/>
            </a:xfrm>
            <a:custGeom>
              <a:avLst/>
              <a:gdLst/>
              <a:ahLst/>
              <a:cxnLst/>
              <a:rect r="r" b="b" t="t" l="l"/>
              <a:pathLst>
                <a:path h="3779520" w="7315200">
                  <a:moveTo>
                    <a:pt x="0" y="0"/>
                  </a:moveTo>
                  <a:lnTo>
                    <a:pt x="7315200" y="0"/>
                  </a:lnTo>
                  <a:lnTo>
                    <a:pt x="7315200" y="3779520"/>
                  </a:lnTo>
                  <a:lnTo>
                    <a:pt x="0" y="3779520"/>
                  </a:lnTo>
                  <a:close/>
                </a:path>
              </a:pathLst>
            </a:custGeom>
            <a:solidFill>
              <a:srgbClr val="FFFFFF"/>
            </a:solidFill>
          </p:spPr>
        </p:sp>
        <p:sp>
          <p:nvSpPr>
            <p:cNvPr name="Freeform 13" id="13"/>
            <p:cNvSpPr/>
            <p:nvPr/>
          </p:nvSpPr>
          <p:spPr>
            <a:xfrm flipH="false" flipV="false" rot="0">
              <a:off x="0" y="0"/>
              <a:ext cx="7348982" cy="3813302"/>
            </a:xfrm>
            <a:custGeom>
              <a:avLst/>
              <a:gdLst/>
              <a:ahLst/>
              <a:cxnLst/>
              <a:rect r="r" b="b" t="t" l="l"/>
              <a:pathLst>
                <a:path h="3813302" w="7348982">
                  <a:moveTo>
                    <a:pt x="16891" y="0"/>
                  </a:moveTo>
                  <a:lnTo>
                    <a:pt x="7332091" y="0"/>
                  </a:lnTo>
                  <a:cubicBezTo>
                    <a:pt x="7341489" y="0"/>
                    <a:pt x="7348982" y="7620"/>
                    <a:pt x="7348982" y="16891"/>
                  </a:cubicBezTo>
                  <a:lnTo>
                    <a:pt x="7348982" y="3796411"/>
                  </a:lnTo>
                  <a:cubicBezTo>
                    <a:pt x="7348982" y="3805809"/>
                    <a:pt x="7341362" y="3813302"/>
                    <a:pt x="73320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7332091" y="3779520"/>
                  </a:lnTo>
                  <a:lnTo>
                    <a:pt x="7332091" y="3796411"/>
                  </a:lnTo>
                  <a:lnTo>
                    <a:pt x="7315200" y="3796411"/>
                  </a:lnTo>
                  <a:lnTo>
                    <a:pt x="7315200" y="16891"/>
                  </a:lnTo>
                  <a:lnTo>
                    <a:pt x="7332091" y="16891"/>
                  </a:lnTo>
                  <a:lnTo>
                    <a:pt x="7332091" y="33909"/>
                  </a:lnTo>
                  <a:lnTo>
                    <a:pt x="16891" y="33909"/>
                  </a:lnTo>
                  <a:close/>
                </a:path>
              </a:pathLst>
            </a:custGeom>
            <a:solidFill>
              <a:srgbClr val="E2E8F0"/>
            </a:solidFill>
          </p:spPr>
        </p:sp>
      </p:grpSp>
      <p:grpSp>
        <p:nvGrpSpPr>
          <p:cNvPr name="Group 14" id="14"/>
          <p:cNvGrpSpPr/>
          <p:nvPr/>
        </p:nvGrpSpPr>
        <p:grpSpPr>
          <a:xfrm rot="0">
            <a:off x="627383" y="2456183"/>
            <a:ext cx="189995" cy="2860043"/>
            <a:chOff x="0" y="0"/>
            <a:chExt cx="253327" cy="3813391"/>
          </a:xfrm>
        </p:grpSpPr>
        <p:sp>
          <p:nvSpPr>
            <p:cNvPr name="Freeform 15" id="15"/>
            <p:cNvSpPr/>
            <p:nvPr/>
          </p:nvSpPr>
          <p:spPr>
            <a:xfrm flipH="false" flipV="false" rot="0">
              <a:off x="16891" y="16891"/>
              <a:ext cx="219456" cy="3779520"/>
            </a:xfrm>
            <a:custGeom>
              <a:avLst/>
              <a:gdLst/>
              <a:ahLst/>
              <a:cxnLst/>
              <a:rect r="r" b="b" t="t" l="l"/>
              <a:pathLst>
                <a:path h="3779520" w="219456">
                  <a:moveTo>
                    <a:pt x="0" y="0"/>
                  </a:moveTo>
                  <a:lnTo>
                    <a:pt x="219456" y="0"/>
                  </a:lnTo>
                  <a:lnTo>
                    <a:pt x="219456" y="3779520"/>
                  </a:lnTo>
                  <a:lnTo>
                    <a:pt x="0" y="3779520"/>
                  </a:lnTo>
                  <a:close/>
                </a:path>
              </a:pathLst>
            </a:custGeom>
            <a:solidFill>
              <a:srgbClr val="0D9488"/>
            </a:solidFill>
          </p:spPr>
        </p:sp>
        <p:sp>
          <p:nvSpPr>
            <p:cNvPr name="Freeform 16" id="16"/>
            <p:cNvSpPr/>
            <p:nvPr/>
          </p:nvSpPr>
          <p:spPr>
            <a:xfrm flipH="false" flipV="false" rot="0">
              <a:off x="0" y="0"/>
              <a:ext cx="253238" cy="3813302"/>
            </a:xfrm>
            <a:custGeom>
              <a:avLst/>
              <a:gdLst/>
              <a:ahLst/>
              <a:cxnLst/>
              <a:rect r="r" b="b" t="t" l="l"/>
              <a:pathLst>
                <a:path h="3813302" w="253238">
                  <a:moveTo>
                    <a:pt x="16891" y="0"/>
                  </a:moveTo>
                  <a:lnTo>
                    <a:pt x="236347" y="0"/>
                  </a:lnTo>
                  <a:cubicBezTo>
                    <a:pt x="245745" y="0"/>
                    <a:pt x="253238" y="7620"/>
                    <a:pt x="253238" y="16891"/>
                  </a:cubicBezTo>
                  <a:lnTo>
                    <a:pt x="253238" y="3796411"/>
                  </a:lnTo>
                  <a:cubicBezTo>
                    <a:pt x="253238" y="3805809"/>
                    <a:pt x="245618" y="3813302"/>
                    <a:pt x="236347"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236347" y="3779520"/>
                  </a:lnTo>
                  <a:lnTo>
                    <a:pt x="236347" y="3796411"/>
                  </a:lnTo>
                  <a:lnTo>
                    <a:pt x="219456" y="3796411"/>
                  </a:lnTo>
                  <a:lnTo>
                    <a:pt x="219456" y="16891"/>
                  </a:lnTo>
                  <a:lnTo>
                    <a:pt x="236347" y="16891"/>
                  </a:lnTo>
                  <a:lnTo>
                    <a:pt x="236347" y="33909"/>
                  </a:lnTo>
                  <a:lnTo>
                    <a:pt x="16891" y="33909"/>
                  </a:lnTo>
                  <a:close/>
                </a:path>
              </a:pathLst>
            </a:custGeom>
            <a:solidFill>
              <a:srgbClr val="0D9488"/>
            </a:solidFill>
          </p:spPr>
        </p:sp>
      </p:grpSp>
      <p:grpSp>
        <p:nvGrpSpPr>
          <p:cNvPr name="Group 17" id="17"/>
          <p:cNvGrpSpPr/>
          <p:nvPr/>
        </p:nvGrpSpPr>
        <p:grpSpPr>
          <a:xfrm rot="0">
            <a:off x="1005840" y="2651760"/>
            <a:ext cx="4937760" cy="585216"/>
            <a:chOff x="0" y="0"/>
            <a:chExt cx="6583680" cy="780288"/>
          </a:xfrm>
        </p:grpSpPr>
        <p:sp>
          <p:nvSpPr>
            <p:cNvPr name="Freeform 18" id="18"/>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sp>
        <p:sp>
          <p:nvSpPr>
            <p:cNvPr name="TextBox 19" id="19"/>
            <p:cNvSpPr txBox="true"/>
            <p:nvPr/>
          </p:nvSpPr>
          <p:spPr>
            <a:xfrm>
              <a:off x="0" y="-47625"/>
              <a:ext cx="6583680"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Early detection</a:t>
              </a:r>
            </a:p>
          </p:txBody>
        </p:sp>
      </p:grpSp>
      <p:grpSp>
        <p:nvGrpSpPr>
          <p:cNvPr name="Group 20" id="20"/>
          <p:cNvGrpSpPr/>
          <p:nvPr/>
        </p:nvGrpSpPr>
        <p:grpSpPr>
          <a:xfrm rot="0">
            <a:off x="1005840" y="3310128"/>
            <a:ext cx="5029200" cy="1792224"/>
            <a:chOff x="0" y="0"/>
            <a:chExt cx="6705600" cy="2389632"/>
          </a:xfrm>
        </p:grpSpPr>
        <p:sp>
          <p:nvSpPr>
            <p:cNvPr name="Freeform 21" id="21"/>
            <p:cNvSpPr/>
            <p:nvPr/>
          </p:nvSpPr>
          <p:spPr>
            <a:xfrm flipH="false" flipV="false" rot="0">
              <a:off x="0" y="0"/>
              <a:ext cx="6705600" cy="2389632"/>
            </a:xfrm>
            <a:custGeom>
              <a:avLst/>
              <a:gdLst/>
              <a:ahLst/>
              <a:cxnLst/>
              <a:rect r="r" b="b" t="t" l="l"/>
              <a:pathLst>
                <a:path h="2389632" w="6705600">
                  <a:moveTo>
                    <a:pt x="0" y="0"/>
                  </a:moveTo>
                  <a:lnTo>
                    <a:pt x="6705600" y="0"/>
                  </a:lnTo>
                  <a:lnTo>
                    <a:pt x="6705600" y="2389632"/>
                  </a:lnTo>
                  <a:lnTo>
                    <a:pt x="0" y="2389632"/>
                  </a:lnTo>
                  <a:close/>
                </a:path>
              </a:pathLst>
            </a:custGeom>
            <a:blipFill>
              <a:blip r:embed="rId3">
                <a:alphaModFix amt="0"/>
              </a:blip>
              <a:stretch>
                <a:fillRect l="0" t="-4677" r="0" b="-4677"/>
              </a:stretch>
            </a:blipFill>
          </p:spPr>
        </p:sp>
        <p:sp>
          <p:nvSpPr>
            <p:cNvPr name="TextBox 22" id="22"/>
            <p:cNvSpPr txBox="true"/>
            <p:nvPr/>
          </p:nvSpPr>
          <p:spPr>
            <a:xfrm>
              <a:off x="0" y="-38100"/>
              <a:ext cx="6705600" cy="2427732"/>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Identifies disease risk months or years before symptoms appear — enabling timely, affordable intervention while outcomes are still reversible.</a:t>
              </a:r>
            </a:p>
          </p:txBody>
        </p:sp>
      </p:grpSp>
      <p:grpSp>
        <p:nvGrpSpPr>
          <p:cNvPr name="Group 23" id="23"/>
          <p:cNvGrpSpPr/>
          <p:nvPr/>
        </p:nvGrpSpPr>
        <p:grpSpPr>
          <a:xfrm rot="0">
            <a:off x="6516119" y="2456183"/>
            <a:ext cx="5511803" cy="2860043"/>
            <a:chOff x="0" y="0"/>
            <a:chExt cx="7349071" cy="3813391"/>
          </a:xfrm>
        </p:grpSpPr>
        <p:sp>
          <p:nvSpPr>
            <p:cNvPr name="Freeform 24" id="24"/>
            <p:cNvSpPr/>
            <p:nvPr/>
          </p:nvSpPr>
          <p:spPr>
            <a:xfrm flipH="false" flipV="false" rot="0">
              <a:off x="16891" y="16891"/>
              <a:ext cx="7315200" cy="3779520"/>
            </a:xfrm>
            <a:custGeom>
              <a:avLst/>
              <a:gdLst/>
              <a:ahLst/>
              <a:cxnLst/>
              <a:rect r="r" b="b" t="t" l="l"/>
              <a:pathLst>
                <a:path h="3779520" w="7315200">
                  <a:moveTo>
                    <a:pt x="0" y="0"/>
                  </a:moveTo>
                  <a:lnTo>
                    <a:pt x="7315200" y="0"/>
                  </a:lnTo>
                  <a:lnTo>
                    <a:pt x="7315200" y="3779520"/>
                  </a:lnTo>
                  <a:lnTo>
                    <a:pt x="0" y="3779520"/>
                  </a:lnTo>
                  <a:close/>
                </a:path>
              </a:pathLst>
            </a:custGeom>
            <a:solidFill>
              <a:srgbClr val="FFFFFF"/>
            </a:solidFill>
          </p:spPr>
        </p:sp>
        <p:sp>
          <p:nvSpPr>
            <p:cNvPr name="Freeform 25" id="25"/>
            <p:cNvSpPr/>
            <p:nvPr/>
          </p:nvSpPr>
          <p:spPr>
            <a:xfrm flipH="false" flipV="false" rot="0">
              <a:off x="0" y="0"/>
              <a:ext cx="7348982" cy="3813302"/>
            </a:xfrm>
            <a:custGeom>
              <a:avLst/>
              <a:gdLst/>
              <a:ahLst/>
              <a:cxnLst/>
              <a:rect r="r" b="b" t="t" l="l"/>
              <a:pathLst>
                <a:path h="3813302" w="7348982">
                  <a:moveTo>
                    <a:pt x="16891" y="0"/>
                  </a:moveTo>
                  <a:lnTo>
                    <a:pt x="7332091" y="0"/>
                  </a:lnTo>
                  <a:cubicBezTo>
                    <a:pt x="7341489" y="0"/>
                    <a:pt x="7348982" y="7620"/>
                    <a:pt x="7348982" y="16891"/>
                  </a:cubicBezTo>
                  <a:lnTo>
                    <a:pt x="7348982" y="3796411"/>
                  </a:lnTo>
                  <a:cubicBezTo>
                    <a:pt x="7348982" y="3805809"/>
                    <a:pt x="7341362" y="3813302"/>
                    <a:pt x="73320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7332091" y="3779520"/>
                  </a:lnTo>
                  <a:lnTo>
                    <a:pt x="7332091" y="3796411"/>
                  </a:lnTo>
                  <a:lnTo>
                    <a:pt x="7315200" y="3796411"/>
                  </a:lnTo>
                  <a:lnTo>
                    <a:pt x="7315200" y="16891"/>
                  </a:lnTo>
                  <a:lnTo>
                    <a:pt x="7332091" y="16891"/>
                  </a:lnTo>
                  <a:lnTo>
                    <a:pt x="7332091" y="33909"/>
                  </a:lnTo>
                  <a:lnTo>
                    <a:pt x="16891" y="33909"/>
                  </a:lnTo>
                  <a:close/>
                </a:path>
              </a:pathLst>
            </a:custGeom>
            <a:solidFill>
              <a:srgbClr val="E2E8F0"/>
            </a:solidFill>
          </p:spPr>
        </p:sp>
      </p:grpSp>
      <p:grpSp>
        <p:nvGrpSpPr>
          <p:cNvPr name="Group 26" id="26"/>
          <p:cNvGrpSpPr/>
          <p:nvPr/>
        </p:nvGrpSpPr>
        <p:grpSpPr>
          <a:xfrm rot="0">
            <a:off x="6516119" y="2456183"/>
            <a:ext cx="189995" cy="2860043"/>
            <a:chOff x="0" y="0"/>
            <a:chExt cx="253327" cy="3813391"/>
          </a:xfrm>
        </p:grpSpPr>
        <p:sp>
          <p:nvSpPr>
            <p:cNvPr name="Freeform 27" id="27"/>
            <p:cNvSpPr/>
            <p:nvPr/>
          </p:nvSpPr>
          <p:spPr>
            <a:xfrm flipH="false" flipV="false" rot="0">
              <a:off x="16891" y="16891"/>
              <a:ext cx="219456" cy="3779520"/>
            </a:xfrm>
            <a:custGeom>
              <a:avLst/>
              <a:gdLst/>
              <a:ahLst/>
              <a:cxnLst/>
              <a:rect r="r" b="b" t="t" l="l"/>
              <a:pathLst>
                <a:path h="3779520" w="219456">
                  <a:moveTo>
                    <a:pt x="0" y="0"/>
                  </a:moveTo>
                  <a:lnTo>
                    <a:pt x="219456" y="0"/>
                  </a:lnTo>
                  <a:lnTo>
                    <a:pt x="219456" y="3779520"/>
                  </a:lnTo>
                  <a:lnTo>
                    <a:pt x="0" y="3779520"/>
                  </a:lnTo>
                  <a:close/>
                </a:path>
              </a:pathLst>
            </a:custGeom>
            <a:solidFill>
              <a:srgbClr val="10B981"/>
            </a:solidFill>
          </p:spPr>
        </p:sp>
        <p:sp>
          <p:nvSpPr>
            <p:cNvPr name="Freeform 28" id="28"/>
            <p:cNvSpPr/>
            <p:nvPr/>
          </p:nvSpPr>
          <p:spPr>
            <a:xfrm flipH="false" flipV="false" rot="0">
              <a:off x="0" y="0"/>
              <a:ext cx="253238" cy="3813302"/>
            </a:xfrm>
            <a:custGeom>
              <a:avLst/>
              <a:gdLst/>
              <a:ahLst/>
              <a:cxnLst/>
              <a:rect r="r" b="b" t="t" l="l"/>
              <a:pathLst>
                <a:path h="3813302" w="253238">
                  <a:moveTo>
                    <a:pt x="16891" y="0"/>
                  </a:moveTo>
                  <a:lnTo>
                    <a:pt x="236347" y="0"/>
                  </a:lnTo>
                  <a:cubicBezTo>
                    <a:pt x="245745" y="0"/>
                    <a:pt x="253238" y="7620"/>
                    <a:pt x="253238" y="16891"/>
                  </a:cubicBezTo>
                  <a:lnTo>
                    <a:pt x="253238" y="3796411"/>
                  </a:lnTo>
                  <a:cubicBezTo>
                    <a:pt x="253238" y="3805809"/>
                    <a:pt x="245618" y="3813302"/>
                    <a:pt x="236347"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236347" y="3779520"/>
                  </a:lnTo>
                  <a:lnTo>
                    <a:pt x="236347" y="3796411"/>
                  </a:lnTo>
                  <a:lnTo>
                    <a:pt x="219456" y="3796411"/>
                  </a:lnTo>
                  <a:lnTo>
                    <a:pt x="219456" y="16891"/>
                  </a:lnTo>
                  <a:lnTo>
                    <a:pt x="236347" y="16891"/>
                  </a:lnTo>
                  <a:lnTo>
                    <a:pt x="236347" y="33909"/>
                  </a:lnTo>
                  <a:lnTo>
                    <a:pt x="16891" y="33909"/>
                  </a:lnTo>
                  <a:close/>
                </a:path>
              </a:pathLst>
            </a:custGeom>
            <a:solidFill>
              <a:srgbClr val="10B981"/>
            </a:solidFill>
          </p:spPr>
        </p:sp>
      </p:grpSp>
      <p:grpSp>
        <p:nvGrpSpPr>
          <p:cNvPr name="Group 29" id="29"/>
          <p:cNvGrpSpPr/>
          <p:nvPr/>
        </p:nvGrpSpPr>
        <p:grpSpPr>
          <a:xfrm rot="0">
            <a:off x="6894576" y="2651760"/>
            <a:ext cx="4937760" cy="585216"/>
            <a:chOff x="0" y="0"/>
            <a:chExt cx="6583680" cy="780288"/>
          </a:xfrm>
        </p:grpSpPr>
        <p:sp>
          <p:nvSpPr>
            <p:cNvPr name="Freeform 30" id="30"/>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sp>
        <p:sp>
          <p:nvSpPr>
            <p:cNvPr name="TextBox 31" id="31"/>
            <p:cNvSpPr txBox="true"/>
            <p:nvPr/>
          </p:nvSpPr>
          <p:spPr>
            <a:xfrm>
              <a:off x="0" y="-47625"/>
              <a:ext cx="6583680"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Reduced costs</a:t>
              </a:r>
            </a:p>
          </p:txBody>
        </p:sp>
      </p:grpSp>
      <p:grpSp>
        <p:nvGrpSpPr>
          <p:cNvPr name="Group 32" id="32"/>
          <p:cNvGrpSpPr/>
          <p:nvPr/>
        </p:nvGrpSpPr>
        <p:grpSpPr>
          <a:xfrm rot="0">
            <a:off x="6894576" y="3310128"/>
            <a:ext cx="5029200" cy="1792224"/>
            <a:chOff x="0" y="0"/>
            <a:chExt cx="6705600" cy="2389632"/>
          </a:xfrm>
        </p:grpSpPr>
        <p:sp>
          <p:nvSpPr>
            <p:cNvPr name="Freeform 33" id="33"/>
            <p:cNvSpPr/>
            <p:nvPr/>
          </p:nvSpPr>
          <p:spPr>
            <a:xfrm flipH="false" flipV="false" rot="0">
              <a:off x="0" y="0"/>
              <a:ext cx="6705600" cy="2389632"/>
            </a:xfrm>
            <a:custGeom>
              <a:avLst/>
              <a:gdLst/>
              <a:ahLst/>
              <a:cxnLst/>
              <a:rect r="r" b="b" t="t" l="l"/>
              <a:pathLst>
                <a:path h="2389632" w="6705600">
                  <a:moveTo>
                    <a:pt x="0" y="0"/>
                  </a:moveTo>
                  <a:lnTo>
                    <a:pt x="6705600" y="0"/>
                  </a:lnTo>
                  <a:lnTo>
                    <a:pt x="6705600" y="2389632"/>
                  </a:lnTo>
                  <a:lnTo>
                    <a:pt x="0" y="2389632"/>
                  </a:lnTo>
                  <a:close/>
                </a:path>
              </a:pathLst>
            </a:custGeom>
            <a:blipFill>
              <a:blip r:embed="rId3">
                <a:alphaModFix amt="0"/>
              </a:blip>
              <a:stretch>
                <a:fillRect l="0" t="-4677" r="0" b="-4677"/>
              </a:stretch>
            </a:blipFill>
          </p:spPr>
        </p:sp>
        <p:sp>
          <p:nvSpPr>
            <p:cNvPr name="TextBox 34" id="34"/>
            <p:cNvSpPr txBox="true"/>
            <p:nvPr/>
          </p:nvSpPr>
          <p:spPr>
            <a:xfrm>
              <a:off x="0" y="-38100"/>
              <a:ext cx="6705600" cy="2427732"/>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Prevention is far cheaper than treatment. Each avoided hospitalisation saves hundreds to thousands of dollars per patient.</a:t>
              </a:r>
            </a:p>
          </p:txBody>
        </p:sp>
      </p:grpSp>
      <p:grpSp>
        <p:nvGrpSpPr>
          <p:cNvPr name="Group 35" id="35"/>
          <p:cNvGrpSpPr/>
          <p:nvPr/>
        </p:nvGrpSpPr>
        <p:grpSpPr>
          <a:xfrm rot="0">
            <a:off x="12404855" y="2456183"/>
            <a:ext cx="5511803" cy="2860043"/>
            <a:chOff x="0" y="0"/>
            <a:chExt cx="7349071" cy="3813391"/>
          </a:xfrm>
        </p:grpSpPr>
        <p:sp>
          <p:nvSpPr>
            <p:cNvPr name="Freeform 36" id="36"/>
            <p:cNvSpPr/>
            <p:nvPr/>
          </p:nvSpPr>
          <p:spPr>
            <a:xfrm flipH="false" flipV="false" rot="0">
              <a:off x="16891" y="16891"/>
              <a:ext cx="7315200" cy="3779520"/>
            </a:xfrm>
            <a:custGeom>
              <a:avLst/>
              <a:gdLst/>
              <a:ahLst/>
              <a:cxnLst/>
              <a:rect r="r" b="b" t="t" l="l"/>
              <a:pathLst>
                <a:path h="3779520" w="7315200">
                  <a:moveTo>
                    <a:pt x="0" y="0"/>
                  </a:moveTo>
                  <a:lnTo>
                    <a:pt x="7315200" y="0"/>
                  </a:lnTo>
                  <a:lnTo>
                    <a:pt x="7315200" y="3779520"/>
                  </a:lnTo>
                  <a:lnTo>
                    <a:pt x="0" y="3779520"/>
                  </a:lnTo>
                  <a:close/>
                </a:path>
              </a:pathLst>
            </a:custGeom>
            <a:solidFill>
              <a:srgbClr val="FFFFFF"/>
            </a:solidFill>
          </p:spPr>
        </p:sp>
        <p:sp>
          <p:nvSpPr>
            <p:cNvPr name="Freeform 37" id="37"/>
            <p:cNvSpPr/>
            <p:nvPr/>
          </p:nvSpPr>
          <p:spPr>
            <a:xfrm flipH="false" flipV="false" rot="0">
              <a:off x="0" y="0"/>
              <a:ext cx="7348982" cy="3813302"/>
            </a:xfrm>
            <a:custGeom>
              <a:avLst/>
              <a:gdLst/>
              <a:ahLst/>
              <a:cxnLst/>
              <a:rect r="r" b="b" t="t" l="l"/>
              <a:pathLst>
                <a:path h="3813302" w="7348982">
                  <a:moveTo>
                    <a:pt x="16891" y="0"/>
                  </a:moveTo>
                  <a:lnTo>
                    <a:pt x="7332091" y="0"/>
                  </a:lnTo>
                  <a:cubicBezTo>
                    <a:pt x="7341489" y="0"/>
                    <a:pt x="7348982" y="7620"/>
                    <a:pt x="7348982" y="16891"/>
                  </a:cubicBezTo>
                  <a:lnTo>
                    <a:pt x="7348982" y="3796411"/>
                  </a:lnTo>
                  <a:cubicBezTo>
                    <a:pt x="7348982" y="3805809"/>
                    <a:pt x="7341362" y="3813302"/>
                    <a:pt x="73320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7332091" y="3779520"/>
                  </a:lnTo>
                  <a:lnTo>
                    <a:pt x="7332091" y="3796411"/>
                  </a:lnTo>
                  <a:lnTo>
                    <a:pt x="7315200" y="3796411"/>
                  </a:lnTo>
                  <a:lnTo>
                    <a:pt x="7315200" y="16891"/>
                  </a:lnTo>
                  <a:lnTo>
                    <a:pt x="7332091" y="16891"/>
                  </a:lnTo>
                  <a:lnTo>
                    <a:pt x="7332091" y="33909"/>
                  </a:lnTo>
                  <a:lnTo>
                    <a:pt x="16891" y="33909"/>
                  </a:lnTo>
                  <a:close/>
                </a:path>
              </a:pathLst>
            </a:custGeom>
            <a:solidFill>
              <a:srgbClr val="E2E8F0"/>
            </a:solidFill>
          </p:spPr>
        </p:sp>
      </p:grpSp>
      <p:grpSp>
        <p:nvGrpSpPr>
          <p:cNvPr name="Group 38" id="38"/>
          <p:cNvGrpSpPr/>
          <p:nvPr/>
        </p:nvGrpSpPr>
        <p:grpSpPr>
          <a:xfrm rot="0">
            <a:off x="12404855" y="2456183"/>
            <a:ext cx="189995" cy="2860043"/>
            <a:chOff x="0" y="0"/>
            <a:chExt cx="253327" cy="3813391"/>
          </a:xfrm>
        </p:grpSpPr>
        <p:sp>
          <p:nvSpPr>
            <p:cNvPr name="Freeform 39" id="39"/>
            <p:cNvSpPr/>
            <p:nvPr/>
          </p:nvSpPr>
          <p:spPr>
            <a:xfrm flipH="false" flipV="false" rot="0">
              <a:off x="16891" y="16891"/>
              <a:ext cx="219456" cy="3779520"/>
            </a:xfrm>
            <a:custGeom>
              <a:avLst/>
              <a:gdLst/>
              <a:ahLst/>
              <a:cxnLst/>
              <a:rect r="r" b="b" t="t" l="l"/>
              <a:pathLst>
                <a:path h="3779520" w="219456">
                  <a:moveTo>
                    <a:pt x="0" y="0"/>
                  </a:moveTo>
                  <a:lnTo>
                    <a:pt x="219456" y="0"/>
                  </a:lnTo>
                  <a:lnTo>
                    <a:pt x="219456" y="3779520"/>
                  </a:lnTo>
                  <a:lnTo>
                    <a:pt x="0" y="3779520"/>
                  </a:lnTo>
                  <a:close/>
                </a:path>
              </a:pathLst>
            </a:custGeom>
            <a:solidFill>
              <a:srgbClr val="8B5CF6"/>
            </a:solidFill>
          </p:spPr>
        </p:sp>
        <p:sp>
          <p:nvSpPr>
            <p:cNvPr name="Freeform 40" id="40"/>
            <p:cNvSpPr/>
            <p:nvPr/>
          </p:nvSpPr>
          <p:spPr>
            <a:xfrm flipH="false" flipV="false" rot="0">
              <a:off x="0" y="0"/>
              <a:ext cx="253238" cy="3813302"/>
            </a:xfrm>
            <a:custGeom>
              <a:avLst/>
              <a:gdLst/>
              <a:ahLst/>
              <a:cxnLst/>
              <a:rect r="r" b="b" t="t" l="l"/>
              <a:pathLst>
                <a:path h="3813302" w="253238">
                  <a:moveTo>
                    <a:pt x="16891" y="0"/>
                  </a:moveTo>
                  <a:lnTo>
                    <a:pt x="236347" y="0"/>
                  </a:lnTo>
                  <a:cubicBezTo>
                    <a:pt x="245745" y="0"/>
                    <a:pt x="253238" y="7620"/>
                    <a:pt x="253238" y="16891"/>
                  </a:cubicBezTo>
                  <a:lnTo>
                    <a:pt x="253238" y="3796411"/>
                  </a:lnTo>
                  <a:cubicBezTo>
                    <a:pt x="253238" y="3805809"/>
                    <a:pt x="245618" y="3813302"/>
                    <a:pt x="236347"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236347" y="3779520"/>
                  </a:lnTo>
                  <a:lnTo>
                    <a:pt x="236347" y="3796411"/>
                  </a:lnTo>
                  <a:lnTo>
                    <a:pt x="219456" y="3796411"/>
                  </a:lnTo>
                  <a:lnTo>
                    <a:pt x="219456" y="16891"/>
                  </a:lnTo>
                  <a:lnTo>
                    <a:pt x="236347" y="16891"/>
                  </a:lnTo>
                  <a:lnTo>
                    <a:pt x="236347" y="33909"/>
                  </a:lnTo>
                  <a:lnTo>
                    <a:pt x="16891" y="33909"/>
                  </a:lnTo>
                  <a:close/>
                </a:path>
              </a:pathLst>
            </a:custGeom>
            <a:solidFill>
              <a:srgbClr val="8B5CF6"/>
            </a:solidFill>
          </p:spPr>
        </p:sp>
      </p:grpSp>
      <p:grpSp>
        <p:nvGrpSpPr>
          <p:cNvPr name="Group 41" id="41"/>
          <p:cNvGrpSpPr/>
          <p:nvPr/>
        </p:nvGrpSpPr>
        <p:grpSpPr>
          <a:xfrm rot="0">
            <a:off x="12783312" y="2651760"/>
            <a:ext cx="4937760" cy="585216"/>
            <a:chOff x="0" y="0"/>
            <a:chExt cx="6583680" cy="780288"/>
          </a:xfrm>
        </p:grpSpPr>
        <p:sp>
          <p:nvSpPr>
            <p:cNvPr name="Freeform 42" id="42"/>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sp>
        <p:sp>
          <p:nvSpPr>
            <p:cNvPr name="TextBox 43" id="43"/>
            <p:cNvSpPr txBox="true"/>
            <p:nvPr/>
          </p:nvSpPr>
          <p:spPr>
            <a:xfrm>
              <a:off x="0" y="-47625"/>
              <a:ext cx="6583680"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Personalised medicine</a:t>
              </a:r>
            </a:p>
          </p:txBody>
        </p:sp>
      </p:grpSp>
      <p:grpSp>
        <p:nvGrpSpPr>
          <p:cNvPr name="Group 44" id="44"/>
          <p:cNvGrpSpPr/>
          <p:nvPr/>
        </p:nvGrpSpPr>
        <p:grpSpPr>
          <a:xfrm rot="0">
            <a:off x="12783312" y="3310128"/>
            <a:ext cx="5029200" cy="1792224"/>
            <a:chOff x="0" y="0"/>
            <a:chExt cx="6705600" cy="2389632"/>
          </a:xfrm>
        </p:grpSpPr>
        <p:sp>
          <p:nvSpPr>
            <p:cNvPr name="Freeform 45" id="45"/>
            <p:cNvSpPr/>
            <p:nvPr/>
          </p:nvSpPr>
          <p:spPr>
            <a:xfrm flipH="false" flipV="false" rot="0">
              <a:off x="0" y="0"/>
              <a:ext cx="6705600" cy="2389632"/>
            </a:xfrm>
            <a:custGeom>
              <a:avLst/>
              <a:gdLst/>
              <a:ahLst/>
              <a:cxnLst/>
              <a:rect r="r" b="b" t="t" l="l"/>
              <a:pathLst>
                <a:path h="2389632" w="6705600">
                  <a:moveTo>
                    <a:pt x="0" y="0"/>
                  </a:moveTo>
                  <a:lnTo>
                    <a:pt x="6705600" y="0"/>
                  </a:lnTo>
                  <a:lnTo>
                    <a:pt x="6705600" y="2389632"/>
                  </a:lnTo>
                  <a:lnTo>
                    <a:pt x="0" y="2389632"/>
                  </a:lnTo>
                  <a:close/>
                </a:path>
              </a:pathLst>
            </a:custGeom>
            <a:blipFill>
              <a:blip r:embed="rId3">
                <a:alphaModFix amt="0"/>
              </a:blip>
              <a:stretch>
                <a:fillRect l="0" t="-4677" r="0" b="-4677"/>
              </a:stretch>
            </a:blipFill>
          </p:spPr>
        </p:sp>
        <p:sp>
          <p:nvSpPr>
            <p:cNvPr name="TextBox 46" id="46"/>
            <p:cNvSpPr txBox="true"/>
            <p:nvPr/>
          </p:nvSpPr>
          <p:spPr>
            <a:xfrm>
              <a:off x="0" y="-38100"/>
              <a:ext cx="6705600" cy="2427732"/>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Every patient receives unique predictions based on their own history — not population averages or generalised guidelines.</a:t>
              </a:r>
            </a:p>
          </p:txBody>
        </p:sp>
      </p:grpSp>
      <p:grpSp>
        <p:nvGrpSpPr>
          <p:cNvPr name="Group 47" id="47"/>
          <p:cNvGrpSpPr/>
          <p:nvPr/>
        </p:nvGrpSpPr>
        <p:grpSpPr>
          <a:xfrm rot="0">
            <a:off x="627383" y="5601719"/>
            <a:ext cx="5511803" cy="2860043"/>
            <a:chOff x="0" y="0"/>
            <a:chExt cx="7349071" cy="3813391"/>
          </a:xfrm>
        </p:grpSpPr>
        <p:sp>
          <p:nvSpPr>
            <p:cNvPr name="Freeform 48" id="48"/>
            <p:cNvSpPr/>
            <p:nvPr/>
          </p:nvSpPr>
          <p:spPr>
            <a:xfrm flipH="false" flipV="false" rot="0">
              <a:off x="16891" y="16891"/>
              <a:ext cx="7315200" cy="3779520"/>
            </a:xfrm>
            <a:custGeom>
              <a:avLst/>
              <a:gdLst/>
              <a:ahLst/>
              <a:cxnLst/>
              <a:rect r="r" b="b" t="t" l="l"/>
              <a:pathLst>
                <a:path h="3779520" w="7315200">
                  <a:moveTo>
                    <a:pt x="0" y="0"/>
                  </a:moveTo>
                  <a:lnTo>
                    <a:pt x="7315200" y="0"/>
                  </a:lnTo>
                  <a:lnTo>
                    <a:pt x="7315200" y="3779520"/>
                  </a:lnTo>
                  <a:lnTo>
                    <a:pt x="0" y="3779520"/>
                  </a:lnTo>
                  <a:close/>
                </a:path>
              </a:pathLst>
            </a:custGeom>
            <a:solidFill>
              <a:srgbClr val="FFFFFF"/>
            </a:solidFill>
          </p:spPr>
        </p:sp>
        <p:sp>
          <p:nvSpPr>
            <p:cNvPr name="Freeform 49" id="49"/>
            <p:cNvSpPr/>
            <p:nvPr/>
          </p:nvSpPr>
          <p:spPr>
            <a:xfrm flipH="false" flipV="false" rot="0">
              <a:off x="0" y="0"/>
              <a:ext cx="7348982" cy="3813302"/>
            </a:xfrm>
            <a:custGeom>
              <a:avLst/>
              <a:gdLst/>
              <a:ahLst/>
              <a:cxnLst/>
              <a:rect r="r" b="b" t="t" l="l"/>
              <a:pathLst>
                <a:path h="3813302" w="7348982">
                  <a:moveTo>
                    <a:pt x="16891" y="0"/>
                  </a:moveTo>
                  <a:lnTo>
                    <a:pt x="7332091" y="0"/>
                  </a:lnTo>
                  <a:cubicBezTo>
                    <a:pt x="7341489" y="0"/>
                    <a:pt x="7348982" y="7620"/>
                    <a:pt x="7348982" y="16891"/>
                  </a:cubicBezTo>
                  <a:lnTo>
                    <a:pt x="7348982" y="3796411"/>
                  </a:lnTo>
                  <a:cubicBezTo>
                    <a:pt x="7348982" y="3805809"/>
                    <a:pt x="7341362" y="3813302"/>
                    <a:pt x="73320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7332091" y="3779520"/>
                  </a:lnTo>
                  <a:lnTo>
                    <a:pt x="7332091" y="3796411"/>
                  </a:lnTo>
                  <a:lnTo>
                    <a:pt x="7315200" y="3796411"/>
                  </a:lnTo>
                  <a:lnTo>
                    <a:pt x="7315200" y="16891"/>
                  </a:lnTo>
                  <a:lnTo>
                    <a:pt x="7332091" y="16891"/>
                  </a:lnTo>
                  <a:lnTo>
                    <a:pt x="7332091" y="33909"/>
                  </a:lnTo>
                  <a:lnTo>
                    <a:pt x="16891" y="33909"/>
                  </a:lnTo>
                  <a:close/>
                </a:path>
              </a:pathLst>
            </a:custGeom>
            <a:solidFill>
              <a:srgbClr val="E2E8F0"/>
            </a:solidFill>
          </p:spPr>
        </p:sp>
      </p:grpSp>
      <p:grpSp>
        <p:nvGrpSpPr>
          <p:cNvPr name="Group 50" id="50"/>
          <p:cNvGrpSpPr/>
          <p:nvPr/>
        </p:nvGrpSpPr>
        <p:grpSpPr>
          <a:xfrm rot="0">
            <a:off x="627383" y="5601719"/>
            <a:ext cx="189995" cy="2860043"/>
            <a:chOff x="0" y="0"/>
            <a:chExt cx="253327" cy="3813391"/>
          </a:xfrm>
        </p:grpSpPr>
        <p:sp>
          <p:nvSpPr>
            <p:cNvPr name="Freeform 51" id="51"/>
            <p:cNvSpPr/>
            <p:nvPr/>
          </p:nvSpPr>
          <p:spPr>
            <a:xfrm flipH="false" flipV="false" rot="0">
              <a:off x="16891" y="16891"/>
              <a:ext cx="219456" cy="3779520"/>
            </a:xfrm>
            <a:custGeom>
              <a:avLst/>
              <a:gdLst/>
              <a:ahLst/>
              <a:cxnLst/>
              <a:rect r="r" b="b" t="t" l="l"/>
              <a:pathLst>
                <a:path h="3779520" w="219456">
                  <a:moveTo>
                    <a:pt x="0" y="0"/>
                  </a:moveTo>
                  <a:lnTo>
                    <a:pt x="219456" y="0"/>
                  </a:lnTo>
                  <a:lnTo>
                    <a:pt x="219456" y="3779520"/>
                  </a:lnTo>
                  <a:lnTo>
                    <a:pt x="0" y="3779520"/>
                  </a:lnTo>
                  <a:close/>
                </a:path>
              </a:pathLst>
            </a:custGeom>
            <a:solidFill>
              <a:srgbClr val="F59E0B"/>
            </a:solidFill>
          </p:spPr>
        </p:sp>
        <p:sp>
          <p:nvSpPr>
            <p:cNvPr name="Freeform 52" id="52"/>
            <p:cNvSpPr/>
            <p:nvPr/>
          </p:nvSpPr>
          <p:spPr>
            <a:xfrm flipH="false" flipV="false" rot="0">
              <a:off x="0" y="0"/>
              <a:ext cx="253238" cy="3813302"/>
            </a:xfrm>
            <a:custGeom>
              <a:avLst/>
              <a:gdLst/>
              <a:ahLst/>
              <a:cxnLst/>
              <a:rect r="r" b="b" t="t" l="l"/>
              <a:pathLst>
                <a:path h="3813302" w="253238">
                  <a:moveTo>
                    <a:pt x="16891" y="0"/>
                  </a:moveTo>
                  <a:lnTo>
                    <a:pt x="236347" y="0"/>
                  </a:lnTo>
                  <a:cubicBezTo>
                    <a:pt x="245745" y="0"/>
                    <a:pt x="253238" y="7620"/>
                    <a:pt x="253238" y="16891"/>
                  </a:cubicBezTo>
                  <a:lnTo>
                    <a:pt x="253238" y="3796411"/>
                  </a:lnTo>
                  <a:cubicBezTo>
                    <a:pt x="253238" y="3805809"/>
                    <a:pt x="245618" y="3813302"/>
                    <a:pt x="236347"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236347" y="3779520"/>
                  </a:lnTo>
                  <a:lnTo>
                    <a:pt x="236347" y="3796411"/>
                  </a:lnTo>
                  <a:lnTo>
                    <a:pt x="219456" y="3796411"/>
                  </a:lnTo>
                  <a:lnTo>
                    <a:pt x="219456" y="16891"/>
                  </a:lnTo>
                  <a:lnTo>
                    <a:pt x="236347" y="16891"/>
                  </a:lnTo>
                  <a:lnTo>
                    <a:pt x="236347" y="33909"/>
                  </a:lnTo>
                  <a:lnTo>
                    <a:pt x="16891" y="33909"/>
                  </a:lnTo>
                  <a:close/>
                </a:path>
              </a:pathLst>
            </a:custGeom>
            <a:solidFill>
              <a:srgbClr val="F59E0B"/>
            </a:solidFill>
          </p:spPr>
        </p:sp>
      </p:grpSp>
      <p:grpSp>
        <p:nvGrpSpPr>
          <p:cNvPr name="Group 53" id="53"/>
          <p:cNvGrpSpPr/>
          <p:nvPr/>
        </p:nvGrpSpPr>
        <p:grpSpPr>
          <a:xfrm rot="0">
            <a:off x="1005840" y="5797296"/>
            <a:ext cx="4937760" cy="585216"/>
            <a:chOff x="0" y="0"/>
            <a:chExt cx="6583680" cy="780288"/>
          </a:xfrm>
        </p:grpSpPr>
        <p:sp>
          <p:nvSpPr>
            <p:cNvPr name="Freeform 54" id="54"/>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sp>
        <p:sp>
          <p:nvSpPr>
            <p:cNvPr name="TextBox 55" id="55"/>
            <p:cNvSpPr txBox="true"/>
            <p:nvPr/>
          </p:nvSpPr>
          <p:spPr>
            <a:xfrm>
              <a:off x="0" y="-47625"/>
              <a:ext cx="6583680"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Doctor efficiency</a:t>
              </a:r>
            </a:p>
          </p:txBody>
        </p:sp>
      </p:grpSp>
      <p:grpSp>
        <p:nvGrpSpPr>
          <p:cNvPr name="Group 56" id="56"/>
          <p:cNvGrpSpPr/>
          <p:nvPr/>
        </p:nvGrpSpPr>
        <p:grpSpPr>
          <a:xfrm rot="0">
            <a:off x="1005840" y="6455664"/>
            <a:ext cx="5029200" cy="1792224"/>
            <a:chOff x="0" y="0"/>
            <a:chExt cx="6705600" cy="2389632"/>
          </a:xfrm>
        </p:grpSpPr>
        <p:sp>
          <p:nvSpPr>
            <p:cNvPr name="Freeform 57" id="57"/>
            <p:cNvSpPr/>
            <p:nvPr/>
          </p:nvSpPr>
          <p:spPr>
            <a:xfrm flipH="false" flipV="false" rot="0">
              <a:off x="0" y="0"/>
              <a:ext cx="6705600" cy="2389632"/>
            </a:xfrm>
            <a:custGeom>
              <a:avLst/>
              <a:gdLst/>
              <a:ahLst/>
              <a:cxnLst/>
              <a:rect r="r" b="b" t="t" l="l"/>
              <a:pathLst>
                <a:path h="2389632" w="6705600">
                  <a:moveTo>
                    <a:pt x="0" y="0"/>
                  </a:moveTo>
                  <a:lnTo>
                    <a:pt x="6705600" y="0"/>
                  </a:lnTo>
                  <a:lnTo>
                    <a:pt x="6705600" y="2389632"/>
                  </a:lnTo>
                  <a:lnTo>
                    <a:pt x="0" y="2389632"/>
                  </a:lnTo>
                  <a:close/>
                </a:path>
              </a:pathLst>
            </a:custGeom>
            <a:blipFill>
              <a:blip r:embed="rId3">
                <a:alphaModFix amt="0"/>
              </a:blip>
              <a:stretch>
                <a:fillRect l="0" t="-4677" r="0" b="-4677"/>
              </a:stretch>
            </a:blipFill>
          </p:spPr>
        </p:sp>
        <p:sp>
          <p:nvSpPr>
            <p:cNvPr name="TextBox 58" id="58"/>
            <p:cNvSpPr txBox="true"/>
            <p:nvPr/>
          </p:nvSpPr>
          <p:spPr>
            <a:xfrm>
              <a:off x="0" y="-38100"/>
              <a:ext cx="6705600" cy="2427732"/>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Evidence-based risk scores reduce diagnostic guesswork, shorten consultation time, and give clinicians a decision-support baseline.</a:t>
              </a:r>
            </a:p>
          </p:txBody>
        </p:sp>
      </p:grpSp>
      <p:grpSp>
        <p:nvGrpSpPr>
          <p:cNvPr name="Group 59" id="59"/>
          <p:cNvGrpSpPr/>
          <p:nvPr/>
        </p:nvGrpSpPr>
        <p:grpSpPr>
          <a:xfrm rot="0">
            <a:off x="6516119" y="5601719"/>
            <a:ext cx="5511803" cy="2860043"/>
            <a:chOff x="0" y="0"/>
            <a:chExt cx="7349071" cy="3813391"/>
          </a:xfrm>
        </p:grpSpPr>
        <p:sp>
          <p:nvSpPr>
            <p:cNvPr name="Freeform 60" id="60"/>
            <p:cNvSpPr/>
            <p:nvPr/>
          </p:nvSpPr>
          <p:spPr>
            <a:xfrm flipH="false" flipV="false" rot="0">
              <a:off x="16891" y="16891"/>
              <a:ext cx="7315200" cy="3779520"/>
            </a:xfrm>
            <a:custGeom>
              <a:avLst/>
              <a:gdLst/>
              <a:ahLst/>
              <a:cxnLst/>
              <a:rect r="r" b="b" t="t" l="l"/>
              <a:pathLst>
                <a:path h="3779520" w="7315200">
                  <a:moveTo>
                    <a:pt x="0" y="0"/>
                  </a:moveTo>
                  <a:lnTo>
                    <a:pt x="7315200" y="0"/>
                  </a:lnTo>
                  <a:lnTo>
                    <a:pt x="7315200" y="3779520"/>
                  </a:lnTo>
                  <a:lnTo>
                    <a:pt x="0" y="3779520"/>
                  </a:lnTo>
                  <a:close/>
                </a:path>
              </a:pathLst>
            </a:custGeom>
            <a:solidFill>
              <a:srgbClr val="FFFFFF"/>
            </a:solidFill>
          </p:spPr>
        </p:sp>
        <p:sp>
          <p:nvSpPr>
            <p:cNvPr name="Freeform 61" id="61"/>
            <p:cNvSpPr/>
            <p:nvPr/>
          </p:nvSpPr>
          <p:spPr>
            <a:xfrm flipH="false" flipV="false" rot="0">
              <a:off x="0" y="0"/>
              <a:ext cx="7348982" cy="3813302"/>
            </a:xfrm>
            <a:custGeom>
              <a:avLst/>
              <a:gdLst/>
              <a:ahLst/>
              <a:cxnLst/>
              <a:rect r="r" b="b" t="t" l="l"/>
              <a:pathLst>
                <a:path h="3813302" w="7348982">
                  <a:moveTo>
                    <a:pt x="16891" y="0"/>
                  </a:moveTo>
                  <a:lnTo>
                    <a:pt x="7332091" y="0"/>
                  </a:lnTo>
                  <a:cubicBezTo>
                    <a:pt x="7341489" y="0"/>
                    <a:pt x="7348982" y="7620"/>
                    <a:pt x="7348982" y="16891"/>
                  </a:cubicBezTo>
                  <a:lnTo>
                    <a:pt x="7348982" y="3796411"/>
                  </a:lnTo>
                  <a:cubicBezTo>
                    <a:pt x="7348982" y="3805809"/>
                    <a:pt x="7341362" y="3813302"/>
                    <a:pt x="73320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7332091" y="3779520"/>
                  </a:lnTo>
                  <a:lnTo>
                    <a:pt x="7332091" y="3796411"/>
                  </a:lnTo>
                  <a:lnTo>
                    <a:pt x="7315200" y="3796411"/>
                  </a:lnTo>
                  <a:lnTo>
                    <a:pt x="7315200" y="16891"/>
                  </a:lnTo>
                  <a:lnTo>
                    <a:pt x="7332091" y="16891"/>
                  </a:lnTo>
                  <a:lnTo>
                    <a:pt x="7332091" y="33909"/>
                  </a:lnTo>
                  <a:lnTo>
                    <a:pt x="16891" y="33909"/>
                  </a:lnTo>
                  <a:close/>
                </a:path>
              </a:pathLst>
            </a:custGeom>
            <a:solidFill>
              <a:srgbClr val="E2E8F0"/>
            </a:solidFill>
          </p:spPr>
        </p:sp>
      </p:grpSp>
      <p:grpSp>
        <p:nvGrpSpPr>
          <p:cNvPr name="Group 62" id="62"/>
          <p:cNvGrpSpPr/>
          <p:nvPr/>
        </p:nvGrpSpPr>
        <p:grpSpPr>
          <a:xfrm rot="0">
            <a:off x="6516119" y="5601719"/>
            <a:ext cx="189995" cy="2860043"/>
            <a:chOff x="0" y="0"/>
            <a:chExt cx="253327" cy="3813391"/>
          </a:xfrm>
        </p:grpSpPr>
        <p:sp>
          <p:nvSpPr>
            <p:cNvPr name="Freeform 63" id="63"/>
            <p:cNvSpPr/>
            <p:nvPr/>
          </p:nvSpPr>
          <p:spPr>
            <a:xfrm flipH="false" flipV="false" rot="0">
              <a:off x="16891" y="16891"/>
              <a:ext cx="219456" cy="3779520"/>
            </a:xfrm>
            <a:custGeom>
              <a:avLst/>
              <a:gdLst/>
              <a:ahLst/>
              <a:cxnLst/>
              <a:rect r="r" b="b" t="t" l="l"/>
              <a:pathLst>
                <a:path h="3779520" w="219456">
                  <a:moveTo>
                    <a:pt x="0" y="0"/>
                  </a:moveTo>
                  <a:lnTo>
                    <a:pt x="219456" y="0"/>
                  </a:lnTo>
                  <a:lnTo>
                    <a:pt x="219456" y="3779520"/>
                  </a:lnTo>
                  <a:lnTo>
                    <a:pt x="0" y="3779520"/>
                  </a:lnTo>
                  <a:close/>
                </a:path>
              </a:pathLst>
            </a:custGeom>
            <a:solidFill>
              <a:srgbClr val="EF4444"/>
            </a:solidFill>
          </p:spPr>
        </p:sp>
        <p:sp>
          <p:nvSpPr>
            <p:cNvPr name="Freeform 64" id="64"/>
            <p:cNvSpPr/>
            <p:nvPr/>
          </p:nvSpPr>
          <p:spPr>
            <a:xfrm flipH="false" flipV="false" rot="0">
              <a:off x="0" y="0"/>
              <a:ext cx="253238" cy="3813302"/>
            </a:xfrm>
            <a:custGeom>
              <a:avLst/>
              <a:gdLst/>
              <a:ahLst/>
              <a:cxnLst/>
              <a:rect r="r" b="b" t="t" l="l"/>
              <a:pathLst>
                <a:path h="3813302" w="253238">
                  <a:moveTo>
                    <a:pt x="16891" y="0"/>
                  </a:moveTo>
                  <a:lnTo>
                    <a:pt x="236347" y="0"/>
                  </a:lnTo>
                  <a:cubicBezTo>
                    <a:pt x="245745" y="0"/>
                    <a:pt x="253238" y="7620"/>
                    <a:pt x="253238" y="16891"/>
                  </a:cubicBezTo>
                  <a:lnTo>
                    <a:pt x="253238" y="3796411"/>
                  </a:lnTo>
                  <a:cubicBezTo>
                    <a:pt x="253238" y="3805809"/>
                    <a:pt x="245618" y="3813302"/>
                    <a:pt x="236347"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236347" y="3779520"/>
                  </a:lnTo>
                  <a:lnTo>
                    <a:pt x="236347" y="3796411"/>
                  </a:lnTo>
                  <a:lnTo>
                    <a:pt x="219456" y="3796411"/>
                  </a:lnTo>
                  <a:lnTo>
                    <a:pt x="219456" y="16891"/>
                  </a:lnTo>
                  <a:lnTo>
                    <a:pt x="236347" y="16891"/>
                  </a:lnTo>
                  <a:lnTo>
                    <a:pt x="236347" y="33909"/>
                  </a:lnTo>
                  <a:lnTo>
                    <a:pt x="16891" y="33909"/>
                  </a:lnTo>
                  <a:close/>
                </a:path>
              </a:pathLst>
            </a:custGeom>
            <a:solidFill>
              <a:srgbClr val="EF4444"/>
            </a:solidFill>
          </p:spPr>
        </p:sp>
      </p:grpSp>
      <p:grpSp>
        <p:nvGrpSpPr>
          <p:cNvPr name="Group 65" id="65"/>
          <p:cNvGrpSpPr/>
          <p:nvPr/>
        </p:nvGrpSpPr>
        <p:grpSpPr>
          <a:xfrm rot="0">
            <a:off x="6894576" y="5797296"/>
            <a:ext cx="4937760" cy="585216"/>
            <a:chOff x="0" y="0"/>
            <a:chExt cx="6583680" cy="780288"/>
          </a:xfrm>
        </p:grpSpPr>
        <p:sp>
          <p:nvSpPr>
            <p:cNvPr name="Freeform 66" id="66"/>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sp>
        <p:sp>
          <p:nvSpPr>
            <p:cNvPr name="TextBox 67" id="67"/>
            <p:cNvSpPr txBox="true"/>
            <p:nvPr/>
          </p:nvSpPr>
          <p:spPr>
            <a:xfrm>
              <a:off x="0" y="-47625"/>
              <a:ext cx="6583680"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Community reach</a:t>
              </a:r>
            </a:p>
          </p:txBody>
        </p:sp>
      </p:grpSp>
      <p:grpSp>
        <p:nvGrpSpPr>
          <p:cNvPr name="Group 68" id="68"/>
          <p:cNvGrpSpPr/>
          <p:nvPr/>
        </p:nvGrpSpPr>
        <p:grpSpPr>
          <a:xfrm rot="0">
            <a:off x="6894576" y="6455664"/>
            <a:ext cx="5029200" cy="1792224"/>
            <a:chOff x="0" y="0"/>
            <a:chExt cx="6705600" cy="2389632"/>
          </a:xfrm>
        </p:grpSpPr>
        <p:sp>
          <p:nvSpPr>
            <p:cNvPr name="Freeform 69" id="69"/>
            <p:cNvSpPr/>
            <p:nvPr/>
          </p:nvSpPr>
          <p:spPr>
            <a:xfrm flipH="false" flipV="false" rot="0">
              <a:off x="0" y="0"/>
              <a:ext cx="6705600" cy="2389632"/>
            </a:xfrm>
            <a:custGeom>
              <a:avLst/>
              <a:gdLst/>
              <a:ahLst/>
              <a:cxnLst/>
              <a:rect r="r" b="b" t="t" l="l"/>
              <a:pathLst>
                <a:path h="2389632" w="6705600">
                  <a:moveTo>
                    <a:pt x="0" y="0"/>
                  </a:moveTo>
                  <a:lnTo>
                    <a:pt x="6705600" y="0"/>
                  </a:lnTo>
                  <a:lnTo>
                    <a:pt x="6705600" y="2389632"/>
                  </a:lnTo>
                  <a:lnTo>
                    <a:pt x="0" y="2389632"/>
                  </a:lnTo>
                  <a:close/>
                </a:path>
              </a:pathLst>
            </a:custGeom>
            <a:blipFill>
              <a:blip r:embed="rId3">
                <a:alphaModFix amt="0"/>
              </a:blip>
              <a:stretch>
                <a:fillRect l="0" t="-4677" r="0" b="-4677"/>
              </a:stretch>
            </a:blipFill>
          </p:spPr>
        </p:sp>
        <p:sp>
          <p:nvSpPr>
            <p:cNvPr name="TextBox 70" id="70"/>
            <p:cNvSpPr txBox="true"/>
            <p:nvPr/>
          </p:nvSpPr>
          <p:spPr>
            <a:xfrm>
              <a:off x="0" y="-38100"/>
              <a:ext cx="6705600" cy="2427732"/>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Designed for low-resource clinics in rural Kenya and across sub-Saharan Africa — where chronic disease burden is highest.</a:t>
              </a:r>
            </a:p>
          </p:txBody>
        </p:sp>
      </p:grpSp>
      <p:grpSp>
        <p:nvGrpSpPr>
          <p:cNvPr name="Group 71" id="71"/>
          <p:cNvGrpSpPr/>
          <p:nvPr/>
        </p:nvGrpSpPr>
        <p:grpSpPr>
          <a:xfrm rot="0">
            <a:off x="12404855" y="5601719"/>
            <a:ext cx="5511803" cy="2860043"/>
            <a:chOff x="0" y="0"/>
            <a:chExt cx="7349071" cy="3813391"/>
          </a:xfrm>
        </p:grpSpPr>
        <p:sp>
          <p:nvSpPr>
            <p:cNvPr name="Freeform 72" id="72"/>
            <p:cNvSpPr/>
            <p:nvPr/>
          </p:nvSpPr>
          <p:spPr>
            <a:xfrm flipH="false" flipV="false" rot="0">
              <a:off x="16891" y="16891"/>
              <a:ext cx="7315200" cy="3779520"/>
            </a:xfrm>
            <a:custGeom>
              <a:avLst/>
              <a:gdLst/>
              <a:ahLst/>
              <a:cxnLst/>
              <a:rect r="r" b="b" t="t" l="l"/>
              <a:pathLst>
                <a:path h="3779520" w="7315200">
                  <a:moveTo>
                    <a:pt x="0" y="0"/>
                  </a:moveTo>
                  <a:lnTo>
                    <a:pt x="7315200" y="0"/>
                  </a:lnTo>
                  <a:lnTo>
                    <a:pt x="7315200" y="3779520"/>
                  </a:lnTo>
                  <a:lnTo>
                    <a:pt x="0" y="3779520"/>
                  </a:lnTo>
                  <a:close/>
                </a:path>
              </a:pathLst>
            </a:custGeom>
            <a:solidFill>
              <a:srgbClr val="FFFFFF"/>
            </a:solidFill>
          </p:spPr>
        </p:sp>
        <p:sp>
          <p:nvSpPr>
            <p:cNvPr name="Freeform 73" id="73"/>
            <p:cNvSpPr/>
            <p:nvPr/>
          </p:nvSpPr>
          <p:spPr>
            <a:xfrm flipH="false" flipV="false" rot="0">
              <a:off x="0" y="0"/>
              <a:ext cx="7348982" cy="3813302"/>
            </a:xfrm>
            <a:custGeom>
              <a:avLst/>
              <a:gdLst/>
              <a:ahLst/>
              <a:cxnLst/>
              <a:rect r="r" b="b" t="t" l="l"/>
              <a:pathLst>
                <a:path h="3813302" w="7348982">
                  <a:moveTo>
                    <a:pt x="16891" y="0"/>
                  </a:moveTo>
                  <a:lnTo>
                    <a:pt x="7332091" y="0"/>
                  </a:lnTo>
                  <a:cubicBezTo>
                    <a:pt x="7341489" y="0"/>
                    <a:pt x="7348982" y="7620"/>
                    <a:pt x="7348982" y="16891"/>
                  </a:cubicBezTo>
                  <a:lnTo>
                    <a:pt x="7348982" y="3796411"/>
                  </a:lnTo>
                  <a:cubicBezTo>
                    <a:pt x="7348982" y="3805809"/>
                    <a:pt x="7341362" y="3813302"/>
                    <a:pt x="73320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7332091" y="3779520"/>
                  </a:lnTo>
                  <a:lnTo>
                    <a:pt x="7332091" y="3796411"/>
                  </a:lnTo>
                  <a:lnTo>
                    <a:pt x="7315200" y="3796411"/>
                  </a:lnTo>
                  <a:lnTo>
                    <a:pt x="7315200" y="16891"/>
                  </a:lnTo>
                  <a:lnTo>
                    <a:pt x="7332091" y="16891"/>
                  </a:lnTo>
                  <a:lnTo>
                    <a:pt x="7332091" y="33909"/>
                  </a:lnTo>
                  <a:lnTo>
                    <a:pt x="16891" y="33909"/>
                  </a:lnTo>
                  <a:close/>
                </a:path>
              </a:pathLst>
            </a:custGeom>
            <a:solidFill>
              <a:srgbClr val="E2E8F0"/>
            </a:solidFill>
          </p:spPr>
        </p:sp>
      </p:grpSp>
      <p:grpSp>
        <p:nvGrpSpPr>
          <p:cNvPr name="Group 74" id="74"/>
          <p:cNvGrpSpPr/>
          <p:nvPr/>
        </p:nvGrpSpPr>
        <p:grpSpPr>
          <a:xfrm rot="0">
            <a:off x="12404855" y="5601719"/>
            <a:ext cx="189995" cy="2860043"/>
            <a:chOff x="0" y="0"/>
            <a:chExt cx="253327" cy="3813391"/>
          </a:xfrm>
        </p:grpSpPr>
        <p:sp>
          <p:nvSpPr>
            <p:cNvPr name="Freeform 75" id="75"/>
            <p:cNvSpPr/>
            <p:nvPr/>
          </p:nvSpPr>
          <p:spPr>
            <a:xfrm flipH="false" flipV="false" rot="0">
              <a:off x="16891" y="16891"/>
              <a:ext cx="219456" cy="3779520"/>
            </a:xfrm>
            <a:custGeom>
              <a:avLst/>
              <a:gdLst/>
              <a:ahLst/>
              <a:cxnLst/>
              <a:rect r="r" b="b" t="t" l="l"/>
              <a:pathLst>
                <a:path h="3779520" w="219456">
                  <a:moveTo>
                    <a:pt x="0" y="0"/>
                  </a:moveTo>
                  <a:lnTo>
                    <a:pt x="219456" y="0"/>
                  </a:lnTo>
                  <a:lnTo>
                    <a:pt x="219456" y="3779520"/>
                  </a:lnTo>
                  <a:lnTo>
                    <a:pt x="0" y="3779520"/>
                  </a:lnTo>
                  <a:close/>
                </a:path>
              </a:pathLst>
            </a:custGeom>
            <a:solidFill>
              <a:srgbClr val="14B8A6"/>
            </a:solidFill>
          </p:spPr>
        </p:sp>
        <p:sp>
          <p:nvSpPr>
            <p:cNvPr name="Freeform 76" id="76"/>
            <p:cNvSpPr/>
            <p:nvPr/>
          </p:nvSpPr>
          <p:spPr>
            <a:xfrm flipH="false" flipV="false" rot="0">
              <a:off x="0" y="0"/>
              <a:ext cx="253238" cy="3813302"/>
            </a:xfrm>
            <a:custGeom>
              <a:avLst/>
              <a:gdLst/>
              <a:ahLst/>
              <a:cxnLst/>
              <a:rect r="r" b="b" t="t" l="l"/>
              <a:pathLst>
                <a:path h="3813302" w="253238">
                  <a:moveTo>
                    <a:pt x="16891" y="0"/>
                  </a:moveTo>
                  <a:lnTo>
                    <a:pt x="236347" y="0"/>
                  </a:lnTo>
                  <a:cubicBezTo>
                    <a:pt x="245745" y="0"/>
                    <a:pt x="253238" y="7620"/>
                    <a:pt x="253238" y="16891"/>
                  </a:cubicBezTo>
                  <a:lnTo>
                    <a:pt x="253238" y="3796411"/>
                  </a:lnTo>
                  <a:cubicBezTo>
                    <a:pt x="253238" y="3805809"/>
                    <a:pt x="245618" y="3813302"/>
                    <a:pt x="236347"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236347" y="3779520"/>
                  </a:lnTo>
                  <a:lnTo>
                    <a:pt x="236347" y="3796411"/>
                  </a:lnTo>
                  <a:lnTo>
                    <a:pt x="219456" y="3796411"/>
                  </a:lnTo>
                  <a:lnTo>
                    <a:pt x="219456" y="16891"/>
                  </a:lnTo>
                  <a:lnTo>
                    <a:pt x="236347" y="16891"/>
                  </a:lnTo>
                  <a:lnTo>
                    <a:pt x="236347" y="33909"/>
                  </a:lnTo>
                  <a:lnTo>
                    <a:pt x="16891" y="33909"/>
                  </a:lnTo>
                  <a:close/>
                </a:path>
              </a:pathLst>
            </a:custGeom>
            <a:solidFill>
              <a:srgbClr val="14B8A6"/>
            </a:solidFill>
          </p:spPr>
        </p:sp>
      </p:grpSp>
      <p:grpSp>
        <p:nvGrpSpPr>
          <p:cNvPr name="Group 77" id="77"/>
          <p:cNvGrpSpPr/>
          <p:nvPr/>
        </p:nvGrpSpPr>
        <p:grpSpPr>
          <a:xfrm rot="0">
            <a:off x="12783312" y="5797296"/>
            <a:ext cx="4937760" cy="585216"/>
            <a:chOff x="0" y="0"/>
            <a:chExt cx="6583680" cy="780288"/>
          </a:xfrm>
        </p:grpSpPr>
        <p:sp>
          <p:nvSpPr>
            <p:cNvPr name="Freeform 78" id="78"/>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sp>
        <p:sp>
          <p:nvSpPr>
            <p:cNvPr name="TextBox 79" id="79"/>
            <p:cNvSpPr txBox="true"/>
            <p:nvPr/>
          </p:nvSpPr>
          <p:spPr>
            <a:xfrm>
              <a:off x="0" y="-47625"/>
              <a:ext cx="6583680"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Scalable system</a:t>
              </a:r>
            </a:p>
          </p:txBody>
        </p:sp>
      </p:grpSp>
      <p:grpSp>
        <p:nvGrpSpPr>
          <p:cNvPr name="Group 80" id="80"/>
          <p:cNvGrpSpPr/>
          <p:nvPr/>
        </p:nvGrpSpPr>
        <p:grpSpPr>
          <a:xfrm rot="0">
            <a:off x="12783312" y="6455664"/>
            <a:ext cx="5029200" cy="1792224"/>
            <a:chOff x="0" y="0"/>
            <a:chExt cx="6705600" cy="2389632"/>
          </a:xfrm>
        </p:grpSpPr>
        <p:sp>
          <p:nvSpPr>
            <p:cNvPr name="Freeform 81" id="81"/>
            <p:cNvSpPr/>
            <p:nvPr/>
          </p:nvSpPr>
          <p:spPr>
            <a:xfrm flipH="false" flipV="false" rot="0">
              <a:off x="0" y="0"/>
              <a:ext cx="6705600" cy="2389632"/>
            </a:xfrm>
            <a:custGeom>
              <a:avLst/>
              <a:gdLst/>
              <a:ahLst/>
              <a:cxnLst/>
              <a:rect r="r" b="b" t="t" l="l"/>
              <a:pathLst>
                <a:path h="2389632" w="6705600">
                  <a:moveTo>
                    <a:pt x="0" y="0"/>
                  </a:moveTo>
                  <a:lnTo>
                    <a:pt x="6705600" y="0"/>
                  </a:lnTo>
                  <a:lnTo>
                    <a:pt x="6705600" y="2389632"/>
                  </a:lnTo>
                  <a:lnTo>
                    <a:pt x="0" y="2389632"/>
                  </a:lnTo>
                  <a:close/>
                </a:path>
              </a:pathLst>
            </a:custGeom>
            <a:blipFill>
              <a:blip r:embed="rId3">
                <a:alphaModFix amt="0"/>
              </a:blip>
              <a:stretch>
                <a:fillRect l="0" t="-4677" r="0" b="-4677"/>
              </a:stretch>
            </a:blipFill>
          </p:spPr>
        </p:sp>
        <p:sp>
          <p:nvSpPr>
            <p:cNvPr name="TextBox 82" id="82"/>
            <p:cNvSpPr txBox="true"/>
            <p:nvPr/>
          </p:nvSpPr>
          <p:spPr>
            <a:xfrm>
              <a:off x="0" y="-38100"/>
              <a:ext cx="6705600" cy="2427732"/>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EHR-integration ready. As data grows, the model improves. Scalable from one clinic to regional and national health systems.</a:t>
              </a:r>
            </a:p>
          </p:txBody>
        </p:sp>
      </p:grpSp>
      <p:grpSp>
        <p:nvGrpSpPr>
          <p:cNvPr name="Group 83" id="83"/>
          <p:cNvGrpSpPr/>
          <p:nvPr/>
        </p:nvGrpSpPr>
        <p:grpSpPr>
          <a:xfrm rot="0">
            <a:off x="633727" y="8918191"/>
            <a:ext cx="17020537" cy="835657"/>
            <a:chOff x="0" y="0"/>
            <a:chExt cx="22694049" cy="1114209"/>
          </a:xfrm>
        </p:grpSpPr>
        <p:sp>
          <p:nvSpPr>
            <p:cNvPr name="Freeform 84" id="84"/>
            <p:cNvSpPr/>
            <p:nvPr/>
          </p:nvSpPr>
          <p:spPr>
            <a:xfrm flipH="false" flipV="false" rot="0">
              <a:off x="8509" y="8509"/>
              <a:ext cx="22677120" cy="1097280"/>
            </a:xfrm>
            <a:custGeom>
              <a:avLst/>
              <a:gdLst/>
              <a:ahLst/>
              <a:cxnLst/>
              <a:rect r="r" b="b" t="t" l="l"/>
              <a:pathLst>
                <a:path h="1097280" w="22677120">
                  <a:moveTo>
                    <a:pt x="0" y="0"/>
                  </a:moveTo>
                  <a:lnTo>
                    <a:pt x="22677120" y="0"/>
                  </a:lnTo>
                  <a:lnTo>
                    <a:pt x="22677120" y="1097280"/>
                  </a:lnTo>
                  <a:lnTo>
                    <a:pt x="0" y="1097280"/>
                  </a:lnTo>
                  <a:close/>
                </a:path>
              </a:pathLst>
            </a:custGeom>
            <a:solidFill>
              <a:srgbClr val="FEF3C7"/>
            </a:solidFill>
          </p:spPr>
        </p:sp>
        <p:sp>
          <p:nvSpPr>
            <p:cNvPr name="Freeform 85" id="85"/>
            <p:cNvSpPr/>
            <p:nvPr/>
          </p:nvSpPr>
          <p:spPr>
            <a:xfrm flipH="false" flipV="false" rot="0">
              <a:off x="0" y="0"/>
              <a:ext cx="22694137" cy="1114298"/>
            </a:xfrm>
            <a:custGeom>
              <a:avLst/>
              <a:gdLst/>
              <a:ahLst/>
              <a:cxnLst/>
              <a:rect r="r" b="b" t="t" l="l"/>
              <a:pathLst>
                <a:path h="1114298" w="22694137">
                  <a:moveTo>
                    <a:pt x="8509" y="0"/>
                  </a:moveTo>
                  <a:lnTo>
                    <a:pt x="22685629" y="0"/>
                  </a:lnTo>
                  <a:cubicBezTo>
                    <a:pt x="22690328" y="0"/>
                    <a:pt x="22694137" y="3810"/>
                    <a:pt x="22694137" y="8509"/>
                  </a:cubicBezTo>
                  <a:lnTo>
                    <a:pt x="22694137" y="1105789"/>
                  </a:lnTo>
                  <a:cubicBezTo>
                    <a:pt x="22694137" y="1110488"/>
                    <a:pt x="22690328" y="1114298"/>
                    <a:pt x="22685629" y="1114298"/>
                  </a:cubicBezTo>
                  <a:lnTo>
                    <a:pt x="8509" y="1114298"/>
                  </a:lnTo>
                  <a:cubicBezTo>
                    <a:pt x="3810" y="1114298"/>
                    <a:pt x="0" y="1110488"/>
                    <a:pt x="0" y="1105789"/>
                  </a:cubicBezTo>
                  <a:lnTo>
                    <a:pt x="0" y="8509"/>
                  </a:lnTo>
                  <a:cubicBezTo>
                    <a:pt x="0" y="3810"/>
                    <a:pt x="3810" y="0"/>
                    <a:pt x="8509" y="0"/>
                  </a:cubicBezTo>
                  <a:moveTo>
                    <a:pt x="8509" y="16891"/>
                  </a:moveTo>
                  <a:lnTo>
                    <a:pt x="8509" y="8509"/>
                  </a:lnTo>
                  <a:lnTo>
                    <a:pt x="17018" y="8509"/>
                  </a:lnTo>
                  <a:lnTo>
                    <a:pt x="17018" y="1105789"/>
                  </a:lnTo>
                  <a:lnTo>
                    <a:pt x="8509" y="1105789"/>
                  </a:lnTo>
                  <a:lnTo>
                    <a:pt x="8509" y="1097280"/>
                  </a:lnTo>
                  <a:lnTo>
                    <a:pt x="22685629" y="1097280"/>
                  </a:lnTo>
                  <a:lnTo>
                    <a:pt x="22685629" y="1105789"/>
                  </a:lnTo>
                  <a:lnTo>
                    <a:pt x="22677120" y="1105789"/>
                  </a:lnTo>
                  <a:lnTo>
                    <a:pt x="22677120" y="8509"/>
                  </a:lnTo>
                  <a:lnTo>
                    <a:pt x="22685629" y="8509"/>
                  </a:lnTo>
                  <a:lnTo>
                    <a:pt x="22685629" y="17018"/>
                  </a:lnTo>
                  <a:lnTo>
                    <a:pt x="8509" y="17018"/>
                  </a:lnTo>
                  <a:close/>
                </a:path>
              </a:pathLst>
            </a:custGeom>
            <a:solidFill>
              <a:srgbClr val="F59E0B"/>
            </a:solidFill>
          </p:spPr>
        </p:sp>
      </p:grpSp>
      <p:grpSp>
        <p:nvGrpSpPr>
          <p:cNvPr name="Group 86" id="86"/>
          <p:cNvGrpSpPr/>
          <p:nvPr/>
        </p:nvGrpSpPr>
        <p:grpSpPr>
          <a:xfrm rot="0">
            <a:off x="914400" y="8961120"/>
            <a:ext cx="16459200" cy="749808"/>
            <a:chOff x="0" y="0"/>
            <a:chExt cx="21945600" cy="999744"/>
          </a:xfrm>
        </p:grpSpPr>
        <p:sp>
          <p:nvSpPr>
            <p:cNvPr name="Freeform 87" id="87"/>
            <p:cNvSpPr/>
            <p:nvPr/>
          </p:nvSpPr>
          <p:spPr>
            <a:xfrm flipH="false" flipV="false" rot="0">
              <a:off x="0" y="0"/>
              <a:ext cx="21945600" cy="999744"/>
            </a:xfrm>
            <a:custGeom>
              <a:avLst/>
              <a:gdLst/>
              <a:ahLst/>
              <a:cxnLst/>
              <a:rect r="r" b="b" t="t" l="l"/>
              <a:pathLst>
                <a:path h="999744" w="21945600">
                  <a:moveTo>
                    <a:pt x="0" y="0"/>
                  </a:moveTo>
                  <a:lnTo>
                    <a:pt x="21945600" y="0"/>
                  </a:lnTo>
                  <a:lnTo>
                    <a:pt x="21945600" y="999744"/>
                  </a:lnTo>
                  <a:lnTo>
                    <a:pt x="0" y="999744"/>
                  </a:lnTo>
                  <a:close/>
                </a:path>
              </a:pathLst>
            </a:custGeom>
            <a:blipFill>
              <a:blip r:embed="rId3">
                <a:alphaModFix amt="0"/>
              </a:blip>
              <a:stretch>
                <a:fillRect l="0" t="-377720" r="0" b="-377720"/>
              </a:stretch>
            </a:blipFill>
          </p:spPr>
        </p:sp>
        <p:sp>
          <p:nvSpPr>
            <p:cNvPr name="TextBox 88" id="88"/>
            <p:cNvSpPr txBox="true"/>
            <p:nvPr/>
          </p:nvSpPr>
          <p:spPr>
            <a:xfrm>
              <a:off x="0" y="-38100"/>
              <a:ext cx="21945600" cy="1037844"/>
            </a:xfrm>
            <a:prstGeom prst="rect">
              <a:avLst/>
            </a:prstGeom>
          </p:spPr>
          <p:txBody>
            <a:bodyPr anchor="ctr" rtlCol="false" tIns="0" lIns="0" bIns="0" rIns="0"/>
            <a:lstStyle/>
            <a:p>
              <a:pPr algn="l">
                <a:lnSpc>
                  <a:spcPts val="2280"/>
                </a:lnSpc>
              </a:pPr>
              <a:r>
                <a:rPr lang="en-US" sz="1900" i="true">
                  <a:solidFill>
                    <a:srgbClr val="92400E"/>
                  </a:solidFill>
                  <a:latin typeface="Calibri (MS) Italics"/>
                  <a:ea typeface="Calibri (MS) Italics"/>
                  <a:cs typeface="Calibri (MS) Italics"/>
                  <a:sym typeface="Calibri (MS) Italics"/>
                </a:rPr>
                <a:t>In sub-Saharan Africa, 80% of chronic disease deaths occur before 70 — MediPATH directly targets this gap.</a:t>
              </a:r>
            </a:p>
          </p:txBody>
        </p:sp>
      </p:grpSp>
      <p:grpSp>
        <p:nvGrpSpPr>
          <p:cNvPr name="Group 89" id="89"/>
          <p:cNvGrpSpPr/>
          <p:nvPr/>
        </p:nvGrpSpPr>
        <p:grpSpPr>
          <a:xfrm rot="0">
            <a:off x="-12697" y="9588503"/>
            <a:ext cx="18313403" cy="711203"/>
            <a:chOff x="0" y="0"/>
            <a:chExt cx="24417871" cy="948271"/>
          </a:xfrm>
        </p:grpSpPr>
        <p:sp>
          <p:nvSpPr>
            <p:cNvPr name="Freeform 90" id="90"/>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91" id="91"/>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92" id="92"/>
          <p:cNvGrpSpPr/>
          <p:nvPr/>
        </p:nvGrpSpPr>
        <p:grpSpPr>
          <a:xfrm rot="0">
            <a:off x="731520" y="9637776"/>
            <a:ext cx="16824960" cy="585216"/>
            <a:chOff x="0" y="0"/>
            <a:chExt cx="22433280" cy="780288"/>
          </a:xfrm>
        </p:grpSpPr>
        <p:sp>
          <p:nvSpPr>
            <p:cNvPr name="Freeform 93" id="93"/>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94" id="94"/>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D948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D948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FFFFFF"/>
                  </a:solidFill>
                  <a:latin typeface="Calibri (MS) Bold"/>
                  <a:ea typeface="Calibri (MS) Bold"/>
                  <a:cs typeface="Calibri (MS) Bold"/>
                  <a:sym typeface="Calibri (MS) Bold"/>
                </a:rPr>
                <a:t>DATASET &amp; DATA SOURCES</a:t>
              </a:r>
            </a:p>
          </p:txBody>
        </p:sp>
      </p:grpSp>
      <p:grpSp>
        <p:nvGrpSpPr>
          <p:cNvPr name="Group 8" id="8"/>
          <p:cNvGrpSpPr/>
          <p:nvPr/>
        </p:nvGrpSpPr>
        <p:grpSpPr>
          <a:xfrm rot="0">
            <a:off x="694944" y="1371600"/>
            <a:ext cx="8778240" cy="640080"/>
            <a:chOff x="0" y="0"/>
            <a:chExt cx="11704320" cy="853440"/>
          </a:xfrm>
        </p:grpSpPr>
        <p:sp>
          <p:nvSpPr>
            <p:cNvPr name="Freeform 9" id="9"/>
            <p:cNvSpPr/>
            <p:nvPr/>
          </p:nvSpPr>
          <p:spPr>
            <a:xfrm flipH="false" flipV="false" rot="0">
              <a:off x="0" y="0"/>
              <a:ext cx="11704320" cy="853440"/>
            </a:xfrm>
            <a:custGeom>
              <a:avLst/>
              <a:gdLst/>
              <a:ahLst/>
              <a:cxnLst/>
              <a:rect r="r" b="b" t="t" l="l"/>
              <a:pathLst>
                <a:path h="853440" w="11704320">
                  <a:moveTo>
                    <a:pt x="0" y="0"/>
                  </a:moveTo>
                  <a:lnTo>
                    <a:pt x="11704320" y="0"/>
                  </a:lnTo>
                  <a:lnTo>
                    <a:pt x="11704320" y="853440"/>
                  </a:lnTo>
                  <a:lnTo>
                    <a:pt x="0" y="853440"/>
                  </a:lnTo>
                  <a:close/>
                </a:path>
              </a:pathLst>
            </a:custGeom>
            <a:blipFill>
              <a:blip r:embed="rId3">
                <a:alphaModFix amt="0"/>
              </a:blip>
              <a:stretch>
                <a:fillRect l="0" t="-217223" r="0" b="-217223"/>
              </a:stretch>
            </a:blipFill>
          </p:spPr>
        </p:sp>
        <p:sp>
          <p:nvSpPr>
            <p:cNvPr name="TextBox 10" id="10"/>
            <p:cNvSpPr txBox="true"/>
            <p:nvPr/>
          </p:nvSpPr>
          <p:spPr>
            <a:xfrm>
              <a:off x="0" y="-57150"/>
              <a:ext cx="11704320" cy="91059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Data sources</a:t>
              </a:r>
            </a:p>
          </p:txBody>
        </p:sp>
      </p:grpSp>
      <p:grpSp>
        <p:nvGrpSpPr>
          <p:cNvPr name="Group 11" id="11"/>
          <p:cNvGrpSpPr/>
          <p:nvPr/>
        </p:nvGrpSpPr>
        <p:grpSpPr>
          <a:xfrm rot="0">
            <a:off x="633727" y="2224783"/>
            <a:ext cx="8699497" cy="1146553"/>
            <a:chOff x="0" y="0"/>
            <a:chExt cx="11599329" cy="1528737"/>
          </a:xfrm>
        </p:grpSpPr>
        <p:sp>
          <p:nvSpPr>
            <p:cNvPr name="Freeform 12" id="12"/>
            <p:cNvSpPr/>
            <p:nvPr/>
          </p:nvSpPr>
          <p:spPr>
            <a:xfrm flipH="false" flipV="false" rot="0">
              <a:off x="8509" y="8509"/>
              <a:ext cx="11582400" cy="1511808"/>
            </a:xfrm>
            <a:custGeom>
              <a:avLst/>
              <a:gdLst/>
              <a:ahLst/>
              <a:cxnLst/>
              <a:rect r="r" b="b" t="t" l="l"/>
              <a:pathLst>
                <a:path h="1511808" w="11582400">
                  <a:moveTo>
                    <a:pt x="0" y="0"/>
                  </a:moveTo>
                  <a:lnTo>
                    <a:pt x="11582400" y="0"/>
                  </a:lnTo>
                  <a:lnTo>
                    <a:pt x="11582400" y="1511808"/>
                  </a:lnTo>
                  <a:lnTo>
                    <a:pt x="0" y="1511808"/>
                  </a:lnTo>
                  <a:close/>
                </a:path>
              </a:pathLst>
            </a:custGeom>
            <a:solidFill>
              <a:srgbClr val="0D1F38"/>
            </a:solidFill>
          </p:spPr>
        </p:sp>
        <p:sp>
          <p:nvSpPr>
            <p:cNvPr name="Freeform 13" id="13"/>
            <p:cNvSpPr/>
            <p:nvPr/>
          </p:nvSpPr>
          <p:spPr>
            <a:xfrm flipH="false" flipV="false" rot="0">
              <a:off x="0" y="0"/>
              <a:ext cx="11599418" cy="1528826"/>
            </a:xfrm>
            <a:custGeom>
              <a:avLst/>
              <a:gdLst/>
              <a:ahLst/>
              <a:cxnLst/>
              <a:rect r="r" b="b" t="t" l="l"/>
              <a:pathLst>
                <a:path h="1528826" w="11599418">
                  <a:moveTo>
                    <a:pt x="8509" y="0"/>
                  </a:moveTo>
                  <a:lnTo>
                    <a:pt x="11590909" y="0"/>
                  </a:lnTo>
                  <a:cubicBezTo>
                    <a:pt x="11595608" y="0"/>
                    <a:pt x="11599418" y="3810"/>
                    <a:pt x="11599418" y="8509"/>
                  </a:cubicBezTo>
                  <a:lnTo>
                    <a:pt x="11599418" y="1520317"/>
                  </a:lnTo>
                  <a:cubicBezTo>
                    <a:pt x="11599418" y="1525016"/>
                    <a:pt x="11595608" y="1528826"/>
                    <a:pt x="11590909" y="1528826"/>
                  </a:cubicBezTo>
                  <a:lnTo>
                    <a:pt x="8509" y="1528826"/>
                  </a:lnTo>
                  <a:cubicBezTo>
                    <a:pt x="3810" y="1528826"/>
                    <a:pt x="0" y="1525016"/>
                    <a:pt x="0" y="1520317"/>
                  </a:cubicBezTo>
                  <a:lnTo>
                    <a:pt x="0" y="8509"/>
                  </a:lnTo>
                  <a:cubicBezTo>
                    <a:pt x="0" y="3810"/>
                    <a:pt x="3810" y="0"/>
                    <a:pt x="8509" y="0"/>
                  </a:cubicBezTo>
                  <a:moveTo>
                    <a:pt x="8509" y="16891"/>
                  </a:moveTo>
                  <a:lnTo>
                    <a:pt x="8509" y="8509"/>
                  </a:lnTo>
                  <a:lnTo>
                    <a:pt x="17018" y="8509"/>
                  </a:lnTo>
                  <a:lnTo>
                    <a:pt x="17018" y="1520317"/>
                  </a:lnTo>
                  <a:lnTo>
                    <a:pt x="8509" y="1520317"/>
                  </a:lnTo>
                  <a:lnTo>
                    <a:pt x="8509" y="1511808"/>
                  </a:lnTo>
                  <a:lnTo>
                    <a:pt x="11590909" y="1511808"/>
                  </a:lnTo>
                  <a:lnTo>
                    <a:pt x="11590909" y="1520317"/>
                  </a:lnTo>
                  <a:lnTo>
                    <a:pt x="11582400" y="1520317"/>
                  </a:lnTo>
                  <a:lnTo>
                    <a:pt x="11582400" y="8509"/>
                  </a:lnTo>
                  <a:lnTo>
                    <a:pt x="11590909" y="8509"/>
                  </a:lnTo>
                  <a:lnTo>
                    <a:pt x="11590909" y="17018"/>
                  </a:lnTo>
                  <a:lnTo>
                    <a:pt x="8509" y="17018"/>
                  </a:lnTo>
                  <a:close/>
                </a:path>
              </a:pathLst>
            </a:custGeom>
            <a:solidFill>
              <a:srgbClr val="8B5CF6"/>
            </a:solidFill>
          </p:spPr>
        </p:sp>
      </p:grpSp>
      <p:grpSp>
        <p:nvGrpSpPr>
          <p:cNvPr name="Group 14" id="14"/>
          <p:cNvGrpSpPr/>
          <p:nvPr/>
        </p:nvGrpSpPr>
        <p:grpSpPr>
          <a:xfrm rot="0">
            <a:off x="627383" y="2364743"/>
            <a:ext cx="171707" cy="866651"/>
            <a:chOff x="0" y="0"/>
            <a:chExt cx="228943" cy="1155535"/>
          </a:xfrm>
        </p:grpSpPr>
        <p:sp>
          <p:nvSpPr>
            <p:cNvPr name="Freeform 15" id="15"/>
            <p:cNvSpPr/>
            <p:nvPr/>
          </p:nvSpPr>
          <p:spPr>
            <a:xfrm flipH="false" flipV="false" rot="0">
              <a:off x="16891" y="16891"/>
              <a:ext cx="195072" cy="1121664"/>
            </a:xfrm>
            <a:custGeom>
              <a:avLst/>
              <a:gdLst/>
              <a:ahLst/>
              <a:cxnLst/>
              <a:rect r="r" b="b" t="t" l="l"/>
              <a:pathLst>
                <a:path h="1121664" w="195072">
                  <a:moveTo>
                    <a:pt x="0" y="0"/>
                  </a:moveTo>
                  <a:lnTo>
                    <a:pt x="195072" y="0"/>
                  </a:lnTo>
                  <a:lnTo>
                    <a:pt x="195072" y="1121664"/>
                  </a:lnTo>
                  <a:lnTo>
                    <a:pt x="0" y="1121664"/>
                  </a:lnTo>
                  <a:close/>
                </a:path>
              </a:pathLst>
            </a:custGeom>
            <a:solidFill>
              <a:srgbClr val="8B5CF6"/>
            </a:solidFill>
          </p:spPr>
        </p:sp>
        <p:sp>
          <p:nvSpPr>
            <p:cNvPr name="Freeform 16" id="16"/>
            <p:cNvSpPr/>
            <p:nvPr/>
          </p:nvSpPr>
          <p:spPr>
            <a:xfrm flipH="false" flipV="false" rot="0">
              <a:off x="0" y="0"/>
              <a:ext cx="228854" cy="1155448"/>
            </a:xfrm>
            <a:custGeom>
              <a:avLst/>
              <a:gdLst/>
              <a:ahLst/>
              <a:cxnLst/>
              <a:rect r="r" b="b" t="t" l="l"/>
              <a:pathLst>
                <a:path h="1155448" w="228854">
                  <a:moveTo>
                    <a:pt x="16891" y="0"/>
                  </a:moveTo>
                  <a:lnTo>
                    <a:pt x="211963" y="0"/>
                  </a:lnTo>
                  <a:cubicBezTo>
                    <a:pt x="221361" y="0"/>
                    <a:pt x="228854" y="7620"/>
                    <a:pt x="228854" y="16891"/>
                  </a:cubicBezTo>
                  <a:lnTo>
                    <a:pt x="228854" y="1138555"/>
                  </a:lnTo>
                  <a:cubicBezTo>
                    <a:pt x="228854" y="1147953"/>
                    <a:pt x="221234" y="1155446"/>
                    <a:pt x="211963" y="1155446"/>
                  </a:cubicBezTo>
                  <a:lnTo>
                    <a:pt x="16891" y="1155446"/>
                  </a:lnTo>
                  <a:cubicBezTo>
                    <a:pt x="7620" y="1155573"/>
                    <a:pt x="0" y="1147953"/>
                    <a:pt x="0" y="1138555"/>
                  </a:cubicBezTo>
                  <a:lnTo>
                    <a:pt x="0" y="16891"/>
                  </a:lnTo>
                  <a:cubicBezTo>
                    <a:pt x="0" y="7620"/>
                    <a:pt x="7620" y="0"/>
                    <a:pt x="16891" y="0"/>
                  </a:cubicBezTo>
                  <a:moveTo>
                    <a:pt x="16891" y="33909"/>
                  </a:moveTo>
                  <a:lnTo>
                    <a:pt x="16891" y="16891"/>
                  </a:lnTo>
                  <a:lnTo>
                    <a:pt x="33909" y="16891"/>
                  </a:lnTo>
                  <a:lnTo>
                    <a:pt x="33909" y="1138555"/>
                  </a:lnTo>
                  <a:lnTo>
                    <a:pt x="16891" y="1138555"/>
                  </a:lnTo>
                  <a:lnTo>
                    <a:pt x="16891" y="1121664"/>
                  </a:lnTo>
                  <a:lnTo>
                    <a:pt x="211963" y="1121664"/>
                  </a:lnTo>
                  <a:lnTo>
                    <a:pt x="211963" y="1138555"/>
                  </a:lnTo>
                  <a:lnTo>
                    <a:pt x="195072" y="1138555"/>
                  </a:lnTo>
                  <a:lnTo>
                    <a:pt x="195072" y="16891"/>
                  </a:lnTo>
                  <a:lnTo>
                    <a:pt x="211963" y="16891"/>
                  </a:lnTo>
                  <a:lnTo>
                    <a:pt x="211963" y="33909"/>
                  </a:lnTo>
                  <a:lnTo>
                    <a:pt x="16891" y="33909"/>
                  </a:lnTo>
                  <a:close/>
                </a:path>
              </a:pathLst>
            </a:custGeom>
            <a:solidFill>
              <a:srgbClr val="8B5CF6"/>
            </a:solidFill>
          </p:spPr>
        </p:sp>
      </p:grpSp>
      <p:grpSp>
        <p:nvGrpSpPr>
          <p:cNvPr name="Group 17" id="17"/>
          <p:cNvGrpSpPr/>
          <p:nvPr/>
        </p:nvGrpSpPr>
        <p:grpSpPr>
          <a:xfrm rot="0">
            <a:off x="950976" y="2340864"/>
            <a:ext cx="8138160" cy="475488"/>
            <a:chOff x="0" y="0"/>
            <a:chExt cx="10850880" cy="633984"/>
          </a:xfrm>
        </p:grpSpPr>
        <p:sp>
          <p:nvSpPr>
            <p:cNvPr name="Freeform 18" id="18"/>
            <p:cNvSpPr/>
            <p:nvPr/>
          </p:nvSpPr>
          <p:spPr>
            <a:xfrm flipH="false" flipV="false" rot="0">
              <a:off x="0" y="0"/>
              <a:ext cx="10850880" cy="633984"/>
            </a:xfrm>
            <a:custGeom>
              <a:avLst/>
              <a:gdLst/>
              <a:ahLst/>
              <a:cxnLst/>
              <a:rect r="r" b="b" t="t" l="l"/>
              <a:pathLst>
                <a:path h="633984" w="10850880">
                  <a:moveTo>
                    <a:pt x="0" y="0"/>
                  </a:moveTo>
                  <a:lnTo>
                    <a:pt x="10850880" y="0"/>
                  </a:lnTo>
                  <a:lnTo>
                    <a:pt x="10850880" y="633984"/>
                  </a:lnTo>
                  <a:lnTo>
                    <a:pt x="0" y="633984"/>
                  </a:lnTo>
                  <a:close/>
                </a:path>
              </a:pathLst>
            </a:custGeom>
            <a:blipFill>
              <a:blip r:embed="rId3">
                <a:alphaModFix amt="0"/>
              </a:blip>
              <a:stretch>
                <a:fillRect l="0" t="-283493" r="0" b="-283493"/>
              </a:stretch>
            </a:blipFill>
          </p:spPr>
        </p:sp>
        <p:sp>
          <p:nvSpPr>
            <p:cNvPr name="TextBox 19" id="19"/>
            <p:cNvSpPr txBox="true"/>
            <p:nvPr/>
          </p:nvSpPr>
          <p:spPr>
            <a:xfrm>
              <a:off x="0" y="-38100"/>
              <a:ext cx="10850880" cy="672084"/>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Doctor clinical records</a:t>
              </a:r>
            </a:p>
          </p:txBody>
        </p:sp>
      </p:grpSp>
      <p:grpSp>
        <p:nvGrpSpPr>
          <p:cNvPr name="Group 20" id="20"/>
          <p:cNvGrpSpPr/>
          <p:nvPr/>
        </p:nvGrpSpPr>
        <p:grpSpPr>
          <a:xfrm rot="0">
            <a:off x="950976" y="2816352"/>
            <a:ext cx="8138160" cy="438912"/>
            <a:chOff x="0" y="0"/>
            <a:chExt cx="10850880" cy="585216"/>
          </a:xfrm>
        </p:grpSpPr>
        <p:sp>
          <p:nvSpPr>
            <p:cNvPr name="Freeform 21" id="21"/>
            <p:cNvSpPr/>
            <p:nvPr/>
          </p:nvSpPr>
          <p:spPr>
            <a:xfrm flipH="false" flipV="false" rot="0">
              <a:off x="0" y="0"/>
              <a:ext cx="10850880" cy="585216"/>
            </a:xfrm>
            <a:custGeom>
              <a:avLst/>
              <a:gdLst/>
              <a:ahLst/>
              <a:cxnLst/>
              <a:rect r="r" b="b" t="t" l="l"/>
              <a:pathLst>
                <a:path h="585216" w="10850880">
                  <a:moveTo>
                    <a:pt x="0" y="0"/>
                  </a:moveTo>
                  <a:lnTo>
                    <a:pt x="10850880" y="0"/>
                  </a:lnTo>
                  <a:lnTo>
                    <a:pt x="10850880" y="585216"/>
                  </a:lnTo>
                  <a:lnTo>
                    <a:pt x="0" y="585216"/>
                  </a:lnTo>
                  <a:close/>
                </a:path>
              </a:pathLst>
            </a:custGeom>
            <a:blipFill>
              <a:blip r:embed="rId3">
                <a:alphaModFix amt="0"/>
              </a:blip>
              <a:stretch>
                <a:fillRect l="0" t="-311285" r="0" b="-311285"/>
              </a:stretch>
            </a:blipFill>
          </p:spPr>
        </p:sp>
        <p:sp>
          <p:nvSpPr>
            <p:cNvPr name="TextBox 22" id="22"/>
            <p:cNvSpPr txBox="true"/>
            <p:nvPr/>
          </p:nvSpPr>
          <p:spPr>
            <a:xfrm>
              <a:off x="0" y="-38100"/>
              <a:ext cx="10850880" cy="623316"/>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Real observed disease progressions — our seed/cold-start data (high weight: 80%)</a:t>
              </a:r>
            </a:p>
          </p:txBody>
        </p:sp>
      </p:grpSp>
      <p:grpSp>
        <p:nvGrpSpPr>
          <p:cNvPr name="Group 23" id="23"/>
          <p:cNvGrpSpPr/>
          <p:nvPr/>
        </p:nvGrpSpPr>
        <p:grpSpPr>
          <a:xfrm rot="0">
            <a:off x="633727" y="3614671"/>
            <a:ext cx="8699497" cy="1146553"/>
            <a:chOff x="0" y="0"/>
            <a:chExt cx="11599329" cy="1528737"/>
          </a:xfrm>
        </p:grpSpPr>
        <p:sp>
          <p:nvSpPr>
            <p:cNvPr name="Freeform 24" id="24"/>
            <p:cNvSpPr/>
            <p:nvPr/>
          </p:nvSpPr>
          <p:spPr>
            <a:xfrm flipH="false" flipV="false" rot="0">
              <a:off x="8509" y="8509"/>
              <a:ext cx="11582400" cy="1511808"/>
            </a:xfrm>
            <a:custGeom>
              <a:avLst/>
              <a:gdLst/>
              <a:ahLst/>
              <a:cxnLst/>
              <a:rect r="r" b="b" t="t" l="l"/>
              <a:pathLst>
                <a:path h="1511808" w="11582400">
                  <a:moveTo>
                    <a:pt x="0" y="0"/>
                  </a:moveTo>
                  <a:lnTo>
                    <a:pt x="11582400" y="0"/>
                  </a:lnTo>
                  <a:lnTo>
                    <a:pt x="11582400" y="1511808"/>
                  </a:lnTo>
                  <a:lnTo>
                    <a:pt x="0" y="1511808"/>
                  </a:lnTo>
                  <a:close/>
                </a:path>
              </a:pathLst>
            </a:custGeom>
            <a:solidFill>
              <a:srgbClr val="0D1F38"/>
            </a:solidFill>
          </p:spPr>
        </p:sp>
        <p:sp>
          <p:nvSpPr>
            <p:cNvPr name="Freeform 25" id="25"/>
            <p:cNvSpPr/>
            <p:nvPr/>
          </p:nvSpPr>
          <p:spPr>
            <a:xfrm flipH="false" flipV="false" rot="0">
              <a:off x="0" y="0"/>
              <a:ext cx="11599418" cy="1528826"/>
            </a:xfrm>
            <a:custGeom>
              <a:avLst/>
              <a:gdLst/>
              <a:ahLst/>
              <a:cxnLst/>
              <a:rect r="r" b="b" t="t" l="l"/>
              <a:pathLst>
                <a:path h="1528826" w="11599418">
                  <a:moveTo>
                    <a:pt x="8509" y="0"/>
                  </a:moveTo>
                  <a:lnTo>
                    <a:pt x="11590909" y="0"/>
                  </a:lnTo>
                  <a:cubicBezTo>
                    <a:pt x="11595608" y="0"/>
                    <a:pt x="11599418" y="3810"/>
                    <a:pt x="11599418" y="8509"/>
                  </a:cubicBezTo>
                  <a:lnTo>
                    <a:pt x="11599418" y="1520317"/>
                  </a:lnTo>
                  <a:cubicBezTo>
                    <a:pt x="11599418" y="1525016"/>
                    <a:pt x="11595608" y="1528826"/>
                    <a:pt x="11590909" y="1528826"/>
                  </a:cubicBezTo>
                  <a:lnTo>
                    <a:pt x="8509" y="1528826"/>
                  </a:lnTo>
                  <a:cubicBezTo>
                    <a:pt x="3810" y="1528826"/>
                    <a:pt x="0" y="1525016"/>
                    <a:pt x="0" y="1520317"/>
                  </a:cubicBezTo>
                  <a:lnTo>
                    <a:pt x="0" y="8509"/>
                  </a:lnTo>
                  <a:cubicBezTo>
                    <a:pt x="0" y="3810"/>
                    <a:pt x="3810" y="0"/>
                    <a:pt x="8509" y="0"/>
                  </a:cubicBezTo>
                  <a:moveTo>
                    <a:pt x="8509" y="16891"/>
                  </a:moveTo>
                  <a:lnTo>
                    <a:pt x="8509" y="8509"/>
                  </a:lnTo>
                  <a:lnTo>
                    <a:pt x="17018" y="8509"/>
                  </a:lnTo>
                  <a:lnTo>
                    <a:pt x="17018" y="1520317"/>
                  </a:lnTo>
                  <a:lnTo>
                    <a:pt x="8509" y="1520317"/>
                  </a:lnTo>
                  <a:lnTo>
                    <a:pt x="8509" y="1511808"/>
                  </a:lnTo>
                  <a:lnTo>
                    <a:pt x="11590909" y="1511808"/>
                  </a:lnTo>
                  <a:lnTo>
                    <a:pt x="11590909" y="1520317"/>
                  </a:lnTo>
                  <a:lnTo>
                    <a:pt x="11582400" y="1520317"/>
                  </a:lnTo>
                  <a:lnTo>
                    <a:pt x="11582400" y="8509"/>
                  </a:lnTo>
                  <a:lnTo>
                    <a:pt x="11590909" y="8509"/>
                  </a:lnTo>
                  <a:lnTo>
                    <a:pt x="11590909" y="17018"/>
                  </a:lnTo>
                  <a:lnTo>
                    <a:pt x="8509" y="17018"/>
                  </a:lnTo>
                  <a:close/>
                </a:path>
              </a:pathLst>
            </a:custGeom>
            <a:solidFill>
              <a:srgbClr val="0D9488"/>
            </a:solidFill>
          </p:spPr>
        </p:sp>
      </p:grpSp>
      <p:grpSp>
        <p:nvGrpSpPr>
          <p:cNvPr name="Group 26" id="26"/>
          <p:cNvGrpSpPr/>
          <p:nvPr/>
        </p:nvGrpSpPr>
        <p:grpSpPr>
          <a:xfrm rot="0">
            <a:off x="627383" y="3754631"/>
            <a:ext cx="171707" cy="866651"/>
            <a:chOff x="0" y="0"/>
            <a:chExt cx="228943" cy="1155535"/>
          </a:xfrm>
        </p:grpSpPr>
        <p:sp>
          <p:nvSpPr>
            <p:cNvPr name="Freeform 27" id="27"/>
            <p:cNvSpPr/>
            <p:nvPr/>
          </p:nvSpPr>
          <p:spPr>
            <a:xfrm flipH="false" flipV="false" rot="0">
              <a:off x="16891" y="16891"/>
              <a:ext cx="195072" cy="1121664"/>
            </a:xfrm>
            <a:custGeom>
              <a:avLst/>
              <a:gdLst/>
              <a:ahLst/>
              <a:cxnLst/>
              <a:rect r="r" b="b" t="t" l="l"/>
              <a:pathLst>
                <a:path h="1121664" w="195072">
                  <a:moveTo>
                    <a:pt x="0" y="0"/>
                  </a:moveTo>
                  <a:lnTo>
                    <a:pt x="195072" y="0"/>
                  </a:lnTo>
                  <a:lnTo>
                    <a:pt x="195072" y="1121664"/>
                  </a:lnTo>
                  <a:lnTo>
                    <a:pt x="0" y="1121664"/>
                  </a:lnTo>
                  <a:close/>
                </a:path>
              </a:pathLst>
            </a:custGeom>
            <a:solidFill>
              <a:srgbClr val="0D9488"/>
            </a:solidFill>
          </p:spPr>
        </p:sp>
        <p:sp>
          <p:nvSpPr>
            <p:cNvPr name="Freeform 28" id="28"/>
            <p:cNvSpPr/>
            <p:nvPr/>
          </p:nvSpPr>
          <p:spPr>
            <a:xfrm flipH="false" flipV="false" rot="0">
              <a:off x="0" y="0"/>
              <a:ext cx="228854" cy="1155448"/>
            </a:xfrm>
            <a:custGeom>
              <a:avLst/>
              <a:gdLst/>
              <a:ahLst/>
              <a:cxnLst/>
              <a:rect r="r" b="b" t="t" l="l"/>
              <a:pathLst>
                <a:path h="1155448" w="228854">
                  <a:moveTo>
                    <a:pt x="16891" y="0"/>
                  </a:moveTo>
                  <a:lnTo>
                    <a:pt x="211963" y="0"/>
                  </a:lnTo>
                  <a:cubicBezTo>
                    <a:pt x="221361" y="0"/>
                    <a:pt x="228854" y="7620"/>
                    <a:pt x="228854" y="16891"/>
                  </a:cubicBezTo>
                  <a:lnTo>
                    <a:pt x="228854" y="1138555"/>
                  </a:lnTo>
                  <a:cubicBezTo>
                    <a:pt x="228854" y="1147953"/>
                    <a:pt x="221234" y="1155446"/>
                    <a:pt x="211963" y="1155446"/>
                  </a:cubicBezTo>
                  <a:lnTo>
                    <a:pt x="16891" y="1155446"/>
                  </a:lnTo>
                  <a:cubicBezTo>
                    <a:pt x="7620" y="1155573"/>
                    <a:pt x="0" y="1147953"/>
                    <a:pt x="0" y="1138555"/>
                  </a:cubicBezTo>
                  <a:lnTo>
                    <a:pt x="0" y="16891"/>
                  </a:lnTo>
                  <a:cubicBezTo>
                    <a:pt x="0" y="7620"/>
                    <a:pt x="7620" y="0"/>
                    <a:pt x="16891" y="0"/>
                  </a:cubicBezTo>
                  <a:moveTo>
                    <a:pt x="16891" y="33909"/>
                  </a:moveTo>
                  <a:lnTo>
                    <a:pt x="16891" y="16891"/>
                  </a:lnTo>
                  <a:lnTo>
                    <a:pt x="33909" y="16891"/>
                  </a:lnTo>
                  <a:lnTo>
                    <a:pt x="33909" y="1138555"/>
                  </a:lnTo>
                  <a:lnTo>
                    <a:pt x="16891" y="1138555"/>
                  </a:lnTo>
                  <a:lnTo>
                    <a:pt x="16891" y="1121664"/>
                  </a:lnTo>
                  <a:lnTo>
                    <a:pt x="211963" y="1121664"/>
                  </a:lnTo>
                  <a:lnTo>
                    <a:pt x="211963" y="1138555"/>
                  </a:lnTo>
                  <a:lnTo>
                    <a:pt x="195072" y="1138555"/>
                  </a:lnTo>
                  <a:lnTo>
                    <a:pt x="195072" y="16891"/>
                  </a:lnTo>
                  <a:lnTo>
                    <a:pt x="211963" y="16891"/>
                  </a:lnTo>
                  <a:lnTo>
                    <a:pt x="211963" y="33909"/>
                  </a:lnTo>
                  <a:lnTo>
                    <a:pt x="16891" y="33909"/>
                  </a:lnTo>
                  <a:close/>
                </a:path>
              </a:pathLst>
            </a:custGeom>
            <a:solidFill>
              <a:srgbClr val="0D9488"/>
            </a:solidFill>
          </p:spPr>
        </p:sp>
      </p:grpSp>
      <p:grpSp>
        <p:nvGrpSpPr>
          <p:cNvPr name="Group 29" id="29"/>
          <p:cNvGrpSpPr/>
          <p:nvPr/>
        </p:nvGrpSpPr>
        <p:grpSpPr>
          <a:xfrm rot="0">
            <a:off x="950976" y="3730752"/>
            <a:ext cx="8138160" cy="475488"/>
            <a:chOff x="0" y="0"/>
            <a:chExt cx="10850880" cy="633984"/>
          </a:xfrm>
        </p:grpSpPr>
        <p:sp>
          <p:nvSpPr>
            <p:cNvPr name="Freeform 30" id="30"/>
            <p:cNvSpPr/>
            <p:nvPr/>
          </p:nvSpPr>
          <p:spPr>
            <a:xfrm flipH="false" flipV="false" rot="0">
              <a:off x="0" y="0"/>
              <a:ext cx="10850880" cy="633984"/>
            </a:xfrm>
            <a:custGeom>
              <a:avLst/>
              <a:gdLst/>
              <a:ahLst/>
              <a:cxnLst/>
              <a:rect r="r" b="b" t="t" l="l"/>
              <a:pathLst>
                <a:path h="633984" w="10850880">
                  <a:moveTo>
                    <a:pt x="0" y="0"/>
                  </a:moveTo>
                  <a:lnTo>
                    <a:pt x="10850880" y="0"/>
                  </a:lnTo>
                  <a:lnTo>
                    <a:pt x="10850880" y="633984"/>
                  </a:lnTo>
                  <a:lnTo>
                    <a:pt x="0" y="633984"/>
                  </a:lnTo>
                  <a:close/>
                </a:path>
              </a:pathLst>
            </a:custGeom>
            <a:blipFill>
              <a:blip r:embed="rId3">
                <a:alphaModFix amt="0"/>
              </a:blip>
              <a:stretch>
                <a:fillRect l="0" t="-283493" r="0" b="-283493"/>
              </a:stretch>
            </a:blipFill>
          </p:spPr>
        </p:sp>
        <p:sp>
          <p:nvSpPr>
            <p:cNvPr name="TextBox 31" id="31"/>
            <p:cNvSpPr txBox="true"/>
            <p:nvPr/>
          </p:nvSpPr>
          <p:spPr>
            <a:xfrm>
              <a:off x="0" y="-38100"/>
              <a:ext cx="10850880" cy="672084"/>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UCI ML Repository</a:t>
              </a:r>
            </a:p>
          </p:txBody>
        </p:sp>
      </p:grpSp>
      <p:grpSp>
        <p:nvGrpSpPr>
          <p:cNvPr name="Group 32" id="32"/>
          <p:cNvGrpSpPr/>
          <p:nvPr/>
        </p:nvGrpSpPr>
        <p:grpSpPr>
          <a:xfrm rot="0">
            <a:off x="950976" y="4206240"/>
            <a:ext cx="8138160" cy="438912"/>
            <a:chOff x="0" y="0"/>
            <a:chExt cx="10850880" cy="585216"/>
          </a:xfrm>
        </p:grpSpPr>
        <p:sp>
          <p:nvSpPr>
            <p:cNvPr name="Freeform 33" id="33"/>
            <p:cNvSpPr/>
            <p:nvPr/>
          </p:nvSpPr>
          <p:spPr>
            <a:xfrm flipH="false" flipV="false" rot="0">
              <a:off x="0" y="0"/>
              <a:ext cx="10850880" cy="585216"/>
            </a:xfrm>
            <a:custGeom>
              <a:avLst/>
              <a:gdLst/>
              <a:ahLst/>
              <a:cxnLst/>
              <a:rect r="r" b="b" t="t" l="l"/>
              <a:pathLst>
                <a:path h="585216" w="10850880">
                  <a:moveTo>
                    <a:pt x="0" y="0"/>
                  </a:moveTo>
                  <a:lnTo>
                    <a:pt x="10850880" y="0"/>
                  </a:lnTo>
                  <a:lnTo>
                    <a:pt x="10850880" y="585216"/>
                  </a:lnTo>
                  <a:lnTo>
                    <a:pt x="0" y="585216"/>
                  </a:lnTo>
                  <a:close/>
                </a:path>
              </a:pathLst>
            </a:custGeom>
            <a:blipFill>
              <a:blip r:embed="rId3">
                <a:alphaModFix amt="0"/>
              </a:blip>
              <a:stretch>
                <a:fillRect l="0" t="-311285" r="0" b="-311285"/>
              </a:stretch>
            </a:blipFill>
          </p:spPr>
        </p:sp>
        <p:sp>
          <p:nvSpPr>
            <p:cNvPr name="TextBox 34" id="34"/>
            <p:cNvSpPr txBox="true"/>
            <p:nvPr/>
          </p:nvSpPr>
          <p:spPr>
            <a:xfrm>
              <a:off x="0" y="-38100"/>
              <a:ext cx="10850880" cy="623316"/>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Public heart disease &amp; diabetes datasets for baseline training</a:t>
              </a:r>
            </a:p>
          </p:txBody>
        </p:sp>
      </p:grpSp>
      <p:grpSp>
        <p:nvGrpSpPr>
          <p:cNvPr name="Group 35" id="35"/>
          <p:cNvGrpSpPr/>
          <p:nvPr/>
        </p:nvGrpSpPr>
        <p:grpSpPr>
          <a:xfrm rot="0">
            <a:off x="633727" y="5004559"/>
            <a:ext cx="8699497" cy="1146553"/>
            <a:chOff x="0" y="0"/>
            <a:chExt cx="11599329" cy="1528737"/>
          </a:xfrm>
        </p:grpSpPr>
        <p:sp>
          <p:nvSpPr>
            <p:cNvPr name="Freeform 36" id="36"/>
            <p:cNvSpPr/>
            <p:nvPr/>
          </p:nvSpPr>
          <p:spPr>
            <a:xfrm flipH="false" flipV="false" rot="0">
              <a:off x="8509" y="8509"/>
              <a:ext cx="11582400" cy="1511808"/>
            </a:xfrm>
            <a:custGeom>
              <a:avLst/>
              <a:gdLst/>
              <a:ahLst/>
              <a:cxnLst/>
              <a:rect r="r" b="b" t="t" l="l"/>
              <a:pathLst>
                <a:path h="1511808" w="11582400">
                  <a:moveTo>
                    <a:pt x="0" y="0"/>
                  </a:moveTo>
                  <a:lnTo>
                    <a:pt x="11582400" y="0"/>
                  </a:lnTo>
                  <a:lnTo>
                    <a:pt x="11582400" y="1511808"/>
                  </a:lnTo>
                  <a:lnTo>
                    <a:pt x="0" y="1511808"/>
                  </a:lnTo>
                  <a:close/>
                </a:path>
              </a:pathLst>
            </a:custGeom>
            <a:solidFill>
              <a:srgbClr val="0D1F38"/>
            </a:solidFill>
          </p:spPr>
        </p:sp>
        <p:sp>
          <p:nvSpPr>
            <p:cNvPr name="Freeform 37" id="37"/>
            <p:cNvSpPr/>
            <p:nvPr/>
          </p:nvSpPr>
          <p:spPr>
            <a:xfrm flipH="false" flipV="false" rot="0">
              <a:off x="0" y="0"/>
              <a:ext cx="11599418" cy="1528826"/>
            </a:xfrm>
            <a:custGeom>
              <a:avLst/>
              <a:gdLst/>
              <a:ahLst/>
              <a:cxnLst/>
              <a:rect r="r" b="b" t="t" l="l"/>
              <a:pathLst>
                <a:path h="1528826" w="11599418">
                  <a:moveTo>
                    <a:pt x="8509" y="0"/>
                  </a:moveTo>
                  <a:lnTo>
                    <a:pt x="11590909" y="0"/>
                  </a:lnTo>
                  <a:cubicBezTo>
                    <a:pt x="11595608" y="0"/>
                    <a:pt x="11599418" y="3810"/>
                    <a:pt x="11599418" y="8509"/>
                  </a:cubicBezTo>
                  <a:lnTo>
                    <a:pt x="11599418" y="1520317"/>
                  </a:lnTo>
                  <a:cubicBezTo>
                    <a:pt x="11599418" y="1525016"/>
                    <a:pt x="11595608" y="1528826"/>
                    <a:pt x="11590909" y="1528826"/>
                  </a:cubicBezTo>
                  <a:lnTo>
                    <a:pt x="8509" y="1528826"/>
                  </a:lnTo>
                  <a:cubicBezTo>
                    <a:pt x="3810" y="1528826"/>
                    <a:pt x="0" y="1525016"/>
                    <a:pt x="0" y="1520317"/>
                  </a:cubicBezTo>
                  <a:lnTo>
                    <a:pt x="0" y="8509"/>
                  </a:lnTo>
                  <a:cubicBezTo>
                    <a:pt x="0" y="3810"/>
                    <a:pt x="3810" y="0"/>
                    <a:pt x="8509" y="0"/>
                  </a:cubicBezTo>
                  <a:moveTo>
                    <a:pt x="8509" y="16891"/>
                  </a:moveTo>
                  <a:lnTo>
                    <a:pt x="8509" y="8509"/>
                  </a:lnTo>
                  <a:lnTo>
                    <a:pt x="17018" y="8509"/>
                  </a:lnTo>
                  <a:lnTo>
                    <a:pt x="17018" y="1520317"/>
                  </a:lnTo>
                  <a:lnTo>
                    <a:pt x="8509" y="1520317"/>
                  </a:lnTo>
                  <a:lnTo>
                    <a:pt x="8509" y="1511808"/>
                  </a:lnTo>
                  <a:lnTo>
                    <a:pt x="11590909" y="1511808"/>
                  </a:lnTo>
                  <a:lnTo>
                    <a:pt x="11590909" y="1520317"/>
                  </a:lnTo>
                  <a:lnTo>
                    <a:pt x="11582400" y="1520317"/>
                  </a:lnTo>
                  <a:lnTo>
                    <a:pt x="11582400" y="8509"/>
                  </a:lnTo>
                  <a:lnTo>
                    <a:pt x="11590909" y="8509"/>
                  </a:lnTo>
                  <a:lnTo>
                    <a:pt x="11590909" y="17018"/>
                  </a:lnTo>
                  <a:lnTo>
                    <a:pt x="8509" y="17018"/>
                  </a:lnTo>
                  <a:close/>
                </a:path>
              </a:pathLst>
            </a:custGeom>
            <a:solidFill>
              <a:srgbClr val="14B8A6"/>
            </a:solidFill>
          </p:spPr>
        </p:sp>
      </p:grpSp>
      <p:grpSp>
        <p:nvGrpSpPr>
          <p:cNvPr name="Group 38" id="38"/>
          <p:cNvGrpSpPr/>
          <p:nvPr/>
        </p:nvGrpSpPr>
        <p:grpSpPr>
          <a:xfrm rot="0">
            <a:off x="627383" y="5144519"/>
            <a:ext cx="171707" cy="866651"/>
            <a:chOff x="0" y="0"/>
            <a:chExt cx="228943" cy="1155535"/>
          </a:xfrm>
        </p:grpSpPr>
        <p:sp>
          <p:nvSpPr>
            <p:cNvPr name="Freeform 39" id="39"/>
            <p:cNvSpPr/>
            <p:nvPr/>
          </p:nvSpPr>
          <p:spPr>
            <a:xfrm flipH="false" flipV="false" rot="0">
              <a:off x="16891" y="16891"/>
              <a:ext cx="195072" cy="1121664"/>
            </a:xfrm>
            <a:custGeom>
              <a:avLst/>
              <a:gdLst/>
              <a:ahLst/>
              <a:cxnLst/>
              <a:rect r="r" b="b" t="t" l="l"/>
              <a:pathLst>
                <a:path h="1121664" w="195072">
                  <a:moveTo>
                    <a:pt x="0" y="0"/>
                  </a:moveTo>
                  <a:lnTo>
                    <a:pt x="195072" y="0"/>
                  </a:lnTo>
                  <a:lnTo>
                    <a:pt x="195072" y="1121664"/>
                  </a:lnTo>
                  <a:lnTo>
                    <a:pt x="0" y="1121664"/>
                  </a:lnTo>
                  <a:close/>
                </a:path>
              </a:pathLst>
            </a:custGeom>
            <a:solidFill>
              <a:srgbClr val="14B8A6"/>
            </a:solidFill>
          </p:spPr>
        </p:sp>
        <p:sp>
          <p:nvSpPr>
            <p:cNvPr name="Freeform 40" id="40"/>
            <p:cNvSpPr/>
            <p:nvPr/>
          </p:nvSpPr>
          <p:spPr>
            <a:xfrm flipH="false" flipV="false" rot="0">
              <a:off x="0" y="0"/>
              <a:ext cx="228854" cy="1155448"/>
            </a:xfrm>
            <a:custGeom>
              <a:avLst/>
              <a:gdLst/>
              <a:ahLst/>
              <a:cxnLst/>
              <a:rect r="r" b="b" t="t" l="l"/>
              <a:pathLst>
                <a:path h="1155448" w="228854">
                  <a:moveTo>
                    <a:pt x="16891" y="0"/>
                  </a:moveTo>
                  <a:lnTo>
                    <a:pt x="211963" y="0"/>
                  </a:lnTo>
                  <a:cubicBezTo>
                    <a:pt x="221361" y="0"/>
                    <a:pt x="228854" y="7620"/>
                    <a:pt x="228854" y="16891"/>
                  </a:cubicBezTo>
                  <a:lnTo>
                    <a:pt x="228854" y="1138555"/>
                  </a:lnTo>
                  <a:cubicBezTo>
                    <a:pt x="228854" y="1147953"/>
                    <a:pt x="221234" y="1155446"/>
                    <a:pt x="211963" y="1155446"/>
                  </a:cubicBezTo>
                  <a:lnTo>
                    <a:pt x="16891" y="1155446"/>
                  </a:lnTo>
                  <a:cubicBezTo>
                    <a:pt x="7620" y="1155573"/>
                    <a:pt x="0" y="1147953"/>
                    <a:pt x="0" y="1138555"/>
                  </a:cubicBezTo>
                  <a:lnTo>
                    <a:pt x="0" y="16891"/>
                  </a:lnTo>
                  <a:cubicBezTo>
                    <a:pt x="0" y="7620"/>
                    <a:pt x="7620" y="0"/>
                    <a:pt x="16891" y="0"/>
                  </a:cubicBezTo>
                  <a:moveTo>
                    <a:pt x="16891" y="33909"/>
                  </a:moveTo>
                  <a:lnTo>
                    <a:pt x="16891" y="16891"/>
                  </a:lnTo>
                  <a:lnTo>
                    <a:pt x="33909" y="16891"/>
                  </a:lnTo>
                  <a:lnTo>
                    <a:pt x="33909" y="1138555"/>
                  </a:lnTo>
                  <a:lnTo>
                    <a:pt x="16891" y="1138555"/>
                  </a:lnTo>
                  <a:lnTo>
                    <a:pt x="16891" y="1121664"/>
                  </a:lnTo>
                  <a:lnTo>
                    <a:pt x="211963" y="1121664"/>
                  </a:lnTo>
                  <a:lnTo>
                    <a:pt x="211963" y="1138555"/>
                  </a:lnTo>
                  <a:lnTo>
                    <a:pt x="195072" y="1138555"/>
                  </a:lnTo>
                  <a:lnTo>
                    <a:pt x="195072" y="16891"/>
                  </a:lnTo>
                  <a:lnTo>
                    <a:pt x="211963" y="16891"/>
                  </a:lnTo>
                  <a:lnTo>
                    <a:pt x="211963" y="33909"/>
                  </a:lnTo>
                  <a:lnTo>
                    <a:pt x="16891" y="33909"/>
                  </a:lnTo>
                  <a:close/>
                </a:path>
              </a:pathLst>
            </a:custGeom>
            <a:solidFill>
              <a:srgbClr val="14B8A6"/>
            </a:solidFill>
          </p:spPr>
        </p:sp>
      </p:grpSp>
      <p:grpSp>
        <p:nvGrpSpPr>
          <p:cNvPr name="Group 41" id="41"/>
          <p:cNvGrpSpPr/>
          <p:nvPr/>
        </p:nvGrpSpPr>
        <p:grpSpPr>
          <a:xfrm rot="0">
            <a:off x="950976" y="5120640"/>
            <a:ext cx="8138160" cy="475488"/>
            <a:chOff x="0" y="0"/>
            <a:chExt cx="10850880" cy="633984"/>
          </a:xfrm>
        </p:grpSpPr>
        <p:sp>
          <p:nvSpPr>
            <p:cNvPr name="Freeform 42" id="42"/>
            <p:cNvSpPr/>
            <p:nvPr/>
          </p:nvSpPr>
          <p:spPr>
            <a:xfrm flipH="false" flipV="false" rot="0">
              <a:off x="0" y="0"/>
              <a:ext cx="10850880" cy="633984"/>
            </a:xfrm>
            <a:custGeom>
              <a:avLst/>
              <a:gdLst/>
              <a:ahLst/>
              <a:cxnLst/>
              <a:rect r="r" b="b" t="t" l="l"/>
              <a:pathLst>
                <a:path h="633984" w="10850880">
                  <a:moveTo>
                    <a:pt x="0" y="0"/>
                  </a:moveTo>
                  <a:lnTo>
                    <a:pt x="10850880" y="0"/>
                  </a:lnTo>
                  <a:lnTo>
                    <a:pt x="10850880" y="633984"/>
                  </a:lnTo>
                  <a:lnTo>
                    <a:pt x="0" y="633984"/>
                  </a:lnTo>
                  <a:close/>
                </a:path>
              </a:pathLst>
            </a:custGeom>
            <a:blipFill>
              <a:blip r:embed="rId3">
                <a:alphaModFix amt="0"/>
              </a:blip>
              <a:stretch>
                <a:fillRect l="0" t="-283493" r="0" b="-283493"/>
              </a:stretch>
            </a:blipFill>
          </p:spPr>
        </p:sp>
        <p:sp>
          <p:nvSpPr>
            <p:cNvPr name="TextBox 43" id="43"/>
            <p:cNvSpPr txBox="true"/>
            <p:nvPr/>
          </p:nvSpPr>
          <p:spPr>
            <a:xfrm>
              <a:off x="0" y="-38100"/>
              <a:ext cx="10850880" cy="672084"/>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Kaggle Health datasets</a:t>
              </a:r>
            </a:p>
          </p:txBody>
        </p:sp>
      </p:grpSp>
      <p:grpSp>
        <p:nvGrpSpPr>
          <p:cNvPr name="Group 44" id="44"/>
          <p:cNvGrpSpPr/>
          <p:nvPr/>
        </p:nvGrpSpPr>
        <p:grpSpPr>
          <a:xfrm rot="0">
            <a:off x="950976" y="5596128"/>
            <a:ext cx="8138160" cy="438912"/>
            <a:chOff x="0" y="0"/>
            <a:chExt cx="10850880" cy="585216"/>
          </a:xfrm>
        </p:grpSpPr>
        <p:sp>
          <p:nvSpPr>
            <p:cNvPr name="Freeform 45" id="45"/>
            <p:cNvSpPr/>
            <p:nvPr/>
          </p:nvSpPr>
          <p:spPr>
            <a:xfrm flipH="false" flipV="false" rot="0">
              <a:off x="0" y="0"/>
              <a:ext cx="10850880" cy="585216"/>
            </a:xfrm>
            <a:custGeom>
              <a:avLst/>
              <a:gdLst/>
              <a:ahLst/>
              <a:cxnLst/>
              <a:rect r="r" b="b" t="t" l="l"/>
              <a:pathLst>
                <a:path h="585216" w="10850880">
                  <a:moveTo>
                    <a:pt x="0" y="0"/>
                  </a:moveTo>
                  <a:lnTo>
                    <a:pt x="10850880" y="0"/>
                  </a:lnTo>
                  <a:lnTo>
                    <a:pt x="10850880" y="585216"/>
                  </a:lnTo>
                  <a:lnTo>
                    <a:pt x="0" y="585216"/>
                  </a:lnTo>
                  <a:close/>
                </a:path>
              </a:pathLst>
            </a:custGeom>
            <a:blipFill>
              <a:blip r:embed="rId3">
                <a:alphaModFix amt="0"/>
              </a:blip>
              <a:stretch>
                <a:fillRect l="0" t="-311285" r="0" b="-311285"/>
              </a:stretch>
            </a:blipFill>
          </p:spPr>
        </p:sp>
        <p:sp>
          <p:nvSpPr>
            <p:cNvPr name="TextBox 46" id="46"/>
            <p:cNvSpPr txBox="true"/>
            <p:nvPr/>
          </p:nvSpPr>
          <p:spPr>
            <a:xfrm>
              <a:off x="0" y="-38100"/>
              <a:ext cx="10850880" cy="623316"/>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Labelled patient records for model training and testing</a:t>
              </a:r>
            </a:p>
          </p:txBody>
        </p:sp>
      </p:grpSp>
      <p:grpSp>
        <p:nvGrpSpPr>
          <p:cNvPr name="Group 47" id="47"/>
          <p:cNvGrpSpPr/>
          <p:nvPr/>
        </p:nvGrpSpPr>
        <p:grpSpPr>
          <a:xfrm rot="0">
            <a:off x="633727" y="6394447"/>
            <a:ext cx="8699497" cy="1146553"/>
            <a:chOff x="0" y="0"/>
            <a:chExt cx="11599329" cy="1528737"/>
          </a:xfrm>
        </p:grpSpPr>
        <p:sp>
          <p:nvSpPr>
            <p:cNvPr name="Freeform 48" id="48"/>
            <p:cNvSpPr/>
            <p:nvPr/>
          </p:nvSpPr>
          <p:spPr>
            <a:xfrm flipH="false" flipV="false" rot="0">
              <a:off x="8509" y="8509"/>
              <a:ext cx="11582400" cy="1511808"/>
            </a:xfrm>
            <a:custGeom>
              <a:avLst/>
              <a:gdLst/>
              <a:ahLst/>
              <a:cxnLst/>
              <a:rect r="r" b="b" t="t" l="l"/>
              <a:pathLst>
                <a:path h="1511808" w="11582400">
                  <a:moveTo>
                    <a:pt x="0" y="0"/>
                  </a:moveTo>
                  <a:lnTo>
                    <a:pt x="11582400" y="0"/>
                  </a:lnTo>
                  <a:lnTo>
                    <a:pt x="11582400" y="1511808"/>
                  </a:lnTo>
                  <a:lnTo>
                    <a:pt x="0" y="1511808"/>
                  </a:lnTo>
                  <a:close/>
                </a:path>
              </a:pathLst>
            </a:custGeom>
            <a:solidFill>
              <a:srgbClr val="0D1F38"/>
            </a:solidFill>
          </p:spPr>
        </p:sp>
        <p:sp>
          <p:nvSpPr>
            <p:cNvPr name="Freeform 49" id="49"/>
            <p:cNvSpPr/>
            <p:nvPr/>
          </p:nvSpPr>
          <p:spPr>
            <a:xfrm flipH="false" flipV="false" rot="0">
              <a:off x="0" y="0"/>
              <a:ext cx="11599418" cy="1528826"/>
            </a:xfrm>
            <a:custGeom>
              <a:avLst/>
              <a:gdLst/>
              <a:ahLst/>
              <a:cxnLst/>
              <a:rect r="r" b="b" t="t" l="l"/>
              <a:pathLst>
                <a:path h="1528826" w="11599418">
                  <a:moveTo>
                    <a:pt x="8509" y="0"/>
                  </a:moveTo>
                  <a:lnTo>
                    <a:pt x="11590909" y="0"/>
                  </a:lnTo>
                  <a:cubicBezTo>
                    <a:pt x="11595608" y="0"/>
                    <a:pt x="11599418" y="3810"/>
                    <a:pt x="11599418" y="8509"/>
                  </a:cubicBezTo>
                  <a:lnTo>
                    <a:pt x="11599418" y="1520317"/>
                  </a:lnTo>
                  <a:cubicBezTo>
                    <a:pt x="11599418" y="1525016"/>
                    <a:pt x="11595608" y="1528826"/>
                    <a:pt x="11590909" y="1528826"/>
                  </a:cubicBezTo>
                  <a:lnTo>
                    <a:pt x="8509" y="1528826"/>
                  </a:lnTo>
                  <a:cubicBezTo>
                    <a:pt x="3810" y="1528826"/>
                    <a:pt x="0" y="1525016"/>
                    <a:pt x="0" y="1520317"/>
                  </a:cubicBezTo>
                  <a:lnTo>
                    <a:pt x="0" y="8509"/>
                  </a:lnTo>
                  <a:cubicBezTo>
                    <a:pt x="0" y="3810"/>
                    <a:pt x="3810" y="0"/>
                    <a:pt x="8509" y="0"/>
                  </a:cubicBezTo>
                  <a:moveTo>
                    <a:pt x="8509" y="16891"/>
                  </a:moveTo>
                  <a:lnTo>
                    <a:pt x="8509" y="8509"/>
                  </a:lnTo>
                  <a:lnTo>
                    <a:pt x="17018" y="8509"/>
                  </a:lnTo>
                  <a:lnTo>
                    <a:pt x="17018" y="1520317"/>
                  </a:lnTo>
                  <a:lnTo>
                    <a:pt x="8509" y="1520317"/>
                  </a:lnTo>
                  <a:lnTo>
                    <a:pt x="8509" y="1511808"/>
                  </a:lnTo>
                  <a:lnTo>
                    <a:pt x="11590909" y="1511808"/>
                  </a:lnTo>
                  <a:lnTo>
                    <a:pt x="11590909" y="1520317"/>
                  </a:lnTo>
                  <a:lnTo>
                    <a:pt x="11582400" y="1520317"/>
                  </a:lnTo>
                  <a:lnTo>
                    <a:pt x="11582400" y="8509"/>
                  </a:lnTo>
                  <a:lnTo>
                    <a:pt x="11590909" y="8509"/>
                  </a:lnTo>
                  <a:lnTo>
                    <a:pt x="11590909" y="17018"/>
                  </a:lnTo>
                  <a:lnTo>
                    <a:pt x="8509" y="17018"/>
                  </a:lnTo>
                  <a:close/>
                </a:path>
              </a:pathLst>
            </a:custGeom>
            <a:solidFill>
              <a:srgbClr val="F59E0B"/>
            </a:solidFill>
          </p:spPr>
        </p:sp>
      </p:grpSp>
      <p:grpSp>
        <p:nvGrpSpPr>
          <p:cNvPr name="Group 50" id="50"/>
          <p:cNvGrpSpPr/>
          <p:nvPr/>
        </p:nvGrpSpPr>
        <p:grpSpPr>
          <a:xfrm rot="0">
            <a:off x="627383" y="6534407"/>
            <a:ext cx="171707" cy="866651"/>
            <a:chOff x="0" y="0"/>
            <a:chExt cx="228943" cy="1155535"/>
          </a:xfrm>
        </p:grpSpPr>
        <p:sp>
          <p:nvSpPr>
            <p:cNvPr name="Freeform 51" id="51"/>
            <p:cNvSpPr/>
            <p:nvPr/>
          </p:nvSpPr>
          <p:spPr>
            <a:xfrm flipH="false" flipV="false" rot="0">
              <a:off x="16891" y="16891"/>
              <a:ext cx="195072" cy="1121664"/>
            </a:xfrm>
            <a:custGeom>
              <a:avLst/>
              <a:gdLst/>
              <a:ahLst/>
              <a:cxnLst/>
              <a:rect r="r" b="b" t="t" l="l"/>
              <a:pathLst>
                <a:path h="1121664" w="195072">
                  <a:moveTo>
                    <a:pt x="0" y="0"/>
                  </a:moveTo>
                  <a:lnTo>
                    <a:pt x="195072" y="0"/>
                  </a:lnTo>
                  <a:lnTo>
                    <a:pt x="195072" y="1121664"/>
                  </a:lnTo>
                  <a:lnTo>
                    <a:pt x="0" y="1121664"/>
                  </a:lnTo>
                  <a:close/>
                </a:path>
              </a:pathLst>
            </a:custGeom>
            <a:solidFill>
              <a:srgbClr val="F59E0B"/>
            </a:solidFill>
          </p:spPr>
        </p:sp>
        <p:sp>
          <p:nvSpPr>
            <p:cNvPr name="Freeform 52" id="52"/>
            <p:cNvSpPr/>
            <p:nvPr/>
          </p:nvSpPr>
          <p:spPr>
            <a:xfrm flipH="false" flipV="false" rot="0">
              <a:off x="0" y="0"/>
              <a:ext cx="228854" cy="1155448"/>
            </a:xfrm>
            <a:custGeom>
              <a:avLst/>
              <a:gdLst/>
              <a:ahLst/>
              <a:cxnLst/>
              <a:rect r="r" b="b" t="t" l="l"/>
              <a:pathLst>
                <a:path h="1155448" w="228854">
                  <a:moveTo>
                    <a:pt x="16891" y="0"/>
                  </a:moveTo>
                  <a:lnTo>
                    <a:pt x="211963" y="0"/>
                  </a:lnTo>
                  <a:cubicBezTo>
                    <a:pt x="221361" y="0"/>
                    <a:pt x="228854" y="7620"/>
                    <a:pt x="228854" y="16891"/>
                  </a:cubicBezTo>
                  <a:lnTo>
                    <a:pt x="228854" y="1138555"/>
                  </a:lnTo>
                  <a:cubicBezTo>
                    <a:pt x="228854" y="1147953"/>
                    <a:pt x="221234" y="1155446"/>
                    <a:pt x="211963" y="1155446"/>
                  </a:cubicBezTo>
                  <a:lnTo>
                    <a:pt x="16891" y="1155446"/>
                  </a:lnTo>
                  <a:cubicBezTo>
                    <a:pt x="7620" y="1155573"/>
                    <a:pt x="0" y="1147953"/>
                    <a:pt x="0" y="1138555"/>
                  </a:cubicBezTo>
                  <a:lnTo>
                    <a:pt x="0" y="16891"/>
                  </a:lnTo>
                  <a:cubicBezTo>
                    <a:pt x="0" y="7620"/>
                    <a:pt x="7620" y="0"/>
                    <a:pt x="16891" y="0"/>
                  </a:cubicBezTo>
                  <a:moveTo>
                    <a:pt x="16891" y="33909"/>
                  </a:moveTo>
                  <a:lnTo>
                    <a:pt x="16891" y="16891"/>
                  </a:lnTo>
                  <a:lnTo>
                    <a:pt x="33909" y="16891"/>
                  </a:lnTo>
                  <a:lnTo>
                    <a:pt x="33909" y="1138555"/>
                  </a:lnTo>
                  <a:lnTo>
                    <a:pt x="16891" y="1138555"/>
                  </a:lnTo>
                  <a:lnTo>
                    <a:pt x="16891" y="1121664"/>
                  </a:lnTo>
                  <a:lnTo>
                    <a:pt x="211963" y="1121664"/>
                  </a:lnTo>
                  <a:lnTo>
                    <a:pt x="211963" y="1138555"/>
                  </a:lnTo>
                  <a:lnTo>
                    <a:pt x="195072" y="1138555"/>
                  </a:lnTo>
                  <a:lnTo>
                    <a:pt x="195072" y="16891"/>
                  </a:lnTo>
                  <a:lnTo>
                    <a:pt x="211963" y="16891"/>
                  </a:lnTo>
                  <a:lnTo>
                    <a:pt x="211963" y="33909"/>
                  </a:lnTo>
                  <a:lnTo>
                    <a:pt x="16891" y="33909"/>
                  </a:lnTo>
                  <a:close/>
                </a:path>
              </a:pathLst>
            </a:custGeom>
            <a:solidFill>
              <a:srgbClr val="F59E0B"/>
            </a:solidFill>
          </p:spPr>
        </p:sp>
      </p:grpSp>
      <p:grpSp>
        <p:nvGrpSpPr>
          <p:cNvPr name="Group 53" id="53"/>
          <p:cNvGrpSpPr/>
          <p:nvPr/>
        </p:nvGrpSpPr>
        <p:grpSpPr>
          <a:xfrm rot="0">
            <a:off x="950976" y="6510528"/>
            <a:ext cx="8138160" cy="475488"/>
            <a:chOff x="0" y="0"/>
            <a:chExt cx="10850880" cy="633984"/>
          </a:xfrm>
        </p:grpSpPr>
        <p:sp>
          <p:nvSpPr>
            <p:cNvPr name="Freeform 54" id="54"/>
            <p:cNvSpPr/>
            <p:nvPr/>
          </p:nvSpPr>
          <p:spPr>
            <a:xfrm flipH="false" flipV="false" rot="0">
              <a:off x="0" y="0"/>
              <a:ext cx="10850880" cy="633984"/>
            </a:xfrm>
            <a:custGeom>
              <a:avLst/>
              <a:gdLst/>
              <a:ahLst/>
              <a:cxnLst/>
              <a:rect r="r" b="b" t="t" l="l"/>
              <a:pathLst>
                <a:path h="633984" w="10850880">
                  <a:moveTo>
                    <a:pt x="0" y="0"/>
                  </a:moveTo>
                  <a:lnTo>
                    <a:pt x="10850880" y="0"/>
                  </a:lnTo>
                  <a:lnTo>
                    <a:pt x="10850880" y="633984"/>
                  </a:lnTo>
                  <a:lnTo>
                    <a:pt x="0" y="633984"/>
                  </a:lnTo>
                  <a:close/>
                </a:path>
              </a:pathLst>
            </a:custGeom>
            <a:blipFill>
              <a:blip r:embed="rId3">
                <a:alphaModFix amt="0"/>
              </a:blip>
              <a:stretch>
                <a:fillRect l="0" t="-283493" r="0" b="-283493"/>
              </a:stretch>
            </a:blipFill>
          </p:spPr>
        </p:sp>
        <p:sp>
          <p:nvSpPr>
            <p:cNvPr name="TextBox 55" id="55"/>
            <p:cNvSpPr txBox="true"/>
            <p:nvPr/>
          </p:nvSpPr>
          <p:spPr>
            <a:xfrm>
              <a:off x="0" y="-38100"/>
              <a:ext cx="10850880" cy="672084"/>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Simulated patient data</a:t>
              </a:r>
            </a:p>
          </p:txBody>
        </p:sp>
      </p:grpSp>
      <p:grpSp>
        <p:nvGrpSpPr>
          <p:cNvPr name="Group 56" id="56"/>
          <p:cNvGrpSpPr/>
          <p:nvPr/>
        </p:nvGrpSpPr>
        <p:grpSpPr>
          <a:xfrm rot="0">
            <a:off x="950976" y="6986016"/>
            <a:ext cx="8138160" cy="438912"/>
            <a:chOff x="0" y="0"/>
            <a:chExt cx="10850880" cy="585216"/>
          </a:xfrm>
        </p:grpSpPr>
        <p:sp>
          <p:nvSpPr>
            <p:cNvPr name="Freeform 57" id="57"/>
            <p:cNvSpPr/>
            <p:nvPr/>
          </p:nvSpPr>
          <p:spPr>
            <a:xfrm flipH="false" flipV="false" rot="0">
              <a:off x="0" y="0"/>
              <a:ext cx="10850880" cy="585216"/>
            </a:xfrm>
            <a:custGeom>
              <a:avLst/>
              <a:gdLst/>
              <a:ahLst/>
              <a:cxnLst/>
              <a:rect r="r" b="b" t="t" l="l"/>
              <a:pathLst>
                <a:path h="585216" w="10850880">
                  <a:moveTo>
                    <a:pt x="0" y="0"/>
                  </a:moveTo>
                  <a:lnTo>
                    <a:pt x="10850880" y="0"/>
                  </a:lnTo>
                  <a:lnTo>
                    <a:pt x="10850880" y="585216"/>
                  </a:lnTo>
                  <a:lnTo>
                    <a:pt x="0" y="585216"/>
                  </a:lnTo>
                  <a:close/>
                </a:path>
              </a:pathLst>
            </a:custGeom>
            <a:blipFill>
              <a:blip r:embed="rId3">
                <a:alphaModFix amt="0"/>
              </a:blip>
              <a:stretch>
                <a:fillRect l="0" t="-311285" r="0" b="-311285"/>
              </a:stretch>
            </a:blipFill>
          </p:spPr>
        </p:sp>
        <p:sp>
          <p:nvSpPr>
            <p:cNvPr name="TextBox 58" id="58"/>
            <p:cNvSpPr txBox="true"/>
            <p:nvPr/>
          </p:nvSpPr>
          <p:spPr>
            <a:xfrm>
              <a:off x="0" y="-38100"/>
              <a:ext cx="10850880" cy="623316"/>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Synthetically generated records to fill cold-start gaps</a:t>
              </a:r>
            </a:p>
          </p:txBody>
        </p:sp>
      </p:grpSp>
      <p:grpSp>
        <p:nvGrpSpPr>
          <p:cNvPr name="Group 59" id="59"/>
          <p:cNvGrpSpPr/>
          <p:nvPr/>
        </p:nvGrpSpPr>
        <p:grpSpPr>
          <a:xfrm rot="0">
            <a:off x="633727" y="7784335"/>
            <a:ext cx="8699497" cy="1146553"/>
            <a:chOff x="0" y="0"/>
            <a:chExt cx="11599329" cy="1528737"/>
          </a:xfrm>
        </p:grpSpPr>
        <p:sp>
          <p:nvSpPr>
            <p:cNvPr name="Freeform 60" id="60"/>
            <p:cNvSpPr/>
            <p:nvPr/>
          </p:nvSpPr>
          <p:spPr>
            <a:xfrm flipH="false" flipV="false" rot="0">
              <a:off x="8509" y="8509"/>
              <a:ext cx="11582400" cy="1511808"/>
            </a:xfrm>
            <a:custGeom>
              <a:avLst/>
              <a:gdLst/>
              <a:ahLst/>
              <a:cxnLst/>
              <a:rect r="r" b="b" t="t" l="l"/>
              <a:pathLst>
                <a:path h="1511808" w="11582400">
                  <a:moveTo>
                    <a:pt x="0" y="0"/>
                  </a:moveTo>
                  <a:lnTo>
                    <a:pt x="11582400" y="0"/>
                  </a:lnTo>
                  <a:lnTo>
                    <a:pt x="11582400" y="1511808"/>
                  </a:lnTo>
                  <a:lnTo>
                    <a:pt x="0" y="1511808"/>
                  </a:lnTo>
                  <a:close/>
                </a:path>
              </a:pathLst>
            </a:custGeom>
            <a:solidFill>
              <a:srgbClr val="0D1F38"/>
            </a:solidFill>
          </p:spPr>
        </p:sp>
        <p:sp>
          <p:nvSpPr>
            <p:cNvPr name="Freeform 61" id="61"/>
            <p:cNvSpPr/>
            <p:nvPr/>
          </p:nvSpPr>
          <p:spPr>
            <a:xfrm flipH="false" flipV="false" rot="0">
              <a:off x="0" y="0"/>
              <a:ext cx="11599418" cy="1528826"/>
            </a:xfrm>
            <a:custGeom>
              <a:avLst/>
              <a:gdLst/>
              <a:ahLst/>
              <a:cxnLst/>
              <a:rect r="r" b="b" t="t" l="l"/>
              <a:pathLst>
                <a:path h="1528826" w="11599418">
                  <a:moveTo>
                    <a:pt x="8509" y="0"/>
                  </a:moveTo>
                  <a:lnTo>
                    <a:pt x="11590909" y="0"/>
                  </a:lnTo>
                  <a:cubicBezTo>
                    <a:pt x="11595608" y="0"/>
                    <a:pt x="11599418" y="3810"/>
                    <a:pt x="11599418" y="8509"/>
                  </a:cubicBezTo>
                  <a:lnTo>
                    <a:pt x="11599418" y="1520317"/>
                  </a:lnTo>
                  <a:cubicBezTo>
                    <a:pt x="11599418" y="1525016"/>
                    <a:pt x="11595608" y="1528826"/>
                    <a:pt x="11590909" y="1528826"/>
                  </a:cubicBezTo>
                  <a:lnTo>
                    <a:pt x="8509" y="1528826"/>
                  </a:lnTo>
                  <a:cubicBezTo>
                    <a:pt x="3810" y="1528826"/>
                    <a:pt x="0" y="1525016"/>
                    <a:pt x="0" y="1520317"/>
                  </a:cubicBezTo>
                  <a:lnTo>
                    <a:pt x="0" y="8509"/>
                  </a:lnTo>
                  <a:cubicBezTo>
                    <a:pt x="0" y="3810"/>
                    <a:pt x="3810" y="0"/>
                    <a:pt x="8509" y="0"/>
                  </a:cubicBezTo>
                  <a:moveTo>
                    <a:pt x="8509" y="16891"/>
                  </a:moveTo>
                  <a:lnTo>
                    <a:pt x="8509" y="8509"/>
                  </a:lnTo>
                  <a:lnTo>
                    <a:pt x="17018" y="8509"/>
                  </a:lnTo>
                  <a:lnTo>
                    <a:pt x="17018" y="1520317"/>
                  </a:lnTo>
                  <a:lnTo>
                    <a:pt x="8509" y="1520317"/>
                  </a:lnTo>
                  <a:lnTo>
                    <a:pt x="8509" y="1511808"/>
                  </a:lnTo>
                  <a:lnTo>
                    <a:pt x="11590909" y="1511808"/>
                  </a:lnTo>
                  <a:lnTo>
                    <a:pt x="11590909" y="1520317"/>
                  </a:lnTo>
                  <a:lnTo>
                    <a:pt x="11582400" y="1520317"/>
                  </a:lnTo>
                  <a:lnTo>
                    <a:pt x="11582400" y="8509"/>
                  </a:lnTo>
                  <a:lnTo>
                    <a:pt x="11590909" y="8509"/>
                  </a:lnTo>
                  <a:lnTo>
                    <a:pt x="11590909" y="17018"/>
                  </a:lnTo>
                  <a:lnTo>
                    <a:pt x="8509" y="17018"/>
                  </a:lnTo>
                  <a:close/>
                </a:path>
              </a:pathLst>
            </a:custGeom>
            <a:solidFill>
              <a:srgbClr val="10B981"/>
            </a:solidFill>
          </p:spPr>
        </p:sp>
      </p:grpSp>
      <p:grpSp>
        <p:nvGrpSpPr>
          <p:cNvPr name="Group 62" id="62"/>
          <p:cNvGrpSpPr/>
          <p:nvPr/>
        </p:nvGrpSpPr>
        <p:grpSpPr>
          <a:xfrm rot="0">
            <a:off x="627383" y="7924295"/>
            <a:ext cx="171707" cy="866651"/>
            <a:chOff x="0" y="0"/>
            <a:chExt cx="228943" cy="1155535"/>
          </a:xfrm>
        </p:grpSpPr>
        <p:sp>
          <p:nvSpPr>
            <p:cNvPr name="Freeform 63" id="63"/>
            <p:cNvSpPr/>
            <p:nvPr/>
          </p:nvSpPr>
          <p:spPr>
            <a:xfrm flipH="false" flipV="false" rot="0">
              <a:off x="16891" y="16891"/>
              <a:ext cx="195072" cy="1121664"/>
            </a:xfrm>
            <a:custGeom>
              <a:avLst/>
              <a:gdLst/>
              <a:ahLst/>
              <a:cxnLst/>
              <a:rect r="r" b="b" t="t" l="l"/>
              <a:pathLst>
                <a:path h="1121664" w="195072">
                  <a:moveTo>
                    <a:pt x="0" y="0"/>
                  </a:moveTo>
                  <a:lnTo>
                    <a:pt x="195072" y="0"/>
                  </a:lnTo>
                  <a:lnTo>
                    <a:pt x="195072" y="1121664"/>
                  </a:lnTo>
                  <a:lnTo>
                    <a:pt x="0" y="1121664"/>
                  </a:lnTo>
                  <a:close/>
                </a:path>
              </a:pathLst>
            </a:custGeom>
            <a:solidFill>
              <a:srgbClr val="10B981"/>
            </a:solidFill>
          </p:spPr>
        </p:sp>
        <p:sp>
          <p:nvSpPr>
            <p:cNvPr name="Freeform 64" id="64"/>
            <p:cNvSpPr/>
            <p:nvPr/>
          </p:nvSpPr>
          <p:spPr>
            <a:xfrm flipH="false" flipV="false" rot="0">
              <a:off x="0" y="0"/>
              <a:ext cx="228854" cy="1155448"/>
            </a:xfrm>
            <a:custGeom>
              <a:avLst/>
              <a:gdLst/>
              <a:ahLst/>
              <a:cxnLst/>
              <a:rect r="r" b="b" t="t" l="l"/>
              <a:pathLst>
                <a:path h="1155448" w="228854">
                  <a:moveTo>
                    <a:pt x="16891" y="0"/>
                  </a:moveTo>
                  <a:lnTo>
                    <a:pt x="211963" y="0"/>
                  </a:lnTo>
                  <a:cubicBezTo>
                    <a:pt x="221361" y="0"/>
                    <a:pt x="228854" y="7620"/>
                    <a:pt x="228854" y="16891"/>
                  </a:cubicBezTo>
                  <a:lnTo>
                    <a:pt x="228854" y="1138555"/>
                  </a:lnTo>
                  <a:cubicBezTo>
                    <a:pt x="228854" y="1147953"/>
                    <a:pt x="221234" y="1155446"/>
                    <a:pt x="211963" y="1155446"/>
                  </a:cubicBezTo>
                  <a:lnTo>
                    <a:pt x="16891" y="1155446"/>
                  </a:lnTo>
                  <a:cubicBezTo>
                    <a:pt x="7620" y="1155573"/>
                    <a:pt x="0" y="1147953"/>
                    <a:pt x="0" y="1138555"/>
                  </a:cubicBezTo>
                  <a:lnTo>
                    <a:pt x="0" y="16891"/>
                  </a:lnTo>
                  <a:cubicBezTo>
                    <a:pt x="0" y="7620"/>
                    <a:pt x="7620" y="0"/>
                    <a:pt x="16891" y="0"/>
                  </a:cubicBezTo>
                  <a:moveTo>
                    <a:pt x="16891" y="33909"/>
                  </a:moveTo>
                  <a:lnTo>
                    <a:pt x="16891" y="16891"/>
                  </a:lnTo>
                  <a:lnTo>
                    <a:pt x="33909" y="16891"/>
                  </a:lnTo>
                  <a:lnTo>
                    <a:pt x="33909" y="1138555"/>
                  </a:lnTo>
                  <a:lnTo>
                    <a:pt x="16891" y="1138555"/>
                  </a:lnTo>
                  <a:lnTo>
                    <a:pt x="16891" y="1121664"/>
                  </a:lnTo>
                  <a:lnTo>
                    <a:pt x="211963" y="1121664"/>
                  </a:lnTo>
                  <a:lnTo>
                    <a:pt x="211963" y="1138555"/>
                  </a:lnTo>
                  <a:lnTo>
                    <a:pt x="195072" y="1138555"/>
                  </a:lnTo>
                  <a:lnTo>
                    <a:pt x="195072" y="16891"/>
                  </a:lnTo>
                  <a:lnTo>
                    <a:pt x="211963" y="16891"/>
                  </a:lnTo>
                  <a:lnTo>
                    <a:pt x="211963" y="33909"/>
                  </a:lnTo>
                  <a:lnTo>
                    <a:pt x="16891" y="33909"/>
                  </a:lnTo>
                  <a:close/>
                </a:path>
              </a:pathLst>
            </a:custGeom>
            <a:solidFill>
              <a:srgbClr val="10B981"/>
            </a:solidFill>
          </p:spPr>
        </p:sp>
      </p:grpSp>
      <p:grpSp>
        <p:nvGrpSpPr>
          <p:cNvPr name="Group 65" id="65"/>
          <p:cNvGrpSpPr/>
          <p:nvPr/>
        </p:nvGrpSpPr>
        <p:grpSpPr>
          <a:xfrm rot="0">
            <a:off x="950976" y="7900416"/>
            <a:ext cx="8138160" cy="475488"/>
            <a:chOff x="0" y="0"/>
            <a:chExt cx="10850880" cy="633984"/>
          </a:xfrm>
        </p:grpSpPr>
        <p:sp>
          <p:nvSpPr>
            <p:cNvPr name="Freeform 66" id="66"/>
            <p:cNvSpPr/>
            <p:nvPr/>
          </p:nvSpPr>
          <p:spPr>
            <a:xfrm flipH="false" flipV="false" rot="0">
              <a:off x="0" y="0"/>
              <a:ext cx="10850880" cy="633984"/>
            </a:xfrm>
            <a:custGeom>
              <a:avLst/>
              <a:gdLst/>
              <a:ahLst/>
              <a:cxnLst/>
              <a:rect r="r" b="b" t="t" l="l"/>
              <a:pathLst>
                <a:path h="633984" w="10850880">
                  <a:moveTo>
                    <a:pt x="0" y="0"/>
                  </a:moveTo>
                  <a:lnTo>
                    <a:pt x="10850880" y="0"/>
                  </a:lnTo>
                  <a:lnTo>
                    <a:pt x="10850880" y="633984"/>
                  </a:lnTo>
                  <a:lnTo>
                    <a:pt x="0" y="633984"/>
                  </a:lnTo>
                  <a:close/>
                </a:path>
              </a:pathLst>
            </a:custGeom>
            <a:blipFill>
              <a:blip r:embed="rId3">
                <a:alphaModFix amt="0"/>
              </a:blip>
              <a:stretch>
                <a:fillRect l="0" t="-283493" r="0" b="-283493"/>
              </a:stretch>
            </a:blipFill>
          </p:spPr>
        </p:sp>
        <p:sp>
          <p:nvSpPr>
            <p:cNvPr name="TextBox 67" id="67"/>
            <p:cNvSpPr txBox="true"/>
            <p:nvPr/>
          </p:nvSpPr>
          <p:spPr>
            <a:xfrm>
              <a:off x="0" y="-38100"/>
              <a:ext cx="10850880" cy="672084"/>
            </a:xfrm>
            <a:prstGeom prst="rect">
              <a:avLst/>
            </a:prstGeom>
          </p:spPr>
          <p:txBody>
            <a:bodyPr anchor="ctr" rtlCol="false" tIns="0" lIns="0" bIns="0" rIns="0"/>
            <a:lstStyle/>
            <a:p>
              <a:pPr algn="l">
                <a:lnSpc>
                  <a:spcPts val="2400"/>
                </a:lnSpc>
              </a:pPr>
              <a:r>
                <a:rPr lang="en-US" sz="2000" b="true">
                  <a:solidFill>
                    <a:srgbClr val="FFFFFF"/>
                  </a:solidFill>
                  <a:latin typeface="Calibri (MS) Bold"/>
                  <a:ea typeface="Calibri (MS) Bold"/>
                  <a:cs typeface="Calibri (MS) Bold"/>
                  <a:sym typeface="Calibri (MS) Bold"/>
                </a:rPr>
                <a:t>Patient intake forms</a:t>
              </a:r>
            </a:p>
          </p:txBody>
        </p:sp>
      </p:grpSp>
      <p:grpSp>
        <p:nvGrpSpPr>
          <p:cNvPr name="Group 68" id="68"/>
          <p:cNvGrpSpPr/>
          <p:nvPr/>
        </p:nvGrpSpPr>
        <p:grpSpPr>
          <a:xfrm rot="0">
            <a:off x="950976" y="8375904"/>
            <a:ext cx="8138160" cy="438912"/>
            <a:chOff x="0" y="0"/>
            <a:chExt cx="10850880" cy="585216"/>
          </a:xfrm>
        </p:grpSpPr>
        <p:sp>
          <p:nvSpPr>
            <p:cNvPr name="Freeform 69" id="69"/>
            <p:cNvSpPr/>
            <p:nvPr/>
          </p:nvSpPr>
          <p:spPr>
            <a:xfrm flipH="false" flipV="false" rot="0">
              <a:off x="0" y="0"/>
              <a:ext cx="10850880" cy="585216"/>
            </a:xfrm>
            <a:custGeom>
              <a:avLst/>
              <a:gdLst/>
              <a:ahLst/>
              <a:cxnLst/>
              <a:rect r="r" b="b" t="t" l="l"/>
              <a:pathLst>
                <a:path h="585216" w="10850880">
                  <a:moveTo>
                    <a:pt x="0" y="0"/>
                  </a:moveTo>
                  <a:lnTo>
                    <a:pt x="10850880" y="0"/>
                  </a:lnTo>
                  <a:lnTo>
                    <a:pt x="10850880" y="585216"/>
                  </a:lnTo>
                  <a:lnTo>
                    <a:pt x="0" y="585216"/>
                  </a:lnTo>
                  <a:close/>
                </a:path>
              </a:pathLst>
            </a:custGeom>
            <a:blipFill>
              <a:blip r:embed="rId3">
                <a:alphaModFix amt="0"/>
              </a:blip>
              <a:stretch>
                <a:fillRect l="0" t="-311285" r="0" b="-311285"/>
              </a:stretch>
            </a:blipFill>
          </p:spPr>
        </p:sp>
        <p:sp>
          <p:nvSpPr>
            <p:cNvPr name="TextBox 70" id="70"/>
            <p:cNvSpPr txBox="true"/>
            <p:nvPr/>
          </p:nvSpPr>
          <p:spPr>
            <a:xfrm>
              <a:off x="0" y="-38100"/>
              <a:ext cx="10850880" cy="623316"/>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Live patient data — accumulates over time, weight increases automatically</a:t>
              </a:r>
            </a:p>
          </p:txBody>
        </p:sp>
      </p:grpSp>
      <p:grpSp>
        <p:nvGrpSpPr>
          <p:cNvPr name="Group 71" id="71"/>
          <p:cNvGrpSpPr/>
          <p:nvPr/>
        </p:nvGrpSpPr>
        <p:grpSpPr>
          <a:xfrm rot="0">
            <a:off x="9686287" y="1237231"/>
            <a:ext cx="8059417" cy="5279641"/>
            <a:chOff x="0" y="0"/>
            <a:chExt cx="10745889" cy="7039521"/>
          </a:xfrm>
        </p:grpSpPr>
        <p:sp>
          <p:nvSpPr>
            <p:cNvPr name="Freeform 72" id="72"/>
            <p:cNvSpPr/>
            <p:nvPr/>
          </p:nvSpPr>
          <p:spPr>
            <a:xfrm flipH="false" flipV="false" rot="0">
              <a:off x="8509" y="8509"/>
              <a:ext cx="10728960" cy="7022592"/>
            </a:xfrm>
            <a:custGeom>
              <a:avLst/>
              <a:gdLst/>
              <a:ahLst/>
              <a:cxnLst/>
              <a:rect r="r" b="b" t="t" l="l"/>
              <a:pathLst>
                <a:path h="7022592" w="10728960">
                  <a:moveTo>
                    <a:pt x="0" y="0"/>
                  </a:moveTo>
                  <a:lnTo>
                    <a:pt x="10728960" y="0"/>
                  </a:lnTo>
                  <a:lnTo>
                    <a:pt x="10728960" y="7022592"/>
                  </a:lnTo>
                  <a:lnTo>
                    <a:pt x="0" y="7022592"/>
                  </a:lnTo>
                  <a:close/>
                </a:path>
              </a:pathLst>
            </a:custGeom>
            <a:solidFill>
              <a:srgbClr val="0D1F38"/>
            </a:solidFill>
          </p:spPr>
        </p:sp>
        <p:sp>
          <p:nvSpPr>
            <p:cNvPr name="Freeform 73" id="73"/>
            <p:cNvSpPr/>
            <p:nvPr/>
          </p:nvSpPr>
          <p:spPr>
            <a:xfrm flipH="false" flipV="false" rot="0">
              <a:off x="0" y="0"/>
              <a:ext cx="10745978" cy="7039610"/>
            </a:xfrm>
            <a:custGeom>
              <a:avLst/>
              <a:gdLst/>
              <a:ahLst/>
              <a:cxnLst/>
              <a:rect r="r" b="b" t="t" l="l"/>
              <a:pathLst>
                <a:path h="7039610" w="10745978">
                  <a:moveTo>
                    <a:pt x="8509" y="0"/>
                  </a:moveTo>
                  <a:lnTo>
                    <a:pt x="10737469" y="0"/>
                  </a:lnTo>
                  <a:cubicBezTo>
                    <a:pt x="10742168" y="0"/>
                    <a:pt x="10745978" y="3810"/>
                    <a:pt x="10745978" y="8509"/>
                  </a:cubicBezTo>
                  <a:lnTo>
                    <a:pt x="10745978" y="7031101"/>
                  </a:lnTo>
                  <a:cubicBezTo>
                    <a:pt x="10745978" y="7035800"/>
                    <a:pt x="10742168" y="7039610"/>
                    <a:pt x="10737469" y="7039610"/>
                  </a:cubicBezTo>
                  <a:lnTo>
                    <a:pt x="8509" y="7039610"/>
                  </a:lnTo>
                  <a:cubicBezTo>
                    <a:pt x="3810" y="7039610"/>
                    <a:pt x="0" y="7035800"/>
                    <a:pt x="0" y="7031101"/>
                  </a:cubicBezTo>
                  <a:lnTo>
                    <a:pt x="0" y="8509"/>
                  </a:lnTo>
                  <a:cubicBezTo>
                    <a:pt x="0" y="3810"/>
                    <a:pt x="3810" y="0"/>
                    <a:pt x="8509" y="0"/>
                  </a:cubicBezTo>
                  <a:moveTo>
                    <a:pt x="8509" y="16891"/>
                  </a:moveTo>
                  <a:lnTo>
                    <a:pt x="8509" y="8509"/>
                  </a:lnTo>
                  <a:lnTo>
                    <a:pt x="17018" y="8509"/>
                  </a:lnTo>
                  <a:lnTo>
                    <a:pt x="17018" y="7031101"/>
                  </a:lnTo>
                  <a:lnTo>
                    <a:pt x="8509" y="7031101"/>
                  </a:lnTo>
                  <a:lnTo>
                    <a:pt x="8509" y="7022592"/>
                  </a:lnTo>
                  <a:lnTo>
                    <a:pt x="10737469" y="7022592"/>
                  </a:lnTo>
                  <a:lnTo>
                    <a:pt x="10737469" y="7031101"/>
                  </a:lnTo>
                  <a:lnTo>
                    <a:pt x="10728960" y="7031101"/>
                  </a:lnTo>
                  <a:lnTo>
                    <a:pt x="10728960" y="8509"/>
                  </a:lnTo>
                  <a:lnTo>
                    <a:pt x="10737469" y="8509"/>
                  </a:lnTo>
                  <a:lnTo>
                    <a:pt x="10737469" y="17018"/>
                  </a:lnTo>
                  <a:lnTo>
                    <a:pt x="8509" y="17018"/>
                  </a:lnTo>
                  <a:close/>
                </a:path>
              </a:pathLst>
            </a:custGeom>
            <a:solidFill>
              <a:srgbClr val="0D9488"/>
            </a:solidFill>
          </p:spPr>
        </p:sp>
      </p:grpSp>
      <p:grpSp>
        <p:nvGrpSpPr>
          <p:cNvPr name="Group 74" id="74"/>
          <p:cNvGrpSpPr/>
          <p:nvPr/>
        </p:nvGrpSpPr>
        <p:grpSpPr>
          <a:xfrm rot="0">
            <a:off x="9966960" y="1499616"/>
            <a:ext cx="7498080" cy="548640"/>
            <a:chOff x="0" y="0"/>
            <a:chExt cx="9997440" cy="731520"/>
          </a:xfrm>
        </p:grpSpPr>
        <p:sp>
          <p:nvSpPr>
            <p:cNvPr name="Freeform 75" id="75"/>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sp>
        <p:sp>
          <p:nvSpPr>
            <p:cNvPr name="TextBox 76" id="76"/>
            <p:cNvSpPr txBox="true"/>
            <p:nvPr/>
          </p:nvSpPr>
          <p:spPr>
            <a:xfrm>
              <a:off x="0" y="-47625"/>
              <a:ext cx="9997440" cy="77914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Features used in model</a:t>
              </a:r>
            </a:p>
          </p:txBody>
        </p:sp>
      </p:grpSp>
      <p:grpSp>
        <p:nvGrpSpPr>
          <p:cNvPr name="Group 77" id="77"/>
          <p:cNvGrpSpPr/>
          <p:nvPr/>
        </p:nvGrpSpPr>
        <p:grpSpPr>
          <a:xfrm rot="0">
            <a:off x="9954263" y="2309879"/>
            <a:ext cx="135131" cy="354587"/>
            <a:chOff x="0" y="0"/>
            <a:chExt cx="180175" cy="472783"/>
          </a:xfrm>
        </p:grpSpPr>
        <p:sp>
          <p:nvSpPr>
            <p:cNvPr name="Freeform 78" id="78"/>
            <p:cNvSpPr/>
            <p:nvPr/>
          </p:nvSpPr>
          <p:spPr>
            <a:xfrm flipH="false" flipV="false" rot="0">
              <a:off x="16891" y="16891"/>
              <a:ext cx="146304" cy="438912"/>
            </a:xfrm>
            <a:custGeom>
              <a:avLst/>
              <a:gdLst/>
              <a:ahLst/>
              <a:cxnLst/>
              <a:rect r="r" b="b" t="t" l="l"/>
              <a:pathLst>
                <a:path h="438912" w="146304">
                  <a:moveTo>
                    <a:pt x="0" y="0"/>
                  </a:moveTo>
                  <a:lnTo>
                    <a:pt x="146304" y="0"/>
                  </a:lnTo>
                  <a:lnTo>
                    <a:pt x="146304" y="438912"/>
                  </a:lnTo>
                  <a:lnTo>
                    <a:pt x="0" y="438912"/>
                  </a:lnTo>
                  <a:close/>
                </a:path>
              </a:pathLst>
            </a:custGeom>
            <a:solidFill>
              <a:srgbClr val="0D9488"/>
            </a:solidFill>
          </p:spPr>
        </p:sp>
        <p:sp>
          <p:nvSpPr>
            <p:cNvPr name="Freeform 79" id="79"/>
            <p:cNvSpPr/>
            <p:nvPr/>
          </p:nvSpPr>
          <p:spPr>
            <a:xfrm flipH="false" flipV="false" rot="0">
              <a:off x="0" y="0"/>
              <a:ext cx="180086" cy="472696"/>
            </a:xfrm>
            <a:custGeom>
              <a:avLst/>
              <a:gdLst/>
              <a:ahLst/>
              <a:cxnLst/>
              <a:rect r="r" b="b" t="t" l="l"/>
              <a:pathLst>
                <a:path h="472696" w="180086">
                  <a:moveTo>
                    <a:pt x="16891" y="0"/>
                  </a:moveTo>
                  <a:lnTo>
                    <a:pt x="163195" y="0"/>
                  </a:lnTo>
                  <a:cubicBezTo>
                    <a:pt x="172593" y="0"/>
                    <a:pt x="180086" y="7620"/>
                    <a:pt x="180086" y="16891"/>
                  </a:cubicBezTo>
                  <a:lnTo>
                    <a:pt x="180086" y="455803"/>
                  </a:lnTo>
                  <a:cubicBezTo>
                    <a:pt x="180086" y="465201"/>
                    <a:pt x="172466" y="472694"/>
                    <a:pt x="163195"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163195" y="438912"/>
                  </a:lnTo>
                  <a:lnTo>
                    <a:pt x="163195" y="455803"/>
                  </a:lnTo>
                  <a:lnTo>
                    <a:pt x="146304" y="455803"/>
                  </a:lnTo>
                  <a:lnTo>
                    <a:pt x="146304" y="16891"/>
                  </a:lnTo>
                  <a:lnTo>
                    <a:pt x="163195" y="16891"/>
                  </a:lnTo>
                  <a:lnTo>
                    <a:pt x="163195" y="33909"/>
                  </a:lnTo>
                  <a:lnTo>
                    <a:pt x="16891" y="33909"/>
                  </a:lnTo>
                  <a:close/>
                </a:path>
              </a:pathLst>
            </a:custGeom>
            <a:solidFill>
              <a:srgbClr val="0D9488"/>
            </a:solidFill>
          </p:spPr>
        </p:sp>
      </p:grpSp>
      <p:grpSp>
        <p:nvGrpSpPr>
          <p:cNvPr name="Group 80" id="80"/>
          <p:cNvGrpSpPr/>
          <p:nvPr/>
        </p:nvGrpSpPr>
        <p:grpSpPr>
          <a:xfrm rot="0">
            <a:off x="10241280" y="2194560"/>
            <a:ext cx="7223760" cy="475488"/>
            <a:chOff x="0" y="0"/>
            <a:chExt cx="9631680" cy="633984"/>
          </a:xfrm>
        </p:grpSpPr>
        <p:sp>
          <p:nvSpPr>
            <p:cNvPr name="Freeform 81" id="81"/>
            <p:cNvSpPr/>
            <p:nvPr/>
          </p:nvSpPr>
          <p:spPr>
            <a:xfrm flipH="false" flipV="false" rot="0">
              <a:off x="0" y="0"/>
              <a:ext cx="9631680" cy="633984"/>
            </a:xfrm>
            <a:custGeom>
              <a:avLst/>
              <a:gdLst/>
              <a:ahLst/>
              <a:cxnLst/>
              <a:rect r="r" b="b" t="t" l="l"/>
              <a:pathLst>
                <a:path h="633984" w="9631680">
                  <a:moveTo>
                    <a:pt x="0" y="0"/>
                  </a:moveTo>
                  <a:lnTo>
                    <a:pt x="9631680" y="0"/>
                  </a:lnTo>
                  <a:lnTo>
                    <a:pt x="9631680" y="633984"/>
                  </a:lnTo>
                  <a:lnTo>
                    <a:pt x="0" y="633984"/>
                  </a:lnTo>
                  <a:close/>
                </a:path>
              </a:pathLst>
            </a:custGeom>
            <a:blipFill>
              <a:blip r:embed="rId3">
                <a:alphaModFix amt="0"/>
              </a:blip>
              <a:stretch>
                <a:fillRect l="0" t="-246022" r="0" b="-246022"/>
              </a:stretch>
            </a:blipFill>
          </p:spPr>
        </p:sp>
        <p:sp>
          <p:nvSpPr>
            <p:cNvPr name="TextBox 82" id="82"/>
            <p:cNvSpPr txBox="true"/>
            <p:nvPr/>
          </p:nvSpPr>
          <p:spPr>
            <a:xfrm>
              <a:off x="0" y="-38100"/>
              <a:ext cx="963168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Age, gender, BMI</a:t>
              </a:r>
            </a:p>
          </p:txBody>
        </p:sp>
      </p:grpSp>
      <p:grpSp>
        <p:nvGrpSpPr>
          <p:cNvPr name="Group 83" id="83"/>
          <p:cNvGrpSpPr/>
          <p:nvPr/>
        </p:nvGrpSpPr>
        <p:grpSpPr>
          <a:xfrm rot="0">
            <a:off x="9954263" y="2821943"/>
            <a:ext cx="135131" cy="354587"/>
            <a:chOff x="0" y="0"/>
            <a:chExt cx="180175" cy="472783"/>
          </a:xfrm>
        </p:grpSpPr>
        <p:sp>
          <p:nvSpPr>
            <p:cNvPr name="Freeform 84" id="84"/>
            <p:cNvSpPr/>
            <p:nvPr/>
          </p:nvSpPr>
          <p:spPr>
            <a:xfrm flipH="false" flipV="false" rot="0">
              <a:off x="16891" y="16891"/>
              <a:ext cx="146304" cy="438912"/>
            </a:xfrm>
            <a:custGeom>
              <a:avLst/>
              <a:gdLst/>
              <a:ahLst/>
              <a:cxnLst/>
              <a:rect r="r" b="b" t="t" l="l"/>
              <a:pathLst>
                <a:path h="438912" w="146304">
                  <a:moveTo>
                    <a:pt x="0" y="0"/>
                  </a:moveTo>
                  <a:lnTo>
                    <a:pt x="146304" y="0"/>
                  </a:lnTo>
                  <a:lnTo>
                    <a:pt x="146304" y="438912"/>
                  </a:lnTo>
                  <a:lnTo>
                    <a:pt x="0" y="438912"/>
                  </a:lnTo>
                  <a:close/>
                </a:path>
              </a:pathLst>
            </a:custGeom>
            <a:solidFill>
              <a:srgbClr val="0D9488"/>
            </a:solidFill>
          </p:spPr>
        </p:sp>
        <p:sp>
          <p:nvSpPr>
            <p:cNvPr name="Freeform 85" id="85"/>
            <p:cNvSpPr/>
            <p:nvPr/>
          </p:nvSpPr>
          <p:spPr>
            <a:xfrm flipH="false" flipV="false" rot="0">
              <a:off x="0" y="0"/>
              <a:ext cx="180086" cy="472696"/>
            </a:xfrm>
            <a:custGeom>
              <a:avLst/>
              <a:gdLst/>
              <a:ahLst/>
              <a:cxnLst/>
              <a:rect r="r" b="b" t="t" l="l"/>
              <a:pathLst>
                <a:path h="472696" w="180086">
                  <a:moveTo>
                    <a:pt x="16891" y="0"/>
                  </a:moveTo>
                  <a:lnTo>
                    <a:pt x="163195" y="0"/>
                  </a:lnTo>
                  <a:cubicBezTo>
                    <a:pt x="172593" y="0"/>
                    <a:pt x="180086" y="7620"/>
                    <a:pt x="180086" y="16891"/>
                  </a:cubicBezTo>
                  <a:lnTo>
                    <a:pt x="180086" y="455803"/>
                  </a:lnTo>
                  <a:cubicBezTo>
                    <a:pt x="180086" y="465201"/>
                    <a:pt x="172466" y="472694"/>
                    <a:pt x="163195"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163195" y="438912"/>
                  </a:lnTo>
                  <a:lnTo>
                    <a:pt x="163195" y="455803"/>
                  </a:lnTo>
                  <a:lnTo>
                    <a:pt x="146304" y="455803"/>
                  </a:lnTo>
                  <a:lnTo>
                    <a:pt x="146304" y="16891"/>
                  </a:lnTo>
                  <a:lnTo>
                    <a:pt x="163195" y="16891"/>
                  </a:lnTo>
                  <a:lnTo>
                    <a:pt x="163195" y="33909"/>
                  </a:lnTo>
                  <a:lnTo>
                    <a:pt x="16891" y="33909"/>
                  </a:lnTo>
                  <a:close/>
                </a:path>
              </a:pathLst>
            </a:custGeom>
            <a:solidFill>
              <a:srgbClr val="0D9488"/>
            </a:solidFill>
          </p:spPr>
        </p:sp>
      </p:grpSp>
      <p:grpSp>
        <p:nvGrpSpPr>
          <p:cNvPr name="Group 86" id="86"/>
          <p:cNvGrpSpPr/>
          <p:nvPr/>
        </p:nvGrpSpPr>
        <p:grpSpPr>
          <a:xfrm rot="0">
            <a:off x="10241280" y="2706624"/>
            <a:ext cx="7223760" cy="475488"/>
            <a:chOff x="0" y="0"/>
            <a:chExt cx="9631680" cy="633984"/>
          </a:xfrm>
        </p:grpSpPr>
        <p:sp>
          <p:nvSpPr>
            <p:cNvPr name="Freeform 87" id="87"/>
            <p:cNvSpPr/>
            <p:nvPr/>
          </p:nvSpPr>
          <p:spPr>
            <a:xfrm flipH="false" flipV="false" rot="0">
              <a:off x="0" y="0"/>
              <a:ext cx="9631680" cy="633984"/>
            </a:xfrm>
            <a:custGeom>
              <a:avLst/>
              <a:gdLst/>
              <a:ahLst/>
              <a:cxnLst/>
              <a:rect r="r" b="b" t="t" l="l"/>
              <a:pathLst>
                <a:path h="633984" w="9631680">
                  <a:moveTo>
                    <a:pt x="0" y="0"/>
                  </a:moveTo>
                  <a:lnTo>
                    <a:pt x="9631680" y="0"/>
                  </a:lnTo>
                  <a:lnTo>
                    <a:pt x="9631680" y="633984"/>
                  </a:lnTo>
                  <a:lnTo>
                    <a:pt x="0" y="633984"/>
                  </a:lnTo>
                  <a:close/>
                </a:path>
              </a:pathLst>
            </a:custGeom>
            <a:blipFill>
              <a:blip r:embed="rId3">
                <a:alphaModFix amt="0"/>
              </a:blip>
              <a:stretch>
                <a:fillRect l="0" t="-246022" r="0" b="-246022"/>
              </a:stretch>
            </a:blipFill>
          </p:spPr>
        </p:sp>
        <p:sp>
          <p:nvSpPr>
            <p:cNvPr name="TextBox 88" id="88"/>
            <p:cNvSpPr txBox="true"/>
            <p:nvPr/>
          </p:nvSpPr>
          <p:spPr>
            <a:xfrm>
              <a:off x="0" y="-38100"/>
              <a:ext cx="963168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Blood pressure, glucose, cholesterol</a:t>
              </a:r>
            </a:p>
          </p:txBody>
        </p:sp>
      </p:grpSp>
      <p:grpSp>
        <p:nvGrpSpPr>
          <p:cNvPr name="Group 89" id="89"/>
          <p:cNvGrpSpPr/>
          <p:nvPr/>
        </p:nvGrpSpPr>
        <p:grpSpPr>
          <a:xfrm rot="0">
            <a:off x="9954263" y="3334007"/>
            <a:ext cx="135131" cy="354587"/>
            <a:chOff x="0" y="0"/>
            <a:chExt cx="180175" cy="472783"/>
          </a:xfrm>
        </p:grpSpPr>
        <p:sp>
          <p:nvSpPr>
            <p:cNvPr name="Freeform 90" id="90"/>
            <p:cNvSpPr/>
            <p:nvPr/>
          </p:nvSpPr>
          <p:spPr>
            <a:xfrm flipH="false" flipV="false" rot="0">
              <a:off x="16891" y="16891"/>
              <a:ext cx="146304" cy="438912"/>
            </a:xfrm>
            <a:custGeom>
              <a:avLst/>
              <a:gdLst/>
              <a:ahLst/>
              <a:cxnLst/>
              <a:rect r="r" b="b" t="t" l="l"/>
              <a:pathLst>
                <a:path h="438912" w="146304">
                  <a:moveTo>
                    <a:pt x="0" y="0"/>
                  </a:moveTo>
                  <a:lnTo>
                    <a:pt x="146304" y="0"/>
                  </a:lnTo>
                  <a:lnTo>
                    <a:pt x="146304" y="438912"/>
                  </a:lnTo>
                  <a:lnTo>
                    <a:pt x="0" y="438912"/>
                  </a:lnTo>
                  <a:close/>
                </a:path>
              </a:pathLst>
            </a:custGeom>
            <a:solidFill>
              <a:srgbClr val="0D9488"/>
            </a:solidFill>
          </p:spPr>
        </p:sp>
        <p:sp>
          <p:nvSpPr>
            <p:cNvPr name="Freeform 91" id="91"/>
            <p:cNvSpPr/>
            <p:nvPr/>
          </p:nvSpPr>
          <p:spPr>
            <a:xfrm flipH="false" flipV="false" rot="0">
              <a:off x="0" y="0"/>
              <a:ext cx="180086" cy="472696"/>
            </a:xfrm>
            <a:custGeom>
              <a:avLst/>
              <a:gdLst/>
              <a:ahLst/>
              <a:cxnLst/>
              <a:rect r="r" b="b" t="t" l="l"/>
              <a:pathLst>
                <a:path h="472696" w="180086">
                  <a:moveTo>
                    <a:pt x="16891" y="0"/>
                  </a:moveTo>
                  <a:lnTo>
                    <a:pt x="163195" y="0"/>
                  </a:lnTo>
                  <a:cubicBezTo>
                    <a:pt x="172593" y="0"/>
                    <a:pt x="180086" y="7620"/>
                    <a:pt x="180086" y="16891"/>
                  </a:cubicBezTo>
                  <a:lnTo>
                    <a:pt x="180086" y="455803"/>
                  </a:lnTo>
                  <a:cubicBezTo>
                    <a:pt x="180086" y="465201"/>
                    <a:pt x="172466" y="472694"/>
                    <a:pt x="163195"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163195" y="438912"/>
                  </a:lnTo>
                  <a:lnTo>
                    <a:pt x="163195" y="455803"/>
                  </a:lnTo>
                  <a:lnTo>
                    <a:pt x="146304" y="455803"/>
                  </a:lnTo>
                  <a:lnTo>
                    <a:pt x="146304" y="16891"/>
                  </a:lnTo>
                  <a:lnTo>
                    <a:pt x="163195" y="16891"/>
                  </a:lnTo>
                  <a:lnTo>
                    <a:pt x="163195" y="33909"/>
                  </a:lnTo>
                  <a:lnTo>
                    <a:pt x="16891" y="33909"/>
                  </a:lnTo>
                  <a:close/>
                </a:path>
              </a:pathLst>
            </a:custGeom>
            <a:solidFill>
              <a:srgbClr val="0D9488"/>
            </a:solidFill>
          </p:spPr>
        </p:sp>
      </p:grpSp>
      <p:grpSp>
        <p:nvGrpSpPr>
          <p:cNvPr name="Group 92" id="92"/>
          <p:cNvGrpSpPr/>
          <p:nvPr/>
        </p:nvGrpSpPr>
        <p:grpSpPr>
          <a:xfrm rot="0">
            <a:off x="10241280" y="3218688"/>
            <a:ext cx="7223760" cy="475488"/>
            <a:chOff x="0" y="0"/>
            <a:chExt cx="9631680" cy="633984"/>
          </a:xfrm>
        </p:grpSpPr>
        <p:sp>
          <p:nvSpPr>
            <p:cNvPr name="Freeform 93" id="93"/>
            <p:cNvSpPr/>
            <p:nvPr/>
          </p:nvSpPr>
          <p:spPr>
            <a:xfrm flipH="false" flipV="false" rot="0">
              <a:off x="0" y="0"/>
              <a:ext cx="9631680" cy="633984"/>
            </a:xfrm>
            <a:custGeom>
              <a:avLst/>
              <a:gdLst/>
              <a:ahLst/>
              <a:cxnLst/>
              <a:rect r="r" b="b" t="t" l="l"/>
              <a:pathLst>
                <a:path h="633984" w="9631680">
                  <a:moveTo>
                    <a:pt x="0" y="0"/>
                  </a:moveTo>
                  <a:lnTo>
                    <a:pt x="9631680" y="0"/>
                  </a:lnTo>
                  <a:lnTo>
                    <a:pt x="9631680" y="633984"/>
                  </a:lnTo>
                  <a:lnTo>
                    <a:pt x="0" y="633984"/>
                  </a:lnTo>
                  <a:close/>
                </a:path>
              </a:pathLst>
            </a:custGeom>
            <a:blipFill>
              <a:blip r:embed="rId3">
                <a:alphaModFix amt="0"/>
              </a:blip>
              <a:stretch>
                <a:fillRect l="0" t="-246022" r="0" b="-246022"/>
              </a:stretch>
            </a:blipFill>
          </p:spPr>
        </p:sp>
        <p:sp>
          <p:nvSpPr>
            <p:cNvPr name="TextBox 94" id="94"/>
            <p:cNvSpPr txBox="true"/>
            <p:nvPr/>
          </p:nvSpPr>
          <p:spPr>
            <a:xfrm>
              <a:off x="0" y="-38100"/>
              <a:ext cx="963168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Previous diagnoses &amp; conditions</a:t>
              </a:r>
            </a:p>
          </p:txBody>
        </p:sp>
      </p:grpSp>
      <p:grpSp>
        <p:nvGrpSpPr>
          <p:cNvPr name="Group 95" id="95"/>
          <p:cNvGrpSpPr/>
          <p:nvPr/>
        </p:nvGrpSpPr>
        <p:grpSpPr>
          <a:xfrm rot="0">
            <a:off x="9954263" y="3846071"/>
            <a:ext cx="135131" cy="354587"/>
            <a:chOff x="0" y="0"/>
            <a:chExt cx="180175" cy="472783"/>
          </a:xfrm>
        </p:grpSpPr>
        <p:sp>
          <p:nvSpPr>
            <p:cNvPr name="Freeform 96" id="96"/>
            <p:cNvSpPr/>
            <p:nvPr/>
          </p:nvSpPr>
          <p:spPr>
            <a:xfrm flipH="false" flipV="false" rot="0">
              <a:off x="16891" y="16891"/>
              <a:ext cx="146304" cy="438912"/>
            </a:xfrm>
            <a:custGeom>
              <a:avLst/>
              <a:gdLst/>
              <a:ahLst/>
              <a:cxnLst/>
              <a:rect r="r" b="b" t="t" l="l"/>
              <a:pathLst>
                <a:path h="438912" w="146304">
                  <a:moveTo>
                    <a:pt x="0" y="0"/>
                  </a:moveTo>
                  <a:lnTo>
                    <a:pt x="146304" y="0"/>
                  </a:lnTo>
                  <a:lnTo>
                    <a:pt x="146304" y="438912"/>
                  </a:lnTo>
                  <a:lnTo>
                    <a:pt x="0" y="438912"/>
                  </a:lnTo>
                  <a:close/>
                </a:path>
              </a:pathLst>
            </a:custGeom>
            <a:solidFill>
              <a:srgbClr val="0D9488"/>
            </a:solidFill>
          </p:spPr>
        </p:sp>
        <p:sp>
          <p:nvSpPr>
            <p:cNvPr name="Freeform 97" id="97"/>
            <p:cNvSpPr/>
            <p:nvPr/>
          </p:nvSpPr>
          <p:spPr>
            <a:xfrm flipH="false" flipV="false" rot="0">
              <a:off x="0" y="0"/>
              <a:ext cx="180086" cy="472696"/>
            </a:xfrm>
            <a:custGeom>
              <a:avLst/>
              <a:gdLst/>
              <a:ahLst/>
              <a:cxnLst/>
              <a:rect r="r" b="b" t="t" l="l"/>
              <a:pathLst>
                <a:path h="472696" w="180086">
                  <a:moveTo>
                    <a:pt x="16891" y="0"/>
                  </a:moveTo>
                  <a:lnTo>
                    <a:pt x="163195" y="0"/>
                  </a:lnTo>
                  <a:cubicBezTo>
                    <a:pt x="172593" y="0"/>
                    <a:pt x="180086" y="7620"/>
                    <a:pt x="180086" y="16891"/>
                  </a:cubicBezTo>
                  <a:lnTo>
                    <a:pt x="180086" y="455803"/>
                  </a:lnTo>
                  <a:cubicBezTo>
                    <a:pt x="180086" y="465201"/>
                    <a:pt x="172466" y="472694"/>
                    <a:pt x="163195"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163195" y="438912"/>
                  </a:lnTo>
                  <a:lnTo>
                    <a:pt x="163195" y="455803"/>
                  </a:lnTo>
                  <a:lnTo>
                    <a:pt x="146304" y="455803"/>
                  </a:lnTo>
                  <a:lnTo>
                    <a:pt x="146304" y="16891"/>
                  </a:lnTo>
                  <a:lnTo>
                    <a:pt x="163195" y="16891"/>
                  </a:lnTo>
                  <a:lnTo>
                    <a:pt x="163195" y="33909"/>
                  </a:lnTo>
                  <a:lnTo>
                    <a:pt x="16891" y="33909"/>
                  </a:lnTo>
                  <a:close/>
                </a:path>
              </a:pathLst>
            </a:custGeom>
            <a:solidFill>
              <a:srgbClr val="0D9488"/>
            </a:solidFill>
          </p:spPr>
        </p:sp>
      </p:grpSp>
      <p:grpSp>
        <p:nvGrpSpPr>
          <p:cNvPr name="Group 98" id="98"/>
          <p:cNvGrpSpPr/>
          <p:nvPr/>
        </p:nvGrpSpPr>
        <p:grpSpPr>
          <a:xfrm rot="0">
            <a:off x="10241280" y="3730752"/>
            <a:ext cx="7223760" cy="475488"/>
            <a:chOff x="0" y="0"/>
            <a:chExt cx="9631680" cy="633984"/>
          </a:xfrm>
        </p:grpSpPr>
        <p:sp>
          <p:nvSpPr>
            <p:cNvPr name="Freeform 99" id="99"/>
            <p:cNvSpPr/>
            <p:nvPr/>
          </p:nvSpPr>
          <p:spPr>
            <a:xfrm flipH="false" flipV="false" rot="0">
              <a:off x="0" y="0"/>
              <a:ext cx="9631680" cy="633984"/>
            </a:xfrm>
            <a:custGeom>
              <a:avLst/>
              <a:gdLst/>
              <a:ahLst/>
              <a:cxnLst/>
              <a:rect r="r" b="b" t="t" l="l"/>
              <a:pathLst>
                <a:path h="633984" w="9631680">
                  <a:moveTo>
                    <a:pt x="0" y="0"/>
                  </a:moveTo>
                  <a:lnTo>
                    <a:pt x="9631680" y="0"/>
                  </a:lnTo>
                  <a:lnTo>
                    <a:pt x="9631680" y="633984"/>
                  </a:lnTo>
                  <a:lnTo>
                    <a:pt x="0" y="633984"/>
                  </a:lnTo>
                  <a:close/>
                </a:path>
              </a:pathLst>
            </a:custGeom>
            <a:blipFill>
              <a:blip r:embed="rId3">
                <a:alphaModFix amt="0"/>
              </a:blip>
              <a:stretch>
                <a:fillRect l="0" t="-246022" r="0" b="-246022"/>
              </a:stretch>
            </a:blipFill>
          </p:spPr>
        </p:sp>
        <p:sp>
          <p:nvSpPr>
            <p:cNvPr name="TextBox 100" id="100"/>
            <p:cNvSpPr txBox="true"/>
            <p:nvPr/>
          </p:nvSpPr>
          <p:spPr>
            <a:xfrm>
              <a:off x="0" y="-38100"/>
              <a:ext cx="963168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Medication history &amp; dosage</a:t>
              </a:r>
            </a:p>
          </p:txBody>
        </p:sp>
      </p:grpSp>
      <p:grpSp>
        <p:nvGrpSpPr>
          <p:cNvPr name="Group 101" id="101"/>
          <p:cNvGrpSpPr/>
          <p:nvPr/>
        </p:nvGrpSpPr>
        <p:grpSpPr>
          <a:xfrm rot="0">
            <a:off x="9954263" y="4358135"/>
            <a:ext cx="135131" cy="354587"/>
            <a:chOff x="0" y="0"/>
            <a:chExt cx="180175" cy="472783"/>
          </a:xfrm>
        </p:grpSpPr>
        <p:sp>
          <p:nvSpPr>
            <p:cNvPr name="Freeform 102" id="102"/>
            <p:cNvSpPr/>
            <p:nvPr/>
          </p:nvSpPr>
          <p:spPr>
            <a:xfrm flipH="false" flipV="false" rot="0">
              <a:off x="16891" y="16891"/>
              <a:ext cx="146304" cy="438912"/>
            </a:xfrm>
            <a:custGeom>
              <a:avLst/>
              <a:gdLst/>
              <a:ahLst/>
              <a:cxnLst/>
              <a:rect r="r" b="b" t="t" l="l"/>
              <a:pathLst>
                <a:path h="438912" w="146304">
                  <a:moveTo>
                    <a:pt x="0" y="0"/>
                  </a:moveTo>
                  <a:lnTo>
                    <a:pt x="146304" y="0"/>
                  </a:lnTo>
                  <a:lnTo>
                    <a:pt x="146304" y="438912"/>
                  </a:lnTo>
                  <a:lnTo>
                    <a:pt x="0" y="438912"/>
                  </a:lnTo>
                  <a:close/>
                </a:path>
              </a:pathLst>
            </a:custGeom>
            <a:solidFill>
              <a:srgbClr val="0D9488"/>
            </a:solidFill>
          </p:spPr>
        </p:sp>
        <p:sp>
          <p:nvSpPr>
            <p:cNvPr name="Freeform 103" id="103"/>
            <p:cNvSpPr/>
            <p:nvPr/>
          </p:nvSpPr>
          <p:spPr>
            <a:xfrm flipH="false" flipV="false" rot="0">
              <a:off x="0" y="0"/>
              <a:ext cx="180086" cy="472696"/>
            </a:xfrm>
            <a:custGeom>
              <a:avLst/>
              <a:gdLst/>
              <a:ahLst/>
              <a:cxnLst/>
              <a:rect r="r" b="b" t="t" l="l"/>
              <a:pathLst>
                <a:path h="472696" w="180086">
                  <a:moveTo>
                    <a:pt x="16891" y="0"/>
                  </a:moveTo>
                  <a:lnTo>
                    <a:pt x="163195" y="0"/>
                  </a:lnTo>
                  <a:cubicBezTo>
                    <a:pt x="172593" y="0"/>
                    <a:pt x="180086" y="7620"/>
                    <a:pt x="180086" y="16891"/>
                  </a:cubicBezTo>
                  <a:lnTo>
                    <a:pt x="180086" y="455803"/>
                  </a:lnTo>
                  <a:cubicBezTo>
                    <a:pt x="180086" y="465201"/>
                    <a:pt x="172466" y="472694"/>
                    <a:pt x="163195"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163195" y="438912"/>
                  </a:lnTo>
                  <a:lnTo>
                    <a:pt x="163195" y="455803"/>
                  </a:lnTo>
                  <a:lnTo>
                    <a:pt x="146304" y="455803"/>
                  </a:lnTo>
                  <a:lnTo>
                    <a:pt x="146304" y="16891"/>
                  </a:lnTo>
                  <a:lnTo>
                    <a:pt x="163195" y="16891"/>
                  </a:lnTo>
                  <a:lnTo>
                    <a:pt x="163195" y="33909"/>
                  </a:lnTo>
                  <a:lnTo>
                    <a:pt x="16891" y="33909"/>
                  </a:lnTo>
                  <a:close/>
                </a:path>
              </a:pathLst>
            </a:custGeom>
            <a:solidFill>
              <a:srgbClr val="0D9488"/>
            </a:solidFill>
          </p:spPr>
        </p:sp>
      </p:grpSp>
      <p:grpSp>
        <p:nvGrpSpPr>
          <p:cNvPr name="Group 104" id="104"/>
          <p:cNvGrpSpPr/>
          <p:nvPr/>
        </p:nvGrpSpPr>
        <p:grpSpPr>
          <a:xfrm rot="0">
            <a:off x="10241280" y="4242816"/>
            <a:ext cx="7223760" cy="475488"/>
            <a:chOff x="0" y="0"/>
            <a:chExt cx="9631680" cy="633984"/>
          </a:xfrm>
        </p:grpSpPr>
        <p:sp>
          <p:nvSpPr>
            <p:cNvPr name="Freeform 105" id="105"/>
            <p:cNvSpPr/>
            <p:nvPr/>
          </p:nvSpPr>
          <p:spPr>
            <a:xfrm flipH="false" flipV="false" rot="0">
              <a:off x="0" y="0"/>
              <a:ext cx="9631680" cy="633984"/>
            </a:xfrm>
            <a:custGeom>
              <a:avLst/>
              <a:gdLst/>
              <a:ahLst/>
              <a:cxnLst/>
              <a:rect r="r" b="b" t="t" l="l"/>
              <a:pathLst>
                <a:path h="633984" w="9631680">
                  <a:moveTo>
                    <a:pt x="0" y="0"/>
                  </a:moveTo>
                  <a:lnTo>
                    <a:pt x="9631680" y="0"/>
                  </a:lnTo>
                  <a:lnTo>
                    <a:pt x="9631680" y="633984"/>
                  </a:lnTo>
                  <a:lnTo>
                    <a:pt x="0" y="633984"/>
                  </a:lnTo>
                  <a:close/>
                </a:path>
              </a:pathLst>
            </a:custGeom>
            <a:blipFill>
              <a:blip r:embed="rId3">
                <a:alphaModFix amt="0"/>
              </a:blip>
              <a:stretch>
                <a:fillRect l="0" t="-246022" r="0" b="-246022"/>
              </a:stretch>
            </a:blipFill>
          </p:spPr>
        </p:sp>
        <p:sp>
          <p:nvSpPr>
            <p:cNvPr name="TextBox 106" id="106"/>
            <p:cNvSpPr txBox="true"/>
            <p:nvPr/>
          </p:nvSpPr>
          <p:spPr>
            <a:xfrm>
              <a:off x="0" y="-38100"/>
              <a:ext cx="963168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Lab test results (over time)</a:t>
              </a:r>
            </a:p>
          </p:txBody>
        </p:sp>
      </p:grpSp>
      <p:grpSp>
        <p:nvGrpSpPr>
          <p:cNvPr name="Group 107" id="107"/>
          <p:cNvGrpSpPr/>
          <p:nvPr/>
        </p:nvGrpSpPr>
        <p:grpSpPr>
          <a:xfrm rot="0">
            <a:off x="9954263" y="4870199"/>
            <a:ext cx="135131" cy="354587"/>
            <a:chOff x="0" y="0"/>
            <a:chExt cx="180175" cy="472783"/>
          </a:xfrm>
        </p:grpSpPr>
        <p:sp>
          <p:nvSpPr>
            <p:cNvPr name="Freeform 108" id="108"/>
            <p:cNvSpPr/>
            <p:nvPr/>
          </p:nvSpPr>
          <p:spPr>
            <a:xfrm flipH="false" flipV="false" rot="0">
              <a:off x="16891" y="16891"/>
              <a:ext cx="146304" cy="438912"/>
            </a:xfrm>
            <a:custGeom>
              <a:avLst/>
              <a:gdLst/>
              <a:ahLst/>
              <a:cxnLst/>
              <a:rect r="r" b="b" t="t" l="l"/>
              <a:pathLst>
                <a:path h="438912" w="146304">
                  <a:moveTo>
                    <a:pt x="0" y="0"/>
                  </a:moveTo>
                  <a:lnTo>
                    <a:pt x="146304" y="0"/>
                  </a:lnTo>
                  <a:lnTo>
                    <a:pt x="146304" y="438912"/>
                  </a:lnTo>
                  <a:lnTo>
                    <a:pt x="0" y="438912"/>
                  </a:lnTo>
                  <a:close/>
                </a:path>
              </a:pathLst>
            </a:custGeom>
            <a:solidFill>
              <a:srgbClr val="0D9488"/>
            </a:solidFill>
          </p:spPr>
        </p:sp>
        <p:sp>
          <p:nvSpPr>
            <p:cNvPr name="Freeform 109" id="109"/>
            <p:cNvSpPr/>
            <p:nvPr/>
          </p:nvSpPr>
          <p:spPr>
            <a:xfrm flipH="false" flipV="false" rot="0">
              <a:off x="0" y="0"/>
              <a:ext cx="180086" cy="472696"/>
            </a:xfrm>
            <a:custGeom>
              <a:avLst/>
              <a:gdLst/>
              <a:ahLst/>
              <a:cxnLst/>
              <a:rect r="r" b="b" t="t" l="l"/>
              <a:pathLst>
                <a:path h="472696" w="180086">
                  <a:moveTo>
                    <a:pt x="16891" y="0"/>
                  </a:moveTo>
                  <a:lnTo>
                    <a:pt x="163195" y="0"/>
                  </a:lnTo>
                  <a:cubicBezTo>
                    <a:pt x="172593" y="0"/>
                    <a:pt x="180086" y="7620"/>
                    <a:pt x="180086" y="16891"/>
                  </a:cubicBezTo>
                  <a:lnTo>
                    <a:pt x="180086" y="455803"/>
                  </a:lnTo>
                  <a:cubicBezTo>
                    <a:pt x="180086" y="465201"/>
                    <a:pt x="172466" y="472694"/>
                    <a:pt x="163195"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163195" y="438912"/>
                  </a:lnTo>
                  <a:lnTo>
                    <a:pt x="163195" y="455803"/>
                  </a:lnTo>
                  <a:lnTo>
                    <a:pt x="146304" y="455803"/>
                  </a:lnTo>
                  <a:lnTo>
                    <a:pt x="146304" y="16891"/>
                  </a:lnTo>
                  <a:lnTo>
                    <a:pt x="163195" y="16891"/>
                  </a:lnTo>
                  <a:lnTo>
                    <a:pt x="163195" y="33909"/>
                  </a:lnTo>
                  <a:lnTo>
                    <a:pt x="16891" y="33909"/>
                  </a:lnTo>
                  <a:close/>
                </a:path>
              </a:pathLst>
            </a:custGeom>
            <a:solidFill>
              <a:srgbClr val="0D9488"/>
            </a:solidFill>
          </p:spPr>
        </p:sp>
      </p:grpSp>
      <p:grpSp>
        <p:nvGrpSpPr>
          <p:cNvPr name="Group 110" id="110"/>
          <p:cNvGrpSpPr/>
          <p:nvPr/>
        </p:nvGrpSpPr>
        <p:grpSpPr>
          <a:xfrm rot="0">
            <a:off x="10241280" y="4754880"/>
            <a:ext cx="7223760" cy="475488"/>
            <a:chOff x="0" y="0"/>
            <a:chExt cx="9631680" cy="633984"/>
          </a:xfrm>
        </p:grpSpPr>
        <p:sp>
          <p:nvSpPr>
            <p:cNvPr name="Freeform 111" id="111"/>
            <p:cNvSpPr/>
            <p:nvPr/>
          </p:nvSpPr>
          <p:spPr>
            <a:xfrm flipH="false" flipV="false" rot="0">
              <a:off x="0" y="0"/>
              <a:ext cx="9631680" cy="633984"/>
            </a:xfrm>
            <a:custGeom>
              <a:avLst/>
              <a:gdLst/>
              <a:ahLst/>
              <a:cxnLst/>
              <a:rect r="r" b="b" t="t" l="l"/>
              <a:pathLst>
                <a:path h="633984" w="9631680">
                  <a:moveTo>
                    <a:pt x="0" y="0"/>
                  </a:moveTo>
                  <a:lnTo>
                    <a:pt x="9631680" y="0"/>
                  </a:lnTo>
                  <a:lnTo>
                    <a:pt x="9631680" y="633984"/>
                  </a:lnTo>
                  <a:lnTo>
                    <a:pt x="0" y="633984"/>
                  </a:lnTo>
                  <a:close/>
                </a:path>
              </a:pathLst>
            </a:custGeom>
            <a:blipFill>
              <a:blip r:embed="rId3">
                <a:alphaModFix amt="0"/>
              </a:blip>
              <a:stretch>
                <a:fillRect l="0" t="-246022" r="0" b="-246022"/>
              </a:stretch>
            </a:blipFill>
          </p:spPr>
        </p:sp>
        <p:sp>
          <p:nvSpPr>
            <p:cNvPr name="TextBox 112" id="112"/>
            <p:cNvSpPr txBox="true"/>
            <p:nvPr/>
          </p:nvSpPr>
          <p:spPr>
            <a:xfrm>
              <a:off x="0" y="-38100"/>
              <a:ext cx="963168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Reported symptoms &amp; visit frequency</a:t>
              </a:r>
            </a:p>
          </p:txBody>
        </p:sp>
      </p:grpSp>
      <p:grpSp>
        <p:nvGrpSpPr>
          <p:cNvPr name="Group 113" id="113"/>
          <p:cNvGrpSpPr/>
          <p:nvPr/>
        </p:nvGrpSpPr>
        <p:grpSpPr>
          <a:xfrm rot="0">
            <a:off x="9954263" y="5382263"/>
            <a:ext cx="135131" cy="354587"/>
            <a:chOff x="0" y="0"/>
            <a:chExt cx="180175" cy="472783"/>
          </a:xfrm>
        </p:grpSpPr>
        <p:sp>
          <p:nvSpPr>
            <p:cNvPr name="Freeform 114" id="114"/>
            <p:cNvSpPr/>
            <p:nvPr/>
          </p:nvSpPr>
          <p:spPr>
            <a:xfrm flipH="false" flipV="false" rot="0">
              <a:off x="16891" y="16891"/>
              <a:ext cx="146304" cy="438912"/>
            </a:xfrm>
            <a:custGeom>
              <a:avLst/>
              <a:gdLst/>
              <a:ahLst/>
              <a:cxnLst/>
              <a:rect r="r" b="b" t="t" l="l"/>
              <a:pathLst>
                <a:path h="438912" w="146304">
                  <a:moveTo>
                    <a:pt x="0" y="0"/>
                  </a:moveTo>
                  <a:lnTo>
                    <a:pt x="146304" y="0"/>
                  </a:lnTo>
                  <a:lnTo>
                    <a:pt x="146304" y="438912"/>
                  </a:lnTo>
                  <a:lnTo>
                    <a:pt x="0" y="438912"/>
                  </a:lnTo>
                  <a:close/>
                </a:path>
              </a:pathLst>
            </a:custGeom>
            <a:solidFill>
              <a:srgbClr val="0D9488"/>
            </a:solidFill>
          </p:spPr>
        </p:sp>
        <p:sp>
          <p:nvSpPr>
            <p:cNvPr name="Freeform 115" id="115"/>
            <p:cNvSpPr/>
            <p:nvPr/>
          </p:nvSpPr>
          <p:spPr>
            <a:xfrm flipH="false" flipV="false" rot="0">
              <a:off x="0" y="0"/>
              <a:ext cx="180086" cy="472696"/>
            </a:xfrm>
            <a:custGeom>
              <a:avLst/>
              <a:gdLst/>
              <a:ahLst/>
              <a:cxnLst/>
              <a:rect r="r" b="b" t="t" l="l"/>
              <a:pathLst>
                <a:path h="472696" w="180086">
                  <a:moveTo>
                    <a:pt x="16891" y="0"/>
                  </a:moveTo>
                  <a:lnTo>
                    <a:pt x="163195" y="0"/>
                  </a:lnTo>
                  <a:cubicBezTo>
                    <a:pt x="172593" y="0"/>
                    <a:pt x="180086" y="7620"/>
                    <a:pt x="180086" y="16891"/>
                  </a:cubicBezTo>
                  <a:lnTo>
                    <a:pt x="180086" y="455803"/>
                  </a:lnTo>
                  <a:cubicBezTo>
                    <a:pt x="180086" y="465201"/>
                    <a:pt x="172466" y="472694"/>
                    <a:pt x="163195"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163195" y="438912"/>
                  </a:lnTo>
                  <a:lnTo>
                    <a:pt x="163195" y="455803"/>
                  </a:lnTo>
                  <a:lnTo>
                    <a:pt x="146304" y="455803"/>
                  </a:lnTo>
                  <a:lnTo>
                    <a:pt x="146304" y="16891"/>
                  </a:lnTo>
                  <a:lnTo>
                    <a:pt x="163195" y="16891"/>
                  </a:lnTo>
                  <a:lnTo>
                    <a:pt x="163195" y="33909"/>
                  </a:lnTo>
                  <a:lnTo>
                    <a:pt x="16891" y="33909"/>
                  </a:lnTo>
                  <a:close/>
                </a:path>
              </a:pathLst>
            </a:custGeom>
            <a:solidFill>
              <a:srgbClr val="0D9488"/>
            </a:solidFill>
          </p:spPr>
        </p:sp>
      </p:grpSp>
      <p:grpSp>
        <p:nvGrpSpPr>
          <p:cNvPr name="Group 116" id="116"/>
          <p:cNvGrpSpPr/>
          <p:nvPr/>
        </p:nvGrpSpPr>
        <p:grpSpPr>
          <a:xfrm rot="0">
            <a:off x="10241280" y="5266944"/>
            <a:ext cx="7223760" cy="475488"/>
            <a:chOff x="0" y="0"/>
            <a:chExt cx="9631680" cy="633984"/>
          </a:xfrm>
        </p:grpSpPr>
        <p:sp>
          <p:nvSpPr>
            <p:cNvPr name="Freeform 117" id="117"/>
            <p:cNvSpPr/>
            <p:nvPr/>
          </p:nvSpPr>
          <p:spPr>
            <a:xfrm flipH="false" flipV="false" rot="0">
              <a:off x="0" y="0"/>
              <a:ext cx="9631680" cy="633984"/>
            </a:xfrm>
            <a:custGeom>
              <a:avLst/>
              <a:gdLst/>
              <a:ahLst/>
              <a:cxnLst/>
              <a:rect r="r" b="b" t="t" l="l"/>
              <a:pathLst>
                <a:path h="633984" w="9631680">
                  <a:moveTo>
                    <a:pt x="0" y="0"/>
                  </a:moveTo>
                  <a:lnTo>
                    <a:pt x="9631680" y="0"/>
                  </a:lnTo>
                  <a:lnTo>
                    <a:pt x="9631680" y="633984"/>
                  </a:lnTo>
                  <a:lnTo>
                    <a:pt x="0" y="633984"/>
                  </a:lnTo>
                  <a:close/>
                </a:path>
              </a:pathLst>
            </a:custGeom>
            <a:blipFill>
              <a:blip r:embed="rId3">
                <a:alphaModFix amt="0"/>
              </a:blip>
              <a:stretch>
                <a:fillRect l="0" t="-246022" r="0" b="-246022"/>
              </a:stretch>
            </a:blipFill>
          </p:spPr>
        </p:sp>
        <p:sp>
          <p:nvSpPr>
            <p:cNvPr name="TextBox 118" id="118"/>
            <p:cNvSpPr txBox="true"/>
            <p:nvPr/>
          </p:nvSpPr>
          <p:spPr>
            <a:xfrm>
              <a:off x="0" y="-38100"/>
              <a:ext cx="963168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Family medical history</a:t>
              </a:r>
            </a:p>
          </p:txBody>
        </p:sp>
      </p:grpSp>
      <p:grpSp>
        <p:nvGrpSpPr>
          <p:cNvPr name="Group 119" id="119"/>
          <p:cNvGrpSpPr/>
          <p:nvPr/>
        </p:nvGrpSpPr>
        <p:grpSpPr>
          <a:xfrm rot="0">
            <a:off x="9954263" y="5894327"/>
            <a:ext cx="135131" cy="354587"/>
            <a:chOff x="0" y="0"/>
            <a:chExt cx="180175" cy="472783"/>
          </a:xfrm>
        </p:grpSpPr>
        <p:sp>
          <p:nvSpPr>
            <p:cNvPr name="Freeform 120" id="120"/>
            <p:cNvSpPr/>
            <p:nvPr/>
          </p:nvSpPr>
          <p:spPr>
            <a:xfrm flipH="false" flipV="false" rot="0">
              <a:off x="16891" y="16891"/>
              <a:ext cx="146304" cy="438912"/>
            </a:xfrm>
            <a:custGeom>
              <a:avLst/>
              <a:gdLst/>
              <a:ahLst/>
              <a:cxnLst/>
              <a:rect r="r" b="b" t="t" l="l"/>
              <a:pathLst>
                <a:path h="438912" w="146304">
                  <a:moveTo>
                    <a:pt x="0" y="0"/>
                  </a:moveTo>
                  <a:lnTo>
                    <a:pt x="146304" y="0"/>
                  </a:lnTo>
                  <a:lnTo>
                    <a:pt x="146304" y="438912"/>
                  </a:lnTo>
                  <a:lnTo>
                    <a:pt x="0" y="438912"/>
                  </a:lnTo>
                  <a:close/>
                </a:path>
              </a:pathLst>
            </a:custGeom>
            <a:solidFill>
              <a:srgbClr val="0D9488"/>
            </a:solidFill>
          </p:spPr>
        </p:sp>
        <p:sp>
          <p:nvSpPr>
            <p:cNvPr name="Freeform 121" id="121"/>
            <p:cNvSpPr/>
            <p:nvPr/>
          </p:nvSpPr>
          <p:spPr>
            <a:xfrm flipH="false" flipV="false" rot="0">
              <a:off x="0" y="0"/>
              <a:ext cx="180086" cy="472696"/>
            </a:xfrm>
            <a:custGeom>
              <a:avLst/>
              <a:gdLst/>
              <a:ahLst/>
              <a:cxnLst/>
              <a:rect r="r" b="b" t="t" l="l"/>
              <a:pathLst>
                <a:path h="472696" w="180086">
                  <a:moveTo>
                    <a:pt x="16891" y="0"/>
                  </a:moveTo>
                  <a:lnTo>
                    <a:pt x="163195" y="0"/>
                  </a:lnTo>
                  <a:cubicBezTo>
                    <a:pt x="172593" y="0"/>
                    <a:pt x="180086" y="7620"/>
                    <a:pt x="180086" y="16891"/>
                  </a:cubicBezTo>
                  <a:lnTo>
                    <a:pt x="180086" y="455803"/>
                  </a:lnTo>
                  <a:cubicBezTo>
                    <a:pt x="180086" y="465201"/>
                    <a:pt x="172466" y="472694"/>
                    <a:pt x="163195"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163195" y="438912"/>
                  </a:lnTo>
                  <a:lnTo>
                    <a:pt x="163195" y="455803"/>
                  </a:lnTo>
                  <a:lnTo>
                    <a:pt x="146304" y="455803"/>
                  </a:lnTo>
                  <a:lnTo>
                    <a:pt x="146304" y="16891"/>
                  </a:lnTo>
                  <a:lnTo>
                    <a:pt x="163195" y="16891"/>
                  </a:lnTo>
                  <a:lnTo>
                    <a:pt x="163195" y="33909"/>
                  </a:lnTo>
                  <a:lnTo>
                    <a:pt x="16891" y="33909"/>
                  </a:lnTo>
                  <a:close/>
                </a:path>
              </a:pathLst>
            </a:custGeom>
            <a:solidFill>
              <a:srgbClr val="0D9488"/>
            </a:solidFill>
          </p:spPr>
        </p:sp>
      </p:grpSp>
      <p:grpSp>
        <p:nvGrpSpPr>
          <p:cNvPr name="Group 122" id="122"/>
          <p:cNvGrpSpPr/>
          <p:nvPr/>
        </p:nvGrpSpPr>
        <p:grpSpPr>
          <a:xfrm rot="0">
            <a:off x="10241280" y="5779008"/>
            <a:ext cx="7223760" cy="475488"/>
            <a:chOff x="0" y="0"/>
            <a:chExt cx="9631680" cy="633984"/>
          </a:xfrm>
        </p:grpSpPr>
        <p:sp>
          <p:nvSpPr>
            <p:cNvPr name="Freeform 123" id="123"/>
            <p:cNvSpPr/>
            <p:nvPr/>
          </p:nvSpPr>
          <p:spPr>
            <a:xfrm flipH="false" flipV="false" rot="0">
              <a:off x="0" y="0"/>
              <a:ext cx="9631680" cy="633984"/>
            </a:xfrm>
            <a:custGeom>
              <a:avLst/>
              <a:gdLst/>
              <a:ahLst/>
              <a:cxnLst/>
              <a:rect r="r" b="b" t="t" l="l"/>
              <a:pathLst>
                <a:path h="633984" w="9631680">
                  <a:moveTo>
                    <a:pt x="0" y="0"/>
                  </a:moveTo>
                  <a:lnTo>
                    <a:pt x="9631680" y="0"/>
                  </a:lnTo>
                  <a:lnTo>
                    <a:pt x="9631680" y="633984"/>
                  </a:lnTo>
                  <a:lnTo>
                    <a:pt x="0" y="633984"/>
                  </a:lnTo>
                  <a:close/>
                </a:path>
              </a:pathLst>
            </a:custGeom>
            <a:blipFill>
              <a:blip r:embed="rId3">
                <a:alphaModFix amt="0"/>
              </a:blip>
              <a:stretch>
                <a:fillRect l="0" t="-246022" r="0" b="-246022"/>
              </a:stretch>
            </a:blipFill>
          </p:spPr>
        </p:sp>
        <p:sp>
          <p:nvSpPr>
            <p:cNvPr name="TextBox 124" id="124"/>
            <p:cNvSpPr txBox="true"/>
            <p:nvPr/>
          </p:nvSpPr>
          <p:spPr>
            <a:xfrm>
              <a:off x="0" y="-38100"/>
              <a:ext cx="9631680" cy="672084"/>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Lifestyle indicators (where available)</a:t>
              </a:r>
            </a:p>
          </p:txBody>
        </p:sp>
      </p:grpSp>
      <p:grpSp>
        <p:nvGrpSpPr>
          <p:cNvPr name="Group 125" id="125"/>
          <p:cNvGrpSpPr/>
          <p:nvPr/>
        </p:nvGrpSpPr>
        <p:grpSpPr>
          <a:xfrm rot="0">
            <a:off x="9686287" y="6760207"/>
            <a:ext cx="8059417" cy="2902201"/>
            <a:chOff x="0" y="0"/>
            <a:chExt cx="10745889" cy="3869601"/>
          </a:xfrm>
        </p:grpSpPr>
        <p:sp>
          <p:nvSpPr>
            <p:cNvPr name="Freeform 126" id="126"/>
            <p:cNvSpPr/>
            <p:nvPr/>
          </p:nvSpPr>
          <p:spPr>
            <a:xfrm flipH="false" flipV="false" rot="0">
              <a:off x="8509" y="8509"/>
              <a:ext cx="10728960" cy="3852672"/>
            </a:xfrm>
            <a:custGeom>
              <a:avLst/>
              <a:gdLst/>
              <a:ahLst/>
              <a:cxnLst/>
              <a:rect r="r" b="b" t="t" l="l"/>
              <a:pathLst>
                <a:path h="3852672" w="10728960">
                  <a:moveTo>
                    <a:pt x="0" y="0"/>
                  </a:moveTo>
                  <a:lnTo>
                    <a:pt x="10728960" y="0"/>
                  </a:lnTo>
                  <a:lnTo>
                    <a:pt x="10728960" y="3852672"/>
                  </a:lnTo>
                  <a:lnTo>
                    <a:pt x="0" y="3852672"/>
                  </a:lnTo>
                  <a:close/>
                </a:path>
              </a:pathLst>
            </a:custGeom>
            <a:solidFill>
              <a:srgbClr val="0D1F38"/>
            </a:solidFill>
          </p:spPr>
        </p:sp>
        <p:sp>
          <p:nvSpPr>
            <p:cNvPr name="Freeform 127" id="127"/>
            <p:cNvSpPr/>
            <p:nvPr/>
          </p:nvSpPr>
          <p:spPr>
            <a:xfrm flipH="false" flipV="false" rot="0">
              <a:off x="0" y="0"/>
              <a:ext cx="10745978" cy="3869690"/>
            </a:xfrm>
            <a:custGeom>
              <a:avLst/>
              <a:gdLst/>
              <a:ahLst/>
              <a:cxnLst/>
              <a:rect r="r" b="b" t="t" l="l"/>
              <a:pathLst>
                <a:path h="3869690" w="10745978">
                  <a:moveTo>
                    <a:pt x="8509" y="0"/>
                  </a:moveTo>
                  <a:lnTo>
                    <a:pt x="10737469" y="0"/>
                  </a:lnTo>
                  <a:cubicBezTo>
                    <a:pt x="10742168" y="0"/>
                    <a:pt x="10745978" y="3810"/>
                    <a:pt x="10745978" y="8509"/>
                  </a:cubicBezTo>
                  <a:lnTo>
                    <a:pt x="10745978" y="3861181"/>
                  </a:lnTo>
                  <a:cubicBezTo>
                    <a:pt x="10745978" y="3865880"/>
                    <a:pt x="10742168" y="3869690"/>
                    <a:pt x="10737469" y="3869690"/>
                  </a:cubicBezTo>
                  <a:lnTo>
                    <a:pt x="8509" y="3869690"/>
                  </a:lnTo>
                  <a:cubicBezTo>
                    <a:pt x="3810" y="3869690"/>
                    <a:pt x="0" y="3865880"/>
                    <a:pt x="0" y="3861181"/>
                  </a:cubicBezTo>
                  <a:lnTo>
                    <a:pt x="0" y="8509"/>
                  </a:lnTo>
                  <a:cubicBezTo>
                    <a:pt x="0" y="3810"/>
                    <a:pt x="3810" y="0"/>
                    <a:pt x="8509" y="0"/>
                  </a:cubicBezTo>
                  <a:moveTo>
                    <a:pt x="8509" y="16891"/>
                  </a:moveTo>
                  <a:lnTo>
                    <a:pt x="8509" y="8509"/>
                  </a:lnTo>
                  <a:lnTo>
                    <a:pt x="17018" y="8509"/>
                  </a:lnTo>
                  <a:lnTo>
                    <a:pt x="17018" y="3861181"/>
                  </a:lnTo>
                  <a:lnTo>
                    <a:pt x="8509" y="3861181"/>
                  </a:lnTo>
                  <a:lnTo>
                    <a:pt x="8509" y="3852672"/>
                  </a:lnTo>
                  <a:lnTo>
                    <a:pt x="10737469" y="3852672"/>
                  </a:lnTo>
                  <a:lnTo>
                    <a:pt x="10737469" y="3861181"/>
                  </a:lnTo>
                  <a:lnTo>
                    <a:pt x="10728960" y="3861181"/>
                  </a:lnTo>
                  <a:lnTo>
                    <a:pt x="10728960" y="8509"/>
                  </a:lnTo>
                  <a:lnTo>
                    <a:pt x="10737469" y="8509"/>
                  </a:lnTo>
                  <a:lnTo>
                    <a:pt x="10737469" y="17018"/>
                  </a:lnTo>
                  <a:lnTo>
                    <a:pt x="8509" y="17018"/>
                  </a:lnTo>
                  <a:close/>
                </a:path>
              </a:pathLst>
            </a:custGeom>
            <a:solidFill>
              <a:srgbClr val="F59E0B"/>
            </a:solidFill>
          </p:spPr>
        </p:sp>
      </p:grpSp>
      <p:grpSp>
        <p:nvGrpSpPr>
          <p:cNvPr name="Group 128" id="128"/>
          <p:cNvGrpSpPr/>
          <p:nvPr/>
        </p:nvGrpSpPr>
        <p:grpSpPr>
          <a:xfrm rot="0">
            <a:off x="9966960" y="7022592"/>
            <a:ext cx="7498080" cy="548640"/>
            <a:chOff x="0" y="0"/>
            <a:chExt cx="9997440" cy="731520"/>
          </a:xfrm>
        </p:grpSpPr>
        <p:sp>
          <p:nvSpPr>
            <p:cNvPr name="Freeform 129" id="129"/>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sp>
        <p:sp>
          <p:nvSpPr>
            <p:cNvPr name="TextBox 130" id="130"/>
            <p:cNvSpPr txBox="true"/>
            <p:nvPr/>
          </p:nvSpPr>
          <p:spPr>
            <a:xfrm>
              <a:off x="0" y="-47625"/>
              <a:ext cx="9997440" cy="779145"/>
            </a:xfrm>
            <a:prstGeom prst="rect">
              <a:avLst/>
            </a:prstGeom>
          </p:spPr>
          <p:txBody>
            <a:bodyPr anchor="ctr" rtlCol="false" tIns="0" lIns="0" bIns="0" rIns="0"/>
            <a:lstStyle/>
            <a:p>
              <a:pPr algn="l">
                <a:lnSpc>
                  <a:spcPts val="2640"/>
                </a:lnSpc>
              </a:pPr>
              <a:r>
                <a:rPr lang="en-US" sz="2200" b="true">
                  <a:solidFill>
                    <a:srgbClr val="F59E0B"/>
                  </a:solidFill>
                  <a:latin typeface="Calibri (MS) Bold"/>
                  <a:ea typeface="Calibri (MS) Bold"/>
                  <a:cs typeface="Calibri (MS) Bold"/>
                  <a:sym typeface="Calibri (MS) Bold"/>
                </a:rPr>
                <a:t>Data quality &amp; ethics</a:t>
              </a:r>
            </a:p>
          </p:txBody>
        </p:sp>
      </p:grpSp>
      <p:grpSp>
        <p:nvGrpSpPr>
          <p:cNvPr name="Group 131" id="131"/>
          <p:cNvGrpSpPr/>
          <p:nvPr/>
        </p:nvGrpSpPr>
        <p:grpSpPr>
          <a:xfrm rot="0">
            <a:off x="9954263" y="7741415"/>
            <a:ext cx="281435" cy="281435"/>
            <a:chOff x="0" y="0"/>
            <a:chExt cx="375247" cy="375247"/>
          </a:xfrm>
        </p:grpSpPr>
        <p:sp>
          <p:nvSpPr>
            <p:cNvPr name="Freeform 132" id="132"/>
            <p:cNvSpPr/>
            <p:nvPr/>
          </p:nvSpPr>
          <p:spPr>
            <a:xfrm flipH="false" flipV="false" rot="0">
              <a:off x="16891" y="16891"/>
              <a:ext cx="341376" cy="341376"/>
            </a:xfrm>
            <a:custGeom>
              <a:avLst/>
              <a:gdLst/>
              <a:ahLst/>
              <a:cxnLst/>
              <a:rect r="r" b="b" t="t" l="l"/>
              <a:pathLst>
                <a:path h="341376" w="341376">
                  <a:moveTo>
                    <a:pt x="0" y="170688"/>
                  </a:moveTo>
                  <a:cubicBezTo>
                    <a:pt x="0" y="76454"/>
                    <a:pt x="76454" y="0"/>
                    <a:pt x="170688" y="0"/>
                  </a:cubicBezTo>
                  <a:cubicBezTo>
                    <a:pt x="264922" y="0"/>
                    <a:pt x="341376" y="76454"/>
                    <a:pt x="341376" y="170688"/>
                  </a:cubicBezTo>
                  <a:cubicBezTo>
                    <a:pt x="341376" y="264922"/>
                    <a:pt x="265049" y="341376"/>
                    <a:pt x="170688" y="341376"/>
                  </a:cubicBezTo>
                  <a:cubicBezTo>
                    <a:pt x="76327" y="341376"/>
                    <a:pt x="0" y="265049"/>
                    <a:pt x="0" y="170688"/>
                  </a:cubicBezTo>
                  <a:close/>
                </a:path>
              </a:pathLst>
            </a:custGeom>
            <a:solidFill>
              <a:srgbClr val="F59E0B"/>
            </a:solidFill>
          </p:spPr>
        </p:sp>
        <p:sp>
          <p:nvSpPr>
            <p:cNvPr name="Freeform 133" id="133"/>
            <p:cNvSpPr/>
            <p:nvPr/>
          </p:nvSpPr>
          <p:spPr>
            <a:xfrm flipH="false" flipV="false" rot="0">
              <a:off x="0" y="0"/>
              <a:ext cx="375158" cy="375158"/>
            </a:xfrm>
            <a:custGeom>
              <a:avLst/>
              <a:gdLst/>
              <a:ahLst/>
              <a:cxnLst/>
              <a:rect r="r" b="b" t="t" l="l"/>
              <a:pathLst>
                <a:path h="375158" w="375158">
                  <a:moveTo>
                    <a:pt x="0" y="187579"/>
                  </a:moveTo>
                  <a:cubicBezTo>
                    <a:pt x="0" y="83947"/>
                    <a:pt x="83947" y="0"/>
                    <a:pt x="187579" y="0"/>
                  </a:cubicBezTo>
                  <a:lnTo>
                    <a:pt x="187579" y="16891"/>
                  </a:lnTo>
                  <a:lnTo>
                    <a:pt x="187579" y="0"/>
                  </a:lnTo>
                  <a:cubicBezTo>
                    <a:pt x="291211" y="0"/>
                    <a:pt x="375158" y="83947"/>
                    <a:pt x="375158" y="187579"/>
                  </a:cubicBezTo>
                  <a:lnTo>
                    <a:pt x="358267" y="187579"/>
                  </a:lnTo>
                  <a:lnTo>
                    <a:pt x="375158" y="187579"/>
                  </a:lnTo>
                  <a:cubicBezTo>
                    <a:pt x="375158" y="291211"/>
                    <a:pt x="291211" y="375158"/>
                    <a:pt x="187579" y="375158"/>
                  </a:cubicBezTo>
                  <a:lnTo>
                    <a:pt x="187579" y="358267"/>
                  </a:lnTo>
                  <a:lnTo>
                    <a:pt x="187579" y="375158"/>
                  </a:lnTo>
                  <a:cubicBezTo>
                    <a:pt x="83947" y="375285"/>
                    <a:pt x="0" y="291211"/>
                    <a:pt x="0" y="187579"/>
                  </a:cubicBezTo>
                  <a:lnTo>
                    <a:pt x="16891" y="187579"/>
                  </a:lnTo>
                  <a:lnTo>
                    <a:pt x="33909" y="187579"/>
                  </a:lnTo>
                  <a:lnTo>
                    <a:pt x="16891" y="187579"/>
                  </a:lnTo>
                  <a:lnTo>
                    <a:pt x="0" y="187579"/>
                  </a:lnTo>
                  <a:moveTo>
                    <a:pt x="33909" y="187579"/>
                  </a:moveTo>
                  <a:cubicBezTo>
                    <a:pt x="33909" y="196977"/>
                    <a:pt x="26289" y="204470"/>
                    <a:pt x="17018" y="204470"/>
                  </a:cubicBezTo>
                  <a:cubicBezTo>
                    <a:pt x="7747" y="204470"/>
                    <a:pt x="0" y="196977"/>
                    <a:pt x="0" y="187579"/>
                  </a:cubicBezTo>
                  <a:cubicBezTo>
                    <a:pt x="0" y="178181"/>
                    <a:pt x="7620" y="170688"/>
                    <a:pt x="16891" y="170688"/>
                  </a:cubicBezTo>
                  <a:cubicBezTo>
                    <a:pt x="26162" y="170688"/>
                    <a:pt x="33782" y="178308"/>
                    <a:pt x="33782" y="187579"/>
                  </a:cubicBezTo>
                  <a:cubicBezTo>
                    <a:pt x="33782" y="272542"/>
                    <a:pt x="102616" y="341376"/>
                    <a:pt x="187579" y="341376"/>
                  </a:cubicBezTo>
                  <a:cubicBezTo>
                    <a:pt x="272542" y="341376"/>
                    <a:pt x="341376" y="272542"/>
                    <a:pt x="341376" y="187579"/>
                  </a:cubicBezTo>
                  <a:cubicBezTo>
                    <a:pt x="341376" y="102616"/>
                    <a:pt x="272542" y="33782"/>
                    <a:pt x="187579" y="33782"/>
                  </a:cubicBezTo>
                  <a:lnTo>
                    <a:pt x="187579" y="16891"/>
                  </a:lnTo>
                  <a:lnTo>
                    <a:pt x="187579" y="33909"/>
                  </a:lnTo>
                  <a:cubicBezTo>
                    <a:pt x="102743" y="33909"/>
                    <a:pt x="33909" y="102743"/>
                    <a:pt x="33909" y="187579"/>
                  </a:cubicBezTo>
                  <a:close/>
                </a:path>
              </a:pathLst>
            </a:custGeom>
            <a:solidFill>
              <a:srgbClr val="F59E0B"/>
            </a:solidFill>
          </p:spPr>
        </p:sp>
      </p:grpSp>
      <p:grpSp>
        <p:nvGrpSpPr>
          <p:cNvPr name="Group 134" id="134"/>
          <p:cNvGrpSpPr/>
          <p:nvPr/>
        </p:nvGrpSpPr>
        <p:grpSpPr>
          <a:xfrm rot="0">
            <a:off x="10351008" y="7644384"/>
            <a:ext cx="7132320" cy="365760"/>
            <a:chOff x="0" y="0"/>
            <a:chExt cx="9509760" cy="487680"/>
          </a:xfrm>
        </p:grpSpPr>
        <p:sp>
          <p:nvSpPr>
            <p:cNvPr name="Freeform 135" id="135"/>
            <p:cNvSpPr/>
            <p:nvPr/>
          </p:nvSpPr>
          <p:spPr>
            <a:xfrm flipH="false" flipV="false" rot="0">
              <a:off x="0" y="0"/>
              <a:ext cx="9509760" cy="487680"/>
            </a:xfrm>
            <a:custGeom>
              <a:avLst/>
              <a:gdLst/>
              <a:ahLst/>
              <a:cxnLst/>
              <a:rect r="r" b="b" t="t" l="l"/>
              <a:pathLst>
                <a:path h="487680" w="9509760">
                  <a:moveTo>
                    <a:pt x="0" y="0"/>
                  </a:moveTo>
                  <a:lnTo>
                    <a:pt x="9509760" y="0"/>
                  </a:lnTo>
                  <a:lnTo>
                    <a:pt x="9509760" y="487680"/>
                  </a:lnTo>
                  <a:lnTo>
                    <a:pt x="0" y="487680"/>
                  </a:lnTo>
                  <a:close/>
                </a:path>
              </a:pathLst>
            </a:custGeom>
            <a:blipFill>
              <a:blip r:embed="rId3">
                <a:alphaModFix amt="0"/>
              </a:blip>
              <a:stretch>
                <a:fillRect l="0" t="-329958" r="0" b="-329958"/>
              </a:stretch>
            </a:blipFill>
          </p:spPr>
        </p:sp>
        <p:sp>
          <p:nvSpPr>
            <p:cNvPr name="TextBox 136" id="136"/>
            <p:cNvSpPr txBox="true"/>
            <p:nvPr/>
          </p:nvSpPr>
          <p:spPr>
            <a:xfrm>
              <a:off x="0" y="-38100"/>
              <a:ext cx="9509760" cy="52578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Missing values handled via imputation &amp; median fill</a:t>
              </a:r>
            </a:p>
          </p:txBody>
        </p:sp>
      </p:grpSp>
      <p:grpSp>
        <p:nvGrpSpPr>
          <p:cNvPr name="Group 137" id="137"/>
          <p:cNvGrpSpPr/>
          <p:nvPr/>
        </p:nvGrpSpPr>
        <p:grpSpPr>
          <a:xfrm rot="0">
            <a:off x="9954263" y="8143751"/>
            <a:ext cx="281435" cy="281435"/>
            <a:chOff x="0" y="0"/>
            <a:chExt cx="375247" cy="375247"/>
          </a:xfrm>
        </p:grpSpPr>
        <p:sp>
          <p:nvSpPr>
            <p:cNvPr name="Freeform 138" id="138"/>
            <p:cNvSpPr/>
            <p:nvPr/>
          </p:nvSpPr>
          <p:spPr>
            <a:xfrm flipH="false" flipV="false" rot="0">
              <a:off x="16891" y="16891"/>
              <a:ext cx="341376" cy="341376"/>
            </a:xfrm>
            <a:custGeom>
              <a:avLst/>
              <a:gdLst/>
              <a:ahLst/>
              <a:cxnLst/>
              <a:rect r="r" b="b" t="t" l="l"/>
              <a:pathLst>
                <a:path h="341376" w="341376">
                  <a:moveTo>
                    <a:pt x="0" y="170688"/>
                  </a:moveTo>
                  <a:cubicBezTo>
                    <a:pt x="0" y="76454"/>
                    <a:pt x="76454" y="0"/>
                    <a:pt x="170688" y="0"/>
                  </a:cubicBezTo>
                  <a:cubicBezTo>
                    <a:pt x="264922" y="0"/>
                    <a:pt x="341376" y="76454"/>
                    <a:pt x="341376" y="170688"/>
                  </a:cubicBezTo>
                  <a:cubicBezTo>
                    <a:pt x="341376" y="264922"/>
                    <a:pt x="265049" y="341376"/>
                    <a:pt x="170688" y="341376"/>
                  </a:cubicBezTo>
                  <a:cubicBezTo>
                    <a:pt x="76327" y="341376"/>
                    <a:pt x="0" y="265049"/>
                    <a:pt x="0" y="170688"/>
                  </a:cubicBezTo>
                  <a:close/>
                </a:path>
              </a:pathLst>
            </a:custGeom>
            <a:solidFill>
              <a:srgbClr val="F59E0B"/>
            </a:solidFill>
          </p:spPr>
        </p:sp>
        <p:sp>
          <p:nvSpPr>
            <p:cNvPr name="Freeform 139" id="139"/>
            <p:cNvSpPr/>
            <p:nvPr/>
          </p:nvSpPr>
          <p:spPr>
            <a:xfrm flipH="false" flipV="false" rot="0">
              <a:off x="0" y="0"/>
              <a:ext cx="375158" cy="375158"/>
            </a:xfrm>
            <a:custGeom>
              <a:avLst/>
              <a:gdLst/>
              <a:ahLst/>
              <a:cxnLst/>
              <a:rect r="r" b="b" t="t" l="l"/>
              <a:pathLst>
                <a:path h="375158" w="375158">
                  <a:moveTo>
                    <a:pt x="0" y="187579"/>
                  </a:moveTo>
                  <a:cubicBezTo>
                    <a:pt x="0" y="83947"/>
                    <a:pt x="83947" y="0"/>
                    <a:pt x="187579" y="0"/>
                  </a:cubicBezTo>
                  <a:lnTo>
                    <a:pt x="187579" y="16891"/>
                  </a:lnTo>
                  <a:lnTo>
                    <a:pt x="187579" y="0"/>
                  </a:lnTo>
                  <a:cubicBezTo>
                    <a:pt x="291211" y="0"/>
                    <a:pt x="375158" y="83947"/>
                    <a:pt x="375158" y="187579"/>
                  </a:cubicBezTo>
                  <a:lnTo>
                    <a:pt x="358267" y="187579"/>
                  </a:lnTo>
                  <a:lnTo>
                    <a:pt x="375158" y="187579"/>
                  </a:lnTo>
                  <a:cubicBezTo>
                    <a:pt x="375158" y="291211"/>
                    <a:pt x="291211" y="375158"/>
                    <a:pt x="187579" y="375158"/>
                  </a:cubicBezTo>
                  <a:lnTo>
                    <a:pt x="187579" y="358267"/>
                  </a:lnTo>
                  <a:lnTo>
                    <a:pt x="187579" y="375158"/>
                  </a:lnTo>
                  <a:cubicBezTo>
                    <a:pt x="83947" y="375285"/>
                    <a:pt x="0" y="291211"/>
                    <a:pt x="0" y="187579"/>
                  </a:cubicBezTo>
                  <a:lnTo>
                    <a:pt x="16891" y="187579"/>
                  </a:lnTo>
                  <a:lnTo>
                    <a:pt x="33909" y="187579"/>
                  </a:lnTo>
                  <a:lnTo>
                    <a:pt x="16891" y="187579"/>
                  </a:lnTo>
                  <a:lnTo>
                    <a:pt x="0" y="187579"/>
                  </a:lnTo>
                  <a:moveTo>
                    <a:pt x="33909" y="187579"/>
                  </a:moveTo>
                  <a:cubicBezTo>
                    <a:pt x="33909" y="196977"/>
                    <a:pt x="26289" y="204470"/>
                    <a:pt x="17018" y="204470"/>
                  </a:cubicBezTo>
                  <a:cubicBezTo>
                    <a:pt x="7747" y="204470"/>
                    <a:pt x="0" y="196977"/>
                    <a:pt x="0" y="187579"/>
                  </a:cubicBezTo>
                  <a:cubicBezTo>
                    <a:pt x="0" y="178181"/>
                    <a:pt x="7620" y="170688"/>
                    <a:pt x="16891" y="170688"/>
                  </a:cubicBezTo>
                  <a:cubicBezTo>
                    <a:pt x="26162" y="170688"/>
                    <a:pt x="33782" y="178308"/>
                    <a:pt x="33782" y="187579"/>
                  </a:cubicBezTo>
                  <a:cubicBezTo>
                    <a:pt x="33782" y="272542"/>
                    <a:pt x="102616" y="341376"/>
                    <a:pt x="187579" y="341376"/>
                  </a:cubicBezTo>
                  <a:cubicBezTo>
                    <a:pt x="272542" y="341376"/>
                    <a:pt x="341376" y="272542"/>
                    <a:pt x="341376" y="187579"/>
                  </a:cubicBezTo>
                  <a:cubicBezTo>
                    <a:pt x="341376" y="102616"/>
                    <a:pt x="272542" y="33782"/>
                    <a:pt x="187579" y="33782"/>
                  </a:cubicBezTo>
                  <a:lnTo>
                    <a:pt x="187579" y="16891"/>
                  </a:lnTo>
                  <a:lnTo>
                    <a:pt x="187579" y="33909"/>
                  </a:lnTo>
                  <a:cubicBezTo>
                    <a:pt x="102743" y="33909"/>
                    <a:pt x="33909" y="102743"/>
                    <a:pt x="33909" y="187579"/>
                  </a:cubicBezTo>
                  <a:close/>
                </a:path>
              </a:pathLst>
            </a:custGeom>
            <a:solidFill>
              <a:srgbClr val="F59E0B"/>
            </a:solidFill>
          </p:spPr>
        </p:sp>
      </p:grpSp>
      <p:grpSp>
        <p:nvGrpSpPr>
          <p:cNvPr name="Group 140" id="140"/>
          <p:cNvGrpSpPr/>
          <p:nvPr/>
        </p:nvGrpSpPr>
        <p:grpSpPr>
          <a:xfrm rot="0">
            <a:off x="10351008" y="8046720"/>
            <a:ext cx="7132320" cy="365760"/>
            <a:chOff x="0" y="0"/>
            <a:chExt cx="9509760" cy="487680"/>
          </a:xfrm>
        </p:grpSpPr>
        <p:sp>
          <p:nvSpPr>
            <p:cNvPr name="Freeform 141" id="141"/>
            <p:cNvSpPr/>
            <p:nvPr/>
          </p:nvSpPr>
          <p:spPr>
            <a:xfrm flipH="false" flipV="false" rot="0">
              <a:off x="0" y="0"/>
              <a:ext cx="9509760" cy="487680"/>
            </a:xfrm>
            <a:custGeom>
              <a:avLst/>
              <a:gdLst/>
              <a:ahLst/>
              <a:cxnLst/>
              <a:rect r="r" b="b" t="t" l="l"/>
              <a:pathLst>
                <a:path h="487680" w="9509760">
                  <a:moveTo>
                    <a:pt x="0" y="0"/>
                  </a:moveTo>
                  <a:lnTo>
                    <a:pt x="9509760" y="0"/>
                  </a:lnTo>
                  <a:lnTo>
                    <a:pt x="9509760" y="487680"/>
                  </a:lnTo>
                  <a:lnTo>
                    <a:pt x="0" y="487680"/>
                  </a:lnTo>
                  <a:close/>
                </a:path>
              </a:pathLst>
            </a:custGeom>
            <a:blipFill>
              <a:blip r:embed="rId3">
                <a:alphaModFix amt="0"/>
              </a:blip>
              <a:stretch>
                <a:fillRect l="0" t="-329958" r="0" b="-329958"/>
              </a:stretch>
            </a:blipFill>
          </p:spPr>
        </p:sp>
        <p:sp>
          <p:nvSpPr>
            <p:cNvPr name="TextBox 142" id="142"/>
            <p:cNvSpPr txBox="true"/>
            <p:nvPr/>
          </p:nvSpPr>
          <p:spPr>
            <a:xfrm>
              <a:off x="0" y="-38100"/>
              <a:ext cx="9509760" cy="52578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Class imbalance addressed with SMOTE oversampling</a:t>
              </a:r>
            </a:p>
          </p:txBody>
        </p:sp>
      </p:grpSp>
      <p:grpSp>
        <p:nvGrpSpPr>
          <p:cNvPr name="Group 143" id="143"/>
          <p:cNvGrpSpPr/>
          <p:nvPr/>
        </p:nvGrpSpPr>
        <p:grpSpPr>
          <a:xfrm rot="0">
            <a:off x="9954263" y="8546087"/>
            <a:ext cx="281435" cy="281435"/>
            <a:chOff x="0" y="0"/>
            <a:chExt cx="375247" cy="375247"/>
          </a:xfrm>
        </p:grpSpPr>
        <p:sp>
          <p:nvSpPr>
            <p:cNvPr name="Freeform 144" id="144"/>
            <p:cNvSpPr/>
            <p:nvPr/>
          </p:nvSpPr>
          <p:spPr>
            <a:xfrm flipH="false" flipV="false" rot="0">
              <a:off x="16891" y="16891"/>
              <a:ext cx="341376" cy="341376"/>
            </a:xfrm>
            <a:custGeom>
              <a:avLst/>
              <a:gdLst/>
              <a:ahLst/>
              <a:cxnLst/>
              <a:rect r="r" b="b" t="t" l="l"/>
              <a:pathLst>
                <a:path h="341376" w="341376">
                  <a:moveTo>
                    <a:pt x="0" y="170688"/>
                  </a:moveTo>
                  <a:cubicBezTo>
                    <a:pt x="0" y="76454"/>
                    <a:pt x="76454" y="0"/>
                    <a:pt x="170688" y="0"/>
                  </a:cubicBezTo>
                  <a:cubicBezTo>
                    <a:pt x="264922" y="0"/>
                    <a:pt x="341376" y="76454"/>
                    <a:pt x="341376" y="170688"/>
                  </a:cubicBezTo>
                  <a:cubicBezTo>
                    <a:pt x="341376" y="264922"/>
                    <a:pt x="265049" y="341376"/>
                    <a:pt x="170688" y="341376"/>
                  </a:cubicBezTo>
                  <a:cubicBezTo>
                    <a:pt x="76327" y="341376"/>
                    <a:pt x="0" y="265049"/>
                    <a:pt x="0" y="170688"/>
                  </a:cubicBezTo>
                  <a:close/>
                </a:path>
              </a:pathLst>
            </a:custGeom>
            <a:solidFill>
              <a:srgbClr val="F59E0B"/>
            </a:solidFill>
          </p:spPr>
        </p:sp>
        <p:sp>
          <p:nvSpPr>
            <p:cNvPr name="Freeform 145" id="145"/>
            <p:cNvSpPr/>
            <p:nvPr/>
          </p:nvSpPr>
          <p:spPr>
            <a:xfrm flipH="false" flipV="false" rot="0">
              <a:off x="0" y="0"/>
              <a:ext cx="375158" cy="375158"/>
            </a:xfrm>
            <a:custGeom>
              <a:avLst/>
              <a:gdLst/>
              <a:ahLst/>
              <a:cxnLst/>
              <a:rect r="r" b="b" t="t" l="l"/>
              <a:pathLst>
                <a:path h="375158" w="375158">
                  <a:moveTo>
                    <a:pt x="0" y="187579"/>
                  </a:moveTo>
                  <a:cubicBezTo>
                    <a:pt x="0" y="83947"/>
                    <a:pt x="83947" y="0"/>
                    <a:pt x="187579" y="0"/>
                  </a:cubicBezTo>
                  <a:lnTo>
                    <a:pt x="187579" y="16891"/>
                  </a:lnTo>
                  <a:lnTo>
                    <a:pt x="187579" y="0"/>
                  </a:lnTo>
                  <a:cubicBezTo>
                    <a:pt x="291211" y="0"/>
                    <a:pt x="375158" y="83947"/>
                    <a:pt x="375158" y="187579"/>
                  </a:cubicBezTo>
                  <a:lnTo>
                    <a:pt x="358267" y="187579"/>
                  </a:lnTo>
                  <a:lnTo>
                    <a:pt x="375158" y="187579"/>
                  </a:lnTo>
                  <a:cubicBezTo>
                    <a:pt x="375158" y="291211"/>
                    <a:pt x="291211" y="375158"/>
                    <a:pt x="187579" y="375158"/>
                  </a:cubicBezTo>
                  <a:lnTo>
                    <a:pt x="187579" y="358267"/>
                  </a:lnTo>
                  <a:lnTo>
                    <a:pt x="187579" y="375158"/>
                  </a:lnTo>
                  <a:cubicBezTo>
                    <a:pt x="83947" y="375285"/>
                    <a:pt x="0" y="291211"/>
                    <a:pt x="0" y="187579"/>
                  </a:cubicBezTo>
                  <a:lnTo>
                    <a:pt x="16891" y="187579"/>
                  </a:lnTo>
                  <a:lnTo>
                    <a:pt x="33909" y="187579"/>
                  </a:lnTo>
                  <a:lnTo>
                    <a:pt x="16891" y="187579"/>
                  </a:lnTo>
                  <a:lnTo>
                    <a:pt x="0" y="187579"/>
                  </a:lnTo>
                  <a:moveTo>
                    <a:pt x="33909" y="187579"/>
                  </a:moveTo>
                  <a:cubicBezTo>
                    <a:pt x="33909" y="196977"/>
                    <a:pt x="26289" y="204470"/>
                    <a:pt x="17018" y="204470"/>
                  </a:cubicBezTo>
                  <a:cubicBezTo>
                    <a:pt x="7747" y="204470"/>
                    <a:pt x="0" y="196977"/>
                    <a:pt x="0" y="187579"/>
                  </a:cubicBezTo>
                  <a:cubicBezTo>
                    <a:pt x="0" y="178181"/>
                    <a:pt x="7620" y="170688"/>
                    <a:pt x="16891" y="170688"/>
                  </a:cubicBezTo>
                  <a:cubicBezTo>
                    <a:pt x="26162" y="170688"/>
                    <a:pt x="33782" y="178308"/>
                    <a:pt x="33782" y="187579"/>
                  </a:cubicBezTo>
                  <a:cubicBezTo>
                    <a:pt x="33782" y="272542"/>
                    <a:pt x="102616" y="341376"/>
                    <a:pt x="187579" y="341376"/>
                  </a:cubicBezTo>
                  <a:cubicBezTo>
                    <a:pt x="272542" y="341376"/>
                    <a:pt x="341376" y="272542"/>
                    <a:pt x="341376" y="187579"/>
                  </a:cubicBezTo>
                  <a:cubicBezTo>
                    <a:pt x="341376" y="102616"/>
                    <a:pt x="272542" y="33782"/>
                    <a:pt x="187579" y="33782"/>
                  </a:cubicBezTo>
                  <a:lnTo>
                    <a:pt x="187579" y="16891"/>
                  </a:lnTo>
                  <a:lnTo>
                    <a:pt x="187579" y="33909"/>
                  </a:lnTo>
                  <a:cubicBezTo>
                    <a:pt x="102743" y="33909"/>
                    <a:pt x="33909" y="102743"/>
                    <a:pt x="33909" y="187579"/>
                  </a:cubicBezTo>
                  <a:close/>
                </a:path>
              </a:pathLst>
            </a:custGeom>
            <a:solidFill>
              <a:srgbClr val="F59E0B"/>
            </a:solidFill>
          </p:spPr>
        </p:sp>
      </p:grpSp>
      <p:grpSp>
        <p:nvGrpSpPr>
          <p:cNvPr name="Group 146" id="146"/>
          <p:cNvGrpSpPr/>
          <p:nvPr/>
        </p:nvGrpSpPr>
        <p:grpSpPr>
          <a:xfrm rot="0">
            <a:off x="10351008" y="8449056"/>
            <a:ext cx="7132320" cy="365760"/>
            <a:chOff x="0" y="0"/>
            <a:chExt cx="9509760" cy="487680"/>
          </a:xfrm>
        </p:grpSpPr>
        <p:sp>
          <p:nvSpPr>
            <p:cNvPr name="Freeform 147" id="147"/>
            <p:cNvSpPr/>
            <p:nvPr/>
          </p:nvSpPr>
          <p:spPr>
            <a:xfrm flipH="false" flipV="false" rot="0">
              <a:off x="0" y="0"/>
              <a:ext cx="9509760" cy="487680"/>
            </a:xfrm>
            <a:custGeom>
              <a:avLst/>
              <a:gdLst/>
              <a:ahLst/>
              <a:cxnLst/>
              <a:rect r="r" b="b" t="t" l="l"/>
              <a:pathLst>
                <a:path h="487680" w="9509760">
                  <a:moveTo>
                    <a:pt x="0" y="0"/>
                  </a:moveTo>
                  <a:lnTo>
                    <a:pt x="9509760" y="0"/>
                  </a:lnTo>
                  <a:lnTo>
                    <a:pt x="9509760" y="487680"/>
                  </a:lnTo>
                  <a:lnTo>
                    <a:pt x="0" y="487680"/>
                  </a:lnTo>
                  <a:close/>
                </a:path>
              </a:pathLst>
            </a:custGeom>
            <a:blipFill>
              <a:blip r:embed="rId3">
                <a:alphaModFix amt="0"/>
              </a:blip>
              <a:stretch>
                <a:fillRect l="0" t="-329958" r="0" b="-329958"/>
              </a:stretch>
            </a:blipFill>
          </p:spPr>
        </p:sp>
        <p:sp>
          <p:nvSpPr>
            <p:cNvPr name="TextBox 148" id="148"/>
            <p:cNvSpPr txBox="true"/>
            <p:nvPr/>
          </p:nvSpPr>
          <p:spPr>
            <a:xfrm>
              <a:off x="0" y="-38100"/>
              <a:ext cx="9509760" cy="52578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All records anonymized — no identifiable info stored</a:t>
              </a:r>
            </a:p>
          </p:txBody>
        </p:sp>
      </p:grpSp>
      <p:grpSp>
        <p:nvGrpSpPr>
          <p:cNvPr name="Group 149" id="149"/>
          <p:cNvGrpSpPr/>
          <p:nvPr/>
        </p:nvGrpSpPr>
        <p:grpSpPr>
          <a:xfrm rot="0">
            <a:off x="9954263" y="8948423"/>
            <a:ext cx="281435" cy="281435"/>
            <a:chOff x="0" y="0"/>
            <a:chExt cx="375247" cy="375247"/>
          </a:xfrm>
        </p:grpSpPr>
        <p:sp>
          <p:nvSpPr>
            <p:cNvPr name="Freeform 150" id="150"/>
            <p:cNvSpPr/>
            <p:nvPr/>
          </p:nvSpPr>
          <p:spPr>
            <a:xfrm flipH="false" flipV="false" rot="0">
              <a:off x="16891" y="16891"/>
              <a:ext cx="341376" cy="341376"/>
            </a:xfrm>
            <a:custGeom>
              <a:avLst/>
              <a:gdLst/>
              <a:ahLst/>
              <a:cxnLst/>
              <a:rect r="r" b="b" t="t" l="l"/>
              <a:pathLst>
                <a:path h="341376" w="341376">
                  <a:moveTo>
                    <a:pt x="0" y="170688"/>
                  </a:moveTo>
                  <a:cubicBezTo>
                    <a:pt x="0" y="76454"/>
                    <a:pt x="76454" y="0"/>
                    <a:pt x="170688" y="0"/>
                  </a:cubicBezTo>
                  <a:cubicBezTo>
                    <a:pt x="264922" y="0"/>
                    <a:pt x="341376" y="76454"/>
                    <a:pt x="341376" y="170688"/>
                  </a:cubicBezTo>
                  <a:cubicBezTo>
                    <a:pt x="341376" y="264922"/>
                    <a:pt x="265049" y="341376"/>
                    <a:pt x="170688" y="341376"/>
                  </a:cubicBezTo>
                  <a:cubicBezTo>
                    <a:pt x="76327" y="341376"/>
                    <a:pt x="0" y="265049"/>
                    <a:pt x="0" y="170688"/>
                  </a:cubicBezTo>
                  <a:close/>
                </a:path>
              </a:pathLst>
            </a:custGeom>
            <a:solidFill>
              <a:srgbClr val="F59E0B"/>
            </a:solidFill>
          </p:spPr>
        </p:sp>
        <p:sp>
          <p:nvSpPr>
            <p:cNvPr name="Freeform 151" id="151"/>
            <p:cNvSpPr/>
            <p:nvPr/>
          </p:nvSpPr>
          <p:spPr>
            <a:xfrm flipH="false" flipV="false" rot="0">
              <a:off x="0" y="0"/>
              <a:ext cx="375158" cy="375158"/>
            </a:xfrm>
            <a:custGeom>
              <a:avLst/>
              <a:gdLst/>
              <a:ahLst/>
              <a:cxnLst/>
              <a:rect r="r" b="b" t="t" l="l"/>
              <a:pathLst>
                <a:path h="375158" w="375158">
                  <a:moveTo>
                    <a:pt x="0" y="187579"/>
                  </a:moveTo>
                  <a:cubicBezTo>
                    <a:pt x="0" y="83947"/>
                    <a:pt x="83947" y="0"/>
                    <a:pt x="187579" y="0"/>
                  </a:cubicBezTo>
                  <a:lnTo>
                    <a:pt x="187579" y="16891"/>
                  </a:lnTo>
                  <a:lnTo>
                    <a:pt x="187579" y="0"/>
                  </a:lnTo>
                  <a:cubicBezTo>
                    <a:pt x="291211" y="0"/>
                    <a:pt x="375158" y="83947"/>
                    <a:pt x="375158" y="187579"/>
                  </a:cubicBezTo>
                  <a:lnTo>
                    <a:pt x="358267" y="187579"/>
                  </a:lnTo>
                  <a:lnTo>
                    <a:pt x="375158" y="187579"/>
                  </a:lnTo>
                  <a:cubicBezTo>
                    <a:pt x="375158" y="291211"/>
                    <a:pt x="291211" y="375158"/>
                    <a:pt x="187579" y="375158"/>
                  </a:cubicBezTo>
                  <a:lnTo>
                    <a:pt x="187579" y="358267"/>
                  </a:lnTo>
                  <a:lnTo>
                    <a:pt x="187579" y="375158"/>
                  </a:lnTo>
                  <a:cubicBezTo>
                    <a:pt x="83947" y="375285"/>
                    <a:pt x="0" y="291211"/>
                    <a:pt x="0" y="187579"/>
                  </a:cubicBezTo>
                  <a:lnTo>
                    <a:pt x="16891" y="187579"/>
                  </a:lnTo>
                  <a:lnTo>
                    <a:pt x="33909" y="187579"/>
                  </a:lnTo>
                  <a:lnTo>
                    <a:pt x="16891" y="187579"/>
                  </a:lnTo>
                  <a:lnTo>
                    <a:pt x="0" y="187579"/>
                  </a:lnTo>
                  <a:moveTo>
                    <a:pt x="33909" y="187579"/>
                  </a:moveTo>
                  <a:cubicBezTo>
                    <a:pt x="33909" y="196977"/>
                    <a:pt x="26289" y="204470"/>
                    <a:pt x="17018" y="204470"/>
                  </a:cubicBezTo>
                  <a:cubicBezTo>
                    <a:pt x="7747" y="204470"/>
                    <a:pt x="0" y="196977"/>
                    <a:pt x="0" y="187579"/>
                  </a:cubicBezTo>
                  <a:cubicBezTo>
                    <a:pt x="0" y="178181"/>
                    <a:pt x="7620" y="170688"/>
                    <a:pt x="16891" y="170688"/>
                  </a:cubicBezTo>
                  <a:cubicBezTo>
                    <a:pt x="26162" y="170688"/>
                    <a:pt x="33782" y="178308"/>
                    <a:pt x="33782" y="187579"/>
                  </a:cubicBezTo>
                  <a:cubicBezTo>
                    <a:pt x="33782" y="272542"/>
                    <a:pt x="102616" y="341376"/>
                    <a:pt x="187579" y="341376"/>
                  </a:cubicBezTo>
                  <a:cubicBezTo>
                    <a:pt x="272542" y="341376"/>
                    <a:pt x="341376" y="272542"/>
                    <a:pt x="341376" y="187579"/>
                  </a:cubicBezTo>
                  <a:cubicBezTo>
                    <a:pt x="341376" y="102616"/>
                    <a:pt x="272542" y="33782"/>
                    <a:pt x="187579" y="33782"/>
                  </a:cubicBezTo>
                  <a:lnTo>
                    <a:pt x="187579" y="16891"/>
                  </a:lnTo>
                  <a:lnTo>
                    <a:pt x="187579" y="33909"/>
                  </a:lnTo>
                  <a:cubicBezTo>
                    <a:pt x="102743" y="33909"/>
                    <a:pt x="33909" y="102743"/>
                    <a:pt x="33909" y="187579"/>
                  </a:cubicBezTo>
                  <a:close/>
                </a:path>
              </a:pathLst>
            </a:custGeom>
            <a:solidFill>
              <a:srgbClr val="F59E0B"/>
            </a:solidFill>
          </p:spPr>
        </p:sp>
      </p:grpSp>
      <p:grpSp>
        <p:nvGrpSpPr>
          <p:cNvPr name="Group 152" id="152"/>
          <p:cNvGrpSpPr/>
          <p:nvPr/>
        </p:nvGrpSpPr>
        <p:grpSpPr>
          <a:xfrm rot="0">
            <a:off x="10351008" y="8851392"/>
            <a:ext cx="7132320" cy="365760"/>
            <a:chOff x="0" y="0"/>
            <a:chExt cx="9509760" cy="487680"/>
          </a:xfrm>
        </p:grpSpPr>
        <p:sp>
          <p:nvSpPr>
            <p:cNvPr name="Freeform 153" id="153"/>
            <p:cNvSpPr/>
            <p:nvPr/>
          </p:nvSpPr>
          <p:spPr>
            <a:xfrm flipH="false" flipV="false" rot="0">
              <a:off x="0" y="0"/>
              <a:ext cx="9509760" cy="487680"/>
            </a:xfrm>
            <a:custGeom>
              <a:avLst/>
              <a:gdLst/>
              <a:ahLst/>
              <a:cxnLst/>
              <a:rect r="r" b="b" t="t" l="l"/>
              <a:pathLst>
                <a:path h="487680" w="9509760">
                  <a:moveTo>
                    <a:pt x="0" y="0"/>
                  </a:moveTo>
                  <a:lnTo>
                    <a:pt x="9509760" y="0"/>
                  </a:lnTo>
                  <a:lnTo>
                    <a:pt x="9509760" y="487680"/>
                  </a:lnTo>
                  <a:lnTo>
                    <a:pt x="0" y="487680"/>
                  </a:lnTo>
                  <a:close/>
                </a:path>
              </a:pathLst>
            </a:custGeom>
            <a:blipFill>
              <a:blip r:embed="rId3">
                <a:alphaModFix amt="0"/>
              </a:blip>
              <a:stretch>
                <a:fillRect l="0" t="-329958" r="0" b="-329958"/>
              </a:stretch>
            </a:blipFill>
          </p:spPr>
        </p:sp>
        <p:sp>
          <p:nvSpPr>
            <p:cNvPr name="TextBox 154" id="154"/>
            <p:cNvSpPr txBox="true"/>
            <p:nvPr/>
          </p:nvSpPr>
          <p:spPr>
            <a:xfrm>
              <a:off x="0" y="-38100"/>
              <a:ext cx="9509760" cy="52578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HIPAA &amp; GDPR principles applied from day one</a:t>
              </a:r>
            </a:p>
          </p:txBody>
        </p:sp>
      </p:grpSp>
      <p:grpSp>
        <p:nvGrpSpPr>
          <p:cNvPr name="Group 155" id="155"/>
          <p:cNvGrpSpPr/>
          <p:nvPr/>
        </p:nvGrpSpPr>
        <p:grpSpPr>
          <a:xfrm rot="0">
            <a:off x="9954263" y="9350759"/>
            <a:ext cx="281435" cy="281435"/>
            <a:chOff x="0" y="0"/>
            <a:chExt cx="375247" cy="375247"/>
          </a:xfrm>
        </p:grpSpPr>
        <p:sp>
          <p:nvSpPr>
            <p:cNvPr name="Freeform 156" id="156"/>
            <p:cNvSpPr/>
            <p:nvPr/>
          </p:nvSpPr>
          <p:spPr>
            <a:xfrm flipH="false" flipV="false" rot="0">
              <a:off x="16891" y="16891"/>
              <a:ext cx="341376" cy="341376"/>
            </a:xfrm>
            <a:custGeom>
              <a:avLst/>
              <a:gdLst/>
              <a:ahLst/>
              <a:cxnLst/>
              <a:rect r="r" b="b" t="t" l="l"/>
              <a:pathLst>
                <a:path h="341376" w="341376">
                  <a:moveTo>
                    <a:pt x="0" y="170688"/>
                  </a:moveTo>
                  <a:cubicBezTo>
                    <a:pt x="0" y="76454"/>
                    <a:pt x="76454" y="0"/>
                    <a:pt x="170688" y="0"/>
                  </a:cubicBezTo>
                  <a:cubicBezTo>
                    <a:pt x="264922" y="0"/>
                    <a:pt x="341376" y="76454"/>
                    <a:pt x="341376" y="170688"/>
                  </a:cubicBezTo>
                  <a:cubicBezTo>
                    <a:pt x="341376" y="264922"/>
                    <a:pt x="265049" y="341376"/>
                    <a:pt x="170688" y="341376"/>
                  </a:cubicBezTo>
                  <a:cubicBezTo>
                    <a:pt x="76327" y="341376"/>
                    <a:pt x="0" y="265049"/>
                    <a:pt x="0" y="170688"/>
                  </a:cubicBezTo>
                  <a:close/>
                </a:path>
              </a:pathLst>
            </a:custGeom>
            <a:solidFill>
              <a:srgbClr val="F59E0B"/>
            </a:solidFill>
          </p:spPr>
        </p:sp>
        <p:sp>
          <p:nvSpPr>
            <p:cNvPr name="Freeform 157" id="157"/>
            <p:cNvSpPr/>
            <p:nvPr/>
          </p:nvSpPr>
          <p:spPr>
            <a:xfrm flipH="false" flipV="false" rot="0">
              <a:off x="0" y="0"/>
              <a:ext cx="375158" cy="375158"/>
            </a:xfrm>
            <a:custGeom>
              <a:avLst/>
              <a:gdLst/>
              <a:ahLst/>
              <a:cxnLst/>
              <a:rect r="r" b="b" t="t" l="l"/>
              <a:pathLst>
                <a:path h="375158" w="375158">
                  <a:moveTo>
                    <a:pt x="0" y="187579"/>
                  </a:moveTo>
                  <a:cubicBezTo>
                    <a:pt x="0" y="83947"/>
                    <a:pt x="83947" y="0"/>
                    <a:pt x="187579" y="0"/>
                  </a:cubicBezTo>
                  <a:lnTo>
                    <a:pt x="187579" y="16891"/>
                  </a:lnTo>
                  <a:lnTo>
                    <a:pt x="187579" y="0"/>
                  </a:lnTo>
                  <a:cubicBezTo>
                    <a:pt x="291211" y="0"/>
                    <a:pt x="375158" y="83947"/>
                    <a:pt x="375158" y="187579"/>
                  </a:cubicBezTo>
                  <a:lnTo>
                    <a:pt x="358267" y="187579"/>
                  </a:lnTo>
                  <a:lnTo>
                    <a:pt x="375158" y="187579"/>
                  </a:lnTo>
                  <a:cubicBezTo>
                    <a:pt x="375158" y="291211"/>
                    <a:pt x="291211" y="375158"/>
                    <a:pt x="187579" y="375158"/>
                  </a:cubicBezTo>
                  <a:lnTo>
                    <a:pt x="187579" y="358267"/>
                  </a:lnTo>
                  <a:lnTo>
                    <a:pt x="187579" y="375158"/>
                  </a:lnTo>
                  <a:cubicBezTo>
                    <a:pt x="83947" y="375285"/>
                    <a:pt x="0" y="291211"/>
                    <a:pt x="0" y="187579"/>
                  </a:cubicBezTo>
                  <a:lnTo>
                    <a:pt x="16891" y="187579"/>
                  </a:lnTo>
                  <a:lnTo>
                    <a:pt x="33909" y="187579"/>
                  </a:lnTo>
                  <a:lnTo>
                    <a:pt x="16891" y="187579"/>
                  </a:lnTo>
                  <a:lnTo>
                    <a:pt x="0" y="187579"/>
                  </a:lnTo>
                  <a:moveTo>
                    <a:pt x="33909" y="187579"/>
                  </a:moveTo>
                  <a:cubicBezTo>
                    <a:pt x="33909" y="196977"/>
                    <a:pt x="26289" y="204470"/>
                    <a:pt x="17018" y="204470"/>
                  </a:cubicBezTo>
                  <a:cubicBezTo>
                    <a:pt x="7747" y="204470"/>
                    <a:pt x="0" y="196977"/>
                    <a:pt x="0" y="187579"/>
                  </a:cubicBezTo>
                  <a:cubicBezTo>
                    <a:pt x="0" y="178181"/>
                    <a:pt x="7620" y="170688"/>
                    <a:pt x="16891" y="170688"/>
                  </a:cubicBezTo>
                  <a:cubicBezTo>
                    <a:pt x="26162" y="170688"/>
                    <a:pt x="33782" y="178308"/>
                    <a:pt x="33782" y="187579"/>
                  </a:cubicBezTo>
                  <a:cubicBezTo>
                    <a:pt x="33782" y="272542"/>
                    <a:pt x="102616" y="341376"/>
                    <a:pt x="187579" y="341376"/>
                  </a:cubicBezTo>
                  <a:cubicBezTo>
                    <a:pt x="272542" y="341376"/>
                    <a:pt x="341376" y="272542"/>
                    <a:pt x="341376" y="187579"/>
                  </a:cubicBezTo>
                  <a:cubicBezTo>
                    <a:pt x="341376" y="102616"/>
                    <a:pt x="272542" y="33782"/>
                    <a:pt x="187579" y="33782"/>
                  </a:cubicBezTo>
                  <a:lnTo>
                    <a:pt x="187579" y="16891"/>
                  </a:lnTo>
                  <a:lnTo>
                    <a:pt x="187579" y="33909"/>
                  </a:lnTo>
                  <a:cubicBezTo>
                    <a:pt x="102743" y="33909"/>
                    <a:pt x="33909" y="102743"/>
                    <a:pt x="33909" y="187579"/>
                  </a:cubicBezTo>
                  <a:close/>
                </a:path>
              </a:pathLst>
            </a:custGeom>
            <a:solidFill>
              <a:srgbClr val="F59E0B"/>
            </a:solidFill>
          </p:spPr>
        </p:sp>
      </p:grpSp>
      <p:grpSp>
        <p:nvGrpSpPr>
          <p:cNvPr name="Group 158" id="158"/>
          <p:cNvGrpSpPr/>
          <p:nvPr/>
        </p:nvGrpSpPr>
        <p:grpSpPr>
          <a:xfrm rot="0">
            <a:off x="10351008" y="9253728"/>
            <a:ext cx="7132320" cy="365760"/>
            <a:chOff x="0" y="0"/>
            <a:chExt cx="9509760" cy="487680"/>
          </a:xfrm>
        </p:grpSpPr>
        <p:sp>
          <p:nvSpPr>
            <p:cNvPr name="Freeform 159" id="159"/>
            <p:cNvSpPr/>
            <p:nvPr/>
          </p:nvSpPr>
          <p:spPr>
            <a:xfrm flipH="false" flipV="false" rot="0">
              <a:off x="0" y="0"/>
              <a:ext cx="9509760" cy="487680"/>
            </a:xfrm>
            <a:custGeom>
              <a:avLst/>
              <a:gdLst/>
              <a:ahLst/>
              <a:cxnLst/>
              <a:rect r="r" b="b" t="t" l="l"/>
              <a:pathLst>
                <a:path h="487680" w="9509760">
                  <a:moveTo>
                    <a:pt x="0" y="0"/>
                  </a:moveTo>
                  <a:lnTo>
                    <a:pt x="9509760" y="0"/>
                  </a:lnTo>
                  <a:lnTo>
                    <a:pt x="9509760" y="487680"/>
                  </a:lnTo>
                  <a:lnTo>
                    <a:pt x="0" y="487680"/>
                  </a:lnTo>
                  <a:close/>
                </a:path>
              </a:pathLst>
            </a:custGeom>
            <a:blipFill>
              <a:blip r:embed="rId3">
                <a:alphaModFix amt="0"/>
              </a:blip>
              <a:stretch>
                <a:fillRect l="0" t="-329958" r="0" b="-329958"/>
              </a:stretch>
            </a:blipFill>
          </p:spPr>
        </p:sp>
        <p:sp>
          <p:nvSpPr>
            <p:cNvPr name="TextBox 160" id="160"/>
            <p:cNvSpPr txBox="true"/>
            <p:nvPr/>
          </p:nvSpPr>
          <p:spPr>
            <a:xfrm>
              <a:off x="0" y="-38100"/>
              <a:ext cx="9509760" cy="52578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Role-based access control enforced throughout</a:t>
              </a:r>
            </a:p>
          </p:txBody>
        </p:sp>
      </p:grpSp>
      <p:grpSp>
        <p:nvGrpSpPr>
          <p:cNvPr name="Group 161" id="161"/>
          <p:cNvGrpSpPr/>
          <p:nvPr/>
        </p:nvGrpSpPr>
        <p:grpSpPr>
          <a:xfrm rot="0">
            <a:off x="-12697" y="9588503"/>
            <a:ext cx="18313403" cy="711203"/>
            <a:chOff x="0" y="0"/>
            <a:chExt cx="24417871" cy="948271"/>
          </a:xfrm>
        </p:grpSpPr>
        <p:sp>
          <p:nvSpPr>
            <p:cNvPr name="Freeform 162" id="162"/>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163" id="163"/>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164" id="164"/>
          <p:cNvGrpSpPr/>
          <p:nvPr/>
        </p:nvGrpSpPr>
        <p:grpSpPr>
          <a:xfrm rot="0">
            <a:off x="731520" y="9637776"/>
            <a:ext cx="16824960" cy="585216"/>
            <a:chOff x="0" y="0"/>
            <a:chExt cx="22433280" cy="780288"/>
          </a:xfrm>
        </p:grpSpPr>
        <p:sp>
          <p:nvSpPr>
            <p:cNvPr name="Freeform 165" id="165"/>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166" id="166"/>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A162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A162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14B8A6"/>
                  </a:solidFill>
                  <a:latin typeface="Calibri (MS) Bold"/>
                  <a:ea typeface="Calibri (MS) Bold"/>
                  <a:cs typeface="Calibri (MS) Bold"/>
                  <a:sym typeface="Calibri (MS) Bold"/>
                </a:rPr>
                <a:t>ABOUT MediPATH</a:t>
              </a:r>
            </a:p>
          </p:txBody>
        </p:sp>
      </p:grpSp>
      <p:grpSp>
        <p:nvGrpSpPr>
          <p:cNvPr name="Group 8" id="8"/>
          <p:cNvGrpSpPr/>
          <p:nvPr/>
        </p:nvGrpSpPr>
        <p:grpSpPr>
          <a:xfrm rot="0">
            <a:off x="694944" y="1371600"/>
            <a:ext cx="16824960" cy="1005840"/>
            <a:chOff x="0" y="0"/>
            <a:chExt cx="22433280" cy="1341120"/>
          </a:xfrm>
        </p:grpSpPr>
        <p:sp>
          <p:nvSpPr>
            <p:cNvPr name="Freeform 9" id="9"/>
            <p:cNvSpPr/>
            <p:nvPr/>
          </p:nvSpPr>
          <p:spPr>
            <a:xfrm flipH="false" flipV="false" rot="0">
              <a:off x="0" y="0"/>
              <a:ext cx="22433280" cy="1341120"/>
            </a:xfrm>
            <a:custGeom>
              <a:avLst/>
              <a:gdLst/>
              <a:ahLst/>
              <a:cxnLst/>
              <a:rect r="r" b="b" t="t" l="l"/>
              <a:pathLst>
                <a:path h="1341120" w="22433280">
                  <a:moveTo>
                    <a:pt x="0" y="0"/>
                  </a:moveTo>
                  <a:lnTo>
                    <a:pt x="22433280" y="0"/>
                  </a:lnTo>
                  <a:lnTo>
                    <a:pt x="22433280" y="1341120"/>
                  </a:lnTo>
                  <a:lnTo>
                    <a:pt x="0" y="1341120"/>
                  </a:lnTo>
                  <a:close/>
                </a:path>
              </a:pathLst>
            </a:custGeom>
            <a:blipFill>
              <a:blip r:embed="rId3">
                <a:alphaModFix amt="0"/>
              </a:blip>
              <a:stretch>
                <a:fillRect l="0" t="-275931" r="0" b="-275931"/>
              </a:stretch>
            </a:blipFill>
          </p:spPr>
        </p:sp>
        <p:sp>
          <p:nvSpPr>
            <p:cNvPr name="TextBox 10" id="10"/>
            <p:cNvSpPr txBox="true"/>
            <p:nvPr/>
          </p:nvSpPr>
          <p:spPr>
            <a:xfrm>
              <a:off x="0" y="-57150"/>
              <a:ext cx="22433280" cy="1398270"/>
            </a:xfrm>
            <a:prstGeom prst="rect">
              <a:avLst/>
            </a:prstGeom>
          </p:spPr>
          <p:txBody>
            <a:bodyPr anchor="ctr" rtlCol="false" tIns="0" lIns="0" bIns="0" rIns="0"/>
            <a:lstStyle/>
            <a:p>
              <a:pPr algn="l">
                <a:lnSpc>
                  <a:spcPts val="3840"/>
                </a:lnSpc>
              </a:pPr>
              <a:r>
                <a:rPr lang="en-US" sz="3200" b="true">
                  <a:solidFill>
                    <a:srgbClr val="0F172A"/>
                  </a:solidFill>
                  <a:latin typeface="Calibri (MS) Bold"/>
                  <a:ea typeface="Calibri (MS) Bold"/>
                  <a:cs typeface="Calibri (MS) Bold"/>
                  <a:sym typeface="Calibri (MS) Bold"/>
                </a:rPr>
                <a:t>An AI clinical decision-support system that predicts which diseases a patient is likely to develop next.</a:t>
              </a:r>
            </a:p>
          </p:txBody>
        </p:sp>
      </p:grpSp>
      <p:grpSp>
        <p:nvGrpSpPr>
          <p:cNvPr name="Group 11" id="11"/>
          <p:cNvGrpSpPr/>
          <p:nvPr/>
        </p:nvGrpSpPr>
        <p:grpSpPr>
          <a:xfrm rot="0">
            <a:off x="694944" y="2468880"/>
            <a:ext cx="16459200" cy="621792"/>
            <a:chOff x="0" y="0"/>
            <a:chExt cx="21945600" cy="829056"/>
          </a:xfrm>
        </p:grpSpPr>
        <p:sp>
          <p:nvSpPr>
            <p:cNvPr name="Freeform 12" id="12"/>
            <p:cNvSpPr/>
            <p:nvPr/>
          </p:nvSpPr>
          <p:spPr>
            <a:xfrm flipH="false" flipV="false" rot="0">
              <a:off x="0" y="0"/>
              <a:ext cx="21945600" cy="829056"/>
            </a:xfrm>
            <a:custGeom>
              <a:avLst/>
              <a:gdLst/>
              <a:ahLst/>
              <a:cxnLst/>
              <a:rect r="r" b="b" t="t" l="l"/>
              <a:pathLst>
                <a:path h="829056" w="21945600">
                  <a:moveTo>
                    <a:pt x="0" y="0"/>
                  </a:moveTo>
                  <a:lnTo>
                    <a:pt x="21945600" y="0"/>
                  </a:lnTo>
                  <a:lnTo>
                    <a:pt x="21945600" y="829056"/>
                  </a:lnTo>
                  <a:lnTo>
                    <a:pt x="0" y="829056"/>
                  </a:lnTo>
                  <a:close/>
                </a:path>
              </a:pathLst>
            </a:custGeom>
            <a:blipFill>
              <a:blip r:embed="rId3">
                <a:alphaModFix amt="0"/>
              </a:blip>
              <a:stretch>
                <a:fillRect l="0" t="-465780" r="0" b="-465780"/>
              </a:stretch>
            </a:blipFill>
          </p:spPr>
        </p:sp>
        <p:sp>
          <p:nvSpPr>
            <p:cNvPr name="TextBox 13" id="13"/>
            <p:cNvSpPr txBox="true"/>
            <p:nvPr/>
          </p:nvSpPr>
          <p:spPr>
            <a:xfrm>
              <a:off x="0" y="-38100"/>
              <a:ext cx="21945600" cy="867156"/>
            </a:xfrm>
            <a:prstGeom prst="rect">
              <a:avLst/>
            </a:prstGeom>
          </p:spPr>
          <p:txBody>
            <a:bodyPr anchor="ctr" rtlCol="false" tIns="0" lIns="0" bIns="0" rIns="0"/>
            <a:lstStyle/>
            <a:p>
              <a:pPr algn="l">
                <a:lnSpc>
                  <a:spcPts val="2879"/>
                </a:lnSpc>
              </a:pPr>
              <a:r>
                <a:rPr lang="en-US" sz="2400" i="true">
                  <a:solidFill>
                    <a:srgbClr val="0D9488"/>
                  </a:solidFill>
                  <a:latin typeface="Calibri (MS) Italics"/>
                  <a:ea typeface="Calibri (MS) Italics"/>
                  <a:cs typeface="Calibri (MS) Italics"/>
                  <a:sym typeface="Calibri (MS) Italics"/>
                </a:rPr>
                <a:t>Built to help — not replace — the doctor.</a:t>
              </a:r>
            </a:p>
          </p:txBody>
        </p:sp>
      </p:grpSp>
      <p:grpSp>
        <p:nvGrpSpPr>
          <p:cNvPr name="Group 14" id="14"/>
          <p:cNvGrpSpPr/>
          <p:nvPr/>
        </p:nvGrpSpPr>
        <p:grpSpPr>
          <a:xfrm rot="0">
            <a:off x="627383" y="3315719"/>
            <a:ext cx="5511803" cy="2860043"/>
            <a:chOff x="0" y="0"/>
            <a:chExt cx="7349071" cy="3813391"/>
          </a:xfrm>
        </p:grpSpPr>
        <p:sp>
          <p:nvSpPr>
            <p:cNvPr name="Freeform 15" id="15"/>
            <p:cNvSpPr/>
            <p:nvPr/>
          </p:nvSpPr>
          <p:spPr>
            <a:xfrm flipH="false" flipV="false" rot="0">
              <a:off x="16891" y="16891"/>
              <a:ext cx="7315200" cy="3779520"/>
            </a:xfrm>
            <a:custGeom>
              <a:avLst/>
              <a:gdLst/>
              <a:ahLst/>
              <a:cxnLst/>
              <a:rect r="r" b="b" t="t" l="l"/>
              <a:pathLst>
                <a:path h="3779520" w="7315200">
                  <a:moveTo>
                    <a:pt x="0" y="0"/>
                  </a:moveTo>
                  <a:lnTo>
                    <a:pt x="7315200" y="0"/>
                  </a:lnTo>
                  <a:lnTo>
                    <a:pt x="7315200" y="3779520"/>
                  </a:lnTo>
                  <a:lnTo>
                    <a:pt x="0" y="3779520"/>
                  </a:lnTo>
                  <a:close/>
                </a:path>
              </a:pathLst>
            </a:custGeom>
            <a:solidFill>
              <a:srgbClr val="FFFFFF"/>
            </a:solidFill>
          </p:spPr>
        </p:sp>
        <p:sp>
          <p:nvSpPr>
            <p:cNvPr name="Freeform 16" id="16"/>
            <p:cNvSpPr/>
            <p:nvPr/>
          </p:nvSpPr>
          <p:spPr>
            <a:xfrm flipH="false" flipV="false" rot="0">
              <a:off x="0" y="0"/>
              <a:ext cx="7348982" cy="3813302"/>
            </a:xfrm>
            <a:custGeom>
              <a:avLst/>
              <a:gdLst/>
              <a:ahLst/>
              <a:cxnLst/>
              <a:rect r="r" b="b" t="t" l="l"/>
              <a:pathLst>
                <a:path h="3813302" w="7348982">
                  <a:moveTo>
                    <a:pt x="16891" y="0"/>
                  </a:moveTo>
                  <a:lnTo>
                    <a:pt x="7332091" y="0"/>
                  </a:lnTo>
                  <a:cubicBezTo>
                    <a:pt x="7341489" y="0"/>
                    <a:pt x="7348982" y="7620"/>
                    <a:pt x="7348982" y="16891"/>
                  </a:cubicBezTo>
                  <a:lnTo>
                    <a:pt x="7348982" y="3796411"/>
                  </a:lnTo>
                  <a:cubicBezTo>
                    <a:pt x="7348982" y="3805809"/>
                    <a:pt x="7341362" y="3813302"/>
                    <a:pt x="73320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7332091" y="3779520"/>
                  </a:lnTo>
                  <a:lnTo>
                    <a:pt x="7332091" y="3796411"/>
                  </a:lnTo>
                  <a:lnTo>
                    <a:pt x="7315200" y="3796411"/>
                  </a:lnTo>
                  <a:lnTo>
                    <a:pt x="7315200" y="16891"/>
                  </a:lnTo>
                  <a:lnTo>
                    <a:pt x="7332091" y="16891"/>
                  </a:lnTo>
                  <a:lnTo>
                    <a:pt x="7332091" y="33909"/>
                  </a:lnTo>
                  <a:lnTo>
                    <a:pt x="16891" y="33909"/>
                  </a:lnTo>
                  <a:close/>
                </a:path>
              </a:pathLst>
            </a:custGeom>
            <a:solidFill>
              <a:srgbClr val="E2E8F0"/>
            </a:solidFill>
          </p:spPr>
        </p:sp>
      </p:grpSp>
      <p:grpSp>
        <p:nvGrpSpPr>
          <p:cNvPr name="Group 17" id="17"/>
          <p:cNvGrpSpPr/>
          <p:nvPr/>
        </p:nvGrpSpPr>
        <p:grpSpPr>
          <a:xfrm rot="0">
            <a:off x="627383" y="3315719"/>
            <a:ext cx="5511803" cy="171707"/>
            <a:chOff x="0" y="0"/>
            <a:chExt cx="7349071" cy="228943"/>
          </a:xfrm>
        </p:grpSpPr>
        <p:sp>
          <p:nvSpPr>
            <p:cNvPr name="Freeform 18" id="18"/>
            <p:cNvSpPr/>
            <p:nvPr/>
          </p:nvSpPr>
          <p:spPr>
            <a:xfrm flipH="false" flipV="false" rot="0">
              <a:off x="16891" y="16891"/>
              <a:ext cx="7315200" cy="195072"/>
            </a:xfrm>
            <a:custGeom>
              <a:avLst/>
              <a:gdLst/>
              <a:ahLst/>
              <a:cxnLst/>
              <a:rect r="r" b="b" t="t" l="l"/>
              <a:pathLst>
                <a:path h="195072" w="7315200">
                  <a:moveTo>
                    <a:pt x="0" y="0"/>
                  </a:moveTo>
                  <a:lnTo>
                    <a:pt x="7315200" y="0"/>
                  </a:lnTo>
                  <a:lnTo>
                    <a:pt x="7315200" y="195072"/>
                  </a:lnTo>
                  <a:lnTo>
                    <a:pt x="0" y="195072"/>
                  </a:lnTo>
                  <a:close/>
                </a:path>
              </a:pathLst>
            </a:custGeom>
            <a:solidFill>
              <a:srgbClr val="0D9488"/>
            </a:solidFill>
          </p:spPr>
        </p:sp>
        <p:sp>
          <p:nvSpPr>
            <p:cNvPr name="Freeform 19" id="19"/>
            <p:cNvSpPr/>
            <p:nvPr/>
          </p:nvSpPr>
          <p:spPr>
            <a:xfrm flipH="false" flipV="false" rot="0">
              <a:off x="0" y="0"/>
              <a:ext cx="7348982" cy="228856"/>
            </a:xfrm>
            <a:custGeom>
              <a:avLst/>
              <a:gdLst/>
              <a:ahLst/>
              <a:cxnLst/>
              <a:rect r="r" b="b" t="t" l="l"/>
              <a:pathLst>
                <a:path h="228856" w="7348982">
                  <a:moveTo>
                    <a:pt x="16891" y="0"/>
                  </a:moveTo>
                  <a:lnTo>
                    <a:pt x="7332091" y="0"/>
                  </a:lnTo>
                  <a:cubicBezTo>
                    <a:pt x="7341489" y="0"/>
                    <a:pt x="7348982" y="7620"/>
                    <a:pt x="7348982" y="16891"/>
                  </a:cubicBezTo>
                  <a:lnTo>
                    <a:pt x="7348982" y="211963"/>
                  </a:lnTo>
                  <a:cubicBezTo>
                    <a:pt x="7348982" y="221361"/>
                    <a:pt x="7341362" y="228854"/>
                    <a:pt x="7332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7332091" y="195072"/>
                  </a:lnTo>
                  <a:lnTo>
                    <a:pt x="7332091" y="211963"/>
                  </a:lnTo>
                  <a:lnTo>
                    <a:pt x="7315200" y="211963"/>
                  </a:lnTo>
                  <a:lnTo>
                    <a:pt x="7315200" y="16891"/>
                  </a:lnTo>
                  <a:lnTo>
                    <a:pt x="7332091" y="16891"/>
                  </a:lnTo>
                  <a:lnTo>
                    <a:pt x="7332091" y="33909"/>
                  </a:lnTo>
                  <a:lnTo>
                    <a:pt x="16891" y="33909"/>
                  </a:lnTo>
                  <a:close/>
                </a:path>
              </a:pathLst>
            </a:custGeom>
            <a:solidFill>
              <a:srgbClr val="0D9488"/>
            </a:solidFill>
          </p:spPr>
        </p:sp>
      </p:grpSp>
      <p:grpSp>
        <p:nvGrpSpPr>
          <p:cNvPr name="Group 20" id="20"/>
          <p:cNvGrpSpPr/>
          <p:nvPr/>
        </p:nvGrpSpPr>
        <p:grpSpPr>
          <a:xfrm rot="0">
            <a:off x="640080" y="3511296"/>
            <a:ext cx="5486400" cy="694944"/>
            <a:chOff x="0" y="0"/>
            <a:chExt cx="7315200" cy="926592"/>
          </a:xfrm>
        </p:grpSpPr>
        <p:sp>
          <p:nvSpPr>
            <p:cNvPr name="Freeform 21" id="21"/>
            <p:cNvSpPr/>
            <p:nvPr/>
          </p:nvSpPr>
          <p:spPr>
            <a:xfrm flipH="false" flipV="false" rot="0">
              <a:off x="0" y="0"/>
              <a:ext cx="7315200" cy="926592"/>
            </a:xfrm>
            <a:custGeom>
              <a:avLst/>
              <a:gdLst/>
              <a:ahLst/>
              <a:cxnLst/>
              <a:rect r="r" b="b" t="t" l="l"/>
              <a:pathLst>
                <a:path h="926592" w="7315200">
                  <a:moveTo>
                    <a:pt x="0" y="0"/>
                  </a:moveTo>
                  <a:lnTo>
                    <a:pt x="7315200" y="0"/>
                  </a:lnTo>
                  <a:lnTo>
                    <a:pt x="7315200" y="926592"/>
                  </a:lnTo>
                  <a:lnTo>
                    <a:pt x="0" y="926592"/>
                  </a:lnTo>
                  <a:close/>
                </a:path>
              </a:pathLst>
            </a:custGeom>
            <a:blipFill>
              <a:blip r:embed="rId3">
                <a:alphaModFix amt="0"/>
              </a:blip>
              <a:stretch>
                <a:fillRect l="0" t="-103829" r="0" b="-103829"/>
              </a:stretch>
            </a:blipFill>
          </p:spPr>
        </p:sp>
        <p:sp>
          <p:nvSpPr>
            <p:cNvPr name="TextBox 22" id="22"/>
            <p:cNvSpPr txBox="true"/>
            <p:nvPr/>
          </p:nvSpPr>
          <p:spPr>
            <a:xfrm>
              <a:off x="0" y="-66675"/>
              <a:ext cx="7315200" cy="993267"/>
            </a:xfrm>
            <a:prstGeom prst="rect">
              <a:avLst/>
            </a:prstGeom>
          </p:spPr>
          <p:txBody>
            <a:bodyPr anchor="ctr" rtlCol="false" tIns="0" lIns="0" bIns="0" rIns="0"/>
            <a:lstStyle/>
            <a:p>
              <a:pPr algn="ctr">
                <a:lnSpc>
                  <a:spcPts val="4320"/>
                </a:lnSpc>
              </a:pPr>
              <a:r>
                <a:rPr lang="en-US" sz="3600" b="true">
                  <a:solidFill>
                    <a:srgbClr val="0D9488"/>
                  </a:solidFill>
                  <a:latin typeface="Calibri (MS) Bold"/>
                  <a:ea typeface="Calibri (MS) Bold"/>
                  <a:cs typeface="Calibri (MS) Bold"/>
                  <a:sym typeface="Calibri (MS) Bold"/>
                </a:rPr>
                <a:t>01</a:t>
              </a:r>
            </a:p>
          </p:txBody>
        </p:sp>
      </p:grpSp>
      <p:grpSp>
        <p:nvGrpSpPr>
          <p:cNvPr name="Group 23" id="23"/>
          <p:cNvGrpSpPr/>
          <p:nvPr/>
        </p:nvGrpSpPr>
        <p:grpSpPr>
          <a:xfrm rot="0">
            <a:off x="859536" y="4315968"/>
            <a:ext cx="5047488" cy="585216"/>
            <a:chOff x="0" y="0"/>
            <a:chExt cx="6729984" cy="780288"/>
          </a:xfrm>
        </p:grpSpPr>
        <p:sp>
          <p:nvSpPr>
            <p:cNvPr name="Freeform 24" id="24"/>
            <p:cNvSpPr/>
            <p:nvPr/>
          </p:nvSpPr>
          <p:spPr>
            <a:xfrm flipH="false" flipV="false" rot="0">
              <a:off x="0" y="0"/>
              <a:ext cx="6729984" cy="780288"/>
            </a:xfrm>
            <a:custGeom>
              <a:avLst/>
              <a:gdLst/>
              <a:ahLst/>
              <a:cxnLst/>
              <a:rect r="r" b="b" t="t" l="l"/>
              <a:pathLst>
                <a:path h="780288" w="6729984">
                  <a:moveTo>
                    <a:pt x="0" y="0"/>
                  </a:moveTo>
                  <a:lnTo>
                    <a:pt x="6729984" y="0"/>
                  </a:lnTo>
                  <a:lnTo>
                    <a:pt x="6729984" y="780288"/>
                  </a:lnTo>
                  <a:lnTo>
                    <a:pt x="0" y="780288"/>
                  </a:lnTo>
                  <a:close/>
                </a:path>
              </a:pathLst>
            </a:custGeom>
            <a:blipFill>
              <a:blip r:embed="rId3">
                <a:alphaModFix amt="0"/>
              </a:blip>
              <a:stretch>
                <a:fillRect l="0" t="-118058" r="0" b="-118058"/>
              </a:stretch>
            </a:blipFill>
          </p:spPr>
        </p:sp>
        <p:sp>
          <p:nvSpPr>
            <p:cNvPr name="TextBox 25" id="25"/>
            <p:cNvSpPr txBox="true"/>
            <p:nvPr/>
          </p:nvSpPr>
          <p:spPr>
            <a:xfrm>
              <a:off x="0" y="-47625"/>
              <a:ext cx="6729984"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Full patient history</a:t>
              </a:r>
            </a:p>
          </p:txBody>
        </p:sp>
      </p:grpSp>
      <p:grpSp>
        <p:nvGrpSpPr>
          <p:cNvPr name="Group 26" id="26"/>
          <p:cNvGrpSpPr/>
          <p:nvPr/>
        </p:nvGrpSpPr>
        <p:grpSpPr>
          <a:xfrm rot="0">
            <a:off x="859536" y="4974336"/>
            <a:ext cx="5047488" cy="1024128"/>
            <a:chOff x="0" y="0"/>
            <a:chExt cx="6729984" cy="1365504"/>
          </a:xfrm>
        </p:grpSpPr>
        <p:sp>
          <p:nvSpPr>
            <p:cNvPr name="Freeform 27" id="27"/>
            <p:cNvSpPr/>
            <p:nvPr/>
          </p:nvSpPr>
          <p:spPr>
            <a:xfrm flipH="false" flipV="false" rot="0">
              <a:off x="0" y="0"/>
              <a:ext cx="6729984" cy="1365504"/>
            </a:xfrm>
            <a:custGeom>
              <a:avLst/>
              <a:gdLst/>
              <a:ahLst/>
              <a:cxnLst/>
              <a:rect r="r" b="b" t="t" l="l"/>
              <a:pathLst>
                <a:path h="1365504" w="6729984">
                  <a:moveTo>
                    <a:pt x="0" y="0"/>
                  </a:moveTo>
                  <a:lnTo>
                    <a:pt x="6729984" y="0"/>
                  </a:lnTo>
                  <a:lnTo>
                    <a:pt x="6729984" y="1365504"/>
                  </a:lnTo>
                  <a:lnTo>
                    <a:pt x="0" y="1365504"/>
                  </a:lnTo>
                  <a:close/>
                </a:path>
              </a:pathLst>
            </a:custGeom>
            <a:blipFill>
              <a:blip r:embed="rId3">
                <a:alphaModFix amt="0"/>
              </a:blip>
              <a:stretch>
                <a:fillRect l="0" t="-46033" r="0" b="-46033"/>
              </a:stretch>
            </a:blipFill>
          </p:spPr>
        </p:sp>
        <p:sp>
          <p:nvSpPr>
            <p:cNvPr name="TextBox 28" id="28"/>
            <p:cNvSpPr txBox="true"/>
            <p:nvPr/>
          </p:nvSpPr>
          <p:spPr>
            <a:xfrm>
              <a:off x="0" y="-38100"/>
              <a:ext cx="6729984" cy="1403604"/>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Uses 10–15 years of longitudinal records — not just today's visit — to build a complete picture of each patient's health trajectory.</a:t>
              </a:r>
            </a:p>
          </p:txBody>
        </p:sp>
      </p:grpSp>
      <p:grpSp>
        <p:nvGrpSpPr>
          <p:cNvPr name="Group 29" id="29"/>
          <p:cNvGrpSpPr/>
          <p:nvPr/>
        </p:nvGrpSpPr>
        <p:grpSpPr>
          <a:xfrm rot="0">
            <a:off x="6516119" y="3315719"/>
            <a:ext cx="5511803" cy="2860043"/>
            <a:chOff x="0" y="0"/>
            <a:chExt cx="7349071" cy="3813391"/>
          </a:xfrm>
        </p:grpSpPr>
        <p:sp>
          <p:nvSpPr>
            <p:cNvPr name="Freeform 30" id="30"/>
            <p:cNvSpPr/>
            <p:nvPr/>
          </p:nvSpPr>
          <p:spPr>
            <a:xfrm flipH="false" flipV="false" rot="0">
              <a:off x="16891" y="16891"/>
              <a:ext cx="7315200" cy="3779520"/>
            </a:xfrm>
            <a:custGeom>
              <a:avLst/>
              <a:gdLst/>
              <a:ahLst/>
              <a:cxnLst/>
              <a:rect r="r" b="b" t="t" l="l"/>
              <a:pathLst>
                <a:path h="3779520" w="7315200">
                  <a:moveTo>
                    <a:pt x="0" y="0"/>
                  </a:moveTo>
                  <a:lnTo>
                    <a:pt x="7315200" y="0"/>
                  </a:lnTo>
                  <a:lnTo>
                    <a:pt x="7315200" y="3779520"/>
                  </a:lnTo>
                  <a:lnTo>
                    <a:pt x="0" y="3779520"/>
                  </a:lnTo>
                  <a:close/>
                </a:path>
              </a:pathLst>
            </a:custGeom>
            <a:solidFill>
              <a:srgbClr val="FFFFFF"/>
            </a:solidFill>
          </p:spPr>
        </p:sp>
        <p:sp>
          <p:nvSpPr>
            <p:cNvPr name="Freeform 31" id="31"/>
            <p:cNvSpPr/>
            <p:nvPr/>
          </p:nvSpPr>
          <p:spPr>
            <a:xfrm flipH="false" flipV="false" rot="0">
              <a:off x="0" y="0"/>
              <a:ext cx="7348982" cy="3813302"/>
            </a:xfrm>
            <a:custGeom>
              <a:avLst/>
              <a:gdLst/>
              <a:ahLst/>
              <a:cxnLst/>
              <a:rect r="r" b="b" t="t" l="l"/>
              <a:pathLst>
                <a:path h="3813302" w="7348982">
                  <a:moveTo>
                    <a:pt x="16891" y="0"/>
                  </a:moveTo>
                  <a:lnTo>
                    <a:pt x="7332091" y="0"/>
                  </a:lnTo>
                  <a:cubicBezTo>
                    <a:pt x="7341489" y="0"/>
                    <a:pt x="7348982" y="7620"/>
                    <a:pt x="7348982" y="16891"/>
                  </a:cubicBezTo>
                  <a:lnTo>
                    <a:pt x="7348982" y="3796411"/>
                  </a:lnTo>
                  <a:cubicBezTo>
                    <a:pt x="7348982" y="3805809"/>
                    <a:pt x="7341362" y="3813302"/>
                    <a:pt x="73320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7332091" y="3779520"/>
                  </a:lnTo>
                  <a:lnTo>
                    <a:pt x="7332091" y="3796411"/>
                  </a:lnTo>
                  <a:lnTo>
                    <a:pt x="7315200" y="3796411"/>
                  </a:lnTo>
                  <a:lnTo>
                    <a:pt x="7315200" y="16891"/>
                  </a:lnTo>
                  <a:lnTo>
                    <a:pt x="7332091" y="16891"/>
                  </a:lnTo>
                  <a:lnTo>
                    <a:pt x="7332091" y="33909"/>
                  </a:lnTo>
                  <a:lnTo>
                    <a:pt x="16891" y="33909"/>
                  </a:lnTo>
                  <a:close/>
                </a:path>
              </a:pathLst>
            </a:custGeom>
            <a:solidFill>
              <a:srgbClr val="E2E8F0"/>
            </a:solidFill>
          </p:spPr>
        </p:sp>
      </p:grpSp>
      <p:grpSp>
        <p:nvGrpSpPr>
          <p:cNvPr name="Group 32" id="32"/>
          <p:cNvGrpSpPr/>
          <p:nvPr/>
        </p:nvGrpSpPr>
        <p:grpSpPr>
          <a:xfrm rot="0">
            <a:off x="6516119" y="3315719"/>
            <a:ext cx="5511803" cy="171707"/>
            <a:chOff x="0" y="0"/>
            <a:chExt cx="7349071" cy="228943"/>
          </a:xfrm>
        </p:grpSpPr>
        <p:sp>
          <p:nvSpPr>
            <p:cNvPr name="Freeform 33" id="33"/>
            <p:cNvSpPr/>
            <p:nvPr/>
          </p:nvSpPr>
          <p:spPr>
            <a:xfrm flipH="false" flipV="false" rot="0">
              <a:off x="16891" y="16891"/>
              <a:ext cx="7315200" cy="195072"/>
            </a:xfrm>
            <a:custGeom>
              <a:avLst/>
              <a:gdLst/>
              <a:ahLst/>
              <a:cxnLst/>
              <a:rect r="r" b="b" t="t" l="l"/>
              <a:pathLst>
                <a:path h="195072" w="7315200">
                  <a:moveTo>
                    <a:pt x="0" y="0"/>
                  </a:moveTo>
                  <a:lnTo>
                    <a:pt x="7315200" y="0"/>
                  </a:lnTo>
                  <a:lnTo>
                    <a:pt x="7315200" y="195072"/>
                  </a:lnTo>
                  <a:lnTo>
                    <a:pt x="0" y="195072"/>
                  </a:lnTo>
                  <a:close/>
                </a:path>
              </a:pathLst>
            </a:custGeom>
            <a:solidFill>
              <a:srgbClr val="F59E0B"/>
            </a:solidFill>
          </p:spPr>
        </p:sp>
        <p:sp>
          <p:nvSpPr>
            <p:cNvPr name="Freeform 34" id="34"/>
            <p:cNvSpPr/>
            <p:nvPr/>
          </p:nvSpPr>
          <p:spPr>
            <a:xfrm flipH="false" flipV="false" rot="0">
              <a:off x="0" y="0"/>
              <a:ext cx="7348982" cy="228856"/>
            </a:xfrm>
            <a:custGeom>
              <a:avLst/>
              <a:gdLst/>
              <a:ahLst/>
              <a:cxnLst/>
              <a:rect r="r" b="b" t="t" l="l"/>
              <a:pathLst>
                <a:path h="228856" w="7348982">
                  <a:moveTo>
                    <a:pt x="16891" y="0"/>
                  </a:moveTo>
                  <a:lnTo>
                    <a:pt x="7332091" y="0"/>
                  </a:lnTo>
                  <a:cubicBezTo>
                    <a:pt x="7341489" y="0"/>
                    <a:pt x="7348982" y="7620"/>
                    <a:pt x="7348982" y="16891"/>
                  </a:cubicBezTo>
                  <a:lnTo>
                    <a:pt x="7348982" y="211963"/>
                  </a:lnTo>
                  <a:cubicBezTo>
                    <a:pt x="7348982" y="221361"/>
                    <a:pt x="7341362" y="228854"/>
                    <a:pt x="7332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7332091" y="195072"/>
                  </a:lnTo>
                  <a:lnTo>
                    <a:pt x="7332091" y="211963"/>
                  </a:lnTo>
                  <a:lnTo>
                    <a:pt x="7315200" y="211963"/>
                  </a:lnTo>
                  <a:lnTo>
                    <a:pt x="7315200" y="16891"/>
                  </a:lnTo>
                  <a:lnTo>
                    <a:pt x="7332091" y="16891"/>
                  </a:lnTo>
                  <a:lnTo>
                    <a:pt x="7332091" y="33909"/>
                  </a:lnTo>
                  <a:lnTo>
                    <a:pt x="16891" y="33909"/>
                  </a:lnTo>
                  <a:close/>
                </a:path>
              </a:pathLst>
            </a:custGeom>
            <a:solidFill>
              <a:srgbClr val="F59E0B"/>
            </a:solidFill>
          </p:spPr>
        </p:sp>
      </p:grpSp>
      <p:grpSp>
        <p:nvGrpSpPr>
          <p:cNvPr name="Group 35" id="35"/>
          <p:cNvGrpSpPr/>
          <p:nvPr/>
        </p:nvGrpSpPr>
        <p:grpSpPr>
          <a:xfrm rot="0">
            <a:off x="6528816" y="3511296"/>
            <a:ext cx="5486400" cy="694944"/>
            <a:chOff x="0" y="0"/>
            <a:chExt cx="7315200" cy="926592"/>
          </a:xfrm>
        </p:grpSpPr>
        <p:sp>
          <p:nvSpPr>
            <p:cNvPr name="Freeform 36" id="36"/>
            <p:cNvSpPr/>
            <p:nvPr/>
          </p:nvSpPr>
          <p:spPr>
            <a:xfrm flipH="false" flipV="false" rot="0">
              <a:off x="0" y="0"/>
              <a:ext cx="7315200" cy="926592"/>
            </a:xfrm>
            <a:custGeom>
              <a:avLst/>
              <a:gdLst/>
              <a:ahLst/>
              <a:cxnLst/>
              <a:rect r="r" b="b" t="t" l="l"/>
              <a:pathLst>
                <a:path h="926592" w="7315200">
                  <a:moveTo>
                    <a:pt x="0" y="0"/>
                  </a:moveTo>
                  <a:lnTo>
                    <a:pt x="7315200" y="0"/>
                  </a:lnTo>
                  <a:lnTo>
                    <a:pt x="7315200" y="926592"/>
                  </a:lnTo>
                  <a:lnTo>
                    <a:pt x="0" y="926592"/>
                  </a:lnTo>
                  <a:close/>
                </a:path>
              </a:pathLst>
            </a:custGeom>
            <a:blipFill>
              <a:blip r:embed="rId3">
                <a:alphaModFix amt="0"/>
              </a:blip>
              <a:stretch>
                <a:fillRect l="0" t="-103829" r="0" b="-103829"/>
              </a:stretch>
            </a:blipFill>
          </p:spPr>
        </p:sp>
        <p:sp>
          <p:nvSpPr>
            <p:cNvPr name="TextBox 37" id="37"/>
            <p:cNvSpPr txBox="true"/>
            <p:nvPr/>
          </p:nvSpPr>
          <p:spPr>
            <a:xfrm>
              <a:off x="0" y="-66675"/>
              <a:ext cx="7315200" cy="993267"/>
            </a:xfrm>
            <a:prstGeom prst="rect">
              <a:avLst/>
            </a:prstGeom>
          </p:spPr>
          <p:txBody>
            <a:bodyPr anchor="ctr" rtlCol="false" tIns="0" lIns="0" bIns="0" rIns="0"/>
            <a:lstStyle/>
            <a:p>
              <a:pPr algn="ctr">
                <a:lnSpc>
                  <a:spcPts val="4320"/>
                </a:lnSpc>
              </a:pPr>
              <a:r>
                <a:rPr lang="en-US" sz="3600" b="true">
                  <a:solidFill>
                    <a:srgbClr val="F59E0B"/>
                  </a:solidFill>
                  <a:latin typeface="Calibri (MS) Bold"/>
                  <a:ea typeface="Calibri (MS) Bold"/>
                  <a:cs typeface="Calibri (MS) Bold"/>
                  <a:sym typeface="Calibri (MS) Bold"/>
                </a:rPr>
                <a:t>02</a:t>
              </a:r>
            </a:p>
          </p:txBody>
        </p:sp>
      </p:grpSp>
      <p:grpSp>
        <p:nvGrpSpPr>
          <p:cNvPr name="Group 38" id="38"/>
          <p:cNvGrpSpPr/>
          <p:nvPr/>
        </p:nvGrpSpPr>
        <p:grpSpPr>
          <a:xfrm rot="0">
            <a:off x="6748272" y="4315968"/>
            <a:ext cx="5047488" cy="585216"/>
            <a:chOff x="0" y="0"/>
            <a:chExt cx="6729984" cy="780288"/>
          </a:xfrm>
        </p:grpSpPr>
        <p:sp>
          <p:nvSpPr>
            <p:cNvPr name="Freeform 39" id="39"/>
            <p:cNvSpPr/>
            <p:nvPr/>
          </p:nvSpPr>
          <p:spPr>
            <a:xfrm flipH="false" flipV="false" rot="0">
              <a:off x="0" y="0"/>
              <a:ext cx="6729984" cy="780288"/>
            </a:xfrm>
            <a:custGeom>
              <a:avLst/>
              <a:gdLst/>
              <a:ahLst/>
              <a:cxnLst/>
              <a:rect r="r" b="b" t="t" l="l"/>
              <a:pathLst>
                <a:path h="780288" w="6729984">
                  <a:moveTo>
                    <a:pt x="0" y="0"/>
                  </a:moveTo>
                  <a:lnTo>
                    <a:pt x="6729984" y="0"/>
                  </a:lnTo>
                  <a:lnTo>
                    <a:pt x="6729984" y="780288"/>
                  </a:lnTo>
                  <a:lnTo>
                    <a:pt x="0" y="780288"/>
                  </a:lnTo>
                  <a:close/>
                </a:path>
              </a:pathLst>
            </a:custGeom>
            <a:blipFill>
              <a:blip r:embed="rId3">
                <a:alphaModFix amt="0"/>
              </a:blip>
              <a:stretch>
                <a:fillRect l="0" t="-118058" r="0" b="-118058"/>
              </a:stretch>
            </a:blipFill>
          </p:spPr>
        </p:sp>
        <p:sp>
          <p:nvSpPr>
            <p:cNvPr name="TextBox 40" id="40"/>
            <p:cNvSpPr txBox="true"/>
            <p:nvPr/>
          </p:nvSpPr>
          <p:spPr>
            <a:xfrm>
              <a:off x="0" y="-47625"/>
              <a:ext cx="6729984"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Markov chain progression</a:t>
              </a:r>
            </a:p>
          </p:txBody>
        </p:sp>
      </p:grpSp>
      <p:grpSp>
        <p:nvGrpSpPr>
          <p:cNvPr name="Group 41" id="41"/>
          <p:cNvGrpSpPr/>
          <p:nvPr/>
        </p:nvGrpSpPr>
        <p:grpSpPr>
          <a:xfrm rot="0">
            <a:off x="6748272" y="4974336"/>
            <a:ext cx="5047488" cy="1024128"/>
            <a:chOff x="0" y="0"/>
            <a:chExt cx="6729984" cy="1365504"/>
          </a:xfrm>
        </p:grpSpPr>
        <p:sp>
          <p:nvSpPr>
            <p:cNvPr name="Freeform 42" id="42"/>
            <p:cNvSpPr/>
            <p:nvPr/>
          </p:nvSpPr>
          <p:spPr>
            <a:xfrm flipH="false" flipV="false" rot="0">
              <a:off x="0" y="0"/>
              <a:ext cx="6729984" cy="1365504"/>
            </a:xfrm>
            <a:custGeom>
              <a:avLst/>
              <a:gdLst/>
              <a:ahLst/>
              <a:cxnLst/>
              <a:rect r="r" b="b" t="t" l="l"/>
              <a:pathLst>
                <a:path h="1365504" w="6729984">
                  <a:moveTo>
                    <a:pt x="0" y="0"/>
                  </a:moveTo>
                  <a:lnTo>
                    <a:pt x="6729984" y="0"/>
                  </a:lnTo>
                  <a:lnTo>
                    <a:pt x="6729984" y="1365504"/>
                  </a:lnTo>
                  <a:lnTo>
                    <a:pt x="0" y="1365504"/>
                  </a:lnTo>
                  <a:close/>
                </a:path>
              </a:pathLst>
            </a:custGeom>
            <a:blipFill>
              <a:blip r:embed="rId3">
                <a:alphaModFix amt="0"/>
              </a:blip>
              <a:stretch>
                <a:fillRect l="0" t="-46033" r="0" b="-46033"/>
              </a:stretch>
            </a:blipFill>
          </p:spPr>
        </p:sp>
        <p:sp>
          <p:nvSpPr>
            <p:cNvPr name="TextBox 43" id="43"/>
            <p:cNvSpPr txBox="true"/>
            <p:nvPr/>
          </p:nvSpPr>
          <p:spPr>
            <a:xfrm>
              <a:off x="0" y="-38100"/>
              <a:ext cx="6729984" cy="1403604"/>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Models how diseases evolve from one stage to the next over time, capturing both common sequential chains and unexpected atypical patterns.</a:t>
              </a:r>
            </a:p>
          </p:txBody>
        </p:sp>
      </p:grpSp>
      <p:grpSp>
        <p:nvGrpSpPr>
          <p:cNvPr name="Group 44" id="44"/>
          <p:cNvGrpSpPr/>
          <p:nvPr/>
        </p:nvGrpSpPr>
        <p:grpSpPr>
          <a:xfrm rot="0">
            <a:off x="12404855" y="3315719"/>
            <a:ext cx="5511803" cy="2860043"/>
            <a:chOff x="0" y="0"/>
            <a:chExt cx="7349071" cy="3813391"/>
          </a:xfrm>
        </p:grpSpPr>
        <p:sp>
          <p:nvSpPr>
            <p:cNvPr name="Freeform 45" id="45"/>
            <p:cNvSpPr/>
            <p:nvPr/>
          </p:nvSpPr>
          <p:spPr>
            <a:xfrm flipH="false" flipV="false" rot="0">
              <a:off x="16891" y="16891"/>
              <a:ext cx="7315200" cy="3779520"/>
            </a:xfrm>
            <a:custGeom>
              <a:avLst/>
              <a:gdLst/>
              <a:ahLst/>
              <a:cxnLst/>
              <a:rect r="r" b="b" t="t" l="l"/>
              <a:pathLst>
                <a:path h="3779520" w="7315200">
                  <a:moveTo>
                    <a:pt x="0" y="0"/>
                  </a:moveTo>
                  <a:lnTo>
                    <a:pt x="7315200" y="0"/>
                  </a:lnTo>
                  <a:lnTo>
                    <a:pt x="7315200" y="3779520"/>
                  </a:lnTo>
                  <a:lnTo>
                    <a:pt x="0" y="3779520"/>
                  </a:lnTo>
                  <a:close/>
                </a:path>
              </a:pathLst>
            </a:custGeom>
            <a:solidFill>
              <a:srgbClr val="FFFFFF"/>
            </a:solidFill>
          </p:spPr>
        </p:sp>
        <p:sp>
          <p:nvSpPr>
            <p:cNvPr name="Freeform 46" id="46"/>
            <p:cNvSpPr/>
            <p:nvPr/>
          </p:nvSpPr>
          <p:spPr>
            <a:xfrm flipH="false" flipV="false" rot="0">
              <a:off x="0" y="0"/>
              <a:ext cx="7348982" cy="3813302"/>
            </a:xfrm>
            <a:custGeom>
              <a:avLst/>
              <a:gdLst/>
              <a:ahLst/>
              <a:cxnLst/>
              <a:rect r="r" b="b" t="t" l="l"/>
              <a:pathLst>
                <a:path h="3813302" w="7348982">
                  <a:moveTo>
                    <a:pt x="16891" y="0"/>
                  </a:moveTo>
                  <a:lnTo>
                    <a:pt x="7332091" y="0"/>
                  </a:lnTo>
                  <a:cubicBezTo>
                    <a:pt x="7341489" y="0"/>
                    <a:pt x="7348982" y="7620"/>
                    <a:pt x="7348982" y="16891"/>
                  </a:cubicBezTo>
                  <a:lnTo>
                    <a:pt x="7348982" y="3796411"/>
                  </a:lnTo>
                  <a:cubicBezTo>
                    <a:pt x="7348982" y="3805809"/>
                    <a:pt x="7341362" y="3813302"/>
                    <a:pt x="73320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7332091" y="3779520"/>
                  </a:lnTo>
                  <a:lnTo>
                    <a:pt x="7332091" y="3796411"/>
                  </a:lnTo>
                  <a:lnTo>
                    <a:pt x="7315200" y="3796411"/>
                  </a:lnTo>
                  <a:lnTo>
                    <a:pt x="7315200" y="16891"/>
                  </a:lnTo>
                  <a:lnTo>
                    <a:pt x="7332091" y="16891"/>
                  </a:lnTo>
                  <a:lnTo>
                    <a:pt x="7332091" y="33909"/>
                  </a:lnTo>
                  <a:lnTo>
                    <a:pt x="16891" y="33909"/>
                  </a:lnTo>
                  <a:close/>
                </a:path>
              </a:pathLst>
            </a:custGeom>
            <a:solidFill>
              <a:srgbClr val="E2E8F0"/>
            </a:solidFill>
          </p:spPr>
        </p:sp>
      </p:grpSp>
      <p:grpSp>
        <p:nvGrpSpPr>
          <p:cNvPr name="Group 47" id="47"/>
          <p:cNvGrpSpPr/>
          <p:nvPr/>
        </p:nvGrpSpPr>
        <p:grpSpPr>
          <a:xfrm rot="0">
            <a:off x="12404855" y="3315719"/>
            <a:ext cx="5511803" cy="171707"/>
            <a:chOff x="0" y="0"/>
            <a:chExt cx="7349071" cy="228943"/>
          </a:xfrm>
        </p:grpSpPr>
        <p:sp>
          <p:nvSpPr>
            <p:cNvPr name="Freeform 48" id="48"/>
            <p:cNvSpPr/>
            <p:nvPr/>
          </p:nvSpPr>
          <p:spPr>
            <a:xfrm flipH="false" flipV="false" rot="0">
              <a:off x="16891" y="16891"/>
              <a:ext cx="7315200" cy="195072"/>
            </a:xfrm>
            <a:custGeom>
              <a:avLst/>
              <a:gdLst/>
              <a:ahLst/>
              <a:cxnLst/>
              <a:rect r="r" b="b" t="t" l="l"/>
              <a:pathLst>
                <a:path h="195072" w="7315200">
                  <a:moveTo>
                    <a:pt x="0" y="0"/>
                  </a:moveTo>
                  <a:lnTo>
                    <a:pt x="7315200" y="0"/>
                  </a:lnTo>
                  <a:lnTo>
                    <a:pt x="7315200" y="195072"/>
                  </a:lnTo>
                  <a:lnTo>
                    <a:pt x="0" y="195072"/>
                  </a:lnTo>
                  <a:close/>
                </a:path>
              </a:pathLst>
            </a:custGeom>
            <a:solidFill>
              <a:srgbClr val="8B5CF6"/>
            </a:solidFill>
          </p:spPr>
        </p:sp>
        <p:sp>
          <p:nvSpPr>
            <p:cNvPr name="Freeform 49" id="49"/>
            <p:cNvSpPr/>
            <p:nvPr/>
          </p:nvSpPr>
          <p:spPr>
            <a:xfrm flipH="false" flipV="false" rot="0">
              <a:off x="0" y="0"/>
              <a:ext cx="7348982" cy="228856"/>
            </a:xfrm>
            <a:custGeom>
              <a:avLst/>
              <a:gdLst/>
              <a:ahLst/>
              <a:cxnLst/>
              <a:rect r="r" b="b" t="t" l="l"/>
              <a:pathLst>
                <a:path h="228856" w="7348982">
                  <a:moveTo>
                    <a:pt x="16891" y="0"/>
                  </a:moveTo>
                  <a:lnTo>
                    <a:pt x="7332091" y="0"/>
                  </a:lnTo>
                  <a:cubicBezTo>
                    <a:pt x="7341489" y="0"/>
                    <a:pt x="7348982" y="7620"/>
                    <a:pt x="7348982" y="16891"/>
                  </a:cubicBezTo>
                  <a:lnTo>
                    <a:pt x="7348982" y="211963"/>
                  </a:lnTo>
                  <a:cubicBezTo>
                    <a:pt x="7348982" y="221361"/>
                    <a:pt x="7341362" y="228854"/>
                    <a:pt x="7332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7332091" y="195072"/>
                  </a:lnTo>
                  <a:lnTo>
                    <a:pt x="7332091" y="211963"/>
                  </a:lnTo>
                  <a:lnTo>
                    <a:pt x="7315200" y="211963"/>
                  </a:lnTo>
                  <a:lnTo>
                    <a:pt x="7315200" y="16891"/>
                  </a:lnTo>
                  <a:lnTo>
                    <a:pt x="7332091" y="16891"/>
                  </a:lnTo>
                  <a:lnTo>
                    <a:pt x="7332091" y="33909"/>
                  </a:lnTo>
                  <a:lnTo>
                    <a:pt x="16891" y="33909"/>
                  </a:lnTo>
                  <a:close/>
                </a:path>
              </a:pathLst>
            </a:custGeom>
            <a:solidFill>
              <a:srgbClr val="8B5CF6"/>
            </a:solidFill>
          </p:spPr>
        </p:sp>
      </p:grpSp>
      <p:grpSp>
        <p:nvGrpSpPr>
          <p:cNvPr name="Group 50" id="50"/>
          <p:cNvGrpSpPr/>
          <p:nvPr/>
        </p:nvGrpSpPr>
        <p:grpSpPr>
          <a:xfrm rot="0">
            <a:off x="12417552" y="3511296"/>
            <a:ext cx="5486400" cy="694944"/>
            <a:chOff x="0" y="0"/>
            <a:chExt cx="7315200" cy="926592"/>
          </a:xfrm>
        </p:grpSpPr>
        <p:sp>
          <p:nvSpPr>
            <p:cNvPr name="Freeform 51" id="51"/>
            <p:cNvSpPr/>
            <p:nvPr/>
          </p:nvSpPr>
          <p:spPr>
            <a:xfrm flipH="false" flipV="false" rot="0">
              <a:off x="0" y="0"/>
              <a:ext cx="7315200" cy="926592"/>
            </a:xfrm>
            <a:custGeom>
              <a:avLst/>
              <a:gdLst/>
              <a:ahLst/>
              <a:cxnLst/>
              <a:rect r="r" b="b" t="t" l="l"/>
              <a:pathLst>
                <a:path h="926592" w="7315200">
                  <a:moveTo>
                    <a:pt x="0" y="0"/>
                  </a:moveTo>
                  <a:lnTo>
                    <a:pt x="7315200" y="0"/>
                  </a:lnTo>
                  <a:lnTo>
                    <a:pt x="7315200" y="926592"/>
                  </a:lnTo>
                  <a:lnTo>
                    <a:pt x="0" y="926592"/>
                  </a:lnTo>
                  <a:close/>
                </a:path>
              </a:pathLst>
            </a:custGeom>
            <a:blipFill>
              <a:blip r:embed="rId3">
                <a:alphaModFix amt="0"/>
              </a:blip>
              <a:stretch>
                <a:fillRect l="0" t="-103829" r="0" b="-103829"/>
              </a:stretch>
            </a:blipFill>
          </p:spPr>
        </p:sp>
        <p:sp>
          <p:nvSpPr>
            <p:cNvPr name="TextBox 52" id="52"/>
            <p:cNvSpPr txBox="true"/>
            <p:nvPr/>
          </p:nvSpPr>
          <p:spPr>
            <a:xfrm>
              <a:off x="0" y="-66675"/>
              <a:ext cx="7315200" cy="993267"/>
            </a:xfrm>
            <a:prstGeom prst="rect">
              <a:avLst/>
            </a:prstGeom>
          </p:spPr>
          <p:txBody>
            <a:bodyPr anchor="ctr" rtlCol="false" tIns="0" lIns="0" bIns="0" rIns="0"/>
            <a:lstStyle/>
            <a:p>
              <a:pPr algn="ctr">
                <a:lnSpc>
                  <a:spcPts val="4320"/>
                </a:lnSpc>
              </a:pPr>
              <a:r>
                <a:rPr lang="en-US" sz="3600" b="true">
                  <a:solidFill>
                    <a:srgbClr val="8B5CF6"/>
                  </a:solidFill>
                  <a:latin typeface="Calibri (MS) Bold"/>
                  <a:ea typeface="Calibri (MS) Bold"/>
                  <a:cs typeface="Calibri (MS) Bold"/>
                  <a:sym typeface="Calibri (MS) Bold"/>
                </a:rPr>
                <a:t>03</a:t>
              </a:r>
            </a:p>
          </p:txBody>
        </p:sp>
      </p:grpSp>
      <p:grpSp>
        <p:nvGrpSpPr>
          <p:cNvPr name="Group 53" id="53"/>
          <p:cNvGrpSpPr/>
          <p:nvPr/>
        </p:nvGrpSpPr>
        <p:grpSpPr>
          <a:xfrm rot="0">
            <a:off x="12637008" y="4315968"/>
            <a:ext cx="5047488" cy="585216"/>
            <a:chOff x="0" y="0"/>
            <a:chExt cx="6729984" cy="780288"/>
          </a:xfrm>
        </p:grpSpPr>
        <p:sp>
          <p:nvSpPr>
            <p:cNvPr name="Freeform 54" id="54"/>
            <p:cNvSpPr/>
            <p:nvPr/>
          </p:nvSpPr>
          <p:spPr>
            <a:xfrm flipH="false" flipV="false" rot="0">
              <a:off x="0" y="0"/>
              <a:ext cx="6729984" cy="780288"/>
            </a:xfrm>
            <a:custGeom>
              <a:avLst/>
              <a:gdLst/>
              <a:ahLst/>
              <a:cxnLst/>
              <a:rect r="r" b="b" t="t" l="l"/>
              <a:pathLst>
                <a:path h="780288" w="6729984">
                  <a:moveTo>
                    <a:pt x="0" y="0"/>
                  </a:moveTo>
                  <a:lnTo>
                    <a:pt x="6729984" y="0"/>
                  </a:lnTo>
                  <a:lnTo>
                    <a:pt x="6729984" y="780288"/>
                  </a:lnTo>
                  <a:lnTo>
                    <a:pt x="0" y="780288"/>
                  </a:lnTo>
                  <a:close/>
                </a:path>
              </a:pathLst>
            </a:custGeom>
            <a:blipFill>
              <a:blip r:embed="rId3">
                <a:alphaModFix amt="0"/>
              </a:blip>
              <a:stretch>
                <a:fillRect l="0" t="-118058" r="0" b="-118058"/>
              </a:stretch>
            </a:blipFill>
          </p:spPr>
        </p:sp>
        <p:sp>
          <p:nvSpPr>
            <p:cNvPr name="TextBox 55" id="55"/>
            <p:cNvSpPr txBox="true"/>
            <p:nvPr/>
          </p:nvSpPr>
          <p:spPr>
            <a:xfrm>
              <a:off x="0" y="-47625"/>
              <a:ext cx="6729984"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Contextual fallback</a:t>
              </a:r>
            </a:p>
          </p:txBody>
        </p:sp>
      </p:grpSp>
      <p:grpSp>
        <p:nvGrpSpPr>
          <p:cNvPr name="Group 56" id="56"/>
          <p:cNvGrpSpPr/>
          <p:nvPr/>
        </p:nvGrpSpPr>
        <p:grpSpPr>
          <a:xfrm rot="0">
            <a:off x="12637008" y="4974336"/>
            <a:ext cx="5047488" cy="1024128"/>
            <a:chOff x="0" y="0"/>
            <a:chExt cx="6729984" cy="1365504"/>
          </a:xfrm>
        </p:grpSpPr>
        <p:sp>
          <p:nvSpPr>
            <p:cNvPr name="Freeform 57" id="57"/>
            <p:cNvSpPr/>
            <p:nvPr/>
          </p:nvSpPr>
          <p:spPr>
            <a:xfrm flipH="false" flipV="false" rot="0">
              <a:off x="0" y="0"/>
              <a:ext cx="6729984" cy="1365504"/>
            </a:xfrm>
            <a:custGeom>
              <a:avLst/>
              <a:gdLst/>
              <a:ahLst/>
              <a:cxnLst/>
              <a:rect r="r" b="b" t="t" l="l"/>
              <a:pathLst>
                <a:path h="1365504" w="6729984">
                  <a:moveTo>
                    <a:pt x="0" y="0"/>
                  </a:moveTo>
                  <a:lnTo>
                    <a:pt x="6729984" y="0"/>
                  </a:lnTo>
                  <a:lnTo>
                    <a:pt x="6729984" y="1365504"/>
                  </a:lnTo>
                  <a:lnTo>
                    <a:pt x="0" y="1365504"/>
                  </a:lnTo>
                  <a:close/>
                </a:path>
              </a:pathLst>
            </a:custGeom>
            <a:blipFill>
              <a:blip r:embed="rId3">
                <a:alphaModFix amt="0"/>
              </a:blip>
              <a:stretch>
                <a:fillRect l="0" t="-46033" r="0" b="-46033"/>
              </a:stretch>
            </a:blipFill>
          </p:spPr>
        </p:sp>
        <p:sp>
          <p:nvSpPr>
            <p:cNvPr name="TextBox 58" id="58"/>
            <p:cNvSpPr txBox="true"/>
            <p:nvPr/>
          </p:nvSpPr>
          <p:spPr>
            <a:xfrm>
              <a:off x="0" y="-38100"/>
              <a:ext cx="6729984" cy="1403604"/>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When disease patterns don't match (≤3 of 5), the system widens its lens to include environment, family history, lifestyle, and demographics.</a:t>
              </a:r>
            </a:p>
          </p:txBody>
        </p:sp>
      </p:grpSp>
      <p:grpSp>
        <p:nvGrpSpPr>
          <p:cNvPr name="Group 59" id="59"/>
          <p:cNvGrpSpPr/>
          <p:nvPr/>
        </p:nvGrpSpPr>
        <p:grpSpPr>
          <a:xfrm rot="0">
            <a:off x="627383" y="6461255"/>
            <a:ext cx="5511803" cy="2860043"/>
            <a:chOff x="0" y="0"/>
            <a:chExt cx="7349071" cy="3813391"/>
          </a:xfrm>
        </p:grpSpPr>
        <p:sp>
          <p:nvSpPr>
            <p:cNvPr name="Freeform 60" id="60"/>
            <p:cNvSpPr/>
            <p:nvPr/>
          </p:nvSpPr>
          <p:spPr>
            <a:xfrm flipH="false" flipV="false" rot="0">
              <a:off x="16891" y="16891"/>
              <a:ext cx="7315200" cy="3779520"/>
            </a:xfrm>
            <a:custGeom>
              <a:avLst/>
              <a:gdLst/>
              <a:ahLst/>
              <a:cxnLst/>
              <a:rect r="r" b="b" t="t" l="l"/>
              <a:pathLst>
                <a:path h="3779520" w="7315200">
                  <a:moveTo>
                    <a:pt x="0" y="0"/>
                  </a:moveTo>
                  <a:lnTo>
                    <a:pt x="7315200" y="0"/>
                  </a:lnTo>
                  <a:lnTo>
                    <a:pt x="7315200" y="3779520"/>
                  </a:lnTo>
                  <a:lnTo>
                    <a:pt x="0" y="3779520"/>
                  </a:lnTo>
                  <a:close/>
                </a:path>
              </a:pathLst>
            </a:custGeom>
            <a:solidFill>
              <a:srgbClr val="FFFFFF"/>
            </a:solidFill>
          </p:spPr>
        </p:sp>
        <p:sp>
          <p:nvSpPr>
            <p:cNvPr name="Freeform 61" id="61"/>
            <p:cNvSpPr/>
            <p:nvPr/>
          </p:nvSpPr>
          <p:spPr>
            <a:xfrm flipH="false" flipV="false" rot="0">
              <a:off x="0" y="0"/>
              <a:ext cx="7348982" cy="3813302"/>
            </a:xfrm>
            <a:custGeom>
              <a:avLst/>
              <a:gdLst/>
              <a:ahLst/>
              <a:cxnLst/>
              <a:rect r="r" b="b" t="t" l="l"/>
              <a:pathLst>
                <a:path h="3813302" w="7348982">
                  <a:moveTo>
                    <a:pt x="16891" y="0"/>
                  </a:moveTo>
                  <a:lnTo>
                    <a:pt x="7332091" y="0"/>
                  </a:lnTo>
                  <a:cubicBezTo>
                    <a:pt x="7341489" y="0"/>
                    <a:pt x="7348982" y="7620"/>
                    <a:pt x="7348982" y="16891"/>
                  </a:cubicBezTo>
                  <a:lnTo>
                    <a:pt x="7348982" y="3796411"/>
                  </a:lnTo>
                  <a:cubicBezTo>
                    <a:pt x="7348982" y="3805809"/>
                    <a:pt x="7341362" y="3813302"/>
                    <a:pt x="73320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7332091" y="3779520"/>
                  </a:lnTo>
                  <a:lnTo>
                    <a:pt x="7332091" y="3796411"/>
                  </a:lnTo>
                  <a:lnTo>
                    <a:pt x="7315200" y="3796411"/>
                  </a:lnTo>
                  <a:lnTo>
                    <a:pt x="7315200" y="16891"/>
                  </a:lnTo>
                  <a:lnTo>
                    <a:pt x="7332091" y="16891"/>
                  </a:lnTo>
                  <a:lnTo>
                    <a:pt x="7332091" y="33909"/>
                  </a:lnTo>
                  <a:lnTo>
                    <a:pt x="16891" y="33909"/>
                  </a:lnTo>
                  <a:close/>
                </a:path>
              </a:pathLst>
            </a:custGeom>
            <a:solidFill>
              <a:srgbClr val="E2E8F0"/>
            </a:solidFill>
          </p:spPr>
        </p:sp>
      </p:grpSp>
      <p:grpSp>
        <p:nvGrpSpPr>
          <p:cNvPr name="Group 62" id="62"/>
          <p:cNvGrpSpPr/>
          <p:nvPr/>
        </p:nvGrpSpPr>
        <p:grpSpPr>
          <a:xfrm rot="0">
            <a:off x="627383" y="6461255"/>
            <a:ext cx="5511803" cy="171707"/>
            <a:chOff x="0" y="0"/>
            <a:chExt cx="7349071" cy="228943"/>
          </a:xfrm>
        </p:grpSpPr>
        <p:sp>
          <p:nvSpPr>
            <p:cNvPr name="Freeform 63" id="63"/>
            <p:cNvSpPr/>
            <p:nvPr/>
          </p:nvSpPr>
          <p:spPr>
            <a:xfrm flipH="false" flipV="false" rot="0">
              <a:off x="16891" y="16891"/>
              <a:ext cx="7315200" cy="195072"/>
            </a:xfrm>
            <a:custGeom>
              <a:avLst/>
              <a:gdLst/>
              <a:ahLst/>
              <a:cxnLst/>
              <a:rect r="r" b="b" t="t" l="l"/>
              <a:pathLst>
                <a:path h="195072" w="7315200">
                  <a:moveTo>
                    <a:pt x="0" y="0"/>
                  </a:moveTo>
                  <a:lnTo>
                    <a:pt x="7315200" y="0"/>
                  </a:lnTo>
                  <a:lnTo>
                    <a:pt x="7315200" y="195072"/>
                  </a:lnTo>
                  <a:lnTo>
                    <a:pt x="0" y="195072"/>
                  </a:lnTo>
                  <a:close/>
                </a:path>
              </a:pathLst>
            </a:custGeom>
            <a:solidFill>
              <a:srgbClr val="EF4444"/>
            </a:solidFill>
          </p:spPr>
        </p:sp>
        <p:sp>
          <p:nvSpPr>
            <p:cNvPr name="Freeform 64" id="64"/>
            <p:cNvSpPr/>
            <p:nvPr/>
          </p:nvSpPr>
          <p:spPr>
            <a:xfrm flipH="false" flipV="false" rot="0">
              <a:off x="0" y="0"/>
              <a:ext cx="7348982" cy="228856"/>
            </a:xfrm>
            <a:custGeom>
              <a:avLst/>
              <a:gdLst/>
              <a:ahLst/>
              <a:cxnLst/>
              <a:rect r="r" b="b" t="t" l="l"/>
              <a:pathLst>
                <a:path h="228856" w="7348982">
                  <a:moveTo>
                    <a:pt x="16891" y="0"/>
                  </a:moveTo>
                  <a:lnTo>
                    <a:pt x="7332091" y="0"/>
                  </a:lnTo>
                  <a:cubicBezTo>
                    <a:pt x="7341489" y="0"/>
                    <a:pt x="7348982" y="7620"/>
                    <a:pt x="7348982" y="16891"/>
                  </a:cubicBezTo>
                  <a:lnTo>
                    <a:pt x="7348982" y="211963"/>
                  </a:lnTo>
                  <a:cubicBezTo>
                    <a:pt x="7348982" y="221361"/>
                    <a:pt x="7341362" y="228854"/>
                    <a:pt x="7332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7332091" y="195072"/>
                  </a:lnTo>
                  <a:lnTo>
                    <a:pt x="7332091" y="211963"/>
                  </a:lnTo>
                  <a:lnTo>
                    <a:pt x="7315200" y="211963"/>
                  </a:lnTo>
                  <a:lnTo>
                    <a:pt x="7315200" y="16891"/>
                  </a:lnTo>
                  <a:lnTo>
                    <a:pt x="7332091" y="16891"/>
                  </a:lnTo>
                  <a:lnTo>
                    <a:pt x="7332091" y="33909"/>
                  </a:lnTo>
                  <a:lnTo>
                    <a:pt x="16891" y="33909"/>
                  </a:lnTo>
                  <a:close/>
                </a:path>
              </a:pathLst>
            </a:custGeom>
            <a:solidFill>
              <a:srgbClr val="EF4444"/>
            </a:solidFill>
          </p:spPr>
        </p:sp>
      </p:grpSp>
      <p:grpSp>
        <p:nvGrpSpPr>
          <p:cNvPr name="Group 65" id="65"/>
          <p:cNvGrpSpPr/>
          <p:nvPr/>
        </p:nvGrpSpPr>
        <p:grpSpPr>
          <a:xfrm rot="0">
            <a:off x="640080" y="6656832"/>
            <a:ext cx="5486400" cy="694944"/>
            <a:chOff x="0" y="0"/>
            <a:chExt cx="7315200" cy="926592"/>
          </a:xfrm>
        </p:grpSpPr>
        <p:sp>
          <p:nvSpPr>
            <p:cNvPr name="Freeform 66" id="66"/>
            <p:cNvSpPr/>
            <p:nvPr/>
          </p:nvSpPr>
          <p:spPr>
            <a:xfrm flipH="false" flipV="false" rot="0">
              <a:off x="0" y="0"/>
              <a:ext cx="7315200" cy="926592"/>
            </a:xfrm>
            <a:custGeom>
              <a:avLst/>
              <a:gdLst/>
              <a:ahLst/>
              <a:cxnLst/>
              <a:rect r="r" b="b" t="t" l="l"/>
              <a:pathLst>
                <a:path h="926592" w="7315200">
                  <a:moveTo>
                    <a:pt x="0" y="0"/>
                  </a:moveTo>
                  <a:lnTo>
                    <a:pt x="7315200" y="0"/>
                  </a:lnTo>
                  <a:lnTo>
                    <a:pt x="7315200" y="926592"/>
                  </a:lnTo>
                  <a:lnTo>
                    <a:pt x="0" y="926592"/>
                  </a:lnTo>
                  <a:close/>
                </a:path>
              </a:pathLst>
            </a:custGeom>
            <a:blipFill>
              <a:blip r:embed="rId3">
                <a:alphaModFix amt="0"/>
              </a:blip>
              <a:stretch>
                <a:fillRect l="0" t="-103829" r="0" b="-103829"/>
              </a:stretch>
            </a:blipFill>
          </p:spPr>
        </p:sp>
        <p:sp>
          <p:nvSpPr>
            <p:cNvPr name="TextBox 67" id="67"/>
            <p:cNvSpPr txBox="true"/>
            <p:nvPr/>
          </p:nvSpPr>
          <p:spPr>
            <a:xfrm>
              <a:off x="0" y="-66675"/>
              <a:ext cx="7315200" cy="993267"/>
            </a:xfrm>
            <a:prstGeom prst="rect">
              <a:avLst/>
            </a:prstGeom>
          </p:spPr>
          <p:txBody>
            <a:bodyPr anchor="ctr" rtlCol="false" tIns="0" lIns="0" bIns="0" rIns="0"/>
            <a:lstStyle/>
            <a:p>
              <a:pPr algn="ctr">
                <a:lnSpc>
                  <a:spcPts val="4320"/>
                </a:lnSpc>
              </a:pPr>
              <a:r>
                <a:rPr lang="en-US" sz="3600" b="true">
                  <a:solidFill>
                    <a:srgbClr val="EF4444"/>
                  </a:solidFill>
                  <a:latin typeface="Calibri (MS) Bold"/>
                  <a:ea typeface="Calibri (MS) Bold"/>
                  <a:cs typeface="Calibri (MS) Bold"/>
                  <a:sym typeface="Calibri (MS) Bold"/>
                </a:rPr>
                <a:t>04</a:t>
              </a:r>
            </a:p>
          </p:txBody>
        </p:sp>
      </p:grpSp>
      <p:grpSp>
        <p:nvGrpSpPr>
          <p:cNvPr name="Group 68" id="68"/>
          <p:cNvGrpSpPr/>
          <p:nvPr/>
        </p:nvGrpSpPr>
        <p:grpSpPr>
          <a:xfrm rot="0">
            <a:off x="859536" y="7461504"/>
            <a:ext cx="5047488" cy="585216"/>
            <a:chOff x="0" y="0"/>
            <a:chExt cx="6729984" cy="780288"/>
          </a:xfrm>
        </p:grpSpPr>
        <p:sp>
          <p:nvSpPr>
            <p:cNvPr name="Freeform 69" id="69"/>
            <p:cNvSpPr/>
            <p:nvPr/>
          </p:nvSpPr>
          <p:spPr>
            <a:xfrm flipH="false" flipV="false" rot="0">
              <a:off x="0" y="0"/>
              <a:ext cx="6729984" cy="780288"/>
            </a:xfrm>
            <a:custGeom>
              <a:avLst/>
              <a:gdLst/>
              <a:ahLst/>
              <a:cxnLst/>
              <a:rect r="r" b="b" t="t" l="l"/>
              <a:pathLst>
                <a:path h="780288" w="6729984">
                  <a:moveTo>
                    <a:pt x="0" y="0"/>
                  </a:moveTo>
                  <a:lnTo>
                    <a:pt x="6729984" y="0"/>
                  </a:lnTo>
                  <a:lnTo>
                    <a:pt x="6729984" y="780288"/>
                  </a:lnTo>
                  <a:lnTo>
                    <a:pt x="0" y="780288"/>
                  </a:lnTo>
                  <a:close/>
                </a:path>
              </a:pathLst>
            </a:custGeom>
            <a:blipFill>
              <a:blip r:embed="rId3">
                <a:alphaModFix amt="0"/>
              </a:blip>
              <a:stretch>
                <a:fillRect l="0" t="-118058" r="0" b="-118058"/>
              </a:stretch>
            </a:blipFill>
          </p:spPr>
        </p:sp>
        <p:sp>
          <p:nvSpPr>
            <p:cNvPr name="TextBox 70" id="70"/>
            <p:cNvSpPr txBox="true"/>
            <p:nvPr/>
          </p:nvSpPr>
          <p:spPr>
            <a:xfrm>
              <a:off x="0" y="-47625"/>
              <a:ext cx="6729984"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Explainable AI</a:t>
              </a:r>
            </a:p>
          </p:txBody>
        </p:sp>
      </p:grpSp>
      <p:grpSp>
        <p:nvGrpSpPr>
          <p:cNvPr name="Group 71" id="71"/>
          <p:cNvGrpSpPr/>
          <p:nvPr/>
        </p:nvGrpSpPr>
        <p:grpSpPr>
          <a:xfrm rot="0">
            <a:off x="859536" y="8119872"/>
            <a:ext cx="5047488" cy="1024128"/>
            <a:chOff x="0" y="0"/>
            <a:chExt cx="6729984" cy="1365504"/>
          </a:xfrm>
        </p:grpSpPr>
        <p:sp>
          <p:nvSpPr>
            <p:cNvPr name="Freeform 72" id="72"/>
            <p:cNvSpPr/>
            <p:nvPr/>
          </p:nvSpPr>
          <p:spPr>
            <a:xfrm flipH="false" flipV="false" rot="0">
              <a:off x="0" y="0"/>
              <a:ext cx="6729984" cy="1365504"/>
            </a:xfrm>
            <a:custGeom>
              <a:avLst/>
              <a:gdLst/>
              <a:ahLst/>
              <a:cxnLst/>
              <a:rect r="r" b="b" t="t" l="l"/>
              <a:pathLst>
                <a:path h="1365504" w="6729984">
                  <a:moveTo>
                    <a:pt x="0" y="0"/>
                  </a:moveTo>
                  <a:lnTo>
                    <a:pt x="6729984" y="0"/>
                  </a:lnTo>
                  <a:lnTo>
                    <a:pt x="6729984" y="1365504"/>
                  </a:lnTo>
                  <a:lnTo>
                    <a:pt x="0" y="1365504"/>
                  </a:lnTo>
                  <a:close/>
                </a:path>
              </a:pathLst>
            </a:custGeom>
            <a:blipFill>
              <a:blip r:embed="rId3">
                <a:alphaModFix amt="0"/>
              </a:blip>
              <a:stretch>
                <a:fillRect l="0" t="-46033" r="0" b="-46033"/>
              </a:stretch>
            </a:blipFill>
          </p:spPr>
        </p:sp>
        <p:sp>
          <p:nvSpPr>
            <p:cNvPr name="TextBox 73" id="73"/>
            <p:cNvSpPr txBox="true"/>
            <p:nvPr/>
          </p:nvSpPr>
          <p:spPr>
            <a:xfrm>
              <a:off x="0" y="-38100"/>
              <a:ext cx="6729984" cy="1403604"/>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SHAP values show doctors exactly which factors drove each prediction. No black box — the 'why' is always visible alongside the 'what'.</a:t>
              </a:r>
            </a:p>
          </p:txBody>
        </p:sp>
      </p:grpSp>
      <p:grpSp>
        <p:nvGrpSpPr>
          <p:cNvPr name="Group 74" id="74"/>
          <p:cNvGrpSpPr/>
          <p:nvPr/>
        </p:nvGrpSpPr>
        <p:grpSpPr>
          <a:xfrm rot="0">
            <a:off x="6516119" y="6461255"/>
            <a:ext cx="5511803" cy="2860043"/>
            <a:chOff x="0" y="0"/>
            <a:chExt cx="7349071" cy="3813391"/>
          </a:xfrm>
        </p:grpSpPr>
        <p:sp>
          <p:nvSpPr>
            <p:cNvPr name="Freeform 75" id="75"/>
            <p:cNvSpPr/>
            <p:nvPr/>
          </p:nvSpPr>
          <p:spPr>
            <a:xfrm flipH="false" flipV="false" rot="0">
              <a:off x="16891" y="16891"/>
              <a:ext cx="7315200" cy="3779520"/>
            </a:xfrm>
            <a:custGeom>
              <a:avLst/>
              <a:gdLst/>
              <a:ahLst/>
              <a:cxnLst/>
              <a:rect r="r" b="b" t="t" l="l"/>
              <a:pathLst>
                <a:path h="3779520" w="7315200">
                  <a:moveTo>
                    <a:pt x="0" y="0"/>
                  </a:moveTo>
                  <a:lnTo>
                    <a:pt x="7315200" y="0"/>
                  </a:lnTo>
                  <a:lnTo>
                    <a:pt x="7315200" y="3779520"/>
                  </a:lnTo>
                  <a:lnTo>
                    <a:pt x="0" y="3779520"/>
                  </a:lnTo>
                  <a:close/>
                </a:path>
              </a:pathLst>
            </a:custGeom>
            <a:solidFill>
              <a:srgbClr val="FFFFFF"/>
            </a:solidFill>
          </p:spPr>
        </p:sp>
        <p:sp>
          <p:nvSpPr>
            <p:cNvPr name="Freeform 76" id="76"/>
            <p:cNvSpPr/>
            <p:nvPr/>
          </p:nvSpPr>
          <p:spPr>
            <a:xfrm flipH="false" flipV="false" rot="0">
              <a:off x="0" y="0"/>
              <a:ext cx="7348982" cy="3813302"/>
            </a:xfrm>
            <a:custGeom>
              <a:avLst/>
              <a:gdLst/>
              <a:ahLst/>
              <a:cxnLst/>
              <a:rect r="r" b="b" t="t" l="l"/>
              <a:pathLst>
                <a:path h="3813302" w="7348982">
                  <a:moveTo>
                    <a:pt x="16891" y="0"/>
                  </a:moveTo>
                  <a:lnTo>
                    <a:pt x="7332091" y="0"/>
                  </a:lnTo>
                  <a:cubicBezTo>
                    <a:pt x="7341489" y="0"/>
                    <a:pt x="7348982" y="7620"/>
                    <a:pt x="7348982" y="16891"/>
                  </a:cubicBezTo>
                  <a:lnTo>
                    <a:pt x="7348982" y="3796411"/>
                  </a:lnTo>
                  <a:cubicBezTo>
                    <a:pt x="7348982" y="3805809"/>
                    <a:pt x="7341362" y="3813302"/>
                    <a:pt x="73320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7332091" y="3779520"/>
                  </a:lnTo>
                  <a:lnTo>
                    <a:pt x="7332091" y="3796411"/>
                  </a:lnTo>
                  <a:lnTo>
                    <a:pt x="7315200" y="3796411"/>
                  </a:lnTo>
                  <a:lnTo>
                    <a:pt x="7315200" y="16891"/>
                  </a:lnTo>
                  <a:lnTo>
                    <a:pt x="7332091" y="16891"/>
                  </a:lnTo>
                  <a:lnTo>
                    <a:pt x="7332091" y="33909"/>
                  </a:lnTo>
                  <a:lnTo>
                    <a:pt x="16891" y="33909"/>
                  </a:lnTo>
                  <a:close/>
                </a:path>
              </a:pathLst>
            </a:custGeom>
            <a:solidFill>
              <a:srgbClr val="E2E8F0"/>
            </a:solidFill>
          </p:spPr>
        </p:sp>
      </p:grpSp>
      <p:grpSp>
        <p:nvGrpSpPr>
          <p:cNvPr name="Group 77" id="77"/>
          <p:cNvGrpSpPr/>
          <p:nvPr/>
        </p:nvGrpSpPr>
        <p:grpSpPr>
          <a:xfrm rot="0">
            <a:off x="6516119" y="6461255"/>
            <a:ext cx="5511803" cy="171707"/>
            <a:chOff x="0" y="0"/>
            <a:chExt cx="7349071" cy="228943"/>
          </a:xfrm>
        </p:grpSpPr>
        <p:sp>
          <p:nvSpPr>
            <p:cNvPr name="Freeform 78" id="78"/>
            <p:cNvSpPr/>
            <p:nvPr/>
          </p:nvSpPr>
          <p:spPr>
            <a:xfrm flipH="false" flipV="false" rot="0">
              <a:off x="16891" y="16891"/>
              <a:ext cx="7315200" cy="195072"/>
            </a:xfrm>
            <a:custGeom>
              <a:avLst/>
              <a:gdLst/>
              <a:ahLst/>
              <a:cxnLst/>
              <a:rect r="r" b="b" t="t" l="l"/>
              <a:pathLst>
                <a:path h="195072" w="7315200">
                  <a:moveTo>
                    <a:pt x="0" y="0"/>
                  </a:moveTo>
                  <a:lnTo>
                    <a:pt x="7315200" y="0"/>
                  </a:lnTo>
                  <a:lnTo>
                    <a:pt x="7315200" y="195072"/>
                  </a:lnTo>
                  <a:lnTo>
                    <a:pt x="0" y="195072"/>
                  </a:lnTo>
                  <a:close/>
                </a:path>
              </a:pathLst>
            </a:custGeom>
            <a:solidFill>
              <a:srgbClr val="10B981"/>
            </a:solidFill>
          </p:spPr>
        </p:sp>
        <p:sp>
          <p:nvSpPr>
            <p:cNvPr name="Freeform 79" id="79"/>
            <p:cNvSpPr/>
            <p:nvPr/>
          </p:nvSpPr>
          <p:spPr>
            <a:xfrm flipH="false" flipV="false" rot="0">
              <a:off x="0" y="0"/>
              <a:ext cx="7348982" cy="228856"/>
            </a:xfrm>
            <a:custGeom>
              <a:avLst/>
              <a:gdLst/>
              <a:ahLst/>
              <a:cxnLst/>
              <a:rect r="r" b="b" t="t" l="l"/>
              <a:pathLst>
                <a:path h="228856" w="7348982">
                  <a:moveTo>
                    <a:pt x="16891" y="0"/>
                  </a:moveTo>
                  <a:lnTo>
                    <a:pt x="7332091" y="0"/>
                  </a:lnTo>
                  <a:cubicBezTo>
                    <a:pt x="7341489" y="0"/>
                    <a:pt x="7348982" y="7620"/>
                    <a:pt x="7348982" y="16891"/>
                  </a:cubicBezTo>
                  <a:lnTo>
                    <a:pt x="7348982" y="211963"/>
                  </a:lnTo>
                  <a:cubicBezTo>
                    <a:pt x="7348982" y="221361"/>
                    <a:pt x="7341362" y="228854"/>
                    <a:pt x="7332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7332091" y="195072"/>
                  </a:lnTo>
                  <a:lnTo>
                    <a:pt x="7332091" y="211963"/>
                  </a:lnTo>
                  <a:lnTo>
                    <a:pt x="7315200" y="211963"/>
                  </a:lnTo>
                  <a:lnTo>
                    <a:pt x="7315200" y="16891"/>
                  </a:lnTo>
                  <a:lnTo>
                    <a:pt x="7332091" y="16891"/>
                  </a:lnTo>
                  <a:lnTo>
                    <a:pt x="7332091" y="33909"/>
                  </a:lnTo>
                  <a:lnTo>
                    <a:pt x="16891" y="33909"/>
                  </a:lnTo>
                  <a:close/>
                </a:path>
              </a:pathLst>
            </a:custGeom>
            <a:solidFill>
              <a:srgbClr val="10B981"/>
            </a:solidFill>
          </p:spPr>
        </p:sp>
      </p:grpSp>
      <p:grpSp>
        <p:nvGrpSpPr>
          <p:cNvPr name="Group 80" id="80"/>
          <p:cNvGrpSpPr/>
          <p:nvPr/>
        </p:nvGrpSpPr>
        <p:grpSpPr>
          <a:xfrm rot="0">
            <a:off x="6528816" y="6656832"/>
            <a:ext cx="5486400" cy="694944"/>
            <a:chOff x="0" y="0"/>
            <a:chExt cx="7315200" cy="926592"/>
          </a:xfrm>
        </p:grpSpPr>
        <p:sp>
          <p:nvSpPr>
            <p:cNvPr name="Freeform 81" id="81"/>
            <p:cNvSpPr/>
            <p:nvPr/>
          </p:nvSpPr>
          <p:spPr>
            <a:xfrm flipH="false" flipV="false" rot="0">
              <a:off x="0" y="0"/>
              <a:ext cx="7315200" cy="926592"/>
            </a:xfrm>
            <a:custGeom>
              <a:avLst/>
              <a:gdLst/>
              <a:ahLst/>
              <a:cxnLst/>
              <a:rect r="r" b="b" t="t" l="l"/>
              <a:pathLst>
                <a:path h="926592" w="7315200">
                  <a:moveTo>
                    <a:pt x="0" y="0"/>
                  </a:moveTo>
                  <a:lnTo>
                    <a:pt x="7315200" y="0"/>
                  </a:lnTo>
                  <a:lnTo>
                    <a:pt x="7315200" y="926592"/>
                  </a:lnTo>
                  <a:lnTo>
                    <a:pt x="0" y="926592"/>
                  </a:lnTo>
                  <a:close/>
                </a:path>
              </a:pathLst>
            </a:custGeom>
            <a:blipFill>
              <a:blip r:embed="rId3">
                <a:alphaModFix amt="0"/>
              </a:blip>
              <a:stretch>
                <a:fillRect l="0" t="-103829" r="0" b="-103829"/>
              </a:stretch>
            </a:blipFill>
          </p:spPr>
        </p:sp>
        <p:sp>
          <p:nvSpPr>
            <p:cNvPr name="TextBox 82" id="82"/>
            <p:cNvSpPr txBox="true"/>
            <p:nvPr/>
          </p:nvSpPr>
          <p:spPr>
            <a:xfrm>
              <a:off x="0" y="-66675"/>
              <a:ext cx="7315200" cy="993267"/>
            </a:xfrm>
            <a:prstGeom prst="rect">
              <a:avLst/>
            </a:prstGeom>
          </p:spPr>
          <p:txBody>
            <a:bodyPr anchor="ctr" rtlCol="false" tIns="0" lIns="0" bIns="0" rIns="0"/>
            <a:lstStyle/>
            <a:p>
              <a:pPr algn="ctr">
                <a:lnSpc>
                  <a:spcPts val="4320"/>
                </a:lnSpc>
              </a:pPr>
              <a:r>
                <a:rPr lang="en-US" sz="3600" b="true">
                  <a:solidFill>
                    <a:srgbClr val="10B981"/>
                  </a:solidFill>
                  <a:latin typeface="Calibri (MS) Bold"/>
                  <a:ea typeface="Calibri (MS) Bold"/>
                  <a:cs typeface="Calibri (MS) Bold"/>
                  <a:sym typeface="Calibri (MS) Bold"/>
                </a:rPr>
                <a:t>05</a:t>
              </a:r>
            </a:p>
          </p:txBody>
        </p:sp>
      </p:grpSp>
      <p:grpSp>
        <p:nvGrpSpPr>
          <p:cNvPr name="Group 83" id="83"/>
          <p:cNvGrpSpPr/>
          <p:nvPr/>
        </p:nvGrpSpPr>
        <p:grpSpPr>
          <a:xfrm rot="0">
            <a:off x="6748272" y="7461504"/>
            <a:ext cx="5047488" cy="585216"/>
            <a:chOff x="0" y="0"/>
            <a:chExt cx="6729984" cy="780288"/>
          </a:xfrm>
        </p:grpSpPr>
        <p:sp>
          <p:nvSpPr>
            <p:cNvPr name="Freeform 84" id="84"/>
            <p:cNvSpPr/>
            <p:nvPr/>
          </p:nvSpPr>
          <p:spPr>
            <a:xfrm flipH="false" flipV="false" rot="0">
              <a:off x="0" y="0"/>
              <a:ext cx="6729984" cy="780288"/>
            </a:xfrm>
            <a:custGeom>
              <a:avLst/>
              <a:gdLst/>
              <a:ahLst/>
              <a:cxnLst/>
              <a:rect r="r" b="b" t="t" l="l"/>
              <a:pathLst>
                <a:path h="780288" w="6729984">
                  <a:moveTo>
                    <a:pt x="0" y="0"/>
                  </a:moveTo>
                  <a:lnTo>
                    <a:pt x="6729984" y="0"/>
                  </a:lnTo>
                  <a:lnTo>
                    <a:pt x="6729984" y="780288"/>
                  </a:lnTo>
                  <a:lnTo>
                    <a:pt x="0" y="780288"/>
                  </a:lnTo>
                  <a:close/>
                </a:path>
              </a:pathLst>
            </a:custGeom>
            <a:blipFill>
              <a:blip r:embed="rId3">
                <a:alphaModFix amt="0"/>
              </a:blip>
              <a:stretch>
                <a:fillRect l="0" t="-118058" r="0" b="-118058"/>
              </a:stretch>
            </a:blipFill>
          </p:spPr>
        </p:sp>
        <p:sp>
          <p:nvSpPr>
            <p:cNvPr name="TextBox 85" id="85"/>
            <p:cNvSpPr txBox="true"/>
            <p:nvPr/>
          </p:nvSpPr>
          <p:spPr>
            <a:xfrm>
              <a:off x="0" y="-47625"/>
              <a:ext cx="6729984"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EHR integration ready</a:t>
              </a:r>
            </a:p>
          </p:txBody>
        </p:sp>
      </p:grpSp>
      <p:grpSp>
        <p:nvGrpSpPr>
          <p:cNvPr name="Group 86" id="86"/>
          <p:cNvGrpSpPr/>
          <p:nvPr/>
        </p:nvGrpSpPr>
        <p:grpSpPr>
          <a:xfrm rot="0">
            <a:off x="6748272" y="8119872"/>
            <a:ext cx="5047488" cy="1024128"/>
            <a:chOff x="0" y="0"/>
            <a:chExt cx="6729984" cy="1365504"/>
          </a:xfrm>
        </p:grpSpPr>
        <p:sp>
          <p:nvSpPr>
            <p:cNvPr name="Freeform 87" id="87"/>
            <p:cNvSpPr/>
            <p:nvPr/>
          </p:nvSpPr>
          <p:spPr>
            <a:xfrm flipH="false" flipV="false" rot="0">
              <a:off x="0" y="0"/>
              <a:ext cx="6729984" cy="1365504"/>
            </a:xfrm>
            <a:custGeom>
              <a:avLst/>
              <a:gdLst/>
              <a:ahLst/>
              <a:cxnLst/>
              <a:rect r="r" b="b" t="t" l="l"/>
              <a:pathLst>
                <a:path h="1365504" w="6729984">
                  <a:moveTo>
                    <a:pt x="0" y="0"/>
                  </a:moveTo>
                  <a:lnTo>
                    <a:pt x="6729984" y="0"/>
                  </a:lnTo>
                  <a:lnTo>
                    <a:pt x="6729984" y="1365504"/>
                  </a:lnTo>
                  <a:lnTo>
                    <a:pt x="0" y="1365504"/>
                  </a:lnTo>
                  <a:close/>
                </a:path>
              </a:pathLst>
            </a:custGeom>
            <a:blipFill>
              <a:blip r:embed="rId3">
                <a:alphaModFix amt="0"/>
              </a:blip>
              <a:stretch>
                <a:fillRect l="0" t="-46033" r="0" b="-46033"/>
              </a:stretch>
            </a:blipFill>
          </p:spPr>
        </p:sp>
        <p:sp>
          <p:nvSpPr>
            <p:cNvPr name="TextBox 88" id="88"/>
            <p:cNvSpPr txBox="true"/>
            <p:nvPr/>
          </p:nvSpPr>
          <p:spPr>
            <a:xfrm>
              <a:off x="0" y="-38100"/>
              <a:ext cx="6729984" cy="1403604"/>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Designed to connect with existing Electronic Health Record systems — no workflow disruption for clinical staff.</a:t>
              </a:r>
            </a:p>
          </p:txBody>
        </p:sp>
      </p:grpSp>
      <p:grpSp>
        <p:nvGrpSpPr>
          <p:cNvPr name="Group 89" id="89"/>
          <p:cNvGrpSpPr/>
          <p:nvPr/>
        </p:nvGrpSpPr>
        <p:grpSpPr>
          <a:xfrm rot="0">
            <a:off x="12404855" y="6461255"/>
            <a:ext cx="5511803" cy="2860043"/>
            <a:chOff x="0" y="0"/>
            <a:chExt cx="7349071" cy="3813391"/>
          </a:xfrm>
        </p:grpSpPr>
        <p:sp>
          <p:nvSpPr>
            <p:cNvPr name="Freeform 90" id="90"/>
            <p:cNvSpPr/>
            <p:nvPr/>
          </p:nvSpPr>
          <p:spPr>
            <a:xfrm flipH="false" flipV="false" rot="0">
              <a:off x="16891" y="16891"/>
              <a:ext cx="7315200" cy="3779520"/>
            </a:xfrm>
            <a:custGeom>
              <a:avLst/>
              <a:gdLst/>
              <a:ahLst/>
              <a:cxnLst/>
              <a:rect r="r" b="b" t="t" l="l"/>
              <a:pathLst>
                <a:path h="3779520" w="7315200">
                  <a:moveTo>
                    <a:pt x="0" y="0"/>
                  </a:moveTo>
                  <a:lnTo>
                    <a:pt x="7315200" y="0"/>
                  </a:lnTo>
                  <a:lnTo>
                    <a:pt x="7315200" y="3779520"/>
                  </a:lnTo>
                  <a:lnTo>
                    <a:pt x="0" y="3779520"/>
                  </a:lnTo>
                  <a:close/>
                </a:path>
              </a:pathLst>
            </a:custGeom>
            <a:solidFill>
              <a:srgbClr val="FFFFFF"/>
            </a:solidFill>
          </p:spPr>
        </p:sp>
        <p:sp>
          <p:nvSpPr>
            <p:cNvPr name="Freeform 91" id="91"/>
            <p:cNvSpPr/>
            <p:nvPr/>
          </p:nvSpPr>
          <p:spPr>
            <a:xfrm flipH="false" flipV="false" rot="0">
              <a:off x="0" y="0"/>
              <a:ext cx="7348982" cy="3813302"/>
            </a:xfrm>
            <a:custGeom>
              <a:avLst/>
              <a:gdLst/>
              <a:ahLst/>
              <a:cxnLst/>
              <a:rect r="r" b="b" t="t" l="l"/>
              <a:pathLst>
                <a:path h="3813302" w="7348982">
                  <a:moveTo>
                    <a:pt x="16891" y="0"/>
                  </a:moveTo>
                  <a:lnTo>
                    <a:pt x="7332091" y="0"/>
                  </a:lnTo>
                  <a:cubicBezTo>
                    <a:pt x="7341489" y="0"/>
                    <a:pt x="7348982" y="7620"/>
                    <a:pt x="7348982" y="16891"/>
                  </a:cubicBezTo>
                  <a:lnTo>
                    <a:pt x="7348982" y="3796411"/>
                  </a:lnTo>
                  <a:cubicBezTo>
                    <a:pt x="7348982" y="3805809"/>
                    <a:pt x="7341362" y="3813302"/>
                    <a:pt x="73320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7332091" y="3779520"/>
                  </a:lnTo>
                  <a:lnTo>
                    <a:pt x="7332091" y="3796411"/>
                  </a:lnTo>
                  <a:lnTo>
                    <a:pt x="7315200" y="3796411"/>
                  </a:lnTo>
                  <a:lnTo>
                    <a:pt x="7315200" y="16891"/>
                  </a:lnTo>
                  <a:lnTo>
                    <a:pt x="7332091" y="16891"/>
                  </a:lnTo>
                  <a:lnTo>
                    <a:pt x="7332091" y="33909"/>
                  </a:lnTo>
                  <a:lnTo>
                    <a:pt x="16891" y="33909"/>
                  </a:lnTo>
                  <a:close/>
                </a:path>
              </a:pathLst>
            </a:custGeom>
            <a:solidFill>
              <a:srgbClr val="E2E8F0"/>
            </a:solidFill>
          </p:spPr>
        </p:sp>
      </p:grpSp>
      <p:grpSp>
        <p:nvGrpSpPr>
          <p:cNvPr name="Group 92" id="92"/>
          <p:cNvGrpSpPr/>
          <p:nvPr/>
        </p:nvGrpSpPr>
        <p:grpSpPr>
          <a:xfrm rot="0">
            <a:off x="12404855" y="6461255"/>
            <a:ext cx="5511803" cy="171707"/>
            <a:chOff x="0" y="0"/>
            <a:chExt cx="7349071" cy="228943"/>
          </a:xfrm>
        </p:grpSpPr>
        <p:sp>
          <p:nvSpPr>
            <p:cNvPr name="Freeform 93" id="93"/>
            <p:cNvSpPr/>
            <p:nvPr/>
          </p:nvSpPr>
          <p:spPr>
            <a:xfrm flipH="false" flipV="false" rot="0">
              <a:off x="16891" y="16891"/>
              <a:ext cx="7315200" cy="195072"/>
            </a:xfrm>
            <a:custGeom>
              <a:avLst/>
              <a:gdLst/>
              <a:ahLst/>
              <a:cxnLst/>
              <a:rect r="r" b="b" t="t" l="l"/>
              <a:pathLst>
                <a:path h="195072" w="7315200">
                  <a:moveTo>
                    <a:pt x="0" y="0"/>
                  </a:moveTo>
                  <a:lnTo>
                    <a:pt x="7315200" y="0"/>
                  </a:lnTo>
                  <a:lnTo>
                    <a:pt x="7315200" y="195072"/>
                  </a:lnTo>
                  <a:lnTo>
                    <a:pt x="0" y="195072"/>
                  </a:lnTo>
                  <a:close/>
                </a:path>
              </a:pathLst>
            </a:custGeom>
            <a:solidFill>
              <a:srgbClr val="14B8A6"/>
            </a:solidFill>
          </p:spPr>
        </p:sp>
        <p:sp>
          <p:nvSpPr>
            <p:cNvPr name="Freeform 94" id="94"/>
            <p:cNvSpPr/>
            <p:nvPr/>
          </p:nvSpPr>
          <p:spPr>
            <a:xfrm flipH="false" flipV="false" rot="0">
              <a:off x="0" y="0"/>
              <a:ext cx="7348982" cy="228856"/>
            </a:xfrm>
            <a:custGeom>
              <a:avLst/>
              <a:gdLst/>
              <a:ahLst/>
              <a:cxnLst/>
              <a:rect r="r" b="b" t="t" l="l"/>
              <a:pathLst>
                <a:path h="228856" w="7348982">
                  <a:moveTo>
                    <a:pt x="16891" y="0"/>
                  </a:moveTo>
                  <a:lnTo>
                    <a:pt x="7332091" y="0"/>
                  </a:lnTo>
                  <a:cubicBezTo>
                    <a:pt x="7341489" y="0"/>
                    <a:pt x="7348982" y="7620"/>
                    <a:pt x="7348982" y="16891"/>
                  </a:cubicBezTo>
                  <a:lnTo>
                    <a:pt x="7348982" y="211963"/>
                  </a:lnTo>
                  <a:cubicBezTo>
                    <a:pt x="7348982" y="221361"/>
                    <a:pt x="7341362" y="228854"/>
                    <a:pt x="7332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7332091" y="195072"/>
                  </a:lnTo>
                  <a:lnTo>
                    <a:pt x="7332091" y="211963"/>
                  </a:lnTo>
                  <a:lnTo>
                    <a:pt x="7315200" y="211963"/>
                  </a:lnTo>
                  <a:lnTo>
                    <a:pt x="7315200" y="16891"/>
                  </a:lnTo>
                  <a:lnTo>
                    <a:pt x="7332091" y="16891"/>
                  </a:lnTo>
                  <a:lnTo>
                    <a:pt x="7332091" y="33909"/>
                  </a:lnTo>
                  <a:lnTo>
                    <a:pt x="16891" y="33909"/>
                  </a:lnTo>
                  <a:close/>
                </a:path>
              </a:pathLst>
            </a:custGeom>
            <a:solidFill>
              <a:srgbClr val="14B8A6"/>
            </a:solidFill>
          </p:spPr>
        </p:sp>
      </p:grpSp>
      <p:grpSp>
        <p:nvGrpSpPr>
          <p:cNvPr name="Group 95" id="95"/>
          <p:cNvGrpSpPr/>
          <p:nvPr/>
        </p:nvGrpSpPr>
        <p:grpSpPr>
          <a:xfrm rot="0">
            <a:off x="12417552" y="6656832"/>
            <a:ext cx="5486400" cy="694944"/>
            <a:chOff x="0" y="0"/>
            <a:chExt cx="7315200" cy="926592"/>
          </a:xfrm>
        </p:grpSpPr>
        <p:sp>
          <p:nvSpPr>
            <p:cNvPr name="Freeform 96" id="96"/>
            <p:cNvSpPr/>
            <p:nvPr/>
          </p:nvSpPr>
          <p:spPr>
            <a:xfrm flipH="false" flipV="false" rot="0">
              <a:off x="0" y="0"/>
              <a:ext cx="7315200" cy="926592"/>
            </a:xfrm>
            <a:custGeom>
              <a:avLst/>
              <a:gdLst/>
              <a:ahLst/>
              <a:cxnLst/>
              <a:rect r="r" b="b" t="t" l="l"/>
              <a:pathLst>
                <a:path h="926592" w="7315200">
                  <a:moveTo>
                    <a:pt x="0" y="0"/>
                  </a:moveTo>
                  <a:lnTo>
                    <a:pt x="7315200" y="0"/>
                  </a:lnTo>
                  <a:lnTo>
                    <a:pt x="7315200" y="926592"/>
                  </a:lnTo>
                  <a:lnTo>
                    <a:pt x="0" y="926592"/>
                  </a:lnTo>
                  <a:close/>
                </a:path>
              </a:pathLst>
            </a:custGeom>
            <a:blipFill>
              <a:blip r:embed="rId3">
                <a:alphaModFix amt="0"/>
              </a:blip>
              <a:stretch>
                <a:fillRect l="0" t="-103829" r="0" b="-103829"/>
              </a:stretch>
            </a:blipFill>
          </p:spPr>
        </p:sp>
        <p:sp>
          <p:nvSpPr>
            <p:cNvPr name="TextBox 97" id="97"/>
            <p:cNvSpPr txBox="true"/>
            <p:nvPr/>
          </p:nvSpPr>
          <p:spPr>
            <a:xfrm>
              <a:off x="0" y="-66675"/>
              <a:ext cx="7315200" cy="993267"/>
            </a:xfrm>
            <a:prstGeom prst="rect">
              <a:avLst/>
            </a:prstGeom>
          </p:spPr>
          <p:txBody>
            <a:bodyPr anchor="ctr" rtlCol="false" tIns="0" lIns="0" bIns="0" rIns="0"/>
            <a:lstStyle/>
            <a:p>
              <a:pPr algn="ctr">
                <a:lnSpc>
                  <a:spcPts val="4320"/>
                </a:lnSpc>
              </a:pPr>
              <a:r>
                <a:rPr lang="en-US" sz="3600" b="true">
                  <a:solidFill>
                    <a:srgbClr val="14B8A6"/>
                  </a:solidFill>
                  <a:latin typeface="Calibri (MS) Bold"/>
                  <a:ea typeface="Calibri (MS) Bold"/>
                  <a:cs typeface="Calibri (MS) Bold"/>
                  <a:sym typeface="Calibri (MS) Bold"/>
                </a:rPr>
                <a:t>06</a:t>
              </a:r>
            </a:p>
          </p:txBody>
        </p:sp>
      </p:grpSp>
      <p:grpSp>
        <p:nvGrpSpPr>
          <p:cNvPr name="Group 98" id="98"/>
          <p:cNvGrpSpPr/>
          <p:nvPr/>
        </p:nvGrpSpPr>
        <p:grpSpPr>
          <a:xfrm rot="0">
            <a:off x="12637008" y="7461504"/>
            <a:ext cx="5047488" cy="585216"/>
            <a:chOff x="0" y="0"/>
            <a:chExt cx="6729984" cy="780288"/>
          </a:xfrm>
        </p:grpSpPr>
        <p:sp>
          <p:nvSpPr>
            <p:cNvPr name="Freeform 99" id="99"/>
            <p:cNvSpPr/>
            <p:nvPr/>
          </p:nvSpPr>
          <p:spPr>
            <a:xfrm flipH="false" flipV="false" rot="0">
              <a:off x="0" y="0"/>
              <a:ext cx="6729984" cy="780288"/>
            </a:xfrm>
            <a:custGeom>
              <a:avLst/>
              <a:gdLst/>
              <a:ahLst/>
              <a:cxnLst/>
              <a:rect r="r" b="b" t="t" l="l"/>
              <a:pathLst>
                <a:path h="780288" w="6729984">
                  <a:moveTo>
                    <a:pt x="0" y="0"/>
                  </a:moveTo>
                  <a:lnTo>
                    <a:pt x="6729984" y="0"/>
                  </a:lnTo>
                  <a:lnTo>
                    <a:pt x="6729984" y="780288"/>
                  </a:lnTo>
                  <a:lnTo>
                    <a:pt x="0" y="780288"/>
                  </a:lnTo>
                  <a:close/>
                </a:path>
              </a:pathLst>
            </a:custGeom>
            <a:blipFill>
              <a:blip r:embed="rId3">
                <a:alphaModFix amt="0"/>
              </a:blip>
              <a:stretch>
                <a:fillRect l="0" t="-118058" r="0" b="-118058"/>
              </a:stretch>
            </a:blipFill>
          </p:spPr>
        </p:sp>
        <p:sp>
          <p:nvSpPr>
            <p:cNvPr name="TextBox 100" id="100"/>
            <p:cNvSpPr txBox="true"/>
            <p:nvPr/>
          </p:nvSpPr>
          <p:spPr>
            <a:xfrm>
              <a:off x="0" y="-47625"/>
              <a:ext cx="6729984" cy="827913"/>
            </a:xfrm>
            <a:prstGeom prst="rect">
              <a:avLst/>
            </a:prstGeom>
          </p:spPr>
          <p:txBody>
            <a:bodyPr anchor="ctr" rtlCol="false" tIns="0" lIns="0" bIns="0" rIns="0"/>
            <a:lstStyle/>
            <a:p>
              <a:pPr algn="l">
                <a:lnSpc>
                  <a:spcPts val="2640"/>
                </a:lnSpc>
              </a:pPr>
              <a:r>
                <a:rPr lang="en-US" sz="2200" b="true">
                  <a:solidFill>
                    <a:srgbClr val="0F172A"/>
                  </a:solidFill>
                  <a:latin typeface="Calibri (MS) Bold"/>
                  <a:ea typeface="Calibri (MS) Bold"/>
                  <a:cs typeface="Calibri (MS) Bold"/>
                  <a:sym typeface="Calibri (MS) Bold"/>
                </a:rPr>
                <a:t>Doctor dashboard</a:t>
              </a:r>
            </a:p>
          </p:txBody>
        </p:sp>
      </p:grpSp>
      <p:grpSp>
        <p:nvGrpSpPr>
          <p:cNvPr name="Group 101" id="101"/>
          <p:cNvGrpSpPr/>
          <p:nvPr/>
        </p:nvGrpSpPr>
        <p:grpSpPr>
          <a:xfrm rot="0">
            <a:off x="12637008" y="8119872"/>
            <a:ext cx="5047488" cy="1024128"/>
            <a:chOff x="0" y="0"/>
            <a:chExt cx="6729984" cy="1365504"/>
          </a:xfrm>
        </p:grpSpPr>
        <p:sp>
          <p:nvSpPr>
            <p:cNvPr name="Freeform 102" id="102"/>
            <p:cNvSpPr/>
            <p:nvPr/>
          </p:nvSpPr>
          <p:spPr>
            <a:xfrm flipH="false" flipV="false" rot="0">
              <a:off x="0" y="0"/>
              <a:ext cx="6729984" cy="1365504"/>
            </a:xfrm>
            <a:custGeom>
              <a:avLst/>
              <a:gdLst/>
              <a:ahLst/>
              <a:cxnLst/>
              <a:rect r="r" b="b" t="t" l="l"/>
              <a:pathLst>
                <a:path h="1365504" w="6729984">
                  <a:moveTo>
                    <a:pt x="0" y="0"/>
                  </a:moveTo>
                  <a:lnTo>
                    <a:pt x="6729984" y="0"/>
                  </a:lnTo>
                  <a:lnTo>
                    <a:pt x="6729984" y="1365504"/>
                  </a:lnTo>
                  <a:lnTo>
                    <a:pt x="0" y="1365504"/>
                  </a:lnTo>
                  <a:close/>
                </a:path>
              </a:pathLst>
            </a:custGeom>
            <a:blipFill>
              <a:blip r:embed="rId3">
                <a:alphaModFix amt="0"/>
              </a:blip>
              <a:stretch>
                <a:fillRect l="0" t="-46033" r="0" b="-46033"/>
              </a:stretch>
            </a:blipFill>
          </p:spPr>
        </p:sp>
        <p:sp>
          <p:nvSpPr>
            <p:cNvPr name="TextBox 103" id="103"/>
            <p:cNvSpPr txBox="true"/>
            <p:nvPr/>
          </p:nvSpPr>
          <p:spPr>
            <a:xfrm>
              <a:off x="0" y="-38100"/>
              <a:ext cx="6729984" cy="1403604"/>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Risk scores, ranked predictions, recommended actions, and 'why' explanations delivered in a clean, clinician-facing interface.</a:t>
              </a:r>
            </a:p>
          </p:txBody>
        </p:sp>
      </p:grpSp>
      <p:grpSp>
        <p:nvGrpSpPr>
          <p:cNvPr name="Group 104" id="104"/>
          <p:cNvGrpSpPr/>
          <p:nvPr/>
        </p:nvGrpSpPr>
        <p:grpSpPr>
          <a:xfrm rot="0">
            <a:off x="731520" y="9656064"/>
            <a:ext cx="16824960" cy="512064"/>
            <a:chOff x="0" y="0"/>
            <a:chExt cx="22433280" cy="682752"/>
          </a:xfrm>
        </p:grpSpPr>
        <p:sp>
          <p:nvSpPr>
            <p:cNvPr name="Freeform 105" id="105"/>
            <p:cNvSpPr/>
            <p:nvPr/>
          </p:nvSpPr>
          <p:spPr>
            <a:xfrm flipH="false" flipV="false" rot="0">
              <a:off x="0" y="0"/>
              <a:ext cx="22433280" cy="682752"/>
            </a:xfrm>
            <a:custGeom>
              <a:avLst/>
              <a:gdLst/>
              <a:ahLst/>
              <a:cxnLst/>
              <a:rect r="r" b="b" t="t" l="l"/>
              <a:pathLst>
                <a:path h="682752" w="22433280">
                  <a:moveTo>
                    <a:pt x="0" y="0"/>
                  </a:moveTo>
                  <a:lnTo>
                    <a:pt x="22433280" y="0"/>
                  </a:lnTo>
                  <a:lnTo>
                    <a:pt x="22433280" y="682752"/>
                  </a:lnTo>
                  <a:lnTo>
                    <a:pt x="0" y="682752"/>
                  </a:lnTo>
                  <a:close/>
                </a:path>
              </a:pathLst>
            </a:custGeom>
            <a:blipFill>
              <a:blip r:embed="rId3">
                <a:alphaModFix amt="0"/>
              </a:blip>
              <a:stretch>
                <a:fillRect l="0" t="-590222" r="0" b="-590222"/>
              </a:stretch>
            </a:blipFill>
          </p:spPr>
        </p:sp>
        <p:sp>
          <p:nvSpPr>
            <p:cNvPr name="TextBox 106" id="106"/>
            <p:cNvSpPr txBox="true"/>
            <p:nvPr/>
          </p:nvSpPr>
          <p:spPr>
            <a:xfrm>
              <a:off x="0" y="-38100"/>
              <a:ext cx="22433280" cy="720852"/>
            </a:xfrm>
            <a:prstGeom prst="rect">
              <a:avLst/>
            </a:prstGeom>
          </p:spPr>
          <p:txBody>
            <a:bodyPr anchor="ctr" rtlCol="false" tIns="0" lIns="0" bIns="0" rIns="0"/>
            <a:lstStyle/>
            <a:p>
              <a:pPr algn="ctr">
                <a:lnSpc>
                  <a:spcPts val="2400"/>
                </a:lnSpc>
              </a:pPr>
              <a:r>
                <a:rPr lang="en-US" sz="2000" i="true">
                  <a:solidFill>
                    <a:srgbClr val="94A3B8"/>
                  </a:solidFill>
                  <a:latin typeface="Calibri (MS) Italics"/>
                  <a:ea typeface="Calibri (MS) Italics"/>
                  <a:cs typeface="Calibri (MS) Italics"/>
                  <a:sym typeface="Calibri (MS) Italics"/>
                </a:rPr>
                <a:t>"A future where no patient is surprised by a disease that could have been predicted — and prevented."</a:t>
              </a:r>
            </a:p>
          </p:txBody>
        </p:sp>
      </p:grpSp>
      <p:grpSp>
        <p:nvGrpSpPr>
          <p:cNvPr name="Group 107" id="107"/>
          <p:cNvGrpSpPr/>
          <p:nvPr/>
        </p:nvGrpSpPr>
        <p:grpSpPr>
          <a:xfrm rot="0">
            <a:off x="-12697" y="9588503"/>
            <a:ext cx="18313403" cy="711203"/>
            <a:chOff x="0" y="0"/>
            <a:chExt cx="24417871" cy="948271"/>
          </a:xfrm>
        </p:grpSpPr>
        <p:sp>
          <p:nvSpPr>
            <p:cNvPr name="Freeform 108" id="108"/>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109" id="109"/>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110" id="110"/>
          <p:cNvGrpSpPr/>
          <p:nvPr/>
        </p:nvGrpSpPr>
        <p:grpSpPr>
          <a:xfrm rot="0">
            <a:off x="731520" y="9637776"/>
            <a:ext cx="16824960" cy="585216"/>
            <a:chOff x="0" y="0"/>
            <a:chExt cx="22433280" cy="780288"/>
          </a:xfrm>
        </p:grpSpPr>
        <p:sp>
          <p:nvSpPr>
            <p:cNvPr name="Freeform 111" id="111"/>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112" id="112"/>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D948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D948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FFFFFF"/>
                  </a:solidFill>
                  <a:latin typeface="Calibri (MS) Bold"/>
                  <a:ea typeface="Calibri (MS) Bold"/>
                  <a:cs typeface="Calibri (MS) Bold"/>
                  <a:sym typeface="Calibri (MS) Bold"/>
                </a:rPr>
                <a:t>HOW IT WORKS</a:t>
              </a:r>
            </a:p>
          </p:txBody>
        </p:sp>
      </p:grpSp>
      <p:grpSp>
        <p:nvGrpSpPr>
          <p:cNvPr name="Group 8" id="8"/>
          <p:cNvGrpSpPr/>
          <p:nvPr/>
        </p:nvGrpSpPr>
        <p:grpSpPr>
          <a:xfrm rot="0">
            <a:off x="505711" y="1420111"/>
            <a:ext cx="3121657" cy="4182361"/>
            <a:chOff x="0" y="0"/>
            <a:chExt cx="4162209" cy="5576481"/>
          </a:xfrm>
        </p:grpSpPr>
        <p:sp>
          <p:nvSpPr>
            <p:cNvPr name="Freeform 9" id="9"/>
            <p:cNvSpPr/>
            <p:nvPr/>
          </p:nvSpPr>
          <p:spPr>
            <a:xfrm flipH="false" flipV="false" rot="0">
              <a:off x="8509" y="8509"/>
              <a:ext cx="4145280" cy="5559552"/>
            </a:xfrm>
            <a:custGeom>
              <a:avLst/>
              <a:gdLst/>
              <a:ahLst/>
              <a:cxnLst/>
              <a:rect r="r" b="b" t="t" l="l"/>
              <a:pathLst>
                <a:path h="5559552" w="4145280">
                  <a:moveTo>
                    <a:pt x="0" y="0"/>
                  </a:moveTo>
                  <a:lnTo>
                    <a:pt x="4145280" y="0"/>
                  </a:lnTo>
                  <a:lnTo>
                    <a:pt x="4145280" y="5559552"/>
                  </a:lnTo>
                  <a:lnTo>
                    <a:pt x="0" y="5559552"/>
                  </a:lnTo>
                  <a:close/>
                </a:path>
              </a:pathLst>
            </a:custGeom>
            <a:solidFill>
              <a:srgbClr val="0D1F38"/>
            </a:solidFill>
          </p:spPr>
        </p:sp>
        <p:sp>
          <p:nvSpPr>
            <p:cNvPr name="Freeform 10" id="10"/>
            <p:cNvSpPr/>
            <p:nvPr/>
          </p:nvSpPr>
          <p:spPr>
            <a:xfrm flipH="false" flipV="false" rot="0">
              <a:off x="0" y="0"/>
              <a:ext cx="4162298" cy="5576570"/>
            </a:xfrm>
            <a:custGeom>
              <a:avLst/>
              <a:gdLst/>
              <a:ahLst/>
              <a:cxnLst/>
              <a:rect r="r" b="b" t="t" l="l"/>
              <a:pathLst>
                <a:path h="5576570" w="4162298">
                  <a:moveTo>
                    <a:pt x="8509" y="0"/>
                  </a:moveTo>
                  <a:lnTo>
                    <a:pt x="4153789" y="0"/>
                  </a:lnTo>
                  <a:cubicBezTo>
                    <a:pt x="4158488" y="0"/>
                    <a:pt x="4162298" y="3810"/>
                    <a:pt x="4162298" y="8509"/>
                  </a:cubicBezTo>
                  <a:lnTo>
                    <a:pt x="4162298" y="5568061"/>
                  </a:lnTo>
                  <a:cubicBezTo>
                    <a:pt x="4162298" y="5572760"/>
                    <a:pt x="4158488" y="5576570"/>
                    <a:pt x="4153789" y="5576570"/>
                  </a:cubicBezTo>
                  <a:lnTo>
                    <a:pt x="8509" y="5576570"/>
                  </a:lnTo>
                  <a:cubicBezTo>
                    <a:pt x="3810" y="5576570"/>
                    <a:pt x="0" y="5572760"/>
                    <a:pt x="0" y="5568061"/>
                  </a:cubicBezTo>
                  <a:lnTo>
                    <a:pt x="0" y="8509"/>
                  </a:lnTo>
                  <a:cubicBezTo>
                    <a:pt x="0" y="3810"/>
                    <a:pt x="3810" y="0"/>
                    <a:pt x="8509" y="0"/>
                  </a:cubicBezTo>
                  <a:moveTo>
                    <a:pt x="8509" y="16891"/>
                  </a:moveTo>
                  <a:lnTo>
                    <a:pt x="8509" y="8509"/>
                  </a:lnTo>
                  <a:lnTo>
                    <a:pt x="17018" y="8509"/>
                  </a:lnTo>
                  <a:lnTo>
                    <a:pt x="17018" y="5568061"/>
                  </a:lnTo>
                  <a:lnTo>
                    <a:pt x="8509" y="5568061"/>
                  </a:lnTo>
                  <a:lnTo>
                    <a:pt x="8509" y="5559552"/>
                  </a:lnTo>
                  <a:lnTo>
                    <a:pt x="4153789" y="5559552"/>
                  </a:lnTo>
                  <a:lnTo>
                    <a:pt x="4153789" y="5568061"/>
                  </a:lnTo>
                  <a:lnTo>
                    <a:pt x="4145280" y="5568061"/>
                  </a:lnTo>
                  <a:lnTo>
                    <a:pt x="4145280" y="8509"/>
                  </a:lnTo>
                  <a:lnTo>
                    <a:pt x="4153789" y="8509"/>
                  </a:lnTo>
                  <a:lnTo>
                    <a:pt x="4153789" y="17018"/>
                  </a:lnTo>
                  <a:lnTo>
                    <a:pt x="8509" y="17018"/>
                  </a:lnTo>
                  <a:close/>
                </a:path>
              </a:pathLst>
            </a:custGeom>
            <a:solidFill>
              <a:srgbClr val="0D9488"/>
            </a:solidFill>
          </p:spPr>
        </p:sp>
      </p:grpSp>
      <p:grpSp>
        <p:nvGrpSpPr>
          <p:cNvPr name="Group 11" id="11"/>
          <p:cNvGrpSpPr/>
          <p:nvPr/>
        </p:nvGrpSpPr>
        <p:grpSpPr>
          <a:xfrm rot="0">
            <a:off x="1578359" y="1596647"/>
            <a:ext cx="976379" cy="976379"/>
            <a:chOff x="0" y="0"/>
            <a:chExt cx="1301839" cy="1301839"/>
          </a:xfrm>
        </p:grpSpPr>
        <p:sp>
          <p:nvSpPr>
            <p:cNvPr name="Freeform 12" id="12"/>
            <p:cNvSpPr/>
            <p:nvPr/>
          </p:nvSpPr>
          <p:spPr>
            <a:xfrm flipH="false" flipV="false" rot="0">
              <a:off x="16891" y="16891"/>
              <a:ext cx="1267968" cy="1267968"/>
            </a:xfrm>
            <a:custGeom>
              <a:avLst/>
              <a:gdLst/>
              <a:ahLst/>
              <a:cxnLst/>
              <a:rect r="r" b="b" t="t" l="l"/>
              <a:pathLst>
                <a:path h="1267968" w="1267968">
                  <a:moveTo>
                    <a:pt x="0" y="633984"/>
                  </a:moveTo>
                  <a:cubicBezTo>
                    <a:pt x="0" y="283845"/>
                    <a:pt x="283845" y="0"/>
                    <a:pt x="633984" y="0"/>
                  </a:cubicBezTo>
                  <a:cubicBezTo>
                    <a:pt x="984123" y="0"/>
                    <a:pt x="1267968" y="283845"/>
                    <a:pt x="1267968" y="633984"/>
                  </a:cubicBezTo>
                  <a:cubicBezTo>
                    <a:pt x="1267968" y="984123"/>
                    <a:pt x="984123" y="1267968"/>
                    <a:pt x="633984" y="1267968"/>
                  </a:cubicBezTo>
                  <a:cubicBezTo>
                    <a:pt x="283845" y="1267968"/>
                    <a:pt x="0" y="984123"/>
                    <a:pt x="0" y="633984"/>
                  </a:cubicBezTo>
                  <a:close/>
                </a:path>
              </a:pathLst>
            </a:custGeom>
            <a:solidFill>
              <a:srgbClr val="0D9488"/>
            </a:solidFill>
          </p:spPr>
        </p:sp>
        <p:sp>
          <p:nvSpPr>
            <p:cNvPr name="Freeform 13" id="13"/>
            <p:cNvSpPr/>
            <p:nvPr/>
          </p:nvSpPr>
          <p:spPr>
            <a:xfrm flipH="false" flipV="false" rot="0">
              <a:off x="0" y="0"/>
              <a:ext cx="1301750" cy="1301750"/>
            </a:xfrm>
            <a:custGeom>
              <a:avLst/>
              <a:gdLst/>
              <a:ahLst/>
              <a:cxnLst/>
              <a:rect r="r" b="b" t="t" l="l"/>
              <a:pathLst>
                <a:path h="1301750" w="1301750">
                  <a:moveTo>
                    <a:pt x="0" y="650875"/>
                  </a:moveTo>
                  <a:cubicBezTo>
                    <a:pt x="0" y="291465"/>
                    <a:pt x="291465" y="0"/>
                    <a:pt x="650875" y="0"/>
                  </a:cubicBezTo>
                  <a:lnTo>
                    <a:pt x="650875" y="16891"/>
                  </a:lnTo>
                  <a:lnTo>
                    <a:pt x="650875" y="0"/>
                  </a:lnTo>
                  <a:cubicBezTo>
                    <a:pt x="1010412" y="0"/>
                    <a:pt x="1301750" y="291465"/>
                    <a:pt x="1301750" y="650875"/>
                  </a:cubicBezTo>
                  <a:lnTo>
                    <a:pt x="1284859" y="650875"/>
                  </a:lnTo>
                  <a:lnTo>
                    <a:pt x="1301750" y="650875"/>
                  </a:lnTo>
                  <a:cubicBezTo>
                    <a:pt x="1301750" y="1010412"/>
                    <a:pt x="1010285" y="1301750"/>
                    <a:pt x="650875" y="1301750"/>
                  </a:cubicBezTo>
                  <a:lnTo>
                    <a:pt x="650875" y="1284859"/>
                  </a:lnTo>
                  <a:lnTo>
                    <a:pt x="650875" y="1301750"/>
                  </a:lnTo>
                  <a:cubicBezTo>
                    <a:pt x="291465" y="1301877"/>
                    <a:pt x="0" y="1010412"/>
                    <a:pt x="0" y="650875"/>
                  </a:cubicBezTo>
                  <a:lnTo>
                    <a:pt x="16891" y="650875"/>
                  </a:lnTo>
                  <a:lnTo>
                    <a:pt x="33909" y="650875"/>
                  </a:lnTo>
                  <a:lnTo>
                    <a:pt x="16891" y="650875"/>
                  </a:lnTo>
                  <a:lnTo>
                    <a:pt x="0" y="650875"/>
                  </a:lnTo>
                  <a:moveTo>
                    <a:pt x="33909" y="650875"/>
                  </a:moveTo>
                  <a:cubicBezTo>
                    <a:pt x="33909" y="660273"/>
                    <a:pt x="26289" y="667766"/>
                    <a:pt x="17018" y="667766"/>
                  </a:cubicBezTo>
                  <a:cubicBezTo>
                    <a:pt x="7747" y="667766"/>
                    <a:pt x="0" y="660273"/>
                    <a:pt x="0" y="650875"/>
                  </a:cubicBezTo>
                  <a:cubicBezTo>
                    <a:pt x="0" y="641477"/>
                    <a:pt x="7620" y="633984"/>
                    <a:pt x="16891" y="633984"/>
                  </a:cubicBezTo>
                  <a:cubicBezTo>
                    <a:pt x="26162" y="633984"/>
                    <a:pt x="33782" y="641604"/>
                    <a:pt x="33782" y="650875"/>
                  </a:cubicBezTo>
                  <a:cubicBezTo>
                    <a:pt x="33782" y="991616"/>
                    <a:pt x="310007" y="1267968"/>
                    <a:pt x="650875" y="1267968"/>
                  </a:cubicBezTo>
                  <a:cubicBezTo>
                    <a:pt x="991616" y="1267968"/>
                    <a:pt x="1267968" y="991743"/>
                    <a:pt x="1267968" y="650875"/>
                  </a:cubicBezTo>
                  <a:cubicBezTo>
                    <a:pt x="1267968" y="310134"/>
                    <a:pt x="991743" y="33782"/>
                    <a:pt x="650875" y="33782"/>
                  </a:cubicBezTo>
                  <a:lnTo>
                    <a:pt x="650875" y="16891"/>
                  </a:lnTo>
                  <a:lnTo>
                    <a:pt x="650875" y="33909"/>
                  </a:lnTo>
                  <a:cubicBezTo>
                    <a:pt x="310134" y="33909"/>
                    <a:pt x="33909" y="310134"/>
                    <a:pt x="33909" y="650875"/>
                  </a:cubicBezTo>
                  <a:close/>
                </a:path>
              </a:pathLst>
            </a:custGeom>
            <a:solidFill>
              <a:srgbClr val="0D9488"/>
            </a:solidFill>
          </p:spPr>
        </p:sp>
      </p:grpSp>
      <p:grpSp>
        <p:nvGrpSpPr>
          <p:cNvPr name="Group 14" id="14"/>
          <p:cNvGrpSpPr/>
          <p:nvPr/>
        </p:nvGrpSpPr>
        <p:grpSpPr>
          <a:xfrm rot="0">
            <a:off x="1591056" y="1609344"/>
            <a:ext cx="950976" cy="950976"/>
            <a:chOff x="0" y="0"/>
            <a:chExt cx="1267968" cy="1267968"/>
          </a:xfrm>
        </p:grpSpPr>
        <p:sp>
          <p:nvSpPr>
            <p:cNvPr name="Freeform 15" id="15"/>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3">
                <a:alphaModFix amt="0"/>
              </a:blip>
              <a:stretch>
                <a:fillRect l="-78303" t="0" r="-78303" b="0"/>
              </a:stretch>
            </a:blipFill>
          </p:spPr>
        </p:sp>
        <p:sp>
          <p:nvSpPr>
            <p:cNvPr name="TextBox 16" id="16"/>
            <p:cNvSpPr txBox="true"/>
            <p:nvPr/>
          </p:nvSpPr>
          <p:spPr>
            <a:xfrm>
              <a:off x="0" y="-47625"/>
              <a:ext cx="1267968" cy="1315593"/>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1</a:t>
              </a:r>
            </a:p>
          </p:txBody>
        </p:sp>
      </p:grpSp>
      <p:grpSp>
        <p:nvGrpSpPr>
          <p:cNvPr name="Group 17" id="17"/>
          <p:cNvGrpSpPr/>
          <p:nvPr/>
        </p:nvGrpSpPr>
        <p:grpSpPr>
          <a:xfrm rot="0">
            <a:off x="658368" y="2743200"/>
            <a:ext cx="2816352" cy="658368"/>
            <a:chOff x="0" y="0"/>
            <a:chExt cx="3755136" cy="877824"/>
          </a:xfrm>
        </p:grpSpPr>
        <p:sp>
          <p:nvSpPr>
            <p:cNvPr name="Freeform 18" id="18"/>
            <p:cNvSpPr/>
            <p:nvPr/>
          </p:nvSpPr>
          <p:spPr>
            <a:xfrm flipH="false" flipV="false" rot="0">
              <a:off x="0" y="0"/>
              <a:ext cx="3755136" cy="877824"/>
            </a:xfrm>
            <a:custGeom>
              <a:avLst/>
              <a:gdLst/>
              <a:ahLst/>
              <a:cxnLst/>
              <a:rect r="r" b="b" t="t" l="l"/>
              <a:pathLst>
                <a:path h="877824" w="3755136">
                  <a:moveTo>
                    <a:pt x="0" y="0"/>
                  </a:moveTo>
                  <a:lnTo>
                    <a:pt x="3755136" y="0"/>
                  </a:lnTo>
                  <a:lnTo>
                    <a:pt x="3755136" y="877824"/>
                  </a:lnTo>
                  <a:lnTo>
                    <a:pt x="0" y="877824"/>
                  </a:lnTo>
                  <a:close/>
                </a:path>
              </a:pathLst>
            </a:custGeom>
            <a:blipFill>
              <a:blip r:embed="rId3">
                <a:alphaModFix amt="0"/>
              </a:blip>
              <a:stretch>
                <a:fillRect l="0" t="-33352" r="0" b="-33352"/>
              </a:stretch>
            </a:blipFill>
          </p:spPr>
        </p:sp>
        <p:sp>
          <p:nvSpPr>
            <p:cNvPr name="TextBox 19" id="19"/>
            <p:cNvSpPr txBox="true"/>
            <p:nvPr/>
          </p:nvSpPr>
          <p:spPr>
            <a:xfrm>
              <a:off x="0" y="-47625"/>
              <a:ext cx="3755136" cy="925449"/>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Patient data input</a:t>
              </a:r>
            </a:p>
          </p:txBody>
        </p:sp>
      </p:grpSp>
      <p:grpSp>
        <p:nvGrpSpPr>
          <p:cNvPr name="Group 20" id="20"/>
          <p:cNvGrpSpPr/>
          <p:nvPr/>
        </p:nvGrpSpPr>
        <p:grpSpPr>
          <a:xfrm rot="0">
            <a:off x="658368" y="3474720"/>
            <a:ext cx="2816352" cy="1828800"/>
            <a:chOff x="0" y="0"/>
            <a:chExt cx="3755136" cy="2438400"/>
          </a:xfrm>
        </p:grpSpPr>
        <p:sp>
          <p:nvSpPr>
            <p:cNvPr name="Freeform 21" id="21"/>
            <p:cNvSpPr/>
            <p:nvPr/>
          </p:nvSpPr>
          <p:spPr>
            <a:xfrm flipH="false" flipV="false" rot="0">
              <a:off x="0" y="0"/>
              <a:ext cx="3755136" cy="2438400"/>
            </a:xfrm>
            <a:custGeom>
              <a:avLst/>
              <a:gdLst/>
              <a:ahLst/>
              <a:cxnLst/>
              <a:rect r="r" b="b" t="t" l="l"/>
              <a:pathLst>
                <a:path h="2438400" w="3755136">
                  <a:moveTo>
                    <a:pt x="0" y="0"/>
                  </a:moveTo>
                  <a:lnTo>
                    <a:pt x="3755136" y="0"/>
                  </a:lnTo>
                  <a:lnTo>
                    <a:pt x="3755136" y="2438400"/>
                  </a:lnTo>
                  <a:lnTo>
                    <a:pt x="0" y="2438400"/>
                  </a:lnTo>
                  <a:close/>
                </a:path>
              </a:pathLst>
            </a:custGeom>
            <a:blipFill>
              <a:blip r:embed="rId3">
                <a:alphaModFix amt="0"/>
              </a:blip>
              <a:stretch>
                <a:fillRect l="-33314" t="0" r="-33314" b="0"/>
              </a:stretch>
            </a:blipFill>
          </p:spPr>
        </p:sp>
        <p:sp>
          <p:nvSpPr>
            <p:cNvPr name="TextBox 22" id="22"/>
            <p:cNvSpPr txBox="true"/>
            <p:nvPr/>
          </p:nvSpPr>
          <p:spPr>
            <a:xfrm>
              <a:off x="0" y="-38100"/>
              <a:ext cx="3755136" cy="2476500"/>
            </a:xfrm>
            <a:prstGeom prst="rect">
              <a:avLst/>
            </a:prstGeom>
          </p:spPr>
          <p:txBody>
            <a:bodyPr anchor="ctr" rtlCol="false" tIns="0" lIns="0" bIns="0" rIns="0"/>
            <a:lstStyle/>
            <a:p>
              <a:pPr algn="ctr">
                <a:lnSpc>
                  <a:spcPts val="2039"/>
                </a:lnSpc>
              </a:pPr>
              <a:r>
                <a:rPr lang="en-US" sz="1700">
                  <a:solidFill>
                    <a:srgbClr val="94A3B8"/>
                  </a:solidFill>
                  <a:latin typeface="Calibri (MS)"/>
                  <a:ea typeface="Calibri (MS)"/>
                  <a:cs typeface="Calibri (MS)"/>
                  <a:sym typeface="Calibri (MS)"/>
                </a:rPr>
                <a:t>Doctor enters 5 key diseases from the patient's history via the input form</a:t>
              </a:r>
            </a:p>
          </p:txBody>
        </p:sp>
      </p:grpSp>
      <p:grpSp>
        <p:nvGrpSpPr>
          <p:cNvPr name="Group 23" id="23"/>
          <p:cNvGrpSpPr/>
          <p:nvPr/>
        </p:nvGrpSpPr>
        <p:grpSpPr>
          <a:xfrm rot="0">
            <a:off x="3608327" y="3462023"/>
            <a:ext cx="409451" cy="25403"/>
            <a:chOff x="0" y="0"/>
            <a:chExt cx="545935" cy="33871"/>
          </a:xfrm>
        </p:grpSpPr>
        <p:sp>
          <p:nvSpPr>
            <p:cNvPr name="Freeform 24" id="24"/>
            <p:cNvSpPr/>
            <p:nvPr/>
          </p:nvSpPr>
          <p:spPr>
            <a:xfrm flipH="false" flipV="false" rot="0">
              <a:off x="16891" y="0"/>
              <a:ext cx="512064" cy="33909"/>
            </a:xfrm>
            <a:custGeom>
              <a:avLst/>
              <a:gdLst/>
              <a:ahLst/>
              <a:cxnLst/>
              <a:rect r="r" b="b" t="t" l="l"/>
              <a:pathLst>
                <a:path h="33909" w="512064">
                  <a:moveTo>
                    <a:pt x="0" y="0"/>
                  </a:moveTo>
                  <a:lnTo>
                    <a:pt x="512064" y="0"/>
                  </a:lnTo>
                  <a:lnTo>
                    <a:pt x="512064" y="33909"/>
                  </a:lnTo>
                  <a:lnTo>
                    <a:pt x="0" y="33909"/>
                  </a:lnTo>
                  <a:close/>
                </a:path>
              </a:pathLst>
            </a:custGeom>
            <a:solidFill>
              <a:srgbClr val="0D9488"/>
            </a:solidFill>
          </p:spPr>
        </p:sp>
      </p:grpSp>
      <p:grpSp>
        <p:nvGrpSpPr>
          <p:cNvPr name="Group 25" id="25"/>
          <p:cNvGrpSpPr/>
          <p:nvPr/>
        </p:nvGrpSpPr>
        <p:grpSpPr>
          <a:xfrm rot="0">
            <a:off x="3998719" y="1420111"/>
            <a:ext cx="3121657" cy="4182361"/>
            <a:chOff x="0" y="0"/>
            <a:chExt cx="4162209" cy="5576481"/>
          </a:xfrm>
        </p:grpSpPr>
        <p:sp>
          <p:nvSpPr>
            <p:cNvPr name="Freeform 26" id="26"/>
            <p:cNvSpPr/>
            <p:nvPr/>
          </p:nvSpPr>
          <p:spPr>
            <a:xfrm flipH="false" flipV="false" rot="0">
              <a:off x="8509" y="8509"/>
              <a:ext cx="4145280" cy="5559552"/>
            </a:xfrm>
            <a:custGeom>
              <a:avLst/>
              <a:gdLst/>
              <a:ahLst/>
              <a:cxnLst/>
              <a:rect r="r" b="b" t="t" l="l"/>
              <a:pathLst>
                <a:path h="5559552" w="4145280">
                  <a:moveTo>
                    <a:pt x="0" y="0"/>
                  </a:moveTo>
                  <a:lnTo>
                    <a:pt x="4145280" y="0"/>
                  </a:lnTo>
                  <a:lnTo>
                    <a:pt x="4145280" y="5559552"/>
                  </a:lnTo>
                  <a:lnTo>
                    <a:pt x="0" y="5559552"/>
                  </a:lnTo>
                  <a:close/>
                </a:path>
              </a:pathLst>
            </a:custGeom>
            <a:solidFill>
              <a:srgbClr val="0D1F38"/>
            </a:solidFill>
          </p:spPr>
        </p:sp>
        <p:sp>
          <p:nvSpPr>
            <p:cNvPr name="Freeform 27" id="27"/>
            <p:cNvSpPr/>
            <p:nvPr/>
          </p:nvSpPr>
          <p:spPr>
            <a:xfrm flipH="false" flipV="false" rot="0">
              <a:off x="0" y="0"/>
              <a:ext cx="4162298" cy="5576570"/>
            </a:xfrm>
            <a:custGeom>
              <a:avLst/>
              <a:gdLst/>
              <a:ahLst/>
              <a:cxnLst/>
              <a:rect r="r" b="b" t="t" l="l"/>
              <a:pathLst>
                <a:path h="5576570" w="4162298">
                  <a:moveTo>
                    <a:pt x="8509" y="0"/>
                  </a:moveTo>
                  <a:lnTo>
                    <a:pt x="4153789" y="0"/>
                  </a:lnTo>
                  <a:cubicBezTo>
                    <a:pt x="4158488" y="0"/>
                    <a:pt x="4162298" y="3810"/>
                    <a:pt x="4162298" y="8509"/>
                  </a:cubicBezTo>
                  <a:lnTo>
                    <a:pt x="4162298" y="5568061"/>
                  </a:lnTo>
                  <a:cubicBezTo>
                    <a:pt x="4162298" y="5572760"/>
                    <a:pt x="4158488" y="5576570"/>
                    <a:pt x="4153789" y="5576570"/>
                  </a:cubicBezTo>
                  <a:lnTo>
                    <a:pt x="8509" y="5576570"/>
                  </a:lnTo>
                  <a:cubicBezTo>
                    <a:pt x="3810" y="5576570"/>
                    <a:pt x="0" y="5572760"/>
                    <a:pt x="0" y="5568061"/>
                  </a:cubicBezTo>
                  <a:lnTo>
                    <a:pt x="0" y="8509"/>
                  </a:lnTo>
                  <a:cubicBezTo>
                    <a:pt x="0" y="3810"/>
                    <a:pt x="3810" y="0"/>
                    <a:pt x="8509" y="0"/>
                  </a:cubicBezTo>
                  <a:moveTo>
                    <a:pt x="8509" y="16891"/>
                  </a:moveTo>
                  <a:lnTo>
                    <a:pt x="8509" y="8509"/>
                  </a:lnTo>
                  <a:lnTo>
                    <a:pt x="17018" y="8509"/>
                  </a:lnTo>
                  <a:lnTo>
                    <a:pt x="17018" y="5568061"/>
                  </a:lnTo>
                  <a:lnTo>
                    <a:pt x="8509" y="5568061"/>
                  </a:lnTo>
                  <a:lnTo>
                    <a:pt x="8509" y="5559552"/>
                  </a:lnTo>
                  <a:lnTo>
                    <a:pt x="4153789" y="5559552"/>
                  </a:lnTo>
                  <a:lnTo>
                    <a:pt x="4153789" y="5568061"/>
                  </a:lnTo>
                  <a:lnTo>
                    <a:pt x="4145280" y="5568061"/>
                  </a:lnTo>
                  <a:lnTo>
                    <a:pt x="4145280" y="8509"/>
                  </a:lnTo>
                  <a:lnTo>
                    <a:pt x="4153789" y="8509"/>
                  </a:lnTo>
                  <a:lnTo>
                    <a:pt x="4153789" y="17018"/>
                  </a:lnTo>
                  <a:lnTo>
                    <a:pt x="8509" y="17018"/>
                  </a:lnTo>
                  <a:close/>
                </a:path>
              </a:pathLst>
            </a:custGeom>
            <a:solidFill>
              <a:srgbClr val="0D9488"/>
            </a:solidFill>
          </p:spPr>
        </p:sp>
      </p:grpSp>
      <p:grpSp>
        <p:nvGrpSpPr>
          <p:cNvPr name="Group 28" id="28"/>
          <p:cNvGrpSpPr/>
          <p:nvPr/>
        </p:nvGrpSpPr>
        <p:grpSpPr>
          <a:xfrm rot="0">
            <a:off x="5071367" y="1596647"/>
            <a:ext cx="976379" cy="976379"/>
            <a:chOff x="0" y="0"/>
            <a:chExt cx="1301839" cy="1301839"/>
          </a:xfrm>
        </p:grpSpPr>
        <p:sp>
          <p:nvSpPr>
            <p:cNvPr name="Freeform 29" id="29"/>
            <p:cNvSpPr/>
            <p:nvPr/>
          </p:nvSpPr>
          <p:spPr>
            <a:xfrm flipH="false" flipV="false" rot="0">
              <a:off x="16891" y="16891"/>
              <a:ext cx="1267968" cy="1267968"/>
            </a:xfrm>
            <a:custGeom>
              <a:avLst/>
              <a:gdLst/>
              <a:ahLst/>
              <a:cxnLst/>
              <a:rect r="r" b="b" t="t" l="l"/>
              <a:pathLst>
                <a:path h="1267968" w="1267968">
                  <a:moveTo>
                    <a:pt x="0" y="633984"/>
                  </a:moveTo>
                  <a:cubicBezTo>
                    <a:pt x="0" y="283845"/>
                    <a:pt x="283845" y="0"/>
                    <a:pt x="633984" y="0"/>
                  </a:cubicBezTo>
                  <a:cubicBezTo>
                    <a:pt x="984123" y="0"/>
                    <a:pt x="1267968" y="283845"/>
                    <a:pt x="1267968" y="633984"/>
                  </a:cubicBezTo>
                  <a:cubicBezTo>
                    <a:pt x="1267968" y="984123"/>
                    <a:pt x="984123" y="1267968"/>
                    <a:pt x="633984" y="1267968"/>
                  </a:cubicBezTo>
                  <a:cubicBezTo>
                    <a:pt x="283845" y="1267968"/>
                    <a:pt x="0" y="984123"/>
                    <a:pt x="0" y="633984"/>
                  </a:cubicBezTo>
                  <a:close/>
                </a:path>
              </a:pathLst>
            </a:custGeom>
            <a:solidFill>
              <a:srgbClr val="0D9488"/>
            </a:solidFill>
          </p:spPr>
        </p:sp>
        <p:sp>
          <p:nvSpPr>
            <p:cNvPr name="Freeform 30" id="30"/>
            <p:cNvSpPr/>
            <p:nvPr/>
          </p:nvSpPr>
          <p:spPr>
            <a:xfrm flipH="false" flipV="false" rot="0">
              <a:off x="0" y="0"/>
              <a:ext cx="1301750" cy="1301750"/>
            </a:xfrm>
            <a:custGeom>
              <a:avLst/>
              <a:gdLst/>
              <a:ahLst/>
              <a:cxnLst/>
              <a:rect r="r" b="b" t="t" l="l"/>
              <a:pathLst>
                <a:path h="1301750" w="1301750">
                  <a:moveTo>
                    <a:pt x="0" y="650875"/>
                  </a:moveTo>
                  <a:cubicBezTo>
                    <a:pt x="0" y="291465"/>
                    <a:pt x="291465" y="0"/>
                    <a:pt x="650875" y="0"/>
                  </a:cubicBezTo>
                  <a:lnTo>
                    <a:pt x="650875" y="16891"/>
                  </a:lnTo>
                  <a:lnTo>
                    <a:pt x="650875" y="0"/>
                  </a:lnTo>
                  <a:cubicBezTo>
                    <a:pt x="1010412" y="0"/>
                    <a:pt x="1301750" y="291465"/>
                    <a:pt x="1301750" y="650875"/>
                  </a:cubicBezTo>
                  <a:lnTo>
                    <a:pt x="1284859" y="650875"/>
                  </a:lnTo>
                  <a:lnTo>
                    <a:pt x="1301750" y="650875"/>
                  </a:lnTo>
                  <a:cubicBezTo>
                    <a:pt x="1301750" y="1010412"/>
                    <a:pt x="1010285" y="1301750"/>
                    <a:pt x="650875" y="1301750"/>
                  </a:cubicBezTo>
                  <a:lnTo>
                    <a:pt x="650875" y="1284859"/>
                  </a:lnTo>
                  <a:lnTo>
                    <a:pt x="650875" y="1301750"/>
                  </a:lnTo>
                  <a:cubicBezTo>
                    <a:pt x="291465" y="1301877"/>
                    <a:pt x="0" y="1010412"/>
                    <a:pt x="0" y="650875"/>
                  </a:cubicBezTo>
                  <a:lnTo>
                    <a:pt x="16891" y="650875"/>
                  </a:lnTo>
                  <a:lnTo>
                    <a:pt x="33909" y="650875"/>
                  </a:lnTo>
                  <a:lnTo>
                    <a:pt x="16891" y="650875"/>
                  </a:lnTo>
                  <a:lnTo>
                    <a:pt x="0" y="650875"/>
                  </a:lnTo>
                  <a:moveTo>
                    <a:pt x="33909" y="650875"/>
                  </a:moveTo>
                  <a:cubicBezTo>
                    <a:pt x="33909" y="660273"/>
                    <a:pt x="26289" y="667766"/>
                    <a:pt x="17018" y="667766"/>
                  </a:cubicBezTo>
                  <a:cubicBezTo>
                    <a:pt x="7747" y="667766"/>
                    <a:pt x="0" y="660273"/>
                    <a:pt x="0" y="650875"/>
                  </a:cubicBezTo>
                  <a:cubicBezTo>
                    <a:pt x="0" y="641477"/>
                    <a:pt x="7620" y="633984"/>
                    <a:pt x="16891" y="633984"/>
                  </a:cubicBezTo>
                  <a:cubicBezTo>
                    <a:pt x="26162" y="633984"/>
                    <a:pt x="33782" y="641604"/>
                    <a:pt x="33782" y="650875"/>
                  </a:cubicBezTo>
                  <a:cubicBezTo>
                    <a:pt x="33782" y="991616"/>
                    <a:pt x="310007" y="1267968"/>
                    <a:pt x="650875" y="1267968"/>
                  </a:cubicBezTo>
                  <a:cubicBezTo>
                    <a:pt x="991616" y="1267968"/>
                    <a:pt x="1267968" y="991743"/>
                    <a:pt x="1267968" y="650875"/>
                  </a:cubicBezTo>
                  <a:cubicBezTo>
                    <a:pt x="1267968" y="310134"/>
                    <a:pt x="991743" y="33782"/>
                    <a:pt x="650875" y="33782"/>
                  </a:cubicBezTo>
                  <a:lnTo>
                    <a:pt x="650875" y="16891"/>
                  </a:lnTo>
                  <a:lnTo>
                    <a:pt x="650875" y="33909"/>
                  </a:lnTo>
                  <a:cubicBezTo>
                    <a:pt x="310134" y="33909"/>
                    <a:pt x="33909" y="310134"/>
                    <a:pt x="33909" y="650875"/>
                  </a:cubicBezTo>
                  <a:close/>
                </a:path>
              </a:pathLst>
            </a:custGeom>
            <a:solidFill>
              <a:srgbClr val="0D9488"/>
            </a:solidFill>
          </p:spPr>
        </p:sp>
      </p:grpSp>
      <p:grpSp>
        <p:nvGrpSpPr>
          <p:cNvPr name="Group 31" id="31"/>
          <p:cNvGrpSpPr/>
          <p:nvPr/>
        </p:nvGrpSpPr>
        <p:grpSpPr>
          <a:xfrm rot="0">
            <a:off x="5084064" y="1609344"/>
            <a:ext cx="950976" cy="950976"/>
            <a:chOff x="0" y="0"/>
            <a:chExt cx="1267968" cy="1267968"/>
          </a:xfrm>
        </p:grpSpPr>
        <p:sp>
          <p:nvSpPr>
            <p:cNvPr name="Freeform 32" id="32"/>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3">
                <a:alphaModFix amt="0"/>
              </a:blip>
              <a:stretch>
                <a:fillRect l="-78303" t="0" r="-78303" b="0"/>
              </a:stretch>
            </a:blipFill>
          </p:spPr>
        </p:sp>
        <p:sp>
          <p:nvSpPr>
            <p:cNvPr name="TextBox 33" id="33"/>
            <p:cNvSpPr txBox="true"/>
            <p:nvPr/>
          </p:nvSpPr>
          <p:spPr>
            <a:xfrm>
              <a:off x="0" y="-47625"/>
              <a:ext cx="1267968" cy="1315593"/>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2</a:t>
              </a:r>
            </a:p>
          </p:txBody>
        </p:sp>
      </p:grpSp>
      <p:grpSp>
        <p:nvGrpSpPr>
          <p:cNvPr name="Group 34" id="34"/>
          <p:cNvGrpSpPr/>
          <p:nvPr/>
        </p:nvGrpSpPr>
        <p:grpSpPr>
          <a:xfrm rot="0">
            <a:off x="4151376" y="2743200"/>
            <a:ext cx="2816352" cy="658368"/>
            <a:chOff x="0" y="0"/>
            <a:chExt cx="3755136" cy="877824"/>
          </a:xfrm>
        </p:grpSpPr>
        <p:sp>
          <p:nvSpPr>
            <p:cNvPr name="Freeform 35" id="35"/>
            <p:cNvSpPr/>
            <p:nvPr/>
          </p:nvSpPr>
          <p:spPr>
            <a:xfrm flipH="false" flipV="false" rot="0">
              <a:off x="0" y="0"/>
              <a:ext cx="3755136" cy="877824"/>
            </a:xfrm>
            <a:custGeom>
              <a:avLst/>
              <a:gdLst/>
              <a:ahLst/>
              <a:cxnLst/>
              <a:rect r="r" b="b" t="t" l="l"/>
              <a:pathLst>
                <a:path h="877824" w="3755136">
                  <a:moveTo>
                    <a:pt x="0" y="0"/>
                  </a:moveTo>
                  <a:lnTo>
                    <a:pt x="3755136" y="0"/>
                  </a:lnTo>
                  <a:lnTo>
                    <a:pt x="3755136" y="877824"/>
                  </a:lnTo>
                  <a:lnTo>
                    <a:pt x="0" y="877824"/>
                  </a:lnTo>
                  <a:close/>
                </a:path>
              </a:pathLst>
            </a:custGeom>
            <a:blipFill>
              <a:blip r:embed="rId3">
                <a:alphaModFix amt="0"/>
              </a:blip>
              <a:stretch>
                <a:fillRect l="0" t="-33352" r="0" b="-33352"/>
              </a:stretch>
            </a:blipFill>
          </p:spPr>
        </p:sp>
        <p:sp>
          <p:nvSpPr>
            <p:cNvPr name="TextBox 36" id="36"/>
            <p:cNvSpPr txBox="true"/>
            <p:nvPr/>
          </p:nvSpPr>
          <p:spPr>
            <a:xfrm>
              <a:off x="0" y="-47625"/>
              <a:ext cx="3755136" cy="925449"/>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Pattern matching</a:t>
              </a:r>
            </a:p>
          </p:txBody>
        </p:sp>
      </p:grpSp>
      <p:grpSp>
        <p:nvGrpSpPr>
          <p:cNvPr name="Group 37" id="37"/>
          <p:cNvGrpSpPr/>
          <p:nvPr/>
        </p:nvGrpSpPr>
        <p:grpSpPr>
          <a:xfrm rot="0">
            <a:off x="4151376" y="3474720"/>
            <a:ext cx="2816352" cy="1828800"/>
            <a:chOff x="0" y="0"/>
            <a:chExt cx="3755136" cy="2438400"/>
          </a:xfrm>
        </p:grpSpPr>
        <p:sp>
          <p:nvSpPr>
            <p:cNvPr name="Freeform 38" id="38"/>
            <p:cNvSpPr/>
            <p:nvPr/>
          </p:nvSpPr>
          <p:spPr>
            <a:xfrm flipH="false" flipV="false" rot="0">
              <a:off x="0" y="0"/>
              <a:ext cx="3755136" cy="2438400"/>
            </a:xfrm>
            <a:custGeom>
              <a:avLst/>
              <a:gdLst/>
              <a:ahLst/>
              <a:cxnLst/>
              <a:rect r="r" b="b" t="t" l="l"/>
              <a:pathLst>
                <a:path h="2438400" w="3755136">
                  <a:moveTo>
                    <a:pt x="0" y="0"/>
                  </a:moveTo>
                  <a:lnTo>
                    <a:pt x="3755136" y="0"/>
                  </a:lnTo>
                  <a:lnTo>
                    <a:pt x="3755136" y="2438400"/>
                  </a:lnTo>
                  <a:lnTo>
                    <a:pt x="0" y="2438400"/>
                  </a:lnTo>
                  <a:close/>
                </a:path>
              </a:pathLst>
            </a:custGeom>
            <a:blipFill>
              <a:blip r:embed="rId3">
                <a:alphaModFix amt="0"/>
              </a:blip>
              <a:stretch>
                <a:fillRect l="-33314" t="0" r="-33314" b="0"/>
              </a:stretch>
            </a:blipFill>
          </p:spPr>
        </p:sp>
        <p:sp>
          <p:nvSpPr>
            <p:cNvPr name="TextBox 39" id="39"/>
            <p:cNvSpPr txBox="true"/>
            <p:nvPr/>
          </p:nvSpPr>
          <p:spPr>
            <a:xfrm>
              <a:off x="0" y="-38100"/>
              <a:ext cx="3755136" cy="2476500"/>
            </a:xfrm>
            <a:prstGeom prst="rect">
              <a:avLst/>
            </a:prstGeom>
          </p:spPr>
          <p:txBody>
            <a:bodyPr anchor="ctr" rtlCol="false" tIns="0" lIns="0" bIns="0" rIns="0"/>
            <a:lstStyle/>
            <a:p>
              <a:pPr algn="ctr">
                <a:lnSpc>
                  <a:spcPts val="2039"/>
                </a:lnSpc>
              </a:pPr>
              <a:r>
                <a:rPr lang="en-US" sz="1700">
                  <a:solidFill>
                    <a:srgbClr val="94A3B8"/>
                  </a:solidFill>
                  <a:latin typeface="Calibri (MS)"/>
                  <a:ea typeface="Calibri (MS)"/>
                  <a:cs typeface="Calibri (MS)"/>
                  <a:sym typeface="Calibri (MS)"/>
                </a:rPr>
                <a:t>ML model compares the input against training data — similarity score computed</a:t>
              </a:r>
            </a:p>
          </p:txBody>
        </p:sp>
      </p:grpSp>
      <p:grpSp>
        <p:nvGrpSpPr>
          <p:cNvPr name="Group 40" id="40"/>
          <p:cNvGrpSpPr/>
          <p:nvPr/>
        </p:nvGrpSpPr>
        <p:grpSpPr>
          <a:xfrm rot="0">
            <a:off x="7101335" y="3462023"/>
            <a:ext cx="409451" cy="25403"/>
            <a:chOff x="0" y="0"/>
            <a:chExt cx="545935" cy="33871"/>
          </a:xfrm>
        </p:grpSpPr>
        <p:sp>
          <p:nvSpPr>
            <p:cNvPr name="Freeform 41" id="41"/>
            <p:cNvSpPr/>
            <p:nvPr/>
          </p:nvSpPr>
          <p:spPr>
            <a:xfrm flipH="false" flipV="false" rot="0">
              <a:off x="16891" y="0"/>
              <a:ext cx="512064" cy="33909"/>
            </a:xfrm>
            <a:custGeom>
              <a:avLst/>
              <a:gdLst/>
              <a:ahLst/>
              <a:cxnLst/>
              <a:rect r="r" b="b" t="t" l="l"/>
              <a:pathLst>
                <a:path h="33909" w="512064">
                  <a:moveTo>
                    <a:pt x="0" y="0"/>
                  </a:moveTo>
                  <a:lnTo>
                    <a:pt x="512064" y="0"/>
                  </a:lnTo>
                  <a:lnTo>
                    <a:pt x="512064" y="33909"/>
                  </a:lnTo>
                  <a:lnTo>
                    <a:pt x="0" y="33909"/>
                  </a:lnTo>
                  <a:close/>
                </a:path>
              </a:pathLst>
            </a:custGeom>
            <a:solidFill>
              <a:srgbClr val="0D9488"/>
            </a:solidFill>
          </p:spPr>
        </p:sp>
      </p:grpSp>
      <p:grpSp>
        <p:nvGrpSpPr>
          <p:cNvPr name="Group 42" id="42"/>
          <p:cNvGrpSpPr/>
          <p:nvPr/>
        </p:nvGrpSpPr>
        <p:grpSpPr>
          <a:xfrm rot="0">
            <a:off x="7491727" y="1420111"/>
            <a:ext cx="3121657" cy="4182361"/>
            <a:chOff x="0" y="0"/>
            <a:chExt cx="4162209" cy="5576481"/>
          </a:xfrm>
        </p:grpSpPr>
        <p:sp>
          <p:nvSpPr>
            <p:cNvPr name="Freeform 43" id="43"/>
            <p:cNvSpPr/>
            <p:nvPr/>
          </p:nvSpPr>
          <p:spPr>
            <a:xfrm flipH="false" flipV="false" rot="0">
              <a:off x="8509" y="8509"/>
              <a:ext cx="4145280" cy="5559552"/>
            </a:xfrm>
            <a:custGeom>
              <a:avLst/>
              <a:gdLst/>
              <a:ahLst/>
              <a:cxnLst/>
              <a:rect r="r" b="b" t="t" l="l"/>
              <a:pathLst>
                <a:path h="5559552" w="4145280">
                  <a:moveTo>
                    <a:pt x="0" y="0"/>
                  </a:moveTo>
                  <a:lnTo>
                    <a:pt x="4145280" y="0"/>
                  </a:lnTo>
                  <a:lnTo>
                    <a:pt x="4145280" y="5559552"/>
                  </a:lnTo>
                  <a:lnTo>
                    <a:pt x="0" y="5559552"/>
                  </a:lnTo>
                  <a:close/>
                </a:path>
              </a:pathLst>
            </a:custGeom>
            <a:solidFill>
              <a:srgbClr val="0D1F38"/>
            </a:solidFill>
          </p:spPr>
        </p:sp>
        <p:sp>
          <p:nvSpPr>
            <p:cNvPr name="Freeform 44" id="44"/>
            <p:cNvSpPr/>
            <p:nvPr/>
          </p:nvSpPr>
          <p:spPr>
            <a:xfrm flipH="false" flipV="false" rot="0">
              <a:off x="0" y="0"/>
              <a:ext cx="4162298" cy="5576570"/>
            </a:xfrm>
            <a:custGeom>
              <a:avLst/>
              <a:gdLst/>
              <a:ahLst/>
              <a:cxnLst/>
              <a:rect r="r" b="b" t="t" l="l"/>
              <a:pathLst>
                <a:path h="5576570" w="4162298">
                  <a:moveTo>
                    <a:pt x="8509" y="0"/>
                  </a:moveTo>
                  <a:lnTo>
                    <a:pt x="4153789" y="0"/>
                  </a:lnTo>
                  <a:cubicBezTo>
                    <a:pt x="4158488" y="0"/>
                    <a:pt x="4162298" y="3810"/>
                    <a:pt x="4162298" y="8509"/>
                  </a:cubicBezTo>
                  <a:lnTo>
                    <a:pt x="4162298" y="5568061"/>
                  </a:lnTo>
                  <a:cubicBezTo>
                    <a:pt x="4162298" y="5572760"/>
                    <a:pt x="4158488" y="5576570"/>
                    <a:pt x="4153789" y="5576570"/>
                  </a:cubicBezTo>
                  <a:lnTo>
                    <a:pt x="8509" y="5576570"/>
                  </a:lnTo>
                  <a:cubicBezTo>
                    <a:pt x="3810" y="5576570"/>
                    <a:pt x="0" y="5572760"/>
                    <a:pt x="0" y="5568061"/>
                  </a:cubicBezTo>
                  <a:lnTo>
                    <a:pt x="0" y="8509"/>
                  </a:lnTo>
                  <a:cubicBezTo>
                    <a:pt x="0" y="3810"/>
                    <a:pt x="3810" y="0"/>
                    <a:pt x="8509" y="0"/>
                  </a:cubicBezTo>
                  <a:moveTo>
                    <a:pt x="8509" y="16891"/>
                  </a:moveTo>
                  <a:lnTo>
                    <a:pt x="8509" y="8509"/>
                  </a:lnTo>
                  <a:lnTo>
                    <a:pt x="17018" y="8509"/>
                  </a:lnTo>
                  <a:lnTo>
                    <a:pt x="17018" y="5568061"/>
                  </a:lnTo>
                  <a:lnTo>
                    <a:pt x="8509" y="5568061"/>
                  </a:lnTo>
                  <a:lnTo>
                    <a:pt x="8509" y="5559552"/>
                  </a:lnTo>
                  <a:lnTo>
                    <a:pt x="4153789" y="5559552"/>
                  </a:lnTo>
                  <a:lnTo>
                    <a:pt x="4153789" y="5568061"/>
                  </a:lnTo>
                  <a:lnTo>
                    <a:pt x="4145280" y="5568061"/>
                  </a:lnTo>
                  <a:lnTo>
                    <a:pt x="4145280" y="8509"/>
                  </a:lnTo>
                  <a:lnTo>
                    <a:pt x="4153789" y="8509"/>
                  </a:lnTo>
                  <a:lnTo>
                    <a:pt x="4153789" y="17018"/>
                  </a:lnTo>
                  <a:lnTo>
                    <a:pt x="8509" y="17018"/>
                  </a:lnTo>
                  <a:close/>
                </a:path>
              </a:pathLst>
            </a:custGeom>
            <a:solidFill>
              <a:srgbClr val="0D9488"/>
            </a:solidFill>
          </p:spPr>
        </p:sp>
      </p:grpSp>
      <p:grpSp>
        <p:nvGrpSpPr>
          <p:cNvPr name="Group 45" id="45"/>
          <p:cNvGrpSpPr/>
          <p:nvPr/>
        </p:nvGrpSpPr>
        <p:grpSpPr>
          <a:xfrm rot="0">
            <a:off x="8564375" y="1596647"/>
            <a:ext cx="976379" cy="976379"/>
            <a:chOff x="0" y="0"/>
            <a:chExt cx="1301839" cy="1301839"/>
          </a:xfrm>
        </p:grpSpPr>
        <p:sp>
          <p:nvSpPr>
            <p:cNvPr name="Freeform 46" id="46"/>
            <p:cNvSpPr/>
            <p:nvPr/>
          </p:nvSpPr>
          <p:spPr>
            <a:xfrm flipH="false" flipV="false" rot="0">
              <a:off x="16891" y="16891"/>
              <a:ext cx="1267968" cy="1267968"/>
            </a:xfrm>
            <a:custGeom>
              <a:avLst/>
              <a:gdLst/>
              <a:ahLst/>
              <a:cxnLst/>
              <a:rect r="r" b="b" t="t" l="l"/>
              <a:pathLst>
                <a:path h="1267968" w="1267968">
                  <a:moveTo>
                    <a:pt x="0" y="633984"/>
                  </a:moveTo>
                  <a:cubicBezTo>
                    <a:pt x="0" y="283845"/>
                    <a:pt x="283845" y="0"/>
                    <a:pt x="633984" y="0"/>
                  </a:cubicBezTo>
                  <a:cubicBezTo>
                    <a:pt x="984123" y="0"/>
                    <a:pt x="1267968" y="283845"/>
                    <a:pt x="1267968" y="633984"/>
                  </a:cubicBezTo>
                  <a:cubicBezTo>
                    <a:pt x="1267968" y="984123"/>
                    <a:pt x="984123" y="1267968"/>
                    <a:pt x="633984" y="1267968"/>
                  </a:cubicBezTo>
                  <a:cubicBezTo>
                    <a:pt x="283845" y="1267968"/>
                    <a:pt x="0" y="984123"/>
                    <a:pt x="0" y="633984"/>
                  </a:cubicBezTo>
                  <a:close/>
                </a:path>
              </a:pathLst>
            </a:custGeom>
            <a:solidFill>
              <a:srgbClr val="0D9488"/>
            </a:solidFill>
          </p:spPr>
        </p:sp>
        <p:sp>
          <p:nvSpPr>
            <p:cNvPr name="Freeform 47" id="47"/>
            <p:cNvSpPr/>
            <p:nvPr/>
          </p:nvSpPr>
          <p:spPr>
            <a:xfrm flipH="false" flipV="false" rot="0">
              <a:off x="0" y="0"/>
              <a:ext cx="1301750" cy="1301750"/>
            </a:xfrm>
            <a:custGeom>
              <a:avLst/>
              <a:gdLst/>
              <a:ahLst/>
              <a:cxnLst/>
              <a:rect r="r" b="b" t="t" l="l"/>
              <a:pathLst>
                <a:path h="1301750" w="1301750">
                  <a:moveTo>
                    <a:pt x="0" y="650875"/>
                  </a:moveTo>
                  <a:cubicBezTo>
                    <a:pt x="0" y="291465"/>
                    <a:pt x="291465" y="0"/>
                    <a:pt x="650875" y="0"/>
                  </a:cubicBezTo>
                  <a:lnTo>
                    <a:pt x="650875" y="16891"/>
                  </a:lnTo>
                  <a:lnTo>
                    <a:pt x="650875" y="0"/>
                  </a:lnTo>
                  <a:cubicBezTo>
                    <a:pt x="1010412" y="0"/>
                    <a:pt x="1301750" y="291465"/>
                    <a:pt x="1301750" y="650875"/>
                  </a:cubicBezTo>
                  <a:lnTo>
                    <a:pt x="1284859" y="650875"/>
                  </a:lnTo>
                  <a:lnTo>
                    <a:pt x="1301750" y="650875"/>
                  </a:lnTo>
                  <a:cubicBezTo>
                    <a:pt x="1301750" y="1010412"/>
                    <a:pt x="1010285" y="1301750"/>
                    <a:pt x="650875" y="1301750"/>
                  </a:cubicBezTo>
                  <a:lnTo>
                    <a:pt x="650875" y="1284859"/>
                  </a:lnTo>
                  <a:lnTo>
                    <a:pt x="650875" y="1301750"/>
                  </a:lnTo>
                  <a:cubicBezTo>
                    <a:pt x="291465" y="1301877"/>
                    <a:pt x="0" y="1010412"/>
                    <a:pt x="0" y="650875"/>
                  </a:cubicBezTo>
                  <a:lnTo>
                    <a:pt x="16891" y="650875"/>
                  </a:lnTo>
                  <a:lnTo>
                    <a:pt x="33909" y="650875"/>
                  </a:lnTo>
                  <a:lnTo>
                    <a:pt x="16891" y="650875"/>
                  </a:lnTo>
                  <a:lnTo>
                    <a:pt x="0" y="650875"/>
                  </a:lnTo>
                  <a:moveTo>
                    <a:pt x="33909" y="650875"/>
                  </a:moveTo>
                  <a:cubicBezTo>
                    <a:pt x="33909" y="660273"/>
                    <a:pt x="26289" y="667766"/>
                    <a:pt x="17018" y="667766"/>
                  </a:cubicBezTo>
                  <a:cubicBezTo>
                    <a:pt x="7747" y="667766"/>
                    <a:pt x="0" y="660273"/>
                    <a:pt x="0" y="650875"/>
                  </a:cubicBezTo>
                  <a:cubicBezTo>
                    <a:pt x="0" y="641477"/>
                    <a:pt x="7620" y="633984"/>
                    <a:pt x="16891" y="633984"/>
                  </a:cubicBezTo>
                  <a:cubicBezTo>
                    <a:pt x="26162" y="633984"/>
                    <a:pt x="33782" y="641604"/>
                    <a:pt x="33782" y="650875"/>
                  </a:cubicBezTo>
                  <a:cubicBezTo>
                    <a:pt x="33782" y="991616"/>
                    <a:pt x="310007" y="1267968"/>
                    <a:pt x="650875" y="1267968"/>
                  </a:cubicBezTo>
                  <a:cubicBezTo>
                    <a:pt x="991616" y="1267968"/>
                    <a:pt x="1267968" y="991743"/>
                    <a:pt x="1267968" y="650875"/>
                  </a:cubicBezTo>
                  <a:cubicBezTo>
                    <a:pt x="1267968" y="310134"/>
                    <a:pt x="991743" y="33782"/>
                    <a:pt x="650875" y="33782"/>
                  </a:cubicBezTo>
                  <a:lnTo>
                    <a:pt x="650875" y="16891"/>
                  </a:lnTo>
                  <a:lnTo>
                    <a:pt x="650875" y="33909"/>
                  </a:lnTo>
                  <a:cubicBezTo>
                    <a:pt x="310134" y="33909"/>
                    <a:pt x="33909" y="310134"/>
                    <a:pt x="33909" y="650875"/>
                  </a:cubicBezTo>
                  <a:close/>
                </a:path>
              </a:pathLst>
            </a:custGeom>
            <a:solidFill>
              <a:srgbClr val="0D9488"/>
            </a:solidFill>
          </p:spPr>
        </p:sp>
      </p:grpSp>
      <p:grpSp>
        <p:nvGrpSpPr>
          <p:cNvPr name="Group 48" id="48"/>
          <p:cNvGrpSpPr/>
          <p:nvPr/>
        </p:nvGrpSpPr>
        <p:grpSpPr>
          <a:xfrm rot="0">
            <a:off x="8577072" y="1609344"/>
            <a:ext cx="950976" cy="950976"/>
            <a:chOff x="0" y="0"/>
            <a:chExt cx="1267968" cy="1267968"/>
          </a:xfrm>
        </p:grpSpPr>
        <p:sp>
          <p:nvSpPr>
            <p:cNvPr name="Freeform 49" id="49"/>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3">
                <a:alphaModFix amt="0"/>
              </a:blip>
              <a:stretch>
                <a:fillRect l="-78303" t="0" r="-78303" b="0"/>
              </a:stretch>
            </a:blipFill>
          </p:spPr>
        </p:sp>
        <p:sp>
          <p:nvSpPr>
            <p:cNvPr name="TextBox 50" id="50"/>
            <p:cNvSpPr txBox="true"/>
            <p:nvPr/>
          </p:nvSpPr>
          <p:spPr>
            <a:xfrm>
              <a:off x="0" y="-47625"/>
              <a:ext cx="1267968" cy="1315593"/>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3</a:t>
              </a:r>
            </a:p>
          </p:txBody>
        </p:sp>
      </p:grpSp>
      <p:grpSp>
        <p:nvGrpSpPr>
          <p:cNvPr name="Group 51" id="51"/>
          <p:cNvGrpSpPr/>
          <p:nvPr/>
        </p:nvGrpSpPr>
        <p:grpSpPr>
          <a:xfrm rot="0">
            <a:off x="7644384" y="2743200"/>
            <a:ext cx="2816352" cy="658368"/>
            <a:chOff x="0" y="0"/>
            <a:chExt cx="3755136" cy="877824"/>
          </a:xfrm>
        </p:grpSpPr>
        <p:sp>
          <p:nvSpPr>
            <p:cNvPr name="Freeform 52" id="52"/>
            <p:cNvSpPr/>
            <p:nvPr/>
          </p:nvSpPr>
          <p:spPr>
            <a:xfrm flipH="false" flipV="false" rot="0">
              <a:off x="0" y="0"/>
              <a:ext cx="3755136" cy="877824"/>
            </a:xfrm>
            <a:custGeom>
              <a:avLst/>
              <a:gdLst/>
              <a:ahLst/>
              <a:cxnLst/>
              <a:rect r="r" b="b" t="t" l="l"/>
              <a:pathLst>
                <a:path h="877824" w="3755136">
                  <a:moveTo>
                    <a:pt x="0" y="0"/>
                  </a:moveTo>
                  <a:lnTo>
                    <a:pt x="3755136" y="0"/>
                  </a:lnTo>
                  <a:lnTo>
                    <a:pt x="3755136" y="877824"/>
                  </a:lnTo>
                  <a:lnTo>
                    <a:pt x="0" y="877824"/>
                  </a:lnTo>
                  <a:close/>
                </a:path>
              </a:pathLst>
            </a:custGeom>
            <a:blipFill>
              <a:blip r:embed="rId3">
                <a:alphaModFix amt="0"/>
              </a:blip>
              <a:stretch>
                <a:fillRect l="0" t="-33352" r="0" b="-33352"/>
              </a:stretch>
            </a:blipFill>
          </p:spPr>
        </p:sp>
        <p:sp>
          <p:nvSpPr>
            <p:cNvPr name="TextBox 53" id="53"/>
            <p:cNvSpPr txBox="true"/>
            <p:nvPr/>
          </p:nvSpPr>
          <p:spPr>
            <a:xfrm>
              <a:off x="0" y="-47625"/>
              <a:ext cx="3755136" cy="925449"/>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Decision gate</a:t>
              </a:r>
            </a:p>
          </p:txBody>
        </p:sp>
      </p:grpSp>
      <p:grpSp>
        <p:nvGrpSpPr>
          <p:cNvPr name="Group 54" id="54"/>
          <p:cNvGrpSpPr/>
          <p:nvPr/>
        </p:nvGrpSpPr>
        <p:grpSpPr>
          <a:xfrm rot="0">
            <a:off x="7644384" y="3474720"/>
            <a:ext cx="2816352" cy="1828800"/>
            <a:chOff x="0" y="0"/>
            <a:chExt cx="3755136" cy="2438400"/>
          </a:xfrm>
        </p:grpSpPr>
        <p:sp>
          <p:nvSpPr>
            <p:cNvPr name="Freeform 55" id="55"/>
            <p:cNvSpPr/>
            <p:nvPr/>
          </p:nvSpPr>
          <p:spPr>
            <a:xfrm flipH="false" flipV="false" rot="0">
              <a:off x="0" y="0"/>
              <a:ext cx="3755136" cy="2438400"/>
            </a:xfrm>
            <a:custGeom>
              <a:avLst/>
              <a:gdLst/>
              <a:ahLst/>
              <a:cxnLst/>
              <a:rect r="r" b="b" t="t" l="l"/>
              <a:pathLst>
                <a:path h="2438400" w="3755136">
                  <a:moveTo>
                    <a:pt x="0" y="0"/>
                  </a:moveTo>
                  <a:lnTo>
                    <a:pt x="3755136" y="0"/>
                  </a:lnTo>
                  <a:lnTo>
                    <a:pt x="3755136" y="2438400"/>
                  </a:lnTo>
                  <a:lnTo>
                    <a:pt x="0" y="2438400"/>
                  </a:lnTo>
                  <a:close/>
                </a:path>
              </a:pathLst>
            </a:custGeom>
            <a:blipFill>
              <a:blip r:embed="rId3">
                <a:alphaModFix amt="0"/>
              </a:blip>
              <a:stretch>
                <a:fillRect l="-33314" t="0" r="-33314" b="0"/>
              </a:stretch>
            </a:blipFill>
          </p:spPr>
        </p:sp>
        <p:sp>
          <p:nvSpPr>
            <p:cNvPr name="TextBox 56" id="56"/>
            <p:cNvSpPr txBox="true"/>
            <p:nvPr/>
          </p:nvSpPr>
          <p:spPr>
            <a:xfrm>
              <a:off x="0" y="-38100"/>
              <a:ext cx="3755136" cy="2476500"/>
            </a:xfrm>
            <a:prstGeom prst="rect">
              <a:avLst/>
            </a:prstGeom>
          </p:spPr>
          <p:txBody>
            <a:bodyPr anchor="ctr" rtlCol="false" tIns="0" lIns="0" bIns="0" rIns="0"/>
            <a:lstStyle/>
            <a:p>
              <a:pPr algn="ctr">
                <a:lnSpc>
                  <a:spcPts val="2039"/>
                </a:lnSpc>
              </a:pPr>
              <a:r>
                <a:rPr lang="en-US" sz="1700">
                  <a:solidFill>
                    <a:srgbClr val="94A3B8"/>
                  </a:solidFill>
                  <a:latin typeface="Calibri (MS)"/>
                  <a:ea typeface="Calibri (MS)"/>
                  <a:cs typeface="Calibri (MS)"/>
                  <a:sym typeface="Calibri (MS)"/>
                </a:rPr>
                <a:t>≥4 of 5 match → high confidence direct prediction</a:t>
              </a:r>
            </a:p>
            <a:p>
              <a:pPr algn="ctr">
                <a:lnSpc>
                  <a:spcPts val="2039"/>
                </a:lnSpc>
              </a:pPr>
              <a:r>
                <a:rPr lang="en-US" sz="1700">
                  <a:solidFill>
                    <a:srgbClr val="94A3B8"/>
                  </a:solidFill>
                  <a:latin typeface="Calibri (MS)"/>
                  <a:ea typeface="Calibri (MS)"/>
                  <a:cs typeface="Calibri (MS)"/>
                  <a:sym typeface="Calibri (MS)"/>
                </a:rPr>
                <a:t>≤3 match → contextual fallback triggered</a:t>
              </a:r>
            </a:p>
          </p:txBody>
        </p:sp>
      </p:grpSp>
      <p:grpSp>
        <p:nvGrpSpPr>
          <p:cNvPr name="Group 57" id="57"/>
          <p:cNvGrpSpPr/>
          <p:nvPr/>
        </p:nvGrpSpPr>
        <p:grpSpPr>
          <a:xfrm rot="0">
            <a:off x="10594343" y="3462023"/>
            <a:ext cx="409451" cy="25403"/>
            <a:chOff x="0" y="0"/>
            <a:chExt cx="545935" cy="33871"/>
          </a:xfrm>
        </p:grpSpPr>
        <p:sp>
          <p:nvSpPr>
            <p:cNvPr name="Freeform 58" id="58"/>
            <p:cNvSpPr/>
            <p:nvPr/>
          </p:nvSpPr>
          <p:spPr>
            <a:xfrm flipH="false" flipV="false" rot="0">
              <a:off x="16891" y="0"/>
              <a:ext cx="512064" cy="33909"/>
            </a:xfrm>
            <a:custGeom>
              <a:avLst/>
              <a:gdLst/>
              <a:ahLst/>
              <a:cxnLst/>
              <a:rect r="r" b="b" t="t" l="l"/>
              <a:pathLst>
                <a:path h="33909" w="512064">
                  <a:moveTo>
                    <a:pt x="0" y="0"/>
                  </a:moveTo>
                  <a:lnTo>
                    <a:pt x="512064" y="0"/>
                  </a:lnTo>
                  <a:lnTo>
                    <a:pt x="512064" y="33909"/>
                  </a:lnTo>
                  <a:lnTo>
                    <a:pt x="0" y="33909"/>
                  </a:lnTo>
                  <a:close/>
                </a:path>
              </a:pathLst>
            </a:custGeom>
            <a:solidFill>
              <a:srgbClr val="0D9488"/>
            </a:solidFill>
          </p:spPr>
        </p:sp>
      </p:grpSp>
      <p:grpSp>
        <p:nvGrpSpPr>
          <p:cNvPr name="Group 59" id="59"/>
          <p:cNvGrpSpPr/>
          <p:nvPr/>
        </p:nvGrpSpPr>
        <p:grpSpPr>
          <a:xfrm rot="0">
            <a:off x="10984735" y="1420111"/>
            <a:ext cx="3121657" cy="4182361"/>
            <a:chOff x="0" y="0"/>
            <a:chExt cx="4162209" cy="5576481"/>
          </a:xfrm>
        </p:grpSpPr>
        <p:sp>
          <p:nvSpPr>
            <p:cNvPr name="Freeform 60" id="60"/>
            <p:cNvSpPr/>
            <p:nvPr/>
          </p:nvSpPr>
          <p:spPr>
            <a:xfrm flipH="false" flipV="false" rot="0">
              <a:off x="8509" y="8509"/>
              <a:ext cx="4145280" cy="5559552"/>
            </a:xfrm>
            <a:custGeom>
              <a:avLst/>
              <a:gdLst/>
              <a:ahLst/>
              <a:cxnLst/>
              <a:rect r="r" b="b" t="t" l="l"/>
              <a:pathLst>
                <a:path h="5559552" w="4145280">
                  <a:moveTo>
                    <a:pt x="0" y="0"/>
                  </a:moveTo>
                  <a:lnTo>
                    <a:pt x="4145280" y="0"/>
                  </a:lnTo>
                  <a:lnTo>
                    <a:pt x="4145280" y="5559552"/>
                  </a:lnTo>
                  <a:lnTo>
                    <a:pt x="0" y="5559552"/>
                  </a:lnTo>
                  <a:close/>
                </a:path>
              </a:pathLst>
            </a:custGeom>
            <a:solidFill>
              <a:srgbClr val="0D1F38"/>
            </a:solidFill>
          </p:spPr>
        </p:sp>
        <p:sp>
          <p:nvSpPr>
            <p:cNvPr name="Freeform 61" id="61"/>
            <p:cNvSpPr/>
            <p:nvPr/>
          </p:nvSpPr>
          <p:spPr>
            <a:xfrm flipH="false" flipV="false" rot="0">
              <a:off x="0" y="0"/>
              <a:ext cx="4162298" cy="5576570"/>
            </a:xfrm>
            <a:custGeom>
              <a:avLst/>
              <a:gdLst/>
              <a:ahLst/>
              <a:cxnLst/>
              <a:rect r="r" b="b" t="t" l="l"/>
              <a:pathLst>
                <a:path h="5576570" w="4162298">
                  <a:moveTo>
                    <a:pt x="8509" y="0"/>
                  </a:moveTo>
                  <a:lnTo>
                    <a:pt x="4153789" y="0"/>
                  </a:lnTo>
                  <a:cubicBezTo>
                    <a:pt x="4158488" y="0"/>
                    <a:pt x="4162298" y="3810"/>
                    <a:pt x="4162298" y="8509"/>
                  </a:cubicBezTo>
                  <a:lnTo>
                    <a:pt x="4162298" y="5568061"/>
                  </a:lnTo>
                  <a:cubicBezTo>
                    <a:pt x="4162298" y="5572760"/>
                    <a:pt x="4158488" y="5576570"/>
                    <a:pt x="4153789" y="5576570"/>
                  </a:cubicBezTo>
                  <a:lnTo>
                    <a:pt x="8509" y="5576570"/>
                  </a:lnTo>
                  <a:cubicBezTo>
                    <a:pt x="3810" y="5576570"/>
                    <a:pt x="0" y="5572760"/>
                    <a:pt x="0" y="5568061"/>
                  </a:cubicBezTo>
                  <a:lnTo>
                    <a:pt x="0" y="8509"/>
                  </a:lnTo>
                  <a:cubicBezTo>
                    <a:pt x="0" y="3810"/>
                    <a:pt x="3810" y="0"/>
                    <a:pt x="8509" y="0"/>
                  </a:cubicBezTo>
                  <a:moveTo>
                    <a:pt x="8509" y="16891"/>
                  </a:moveTo>
                  <a:lnTo>
                    <a:pt x="8509" y="8509"/>
                  </a:lnTo>
                  <a:lnTo>
                    <a:pt x="17018" y="8509"/>
                  </a:lnTo>
                  <a:lnTo>
                    <a:pt x="17018" y="5568061"/>
                  </a:lnTo>
                  <a:lnTo>
                    <a:pt x="8509" y="5568061"/>
                  </a:lnTo>
                  <a:lnTo>
                    <a:pt x="8509" y="5559552"/>
                  </a:lnTo>
                  <a:lnTo>
                    <a:pt x="4153789" y="5559552"/>
                  </a:lnTo>
                  <a:lnTo>
                    <a:pt x="4153789" y="5568061"/>
                  </a:lnTo>
                  <a:lnTo>
                    <a:pt x="4145280" y="5568061"/>
                  </a:lnTo>
                  <a:lnTo>
                    <a:pt x="4145280" y="8509"/>
                  </a:lnTo>
                  <a:lnTo>
                    <a:pt x="4153789" y="8509"/>
                  </a:lnTo>
                  <a:lnTo>
                    <a:pt x="4153789" y="17018"/>
                  </a:lnTo>
                  <a:lnTo>
                    <a:pt x="8509" y="17018"/>
                  </a:lnTo>
                  <a:close/>
                </a:path>
              </a:pathLst>
            </a:custGeom>
            <a:solidFill>
              <a:srgbClr val="0D9488"/>
            </a:solidFill>
          </p:spPr>
        </p:sp>
      </p:grpSp>
      <p:grpSp>
        <p:nvGrpSpPr>
          <p:cNvPr name="Group 62" id="62"/>
          <p:cNvGrpSpPr/>
          <p:nvPr/>
        </p:nvGrpSpPr>
        <p:grpSpPr>
          <a:xfrm rot="0">
            <a:off x="12057383" y="1596647"/>
            <a:ext cx="976379" cy="976379"/>
            <a:chOff x="0" y="0"/>
            <a:chExt cx="1301839" cy="1301839"/>
          </a:xfrm>
        </p:grpSpPr>
        <p:sp>
          <p:nvSpPr>
            <p:cNvPr name="Freeform 63" id="63"/>
            <p:cNvSpPr/>
            <p:nvPr/>
          </p:nvSpPr>
          <p:spPr>
            <a:xfrm flipH="false" flipV="false" rot="0">
              <a:off x="16891" y="16891"/>
              <a:ext cx="1267968" cy="1267968"/>
            </a:xfrm>
            <a:custGeom>
              <a:avLst/>
              <a:gdLst/>
              <a:ahLst/>
              <a:cxnLst/>
              <a:rect r="r" b="b" t="t" l="l"/>
              <a:pathLst>
                <a:path h="1267968" w="1267968">
                  <a:moveTo>
                    <a:pt x="0" y="633984"/>
                  </a:moveTo>
                  <a:cubicBezTo>
                    <a:pt x="0" y="283845"/>
                    <a:pt x="283845" y="0"/>
                    <a:pt x="633984" y="0"/>
                  </a:cubicBezTo>
                  <a:cubicBezTo>
                    <a:pt x="984123" y="0"/>
                    <a:pt x="1267968" y="283845"/>
                    <a:pt x="1267968" y="633984"/>
                  </a:cubicBezTo>
                  <a:cubicBezTo>
                    <a:pt x="1267968" y="984123"/>
                    <a:pt x="984123" y="1267968"/>
                    <a:pt x="633984" y="1267968"/>
                  </a:cubicBezTo>
                  <a:cubicBezTo>
                    <a:pt x="283845" y="1267968"/>
                    <a:pt x="0" y="984123"/>
                    <a:pt x="0" y="633984"/>
                  </a:cubicBezTo>
                  <a:close/>
                </a:path>
              </a:pathLst>
            </a:custGeom>
            <a:solidFill>
              <a:srgbClr val="0D9488"/>
            </a:solidFill>
          </p:spPr>
        </p:sp>
        <p:sp>
          <p:nvSpPr>
            <p:cNvPr name="Freeform 64" id="64"/>
            <p:cNvSpPr/>
            <p:nvPr/>
          </p:nvSpPr>
          <p:spPr>
            <a:xfrm flipH="false" flipV="false" rot="0">
              <a:off x="0" y="0"/>
              <a:ext cx="1301750" cy="1301750"/>
            </a:xfrm>
            <a:custGeom>
              <a:avLst/>
              <a:gdLst/>
              <a:ahLst/>
              <a:cxnLst/>
              <a:rect r="r" b="b" t="t" l="l"/>
              <a:pathLst>
                <a:path h="1301750" w="1301750">
                  <a:moveTo>
                    <a:pt x="0" y="650875"/>
                  </a:moveTo>
                  <a:cubicBezTo>
                    <a:pt x="0" y="291465"/>
                    <a:pt x="291465" y="0"/>
                    <a:pt x="650875" y="0"/>
                  </a:cubicBezTo>
                  <a:lnTo>
                    <a:pt x="650875" y="16891"/>
                  </a:lnTo>
                  <a:lnTo>
                    <a:pt x="650875" y="0"/>
                  </a:lnTo>
                  <a:cubicBezTo>
                    <a:pt x="1010412" y="0"/>
                    <a:pt x="1301750" y="291465"/>
                    <a:pt x="1301750" y="650875"/>
                  </a:cubicBezTo>
                  <a:lnTo>
                    <a:pt x="1284859" y="650875"/>
                  </a:lnTo>
                  <a:lnTo>
                    <a:pt x="1301750" y="650875"/>
                  </a:lnTo>
                  <a:cubicBezTo>
                    <a:pt x="1301750" y="1010412"/>
                    <a:pt x="1010285" y="1301750"/>
                    <a:pt x="650875" y="1301750"/>
                  </a:cubicBezTo>
                  <a:lnTo>
                    <a:pt x="650875" y="1284859"/>
                  </a:lnTo>
                  <a:lnTo>
                    <a:pt x="650875" y="1301750"/>
                  </a:lnTo>
                  <a:cubicBezTo>
                    <a:pt x="291465" y="1301877"/>
                    <a:pt x="0" y="1010412"/>
                    <a:pt x="0" y="650875"/>
                  </a:cubicBezTo>
                  <a:lnTo>
                    <a:pt x="16891" y="650875"/>
                  </a:lnTo>
                  <a:lnTo>
                    <a:pt x="33909" y="650875"/>
                  </a:lnTo>
                  <a:lnTo>
                    <a:pt x="16891" y="650875"/>
                  </a:lnTo>
                  <a:lnTo>
                    <a:pt x="0" y="650875"/>
                  </a:lnTo>
                  <a:moveTo>
                    <a:pt x="33909" y="650875"/>
                  </a:moveTo>
                  <a:cubicBezTo>
                    <a:pt x="33909" y="660273"/>
                    <a:pt x="26289" y="667766"/>
                    <a:pt x="17018" y="667766"/>
                  </a:cubicBezTo>
                  <a:cubicBezTo>
                    <a:pt x="7747" y="667766"/>
                    <a:pt x="0" y="660273"/>
                    <a:pt x="0" y="650875"/>
                  </a:cubicBezTo>
                  <a:cubicBezTo>
                    <a:pt x="0" y="641477"/>
                    <a:pt x="7620" y="633984"/>
                    <a:pt x="16891" y="633984"/>
                  </a:cubicBezTo>
                  <a:cubicBezTo>
                    <a:pt x="26162" y="633984"/>
                    <a:pt x="33782" y="641604"/>
                    <a:pt x="33782" y="650875"/>
                  </a:cubicBezTo>
                  <a:cubicBezTo>
                    <a:pt x="33782" y="991616"/>
                    <a:pt x="310007" y="1267968"/>
                    <a:pt x="650875" y="1267968"/>
                  </a:cubicBezTo>
                  <a:cubicBezTo>
                    <a:pt x="991616" y="1267968"/>
                    <a:pt x="1267968" y="991743"/>
                    <a:pt x="1267968" y="650875"/>
                  </a:cubicBezTo>
                  <a:cubicBezTo>
                    <a:pt x="1267968" y="310134"/>
                    <a:pt x="991743" y="33782"/>
                    <a:pt x="650875" y="33782"/>
                  </a:cubicBezTo>
                  <a:lnTo>
                    <a:pt x="650875" y="16891"/>
                  </a:lnTo>
                  <a:lnTo>
                    <a:pt x="650875" y="33909"/>
                  </a:lnTo>
                  <a:cubicBezTo>
                    <a:pt x="310134" y="33909"/>
                    <a:pt x="33909" y="310134"/>
                    <a:pt x="33909" y="650875"/>
                  </a:cubicBezTo>
                  <a:close/>
                </a:path>
              </a:pathLst>
            </a:custGeom>
            <a:solidFill>
              <a:srgbClr val="0D9488"/>
            </a:solidFill>
          </p:spPr>
        </p:sp>
      </p:grpSp>
      <p:grpSp>
        <p:nvGrpSpPr>
          <p:cNvPr name="Group 65" id="65"/>
          <p:cNvGrpSpPr/>
          <p:nvPr/>
        </p:nvGrpSpPr>
        <p:grpSpPr>
          <a:xfrm rot="0">
            <a:off x="12070080" y="1609344"/>
            <a:ext cx="950976" cy="950976"/>
            <a:chOff x="0" y="0"/>
            <a:chExt cx="1267968" cy="1267968"/>
          </a:xfrm>
        </p:grpSpPr>
        <p:sp>
          <p:nvSpPr>
            <p:cNvPr name="Freeform 66" id="6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3">
                <a:alphaModFix amt="0"/>
              </a:blip>
              <a:stretch>
                <a:fillRect l="-78303" t="0" r="-78303" b="0"/>
              </a:stretch>
            </a:blipFill>
          </p:spPr>
        </p:sp>
        <p:sp>
          <p:nvSpPr>
            <p:cNvPr name="TextBox 67" id="67"/>
            <p:cNvSpPr txBox="true"/>
            <p:nvPr/>
          </p:nvSpPr>
          <p:spPr>
            <a:xfrm>
              <a:off x="0" y="-47625"/>
              <a:ext cx="1267968" cy="1315593"/>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4</a:t>
              </a:r>
            </a:p>
          </p:txBody>
        </p:sp>
      </p:grpSp>
      <p:grpSp>
        <p:nvGrpSpPr>
          <p:cNvPr name="Group 68" id="68"/>
          <p:cNvGrpSpPr/>
          <p:nvPr/>
        </p:nvGrpSpPr>
        <p:grpSpPr>
          <a:xfrm rot="0">
            <a:off x="11137392" y="2743200"/>
            <a:ext cx="2816352" cy="658368"/>
            <a:chOff x="0" y="0"/>
            <a:chExt cx="3755136" cy="877824"/>
          </a:xfrm>
        </p:grpSpPr>
        <p:sp>
          <p:nvSpPr>
            <p:cNvPr name="Freeform 69" id="69"/>
            <p:cNvSpPr/>
            <p:nvPr/>
          </p:nvSpPr>
          <p:spPr>
            <a:xfrm flipH="false" flipV="false" rot="0">
              <a:off x="0" y="0"/>
              <a:ext cx="3755136" cy="877824"/>
            </a:xfrm>
            <a:custGeom>
              <a:avLst/>
              <a:gdLst/>
              <a:ahLst/>
              <a:cxnLst/>
              <a:rect r="r" b="b" t="t" l="l"/>
              <a:pathLst>
                <a:path h="877824" w="3755136">
                  <a:moveTo>
                    <a:pt x="0" y="0"/>
                  </a:moveTo>
                  <a:lnTo>
                    <a:pt x="3755136" y="0"/>
                  </a:lnTo>
                  <a:lnTo>
                    <a:pt x="3755136" y="877824"/>
                  </a:lnTo>
                  <a:lnTo>
                    <a:pt x="0" y="877824"/>
                  </a:lnTo>
                  <a:close/>
                </a:path>
              </a:pathLst>
            </a:custGeom>
            <a:blipFill>
              <a:blip r:embed="rId3">
                <a:alphaModFix amt="0"/>
              </a:blip>
              <a:stretch>
                <a:fillRect l="0" t="-33352" r="0" b="-33352"/>
              </a:stretch>
            </a:blipFill>
          </p:spPr>
        </p:sp>
        <p:sp>
          <p:nvSpPr>
            <p:cNvPr name="TextBox 70" id="70"/>
            <p:cNvSpPr txBox="true"/>
            <p:nvPr/>
          </p:nvSpPr>
          <p:spPr>
            <a:xfrm>
              <a:off x="0" y="-47625"/>
              <a:ext cx="3755136" cy="925449"/>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Context layer</a:t>
              </a:r>
            </a:p>
          </p:txBody>
        </p:sp>
      </p:grpSp>
      <p:grpSp>
        <p:nvGrpSpPr>
          <p:cNvPr name="Group 71" id="71"/>
          <p:cNvGrpSpPr/>
          <p:nvPr/>
        </p:nvGrpSpPr>
        <p:grpSpPr>
          <a:xfrm rot="0">
            <a:off x="11137392" y="3474720"/>
            <a:ext cx="2816352" cy="1828800"/>
            <a:chOff x="0" y="0"/>
            <a:chExt cx="3755136" cy="2438400"/>
          </a:xfrm>
        </p:grpSpPr>
        <p:sp>
          <p:nvSpPr>
            <p:cNvPr name="Freeform 72" id="72"/>
            <p:cNvSpPr/>
            <p:nvPr/>
          </p:nvSpPr>
          <p:spPr>
            <a:xfrm flipH="false" flipV="false" rot="0">
              <a:off x="0" y="0"/>
              <a:ext cx="3755136" cy="2438400"/>
            </a:xfrm>
            <a:custGeom>
              <a:avLst/>
              <a:gdLst/>
              <a:ahLst/>
              <a:cxnLst/>
              <a:rect r="r" b="b" t="t" l="l"/>
              <a:pathLst>
                <a:path h="2438400" w="3755136">
                  <a:moveTo>
                    <a:pt x="0" y="0"/>
                  </a:moveTo>
                  <a:lnTo>
                    <a:pt x="3755136" y="0"/>
                  </a:lnTo>
                  <a:lnTo>
                    <a:pt x="3755136" y="2438400"/>
                  </a:lnTo>
                  <a:lnTo>
                    <a:pt x="0" y="2438400"/>
                  </a:lnTo>
                  <a:close/>
                </a:path>
              </a:pathLst>
            </a:custGeom>
            <a:blipFill>
              <a:blip r:embed="rId3">
                <a:alphaModFix amt="0"/>
              </a:blip>
              <a:stretch>
                <a:fillRect l="-33314" t="0" r="-33314" b="0"/>
              </a:stretch>
            </a:blipFill>
          </p:spPr>
        </p:sp>
        <p:sp>
          <p:nvSpPr>
            <p:cNvPr name="TextBox 73" id="73"/>
            <p:cNvSpPr txBox="true"/>
            <p:nvPr/>
          </p:nvSpPr>
          <p:spPr>
            <a:xfrm>
              <a:off x="0" y="-38100"/>
              <a:ext cx="3755136" cy="2476500"/>
            </a:xfrm>
            <a:prstGeom prst="rect">
              <a:avLst/>
            </a:prstGeom>
          </p:spPr>
          <p:txBody>
            <a:bodyPr anchor="ctr" rtlCol="false" tIns="0" lIns="0" bIns="0" rIns="0"/>
            <a:lstStyle/>
            <a:p>
              <a:pPr algn="ctr">
                <a:lnSpc>
                  <a:spcPts val="2039"/>
                </a:lnSpc>
              </a:pPr>
              <a:r>
                <a:rPr lang="en-US" sz="1700">
                  <a:solidFill>
                    <a:srgbClr val="94A3B8"/>
                  </a:solidFill>
                  <a:latin typeface="Calibri (MS)"/>
                  <a:ea typeface="Calibri (MS)"/>
                  <a:cs typeface="Calibri (MS)"/>
                  <a:sym typeface="Calibri (MS)"/>
                </a:rPr>
                <a:t>Environment, family history, lifestyle, and demographics factored in</a:t>
              </a:r>
            </a:p>
          </p:txBody>
        </p:sp>
      </p:grpSp>
      <p:grpSp>
        <p:nvGrpSpPr>
          <p:cNvPr name="Group 74" id="74"/>
          <p:cNvGrpSpPr/>
          <p:nvPr/>
        </p:nvGrpSpPr>
        <p:grpSpPr>
          <a:xfrm rot="0">
            <a:off x="14087351" y="3462023"/>
            <a:ext cx="409451" cy="25403"/>
            <a:chOff x="0" y="0"/>
            <a:chExt cx="545935" cy="33871"/>
          </a:xfrm>
        </p:grpSpPr>
        <p:sp>
          <p:nvSpPr>
            <p:cNvPr name="Freeform 75" id="75"/>
            <p:cNvSpPr/>
            <p:nvPr/>
          </p:nvSpPr>
          <p:spPr>
            <a:xfrm flipH="false" flipV="false" rot="0">
              <a:off x="16891" y="0"/>
              <a:ext cx="512064" cy="33909"/>
            </a:xfrm>
            <a:custGeom>
              <a:avLst/>
              <a:gdLst/>
              <a:ahLst/>
              <a:cxnLst/>
              <a:rect r="r" b="b" t="t" l="l"/>
              <a:pathLst>
                <a:path h="33909" w="512064">
                  <a:moveTo>
                    <a:pt x="0" y="0"/>
                  </a:moveTo>
                  <a:lnTo>
                    <a:pt x="512064" y="0"/>
                  </a:lnTo>
                  <a:lnTo>
                    <a:pt x="512064" y="33909"/>
                  </a:lnTo>
                  <a:lnTo>
                    <a:pt x="0" y="33909"/>
                  </a:lnTo>
                  <a:close/>
                </a:path>
              </a:pathLst>
            </a:custGeom>
            <a:solidFill>
              <a:srgbClr val="0D9488"/>
            </a:solidFill>
          </p:spPr>
        </p:sp>
      </p:grpSp>
      <p:grpSp>
        <p:nvGrpSpPr>
          <p:cNvPr name="Group 76" id="76"/>
          <p:cNvGrpSpPr/>
          <p:nvPr/>
        </p:nvGrpSpPr>
        <p:grpSpPr>
          <a:xfrm rot="0">
            <a:off x="14477743" y="1420111"/>
            <a:ext cx="3121657" cy="4182361"/>
            <a:chOff x="0" y="0"/>
            <a:chExt cx="4162209" cy="5576481"/>
          </a:xfrm>
        </p:grpSpPr>
        <p:sp>
          <p:nvSpPr>
            <p:cNvPr name="Freeform 77" id="77"/>
            <p:cNvSpPr/>
            <p:nvPr/>
          </p:nvSpPr>
          <p:spPr>
            <a:xfrm flipH="false" flipV="false" rot="0">
              <a:off x="8509" y="8509"/>
              <a:ext cx="4145280" cy="5559552"/>
            </a:xfrm>
            <a:custGeom>
              <a:avLst/>
              <a:gdLst/>
              <a:ahLst/>
              <a:cxnLst/>
              <a:rect r="r" b="b" t="t" l="l"/>
              <a:pathLst>
                <a:path h="5559552" w="4145280">
                  <a:moveTo>
                    <a:pt x="0" y="0"/>
                  </a:moveTo>
                  <a:lnTo>
                    <a:pt x="4145280" y="0"/>
                  </a:lnTo>
                  <a:lnTo>
                    <a:pt x="4145280" y="5559552"/>
                  </a:lnTo>
                  <a:lnTo>
                    <a:pt x="0" y="5559552"/>
                  </a:lnTo>
                  <a:close/>
                </a:path>
              </a:pathLst>
            </a:custGeom>
            <a:solidFill>
              <a:srgbClr val="0D1F38"/>
            </a:solidFill>
          </p:spPr>
        </p:sp>
        <p:sp>
          <p:nvSpPr>
            <p:cNvPr name="Freeform 78" id="78"/>
            <p:cNvSpPr/>
            <p:nvPr/>
          </p:nvSpPr>
          <p:spPr>
            <a:xfrm flipH="false" flipV="false" rot="0">
              <a:off x="0" y="0"/>
              <a:ext cx="4162298" cy="5576570"/>
            </a:xfrm>
            <a:custGeom>
              <a:avLst/>
              <a:gdLst/>
              <a:ahLst/>
              <a:cxnLst/>
              <a:rect r="r" b="b" t="t" l="l"/>
              <a:pathLst>
                <a:path h="5576570" w="4162298">
                  <a:moveTo>
                    <a:pt x="8509" y="0"/>
                  </a:moveTo>
                  <a:lnTo>
                    <a:pt x="4153789" y="0"/>
                  </a:lnTo>
                  <a:cubicBezTo>
                    <a:pt x="4158488" y="0"/>
                    <a:pt x="4162298" y="3810"/>
                    <a:pt x="4162298" y="8509"/>
                  </a:cubicBezTo>
                  <a:lnTo>
                    <a:pt x="4162298" y="5568061"/>
                  </a:lnTo>
                  <a:cubicBezTo>
                    <a:pt x="4162298" y="5572760"/>
                    <a:pt x="4158488" y="5576570"/>
                    <a:pt x="4153789" y="5576570"/>
                  </a:cubicBezTo>
                  <a:lnTo>
                    <a:pt x="8509" y="5576570"/>
                  </a:lnTo>
                  <a:cubicBezTo>
                    <a:pt x="3810" y="5576570"/>
                    <a:pt x="0" y="5572760"/>
                    <a:pt x="0" y="5568061"/>
                  </a:cubicBezTo>
                  <a:lnTo>
                    <a:pt x="0" y="8509"/>
                  </a:lnTo>
                  <a:cubicBezTo>
                    <a:pt x="0" y="3810"/>
                    <a:pt x="3810" y="0"/>
                    <a:pt x="8509" y="0"/>
                  </a:cubicBezTo>
                  <a:moveTo>
                    <a:pt x="8509" y="16891"/>
                  </a:moveTo>
                  <a:lnTo>
                    <a:pt x="8509" y="8509"/>
                  </a:lnTo>
                  <a:lnTo>
                    <a:pt x="17018" y="8509"/>
                  </a:lnTo>
                  <a:lnTo>
                    <a:pt x="17018" y="5568061"/>
                  </a:lnTo>
                  <a:lnTo>
                    <a:pt x="8509" y="5568061"/>
                  </a:lnTo>
                  <a:lnTo>
                    <a:pt x="8509" y="5559552"/>
                  </a:lnTo>
                  <a:lnTo>
                    <a:pt x="4153789" y="5559552"/>
                  </a:lnTo>
                  <a:lnTo>
                    <a:pt x="4153789" y="5568061"/>
                  </a:lnTo>
                  <a:lnTo>
                    <a:pt x="4145280" y="5568061"/>
                  </a:lnTo>
                  <a:lnTo>
                    <a:pt x="4145280" y="8509"/>
                  </a:lnTo>
                  <a:lnTo>
                    <a:pt x="4153789" y="8509"/>
                  </a:lnTo>
                  <a:lnTo>
                    <a:pt x="4153789" y="17018"/>
                  </a:lnTo>
                  <a:lnTo>
                    <a:pt x="8509" y="17018"/>
                  </a:lnTo>
                  <a:close/>
                </a:path>
              </a:pathLst>
            </a:custGeom>
            <a:solidFill>
              <a:srgbClr val="0D9488"/>
            </a:solidFill>
          </p:spPr>
        </p:sp>
      </p:grpSp>
      <p:grpSp>
        <p:nvGrpSpPr>
          <p:cNvPr name="Group 79" id="79"/>
          <p:cNvGrpSpPr/>
          <p:nvPr/>
        </p:nvGrpSpPr>
        <p:grpSpPr>
          <a:xfrm rot="0">
            <a:off x="15550391" y="1596647"/>
            <a:ext cx="976379" cy="976379"/>
            <a:chOff x="0" y="0"/>
            <a:chExt cx="1301839" cy="1301839"/>
          </a:xfrm>
        </p:grpSpPr>
        <p:sp>
          <p:nvSpPr>
            <p:cNvPr name="Freeform 80" id="80"/>
            <p:cNvSpPr/>
            <p:nvPr/>
          </p:nvSpPr>
          <p:spPr>
            <a:xfrm flipH="false" flipV="false" rot="0">
              <a:off x="16891" y="16891"/>
              <a:ext cx="1267968" cy="1267968"/>
            </a:xfrm>
            <a:custGeom>
              <a:avLst/>
              <a:gdLst/>
              <a:ahLst/>
              <a:cxnLst/>
              <a:rect r="r" b="b" t="t" l="l"/>
              <a:pathLst>
                <a:path h="1267968" w="1267968">
                  <a:moveTo>
                    <a:pt x="0" y="633984"/>
                  </a:moveTo>
                  <a:cubicBezTo>
                    <a:pt x="0" y="283845"/>
                    <a:pt x="283845" y="0"/>
                    <a:pt x="633984" y="0"/>
                  </a:cubicBezTo>
                  <a:cubicBezTo>
                    <a:pt x="984123" y="0"/>
                    <a:pt x="1267968" y="283845"/>
                    <a:pt x="1267968" y="633984"/>
                  </a:cubicBezTo>
                  <a:cubicBezTo>
                    <a:pt x="1267968" y="984123"/>
                    <a:pt x="984123" y="1267968"/>
                    <a:pt x="633984" y="1267968"/>
                  </a:cubicBezTo>
                  <a:cubicBezTo>
                    <a:pt x="283845" y="1267968"/>
                    <a:pt x="0" y="984123"/>
                    <a:pt x="0" y="633984"/>
                  </a:cubicBezTo>
                  <a:close/>
                </a:path>
              </a:pathLst>
            </a:custGeom>
            <a:solidFill>
              <a:srgbClr val="0D9488"/>
            </a:solidFill>
          </p:spPr>
        </p:sp>
        <p:sp>
          <p:nvSpPr>
            <p:cNvPr name="Freeform 81" id="81"/>
            <p:cNvSpPr/>
            <p:nvPr/>
          </p:nvSpPr>
          <p:spPr>
            <a:xfrm flipH="false" flipV="false" rot="0">
              <a:off x="0" y="0"/>
              <a:ext cx="1301750" cy="1301750"/>
            </a:xfrm>
            <a:custGeom>
              <a:avLst/>
              <a:gdLst/>
              <a:ahLst/>
              <a:cxnLst/>
              <a:rect r="r" b="b" t="t" l="l"/>
              <a:pathLst>
                <a:path h="1301750" w="1301750">
                  <a:moveTo>
                    <a:pt x="0" y="650875"/>
                  </a:moveTo>
                  <a:cubicBezTo>
                    <a:pt x="0" y="291465"/>
                    <a:pt x="291465" y="0"/>
                    <a:pt x="650875" y="0"/>
                  </a:cubicBezTo>
                  <a:lnTo>
                    <a:pt x="650875" y="16891"/>
                  </a:lnTo>
                  <a:lnTo>
                    <a:pt x="650875" y="0"/>
                  </a:lnTo>
                  <a:cubicBezTo>
                    <a:pt x="1010412" y="0"/>
                    <a:pt x="1301750" y="291465"/>
                    <a:pt x="1301750" y="650875"/>
                  </a:cubicBezTo>
                  <a:lnTo>
                    <a:pt x="1284859" y="650875"/>
                  </a:lnTo>
                  <a:lnTo>
                    <a:pt x="1301750" y="650875"/>
                  </a:lnTo>
                  <a:cubicBezTo>
                    <a:pt x="1301750" y="1010412"/>
                    <a:pt x="1010285" y="1301750"/>
                    <a:pt x="650875" y="1301750"/>
                  </a:cubicBezTo>
                  <a:lnTo>
                    <a:pt x="650875" y="1284859"/>
                  </a:lnTo>
                  <a:lnTo>
                    <a:pt x="650875" y="1301750"/>
                  </a:lnTo>
                  <a:cubicBezTo>
                    <a:pt x="291465" y="1301877"/>
                    <a:pt x="0" y="1010412"/>
                    <a:pt x="0" y="650875"/>
                  </a:cubicBezTo>
                  <a:lnTo>
                    <a:pt x="16891" y="650875"/>
                  </a:lnTo>
                  <a:lnTo>
                    <a:pt x="33909" y="650875"/>
                  </a:lnTo>
                  <a:lnTo>
                    <a:pt x="16891" y="650875"/>
                  </a:lnTo>
                  <a:lnTo>
                    <a:pt x="0" y="650875"/>
                  </a:lnTo>
                  <a:moveTo>
                    <a:pt x="33909" y="650875"/>
                  </a:moveTo>
                  <a:cubicBezTo>
                    <a:pt x="33909" y="660273"/>
                    <a:pt x="26289" y="667766"/>
                    <a:pt x="17018" y="667766"/>
                  </a:cubicBezTo>
                  <a:cubicBezTo>
                    <a:pt x="7747" y="667766"/>
                    <a:pt x="0" y="660273"/>
                    <a:pt x="0" y="650875"/>
                  </a:cubicBezTo>
                  <a:cubicBezTo>
                    <a:pt x="0" y="641477"/>
                    <a:pt x="7620" y="633984"/>
                    <a:pt x="16891" y="633984"/>
                  </a:cubicBezTo>
                  <a:cubicBezTo>
                    <a:pt x="26162" y="633984"/>
                    <a:pt x="33782" y="641604"/>
                    <a:pt x="33782" y="650875"/>
                  </a:cubicBezTo>
                  <a:cubicBezTo>
                    <a:pt x="33782" y="991616"/>
                    <a:pt x="310007" y="1267968"/>
                    <a:pt x="650875" y="1267968"/>
                  </a:cubicBezTo>
                  <a:cubicBezTo>
                    <a:pt x="991616" y="1267968"/>
                    <a:pt x="1267968" y="991743"/>
                    <a:pt x="1267968" y="650875"/>
                  </a:cubicBezTo>
                  <a:cubicBezTo>
                    <a:pt x="1267968" y="310134"/>
                    <a:pt x="991743" y="33782"/>
                    <a:pt x="650875" y="33782"/>
                  </a:cubicBezTo>
                  <a:lnTo>
                    <a:pt x="650875" y="16891"/>
                  </a:lnTo>
                  <a:lnTo>
                    <a:pt x="650875" y="33909"/>
                  </a:lnTo>
                  <a:cubicBezTo>
                    <a:pt x="310134" y="33909"/>
                    <a:pt x="33909" y="310134"/>
                    <a:pt x="33909" y="650875"/>
                  </a:cubicBezTo>
                  <a:close/>
                </a:path>
              </a:pathLst>
            </a:custGeom>
            <a:solidFill>
              <a:srgbClr val="0D9488"/>
            </a:solidFill>
          </p:spPr>
        </p:sp>
      </p:grpSp>
      <p:grpSp>
        <p:nvGrpSpPr>
          <p:cNvPr name="Group 82" id="82"/>
          <p:cNvGrpSpPr/>
          <p:nvPr/>
        </p:nvGrpSpPr>
        <p:grpSpPr>
          <a:xfrm rot="0">
            <a:off x="15563088" y="1609344"/>
            <a:ext cx="950976" cy="950976"/>
            <a:chOff x="0" y="0"/>
            <a:chExt cx="1267968" cy="1267968"/>
          </a:xfrm>
        </p:grpSpPr>
        <p:sp>
          <p:nvSpPr>
            <p:cNvPr name="Freeform 83" id="83"/>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3">
                <a:alphaModFix amt="0"/>
              </a:blip>
              <a:stretch>
                <a:fillRect l="-78303" t="0" r="-78303" b="0"/>
              </a:stretch>
            </a:blipFill>
          </p:spPr>
        </p:sp>
        <p:sp>
          <p:nvSpPr>
            <p:cNvPr name="TextBox 84" id="84"/>
            <p:cNvSpPr txBox="true"/>
            <p:nvPr/>
          </p:nvSpPr>
          <p:spPr>
            <a:xfrm>
              <a:off x="0" y="-47625"/>
              <a:ext cx="1267968" cy="1315593"/>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5</a:t>
              </a:r>
            </a:p>
          </p:txBody>
        </p:sp>
      </p:grpSp>
      <p:grpSp>
        <p:nvGrpSpPr>
          <p:cNvPr name="Group 85" id="85"/>
          <p:cNvGrpSpPr/>
          <p:nvPr/>
        </p:nvGrpSpPr>
        <p:grpSpPr>
          <a:xfrm rot="0">
            <a:off x="14630400" y="2743200"/>
            <a:ext cx="2816352" cy="658368"/>
            <a:chOff x="0" y="0"/>
            <a:chExt cx="3755136" cy="877824"/>
          </a:xfrm>
        </p:grpSpPr>
        <p:sp>
          <p:nvSpPr>
            <p:cNvPr name="Freeform 86" id="86"/>
            <p:cNvSpPr/>
            <p:nvPr/>
          </p:nvSpPr>
          <p:spPr>
            <a:xfrm flipH="false" flipV="false" rot="0">
              <a:off x="0" y="0"/>
              <a:ext cx="3755136" cy="877824"/>
            </a:xfrm>
            <a:custGeom>
              <a:avLst/>
              <a:gdLst/>
              <a:ahLst/>
              <a:cxnLst/>
              <a:rect r="r" b="b" t="t" l="l"/>
              <a:pathLst>
                <a:path h="877824" w="3755136">
                  <a:moveTo>
                    <a:pt x="0" y="0"/>
                  </a:moveTo>
                  <a:lnTo>
                    <a:pt x="3755136" y="0"/>
                  </a:lnTo>
                  <a:lnTo>
                    <a:pt x="3755136" y="877824"/>
                  </a:lnTo>
                  <a:lnTo>
                    <a:pt x="0" y="877824"/>
                  </a:lnTo>
                  <a:close/>
                </a:path>
              </a:pathLst>
            </a:custGeom>
            <a:blipFill>
              <a:blip r:embed="rId3">
                <a:alphaModFix amt="0"/>
              </a:blip>
              <a:stretch>
                <a:fillRect l="0" t="-33352" r="0" b="-33352"/>
              </a:stretch>
            </a:blipFill>
          </p:spPr>
        </p:sp>
        <p:sp>
          <p:nvSpPr>
            <p:cNvPr name="TextBox 87" id="87"/>
            <p:cNvSpPr txBox="true"/>
            <p:nvPr/>
          </p:nvSpPr>
          <p:spPr>
            <a:xfrm>
              <a:off x="0" y="-47625"/>
              <a:ext cx="3755136" cy="925449"/>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Prediction output</a:t>
              </a:r>
            </a:p>
          </p:txBody>
        </p:sp>
      </p:grpSp>
      <p:grpSp>
        <p:nvGrpSpPr>
          <p:cNvPr name="Group 88" id="88"/>
          <p:cNvGrpSpPr/>
          <p:nvPr/>
        </p:nvGrpSpPr>
        <p:grpSpPr>
          <a:xfrm rot="0">
            <a:off x="14630400" y="3474720"/>
            <a:ext cx="2816352" cy="1828800"/>
            <a:chOff x="0" y="0"/>
            <a:chExt cx="3755136" cy="2438400"/>
          </a:xfrm>
        </p:grpSpPr>
        <p:sp>
          <p:nvSpPr>
            <p:cNvPr name="Freeform 89" id="89"/>
            <p:cNvSpPr/>
            <p:nvPr/>
          </p:nvSpPr>
          <p:spPr>
            <a:xfrm flipH="false" flipV="false" rot="0">
              <a:off x="0" y="0"/>
              <a:ext cx="3755136" cy="2438400"/>
            </a:xfrm>
            <a:custGeom>
              <a:avLst/>
              <a:gdLst/>
              <a:ahLst/>
              <a:cxnLst/>
              <a:rect r="r" b="b" t="t" l="l"/>
              <a:pathLst>
                <a:path h="2438400" w="3755136">
                  <a:moveTo>
                    <a:pt x="0" y="0"/>
                  </a:moveTo>
                  <a:lnTo>
                    <a:pt x="3755136" y="0"/>
                  </a:lnTo>
                  <a:lnTo>
                    <a:pt x="3755136" y="2438400"/>
                  </a:lnTo>
                  <a:lnTo>
                    <a:pt x="0" y="2438400"/>
                  </a:lnTo>
                  <a:close/>
                </a:path>
              </a:pathLst>
            </a:custGeom>
            <a:blipFill>
              <a:blip r:embed="rId3">
                <a:alphaModFix amt="0"/>
              </a:blip>
              <a:stretch>
                <a:fillRect l="-33314" t="0" r="-33314" b="0"/>
              </a:stretch>
            </a:blipFill>
          </p:spPr>
        </p:sp>
        <p:sp>
          <p:nvSpPr>
            <p:cNvPr name="TextBox 90" id="90"/>
            <p:cNvSpPr txBox="true"/>
            <p:nvPr/>
          </p:nvSpPr>
          <p:spPr>
            <a:xfrm>
              <a:off x="0" y="-38100"/>
              <a:ext cx="3755136" cy="2476500"/>
            </a:xfrm>
            <a:prstGeom prst="rect">
              <a:avLst/>
            </a:prstGeom>
          </p:spPr>
          <p:txBody>
            <a:bodyPr anchor="ctr" rtlCol="false" tIns="0" lIns="0" bIns="0" rIns="0"/>
            <a:lstStyle/>
            <a:p>
              <a:pPr algn="ctr">
                <a:lnSpc>
                  <a:spcPts val="2039"/>
                </a:lnSpc>
              </a:pPr>
              <a:r>
                <a:rPr lang="en-US" sz="1700">
                  <a:solidFill>
                    <a:srgbClr val="94A3B8"/>
                  </a:solidFill>
                  <a:latin typeface="Calibri (MS)"/>
                  <a:ea typeface="Calibri (MS)"/>
                  <a:cs typeface="Calibri (MS)"/>
                  <a:sym typeface="Calibri (MS)"/>
                </a:rPr>
                <a:t>Risk scores + next likely disease + SHAP 'why' delivered to doctor</a:t>
              </a:r>
            </a:p>
          </p:txBody>
        </p:sp>
      </p:grpSp>
      <p:grpSp>
        <p:nvGrpSpPr>
          <p:cNvPr name="Group 91" id="91"/>
          <p:cNvGrpSpPr/>
          <p:nvPr/>
        </p:nvGrpSpPr>
        <p:grpSpPr>
          <a:xfrm rot="0">
            <a:off x="640080" y="5888736"/>
            <a:ext cx="10607040" cy="548640"/>
            <a:chOff x="0" y="0"/>
            <a:chExt cx="14142720" cy="731520"/>
          </a:xfrm>
        </p:grpSpPr>
        <p:sp>
          <p:nvSpPr>
            <p:cNvPr name="Freeform 92" id="92"/>
            <p:cNvSpPr/>
            <p:nvPr/>
          </p:nvSpPr>
          <p:spPr>
            <a:xfrm flipH="false" flipV="false" rot="0">
              <a:off x="0" y="0"/>
              <a:ext cx="14142720" cy="731520"/>
            </a:xfrm>
            <a:custGeom>
              <a:avLst/>
              <a:gdLst/>
              <a:ahLst/>
              <a:cxnLst/>
              <a:rect r="r" b="b" t="t" l="l"/>
              <a:pathLst>
                <a:path h="731520" w="14142720">
                  <a:moveTo>
                    <a:pt x="0" y="0"/>
                  </a:moveTo>
                  <a:lnTo>
                    <a:pt x="14142720" y="0"/>
                  </a:lnTo>
                  <a:lnTo>
                    <a:pt x="14142720" y="731520"/>
                  </a:lnTo>
                  <a:lnTo>
                    <a:pt x="0" y="731520"/>
                  </a:lnTo>
                  <a:close/>
                </a:path>
              </a:pathLst>
            </a:custGeom>
            <a:blipFill>
              <a:blip r:embed="rId3">
                <a:alphaModFix amt="0"/>
              </a:blip>
              <a:stretch>
                <a:fillRect l="0" t="-326710" r="0" b="-326710"/>
              </a:stretch>
            </a:blipFill>
          </p:spPr>
        </p:sp>
        <p:sp>
          <p:nvSpPr>
            <p:cNvPr name="TextBox 93" id="93"/>
            <p:cNvSpPr txBox="true"/>
            <p:nvPr/>
          </p:nvSpPr>
          <p:spPr>
            <a:xfrm>
              <a:off x="0" y="-38100"/>
              <a:ext cx="14142720" cy="769620"/>
            </a:xfrm>
            <a:prstGeom prst="rect">
              <a:avLst/>
            </a:prstGeom>
          </p:spPr>
          <p:txBody>
            <a:bodyPr anchor="ctr" rtlCol="false" tIns="0" lIns="0" bIns="0" rIns="0"/>
            <a:lstStyle/>
            <a:p>
              <a:pPr algn="l">
                <a:lnSpc>
                  <a:spcPts val="2400"/>
                </a:lnSpc>
              </a:pPr>
              <a:r>
                <a:rPr lang="en-US" sz="2000" i="true">
                  <a:solidFill>
                    <a:srgbClr val="94A3B8"/>
                  </a:solidFill>
                  <a:latin typeface="Calibri (MS) Italics"/>
                  <a:ea typeface="Calibri (MS) Italics"/>
                  <a:cs typeface="Calibri (MS) Italics"/>
                  <a:sym typeface="Calibri (MS) Italics"/>
                </a:rPr>
                <a:t>Disease progression — chain model:</a:t>
              </a:r>
            </a:p>
          </p:txBody>
        </p:sp>
      </p:grpSp>
      <p:grpSp>
        <p:nvGrpSpPr>
          <p:cNvPr name="Group 94" id="94"/>
          <p:cNvGrpSpPr/>
          <p:nvPr/>
        </p:nvGrpSpPr>
        <p:grpSpPr>
          <a:xfrm rot="0">
            <a:off x="633727" y="6540751"/>
            <a:ext cx="2481577" cy="890521"/>
            <a:chOff x="0" y="0"/>
            <a:chExt cx="3308769" cy="1187361"/>
          </a:xfrm>
        </p:grpSpPr>
        <p:sp>
          <p:nvSpPr>
            <p:cNvPr name="Freeform 95" id="95"/>
            <p:cNvSpPr/>
            <p:nvPr/>
          </p:nvSpPr>
          <p:spPr>
            <a:xfrm flipH="false" flipV="false" rot="0">
              <a:off x="8509" y="8509"/>
              <a:ext cx="3291840" cy="1170432"/>
            </a:xfrm>
            <a:custGeom>
              <a:avLst/>
              <a:gdLst/>
              <a:ahLst/>
              <a:cxnLst/>
              <a:rect r="r" b="b" t="t" l="l"/>
              <a:pathLst>
                <a:path h="1170432" w="3291840">
                  <a:moveTo>
                    <a:pt x="0" y="0"/>
                  </a:moveTo>
                  <a:lnTo>
                    <a:pt x="3291840" y="0"/>
                  </a:lnTo>
                  <a:lnTo>
                    <a:pt x="3291840" y="1170432"/>
                  </a:lnTo>
                  <a:lnTo>
                    <a:pt x="0" y="1170432"/>
                  </a:lnTo>
                  <a:close/>
                </a:path>
              </a:pathLst>
            </a:custGeom>
            <a:solidFill>
              <a:srgbClr val="CCFBF1"/>
            </a:solidFill>
          </p:spPr>
        </p:sp>
        <p:sp>
          <p:nvSpPr>
            <p:cNvPr name="Freeform 96" id="96"/>
            <p:cNvSpPr/>
            <p:nvPr/>
          </p:nvSpPr>
          <p:spPr>
            <a:xfrm flipH="false" flipV="false" rot="0">
              <a:off x="0" y="0"/>
              <a:ext cx="3308858" cy="1187450"/>
            </a:xfrm>
            <a:custGeom>
              <a:avLst/>
              <a:gdLst/>
              <a:ahLst/>
              <a:cxnLst/>
              <a:rect r="r" b="b" t="t" l="l"/>
              <a:pathLst>
                <a:path h="1187450" w="3308858">
                  <a:moveTo>
                    <a:pt x="8509" y="0"/>
                  </a:moveTo>
                  <a:lnTo>
                    <a:pt x="3300349" y="0"/>
                  </a:lnTo>
                  <a:cubicBezTo>
                    <a:pt x="3305048" y="0"/>
                    <a:pt x="3308858" y="3810"/>
                    <a:pt x="3308858" y="8509"/>
                  </a:cubicBezTo>
                  <a:lnTo>
                    <a:pt x="3308858" y="1178941"/>
                  </a:lnTo>
                  <a:cubicBezTo>
                    <a:pt x="3308858" y="1183640"/>
                    <a:pt x="3305048" y="1187450"/>
                    <a:pt x="330034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3300349" y="1170432"/>
                  </a:lnTo>
                  <a:lnTo>
                    <a:pt x="3300349" y="1178941"/>
                  </a:lnTo>
                  <a:lnTo>
                    <a:pt x="3291840" y="1178941"/>
                  </a:lnTo>
                  <a:lnTo>
                    <a:pt x="3291840" y="8509"/>
                  </a:lnTo>
                  <a:lnTo>
                    <a:pt x="3300349" y="8509"/>
                  </a:lnTo>
                  <a:lnTo>
                    <a:pt x="3300349" y="17018"/>
                  </a:lnTo>
                  <a:lnTo>
                    <a:pt x="8509" y="17018"/>
                  </a:lnTo>
                  <a:close/>
                </a:path>
              </a:pathLst>
            </a:custGeom>
            <a:solidFill>
              <a:srgbClr val="0D9488"/>
            </a:solidFill>
          </p:spPr>
        </p:sp>
      </p:grpSp>
      <p:grpSp>
        <p:nvGrpSpPr>
          <p:cNvPr name="Group 97" id="97"/>
          <p:cNvGrpSpPr/>
          <p:nvPr/>
        </p:nvGrpSpPr>
        <p:grpSpPr>
          <a:xfrm rot="0">
            <a:off x="640080" y="6547104"/>
            <a:ext cx="2468880" cy="877824"/>
            <a:chOff x="0" y="0"/>
            <a:chExt cx="3291840" cy="1170432"/>
          </a:xfrm>
        </p:grpSpPr>
        <p:sp>
          <p:nvSpPr>
            <p:cNvPr name="Freeform 98" id="98"/>
            <p:cNvSpPr/>
            <p:nvPr/>
          </p:nvSpPr>
          <p:spPr>
            <a:xfrm flipH="false" flipV="false" rot="0">
              <a:off x="0" y="0"/>
              <a:ext cx="3291840" cy="1170432"/>
            </a:xfrm>
            <a:custGeom>
              <a:avLst/>
              <a:gdLst/>
              <a:ahLst/>
              <a:cxnLst/>
              <a:rect r="r" b="b" t="t" l="l"/>
              <a:pathLst>
                <a:path h="1170432" w="3291840">
                  <a:moveTo>
                    <a:pt x="0" y="0"/>
                  </a:moveTo>
                  <a:lnTo>
                    <a:pt x="3291840" y="0"/>
                  </a:lnTo>
                  <a:lnTo>
                    <a:pt x="3291840" y="1170432"/>
                  </a:lnTo>
                  <a:lnTo>
                    <a:pt x="0" y="1170432"/>
                  </a:lnTo>
                  <a:close/>
                </a:path>
              </a:pathLst>
            </a:custGeom>
            <a:blipFill>
              <a:blip r:embed="rId3">
                <a:alphaModFix amt="0"/>
              </a:blip>
              <a:stretch>
                <a:fillRect l="0" t="-4801" r="0" b="-4801"/>
              </a:stretch>
            </a:blipFill>
          </p:spPr>
        </p:sp>
        <p:sp>
          <p:nvSpPr>
            <p:cNvPr name="TextBox 99" id="99"/>
            <p:cNvSpPr txBox="true"/>
            <p:nvPr/>
          </p:nvSpPr>
          <p:spPr>
            <a:xfrm>
              <a:off x="0" y="-38100"/>
              <a:ext cx="3291840" cy="1208532"/>
            </a:xfrm>
            <a:prstGeom prst="rect">
              <a:avLst/>
            </a:prstGeom>
          </p:spPr>
          <p:txBody>
            <a:bodyPr anchor="ctr" rtlCol="false" tIns="0" lIns="0" bIns="0" rIns="0"/>
            <a:lstStyle/>
            <a:p>
              <a:pPr algn="ctr">
                <a:lnSpc>
                  <a:spcPts val="2039"/>
                </a:lnSpc>
              </a:pPr>
              <a:r>
                <a:rPr lang="en-US" sz="1700" b="true">
                  <a:solidFill>
                    <a:srgbClr val="0F766E"/>
                  </a:solidFill>
                  <a:latin typeface="Calibri (MS) Bold"/>
                  <a:ea typeface="Calibri (MS) Bold"/>
                  <a:cs typeface="Calibri (MS) Bold"/>
                  <a:sym typeface="Calibri (MS) Bold"/>
                </a:rPr>
                <a:t>Hypertension</a:t>
              </a:r>
            </a:p>
          </p:txBody>
        </p:sp>
      </p:grpSp>
      <p:grpSp>
        <p:nvGrpSpPr>
          <p:cNvPr name="Group 100" id="100"/>
          <p:cNvGrpSpPr/>
          <p:nvPr/>
        </p:nvGrpSpPr>
        <p:grpSpPr>
          <a:xfrm rot="0">
            <a:off x="3108960" y="6729984"/>
            <a:ext cx="365760" cy="512064"/>
            <a:chOff x="0" y="0"/>
            <a:chExt cx="487680" cy="682752"/>
          </a:xfrm>
        </p:grpSpPr>
        <p:sp>
          <p:nvSpPr>
            <p:cNvPr name="Freeform 101" id="101"/>
            <p:cNvSpPr/>
            <p:nvPr/>
          </p:nvSpPr>
          <p:spPr>
            <a:xfrm flipH="false" flipV="false" rot="0">
              <a:off x="0" y="0"/>
              <a:ext cx="487680" cy="682752"/>
            </a:xfrm>
            <a:custGeom>
              <a:avLst/>
              <a:gdLst/>
              <a:ahLst/>
              <a:cxnLst/>
              <a:rect r="r" b="b" t="t" l="l"/>
              <a:pathLst>
                <a:path h="682752" w="487680">
                  <a:moveTo>
                    <a:pt x="0" y="0"/>
                  </a:moveTo>
                  <a:lnTo>
                    <a:pt x="487680" y="0"/>
                  </a:lnTo>
                  <a:lnTo>
                    <a:pt x="487680" y="682752"/>
                  </a:lnTo>
                  <a:lnTo>
                    <a:pt x="0" y="682752"/>
                  </a:lnTo>
                  <a:close/>
                </a:path>
              </a:pathLst>
            </a:custGeom>
            <a:blipFill>
              <a:blip r:embed="rId3">
                <a:alphaModFix amt="0"/>
              </a:blip>
              <a:stretch>
                <a:fillRect l="-129624" t="0" r="-129624" b="0"/>
              </a:stretch>
            </a:blipFill>
          </p:spPr>
        </p:sp>
        <p:sp>
          <p:nvSpPr>
            <p:cNvPr name="TextBox 102" id="102"/>
            <p:cNvSpPr txBox="true"/>
            <p:nvPr/>
          </p:nvSpPr>
          <p:spPr>
            <a:xfrm>
              <a:off x="0" y="-28575"/>
              <a:ext cx="487680" cy="711327"/>
            </a:xfrm>
            <a:prstGeom prst="rect">
              <a:avLst/>
            </a:prstGeom>
          </p:spPr>
          <p:txBody>
            <a:bodyPr anchor="ctr" rtlCol="false" tIns="0" lIns="0" bIns="0" rIns="0"/>
            <a:lstStyle/>
            <a:p>
              <a:pPr algn="ctr">
                <a:lnSpc>
                  <a:spcPts val="1679"/>
                </a:lnSpc>
              </a:pPr>
              <a:r>
                <a:rPr lang="en-US" sz="1399">
                  <a:solidFill>
                    <a:srgbClr val="94A3B8"/>
                  </a:solidFill>
                  <a:latin typeface="Calibri (MS)"/>
                  <a:ea typeface="Calibri (MS)"/>
                  <a:cs typeface="Calibri (MS)"/>
                  <a:sym typeface="Calibri (MS)"/>
                </a:rPr>
                <a:t>→ 61%</a:t>
              </a:r>
            </a:p>
          </p:txBody>
        </p:sp>
      </p:grpSp>
      <p:grpSp>
        <p:nvGrpSpPr>
          <p:cNvPr name="Group 103" id="103"/>
          <p:cNvGrpSpPr/>
          <p:nvPr/>
        </p:nvGrpSpPr>
        <p:grpSpPr>
          <a:xfrm rot="0">
            <a:off x="3468367" y="6540751"/>
            <a:ext cx="2481577" cy="890521"/>
            <a:chOff x="0" y="0"/>
            <a:chExt cx="3308769" cy="1187361"/>
          </a:xfrm>
        </p:grpSpPr>
        <p:sp>
          <p:nvSpPr>
            <p:cNvPr name="Freeform 104" id="104"/>
            <p:cNvSpPr/>
            <p:nvPr/>
          </p:nvSpPr>
          <p:spPr>
            <a:xfrm flipH="false" flipV="false" rot="0">
              <a:off x="8509" y="8509"/>
              <a:ext cx="3291840" cy="1170432"/>
            </a:xfrm>
            <a:custGeom>
              <a:avLst/>
              <a:gdLst/>
              <a:ahLst/>
              <a:cxnLst/>
              <a:rect r="r" b="b" t="t" l="l"/>
              <a:pathLst>
                <a:path h="1170432" w="3291840">
                  <a:moveTo>
                    <a:pt x="0" y="0"/>
                  </a:moveTo>
                  <a:lnTo>
                    <a:pt x="3291840" y="0"/>
                  </a:lnTo>
                  <a:lnTo>
                    <a:pt x="3291840" y="1170432"/>
                  </a:lnTo>
                  <a:lnTo>
                    <a:pt x="0" y="1170432"/>
                  </a:lnTo>
                  <a:close/>
                </a:path>
              </a:pathLst>
            </a:custGeom>
            <a:solidFill>
              <a:srgbClr val="CCFBF1"/>
            </a:solidFill>
          </p:spPr>
        </p:sp>
        <p:sp>
          <p:nvSpPr>
            <p:cNvPr name="Freeform 105" id="105"/>
            <p:cNvSpPr/>
            <p:nvPr/>
          </p:nvSpPr>
          <p:spPr>
            <a:xfrm flipH="false" flipV="false" rot="0">
              <a:off x="0" y="0"/>
              <a:ext cx="3308858" cy="1187450"/>
            </a:xfrm>
            <a:custGeom>
              <a:avLst/>
              <a:gdLst/>
              <a:ahLst/>
              <a:cxnLst/>
              <a:rect r="r" b="b" t="t" l="l"/>
              <a:pathLst>
                <a:path h="1187450" w="3308858">
                  <a:moveTo>
                    <a:pt x="8509" y="0"/>
                  </a:moveTo>
                  <a:lnTo>
                    <a:pt x="3300349" y="0"/>
                  </a:lnTo>
                  <a:cubicBezTo>
                    <a:pt x="3305048" y="0"/>
                    <a:pt x="3308858" y="3810"/>
                    <a:pt x="3308858" y="8509"/>
                  </a:cubicBezTo>
                  <a:lnTo>
                    <a:pt x="3308858" y="1178941"/>
                  </a:lnTo>
                  <a:cubicBezTo>
                    <a:pt x="3308858" y="1183640"/>
                    <a:pt x="3305048" y="1187450"/>
                    <a:pt x="330034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3300349" y="1170432"/>
                  </a:lnTo>
                  <a:lnTo>
                    <a:pt x="3300349" y="1178941"/>
                  </a:lnTo>
                  <a:lnTo>
                    <a:pt x="3291840" y="1178941"/>
                  </a:lnTo>
                  <a:lnTo>
                    <a:pt x="3291840" y="8509"/>
                  </a:lnTo>
                  <a:lnTo>
                    <a:pt x="3300349" y="8509"/>
                  </a:lnTo>
                  <a:lnTo>
                    <a:pt x="3300349" y="17018"/>
                  </a:lnTo>
                  <a:lnTo>
                    <a:pt x="8509" y="17018"/>
                  </a:lnTo>
                  <a:close/>
                </a:path>
              </a:pathLst>
            </a:custGeom>
            <a:solidFill>
              <a:srgbClr val="0D9488"/>
            </a:solidFill>
          </p:spPr>
        </p:sp>
      </p:grpSp>
      <p:grpSp>
        <p:nvGrpSpPr>
          <p:cNvPr name="Group 106" id="106"/>
          <p:cNvGrpSpPr/>
          <p:nvPr/>
        </p:nvGrpSpPr>
        <p:grpSpPr>
          <a:xfrm rot="0">
            <a:off x="3474720" y="6547104"/>
            <a:ext cx="2468880" cy="877824"/>
            <a:chOff x="0" y="0"/>
            <a:chExt cx="3291840" cy="1170432"/>
          </a:xfrm>
        </p:grpSpPr>
        <p:sp>
          <p:nvSpPr>
            <p:cNvPr name="Freeform 107" id="107"/>
            <p:cNvSpPr/>
            <p:nvPr/>
          </p:nvSpPr>
          <p:spPr>
            <a:xfrm flipH="false" flipV="false" rot="0">
              <a:off x="0" y="0"/>
              <a:ext cx="3291840" cy="1170432"/>
            </a:xfrm>
            <a:custGeom>
              <a:avLst/>
              <a:gdLst/>
              <a:ahLst/>
              <a:cxnLst/>
              <a:rect r="r" b="b" t="t" l="l"/>
              <a:pathLst>
                <a:path h="1170432" w="3291840">
                  <a:moveTo>
                    <a:pt x="0" y="0"/>
                  </a:moveTo>
                  <a:lnTo>
                    <a:pt x="3291840" y="0"/>
                  </a:lnTo>
                  <a:lnTo>
                    <a:pt x="3291840" y="1170432"/>
                  </a:lnTo>
                  <a:lnTo>
                    <a:pt x="0" y="1170432"/>
                  </a:lnTo>
                  <a:close/>
                </a:path>
              </a:pathLst>
            </a:custGeom>
            <a:blipFill>
              <a:blip r:embed="rId3">
                <a:alphaModFix amt="0"/>
              </a:blip>
              <a:stretch>
                <a:fillRect l="0" t="-4801" r="0" b="-4801"/>
              </a:stretch>
            </a:blipFill>
          </p:spPr>
        </p:sp>
        <p:sp>
          <p:nvSpPr>
            <p:cNvPr name="TextBox 108" id="108"/>
            <p:cNvSpPr txBox="true"/>
            <p:nvPr/>
          </p:nvSpPr>
          <p:spPr>
            <a:xfrm>
              <a:off x="0" y="-38100"/>
              <a:ext cx="3291840" cy="1208532"/>
            </a:xfrm>
            <a:prstGeom prst="rect">
              <a:avLst/>
            </a:prstGeom>
          </p:spPr>
          <p:txBody>
            <a:bodyPr anchor="ctr" rtlCol="false" tIns="0" lIns="0" bIns="0" rIns="0"/>
            <a:lstStyle/>
            <a:p>
              <a:pPr algn="ctr">
                <a:lnSpc>
                  <a:spcPts val="2039"/>
                </a:lnSpc>
              </a:pPr>
              <a:r>
                <a:rPr lang="en-US" sz="1700" b="true">
                  <a:solidFill>
                    <a:srgbClr val="0F766E"/>
                  </a:solidFill>
                  <a:latin typeface="Calibri (MS) Bold"/>
                  <a:ea typeface="Calibri (MS) Bold"/>
                  <a:cs typeface="Calibri (MS) Bold"/>
                  <a:sym typeface="Calibri (MS) Bold"/>
                </a:rPr>
                <a:t>Diabetes</a:t>
              </a:r>
            </a:p>
          </p:txBody>
        </p:sp>
      </p:grpSp>
      <p:grpSp>
        <p:nvGrpSpPr>
          <p:cNvPr name="Group 109" id="109"/>
          <p:cNvGrpSpPr/>
          <p:nvPr/>
        </p:nvGrpSpPr>
        <p:grpSpPr>
          <a:xfrm rot="0">
            <a:off x="5943600" y="6729984"/>
            <a:ext cx="365760" cy="512064"/>
            <a:chOff x="0" y="0"/>
            <a:chExt cx="487680" cy="682752"/>
          </a:xfrm>
        </p:grpSpPr>
        <p:sp>
          <p:nvSpPr>
            <p:cNvPr name="Freeform 110" id="110"/>
            <p:cNvSpPr/>
            <p:nvPr/>
          </p:nvSpPr>
          <p:spPr>
            <a:xfrm flipH="false" flipV="false" rot="0">
              <a:off x="0" y="0"/>
              <a:ext cx="487680" cy="682752"/>
            </a:xfrm>
            <a:custGeom>
              <a:avLst/>
              <a:gdLst/>
              <a:ahLst/>
              <a:cxnLst/>
              <a:rect r="r" b="b" t="t" l="l"/>
              <a:pathLst>
                <a:path h="682752" w="487680">
                  <a:moveTo>
                    <a:pt x="0" y="0"/>
                  </a:moveTo>
                  <a:lnTo>
                    <a:pt x="487680" y="0"/>
                  </a:lnTo>
                  <a:lnTo>
                    <a:pt x="487680" y="682752"/>
                  </a:lnTo>
                  <a:lnTo>
                    <a:pt x="0" y="682752"/>
                  </a:lnTo>
                  <a:close/>
                </a:path>
              </a:pathLst>
            </a:custGeom>
            <a:blipFill>
              <a:blip r:embed="rId3">
                <a:alphaModFix amt="0"/>
              </a:blip>
              <a:stretch>
                <a:fillRect l="-129624" t="0" r="-129624" b="0"/>
              </a:stretch>
            </a:blipFill>
          </p:spPr>
        </p:sp>
        <p:sp>
          <p:nvSpPr>
            <p:cNvPr name="TextBox 111" id="111"/>
            <p:cNvSpPr txBox="true"/>
            <p:nvPr/>
          </p:nvSpPr>
          <p:spPr>
            <a:xfrm>
              <a:off x="0" y="-28575"/>
              <a:ext cx="487680" cy="711327"/>
            </a:xfrm>
            <a:prstGeom prst="rect">
              <a:avLst/>
            </a:prstGeom>
          </p:spPr>
          <p:txBody>
            <a:bodyPr anchor="ctr" rtlCol="false" tIns="0" lIns="0" bIns="0" rIns="0"/>
            <a:lstStyle/>
            <a:p>
              <a:pPr algn="ctr">
                <a:lnSpc>
                  <a:spcPts val="1679"/>
                </a:lnSpc>
              </a:pPr>
              <a:r>
                <a:rPr lang="en-US" sz="1399">
                  <a:solidFill>
                    <a:srgbClr val="94A3B8"/>
                  </a:solidFill>
                  <a:latin typeface="Calibri (MS)"/>
                  <a:ea typeface="Calibri (MS)"/>
                  <a:cs typeface="Calibri (MS)"/>
                  <a:sym typeface="Calibri (MS)"/>
                </a:rPr>
                <a:t>→ 48%</a:t>
              </a:r>
            </a:p>
          </p:txBody>
        </p:sp>
      </p:grpSp>
      <p:grpSp>
        <p:nvGrpSpPr>
          <p:cNvPr name="Group 112" id="112"/>
          <p:cNvGrpSpPr/>
          <p:nvPr/>
        </p:nvGrpSpPr>
        <p:grpSpPr>
          <a:xfrm rot="0">
            <a:off x="6303007" y="6540751"/>
            <a:ext cx="2481577" cy="890521"/>
            <a:chOff x="0" y="0"/>
            <a:chExt cx="3308769" cy="1187361"/>
          </a:xfrm>
        </p:grpSpPr>
        <p:sp>
          <p:nvSpPr>
            <p:cNvPr name="Freeform 113" id="113"/>
            <p:cNvSpPr/>
            <p:nvPr/>
          </p:nvSpPr>
          <p:spPr>
            <a:xfrm flipH="false" flipV="false" rot="0">
              <a:off x="8509" y="8509"/>
              <a:ext cx="3291840" cy="1170432"/>
            </a:xfrm>
            <a:custGeom>
              <a:avLst/>
              <a:gdLst/>
              <a:ahLst/>
              <a:cxnLst/>
              <a:rect r="r" b="b" t="t" l="l"/>
              <a:pathLst>
                <a:path h="1170432" w="3291840">
                  <a:moveTo>
                    <a:pt x="0" y="0"/>
                  </a:moveTo>
                  <a:lnTo>
                    <a:pt x="3291840" y="0"/>
                  </a:lnTo>
                  <a:lnTo>
                    <a:pt x="3291840" y="1170432"/>
                  </a:lnTo>
                  <a:lnTo>
                    <a:pt x="0" y="1170432"/>
                  </a:lnTo>
                  <a:close/>
                </a:path>
              </a:pathLst>
            </a:custGeom>
            <a:solidFill>
              <a:srgbClr val="CCFBF1"/>
            </a:solidFill>
          </p:spPr>
        </p:sp>
        <p:sp>
          <p:nvSpPr>
            <p:cNvPr name="Freeform 114" id="114"/>
            <p:cNvSpPr/>
            <p:nvPr/>
          </p:nvSpPr>
          <p:spPr>
            <a:xfrm flipH="false" flipV="false" rot="0">
              <a:off x="0" y="0"/>
              <a:ext cx="3308858" cy="1187450"/>
            </a:xfrm>
            <a:custGeom>
              <a:avLst/>
              <a:gdLst/>
              <a:ahLst/>
              <a:cxnLst/>
              <a:rect r="r" b="b" t="t" l="l"/>
              <a:pathLst>
                <a:path h="1187450" w="3308858">
                  <a:moveTo>
                    <a:pt x="8509" y="0"/>
                  </a:moveTo>
                  <a:lnTo>
                    <a:pt x="3300349" y="0"/>
                  </a:lnTo>
                  <a:cubicBezTo>
                    <a:pt x="3305048" y="0"/>
                    <a:pt x="3308858" y="3810"/>
                    <a:pt x="3308858" y="8509"/>
                  </a:cubicBezTo>
                  <a:lnTo>
                    <a:pt x="3308858" y="1178941"/>
                  </a:lnTo>
                  <a:cubicBezTo>
                    <a:pt x="3308858" y="1183640"/>
                    <a:pt x="3305048" y="1187450"/>
                    <a:pt x="330034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3300349" y="1170432"/>
                  </a:lnTo>
                  <a:lnTo>
                    <a:pt x="3300349" y="1178941"/>
                  </a:lnTo>
                  <a:lnTo>
                    <a:pt x="3291840" y="1178941"/>
                  </a:lnTo>
                  <a:lnTo>
                    <a:pt x="3291840" y="8509"/>
                  </a:lnTo>
                  <a:lnTo>
                    <a:pt x="3300349" y="8509"/>
                  </a:lnTo>
                  <a:lnTo>
                    <a:pt x="3300349" y="17018"/>
                  </a:lnTo>
                  <a:lnTo>
                    <a:pt x="8509" y="17018"/>
                  </a:lnTo>
                  <a:close/>
                </a:path>
              </a:pathLst>
            </a:custGeom>
            <a:solidFill>
              <a:srgbClr val="0D9488"/>
            </a:solidFill>
          </p:spPr>
        </p:sp>
      </p:grpSp>
      <p:grpSp>
        <p:nvGrpSpPr>
          <p:cNvPr name="Group 115" id="115"/>
          <p:cNvGrpSpPr/>
          <p:nvPr/>
        </p:nvGrpSpPr>
        <p:grpSpPr>
          <a:xfrm rot="0">
            <a:off x="6309360" y="6547104"/>
            <a:ext cx="2468880" cy="877824"/>
            <a:chOff x="0" y="0"/>
            <a:chExt cx="3291840" cy="1170432"/>
          </a:xfrm>
        </p:grpSpPr>
        <p:sp>
          <p:nvSpPr>
            <p:cNvPr name="Freeform 116" id="116"/>
            <p:cNvSpPr/>
            <p:nvPr/>
          </p:nvSpPr>
          <p:spPr>
            <a:xfrm flipH="false" flipV="false" rot="0">
              <a:off x="0" y="0"/>
              <a:ext cx="3291840" cy="1170432"/>
            </a:xfrm>
            <a:custGeom>
              <a:avLst/>
              <a:gdLst/>
              <a:ahLst/>
              <a:cxnLst/>
              <a:rect r="r" b="b" t="t" l="l"/>
              <a:pathLst>
                <a:path h="1170432" w="3291840">
                  <a:moveTo>
                    <a:pt x="0" y="0"/>
                  </a:moveTo>
                  <a:lnTo>
                    <a:pt x="3291840" y="0"/>
                  </a:lnTo>
                  <a:lnTo>
                    <a:pt x="3291840" y="1170432"/>
                  </a:lnTo>
                  <a:lnTo>
                    <a:pt x="0" y="1170432"/>
                  </a:lnTo>
                  <a:close/>
                </a:path>
              </a:pathLst>
            </a:custGeom>
            <a:blipFill>
              <a:blip r:embed="rId3">
                <a:alphaModFix amt="0"/>
              </a:blip>
              <a:stretch>
                <a:fillRect l="0" t="-4801" r="0" b="-4801"/>
              </a:stretch>
            </a:blipFill>
          </p:spPr>
        </p:sp>
        <p:sp>
          <p:nvSpPr>
            <p:cNvPr name="TextBox 117" id="117"/>
            <p:cNvSpPr txBox="true"/>
            <p:nvPr/>
          </p:nvSpPr>
          <p:spPr>
            <a:xfrm>
              <a:off x="0" y="-38100"/>
              <a:ext cx="3291840" cy="1208532"/>
            </a:xfrm>
            <a:prstGeom prst="rect">
              <a:avLst/>
            </a:prstGeom>
          </p:spPr>
          <p:txBody>
            <a:bodyPr anchor="ctr" rtlCol="false" tIns="0" lIns="0" bIns="0" rIns="0"/>
            <a:lstStyle/>
            <a:p>
              <a:pPr algn="ctr">
                <a:lnSpc>
                  <a:spcPts val="2039"/>
                </a:lnSpc>
              </a:pPr>
              <a:r>
                <a:rPr lang="en-US" sz="1700" b="true">
                  <a:solidFill>
                    <a:srgbClr val="0F766E"/>
                  </a:solidFill>
                  <a:latin typeface="Calibri (MS) Bold"/>
                  <a:ea typeface="Calibri (MS) Bold"/>
                  <a:cs typeface="Calibri (MS) Bold"/>
                  <a:sym typeface="Calibri (MS) Bold"/>
                </a:rPr>
                <a:t>Kidney Dis.</a:t>
              </a:r>
            </a:p>
          </p:txBody>
        </p:sp>
      </p:grpSp>
      <p:grpSp>
        <p:nvGrpSpPr>
          <p:cNvPr name="Group 118" id="118"/>
          <p:cNvGrpSpPr/>
          <p:nvPr/>
        </p:nvGrpSpPr>
        <p:grpSpPr>
          <a:xfrm rot="0">
            <a:off x="8778240" y="6729984"/>
            <a:ext cx="365760" cy="512064"/>
            <a:chOff x="0" y="0"/>
            <a:chExt cx="487680" cy="682752"/>
          </a:xfrm>
        </p:grpSpPr>
        <p:sp>
          <p:nvSpPr>
            <p:cNvPr name="Freeform 119" id="119"/>
            <p:cNvSpPr/>
            <p:nvPr/>
          </p:nvSpPr>
          <p:spPr>
            <a:xfrm flipH="false" flipV="false" rot="0">
              <a:off x="0" y="0"/>
              <a:ext cx="487680" cy="682752"/>
            </a:xfrm>
            <a:custGeom>
              <a:avLst/>
              <a:gdLst/>
              <a:ahLst/>
              <a:cxnLst/>
              <a:rect r="r" b="b" t="t" l="l"/>
              <a:pathLst>
                <a:path h="682752" w="487680">
                  <a:moveTo>
                    <a:pt x="0" y="0"/>
                  </a:moveTo>
                  <a:lnTo>
                    <a:pt x="487680" y="0"/>
                  </a:lnTo>
                  <a:lnTo>
                    <a:pt x="487680" y="682752"/>
                  </a:lnTo>
                  <a:lnTo>
                    <a:pt x="0" y="682752"/>
                  </a:lnTo>
                  <a:close/>
                </a:path>
              </a:pathLst>
            </a:custGeom>
            <a:blipFill>
              <a:blip r:embed="rId3">
                <a:alphaModFix amt="0"/>
              </a:blip>
              <a:stretch>
                <a:fillRect l="-129624" t="0" r="-129624" b="0"/>
              </a:stretch>
            </a:blipFill>
          </p:spPr>
        </p:sp>
        <p:sp>
          <p:nvSpPr>
            <p:cNvPr name="TextBox 120" id="120"/>
            <p:cNvSpPr txBox="true"/>
            <p:nvPr/>
          </p:nvSpPr>
          <p:spPr>
            <a:xfrm>
              <a:off x="0" y="-28575"/>
              <a:ext cx="487680" cy="711327"/>
            </a:xfrm>
            <a:prstGeom prst="rect">
              <a:avLst/>
            </a:prstGeom>
          </p:spPr>
          <p:txBody>
            <a:bodyPr anchor="ctr" rtlCol="false" tIns="0" lIns="0" bIns="0" rIns="0"/>
            <a:lstStyle/>
            <a:p>
              <a:pPr algn="ctr">
                <a:lnSpc>
                  <a:spcPts val="1679"/>
                </a:lnSpc>
              </a:pPr>
              <a:r>
                <a:rPr lang="en-US" sz="1399">
                  <a:solidFill>
                    <a:srgbClr val="94A3B8"/>
                  </a:solidFill>
                  <a:latin typeface="Calibri (MS)"/>
                  <a:ea typeface="Calibri (MS)"/>
                  <a:cs typeface="Calibri (MS)"/>
                  <a:sym typeface="Calibri (MS)"/>
                </a:rPr>
                <a:t>→ 34%</a:t>
              </a:r>
            </a:p>
          </p:txBody>
        </p:sp>
      </p:grpSp>
      <p:grpSp>
        <p:nvGrpSpPr>
          <p:cNvPr name="Group 121" id="121"/>
          <p:cNvGrpSpPr/>
          <p:nvPr/>
        </p:nvGrpSpPr>
        <p:grpSpPr>
          <a:xfrm rot="0">
            <a:off x="9137647" y="6540751"/>
            <a:ext cx="2481577" cy="890521"/>
            <a:chOff x="0" y="0"/>
            <a:chExt cx="3308769" cy="1187361"/>
          </a:xfrm>
        </p:grpSpPr>
        <p:sp>
          <p:nvSpPr>
            <p:cNvPr name="Freeform 122" id="122"/>
            <p:cNvSpPr/>
            <p:nvPr/>
          </p:nvSpPr>
          <p:spPr>
            <a:xfrm flipH="false" flipV="false" rot="0">
              <a:off x="8509" y="8509"/>
              <a:ext cx="3291840" cy="1170432"/>
            </a:xfrm>
            <a:custGeom>
              <a:avLst/>
              <a:gdLst/>
              <a:ahLst/>
              <a:cxnLst/>
              <a:rect r="r" b="b" t="t" l="l"/>
              <a:pathLst>
                <a:path h="1170432" w="3291840">
                  <a:moveTo>
                    <a:pt x="0" y="0"/>
                  </a:moveTo>
                  <a:lnTo>
                    <a:pt x="3291840" y="0"/>
                  </a:lnTo>
                  <a:lnTo>
                    <a:pt x="3291840" y="1170432"/>
                  </a:lnTo>
                  <a:lnTo>
                    <a:pt x="0" y="1170432"/>
                  </a:lnTo>
                  <a:close/>
                </a:path>
              </a:pathLst>
            </a:custGeom>
            <a:solidFill>
              <a:srgbClr val="CCFBF1"/>
            </a:solidFill>
          </p:spPr>
        </p:sp>
        <p:sp>
          <p:nvSpPr>
            <p:cNvPr name="Freeform 123" id="123"/>
            <p:cNvSpPr/>
            <p:nvPr/>
          </p:nvSpPr>
          <p:spPr>
            <a:xfrm flipH="false" flipV="false" rot="0">
              <a:off x="0" y="0"/>
              <a:ext cx="3308858" cy="1187450"/>
            </a:xfrm>
            <a:custGeom>
              <a:avLst/>
              <a:gdLst/>
              <a:ahLst/>
              <a:cxnLst/>
              <a:rect r="r" b="b" t="t" l="l"/>
              <a:pathLst>
                <a:path h="1187450" w="3308858">
                  <a:moveTo>
                    <a:pt x="8509" y="0"/>
                  </a:moveTo>
                  <a:lnTo>
                    <a:pt x="3300349" y="0"/>
                  </a:lnTo>
                  <a:cubicBezTo>
                    <a:pt x="3305048" y="0"/>
                    <a:pt x="3308858" y="3810"/>
                    <a:pt x="3308858" y="8509"/>
                  </a:cubicBezTo>
                  <a:lnTo>
                    <a:pt x="3308858" y="1178941"/>
                  </a:lnTo>
                  <a:cubicBezTo>
                    <a:pt x="3308858" y="1183640"/>
                    <a:pt x="3305048" y="1187450"/>
                    <a:pt x="3300349" y="1187450"/>
                  </a:cubicBezTo>
                  <a:lnTo>
                    <a:pt x="8509" y="1187450"/>
                  </a:lnTo>
                  <a:cubicBezTo>
                    <a:pt x="3810" y="1187450"/>
                    <a:pt x="0" y="1183640"/>
                    <a:pt x="0" y="1178941"/>
                  </a:cubicBezTo>
                  <a:lnTo>
                    <a:pt x="0" y="8509"/>
                  </a:lnTo>
                  <a:cubicBezTo>
                    <a:pt x="0" y="3810"/>
                    <a:pt x="3810" y="0"/>
                    <a:pt x="8509" y="0"/>
                  </a:cubicBezTo>
                  <a:moveTo>
                    <a:pt x="8509" y="16891"/>
                  </a:moveTo>
                  <a:lnTo>
                    <a:pt x="8509" y="8509"/>
                  </a:lnTo>
                  <a:lnTo>
                    <a:pt x="17018" y="8509"/>
                  </a:lnTo>
                  <a:lnTo>
                    <a:pt x="17018" y="1178941"/>
                  </a:lnTo>
                  <a:lnTo>
                    <a:pt x="8509" y="1178941"/>
                  </a:lnTo>
                  <a:lnTo>
                    <a:pt x="8509" y="1170432"/>
                  </a:lnTo>
                  <a:lnTo>
                    <a:pt x="3300349" y="1170432"/>
                  </a:lnTo>
                  <a:lnTo>
                    <a:pt x="3300349" y="1178941"/>
                  </a:lnTo>
                  <a:lnTo>
                    <a:pt x="3291840" y="1178941"/>
                  </a:lnTo>
                  <a:lnTo>
                    <a:pt x="3291840" y="8509"/>
                  </a:lnTo>
                  <a:lnTo>
                    <a:pt x="3300349" y="8509"/>
                  </a:lnTo>
                  <a:lnTo>
                    <a:pt x="3300349" y="17018"/>
                  </a:lnTo>
                  <a:lnTo>
                    <a:pt x="8509" y="17018"/>
                  </a:lnTo>
                  <a:close/>
                </a:path>
              </a:pathLst>
            </a:custGeom>
            <a:solidFill>
              <a:srgbClr val="0D9488"/>
            </a:solidFill>
          </p:spPr>
        </p:sp>
      </p:grpSp>
      <p:grpSp>
        <p:nvGrpSpPr>
          <p:cNvPr name="Group 124" id="124"/>
          <p:cNvGrpSpPr/>
          <p:nvPr/>
        </p:nvGrpSpPr>
        <p:grpSpPr>
          <a:xfrm rot="0">
            <a:off x="9144000" y="6547104"/>
            <a:ext cx="2468880" cy="877824"/>
            <a:chOff x="0" y="0"/>
            <a:chExt cx="3291840" cy="1170432"/>
          </a:xfrm>
        </p:grpSpPr>
        <p:sp>
          <p:nvSpPr>
            <p:cNvPr name="Freeform 125" id="125"/>
            <p:cNvSpPr/>
            <p:nvPr/>
          </p:nvSpPr>
          <p:spPr>
            <a:xfrm flipH="false" flipV="false" rot="0">
              <a:off x="0" y="0"/>
              <a:ext cx="3291840" cy="1170432"/>
            </a:xfrm>
            <a:custGeom>
              <a:avLst/>
              <a:gdLst/>
              <a:ahLst/>
              <a:cxnLst/>
              <a:rect r="r" b="b" t="t" l="l"/>
              <a:pathLst>
                <a:path h="1170432" w="3291840">
                  <a:moveTo>
                    <a:pt x="0" y="0"/>
                  </a:moveTo>
                  <a:lnTo>
                    <a:pt x="3291840" y="0"/>
                  </a:lnTo>
                  <a:lnTo>
                    <a:pt x="3291840" y="1170432"/>
                  </a:lnTo>
                  <a:lnTo>
                    <a:pt x="0" y="1170432"/>
                  </a:lnTo>
                  <a:close/>
                </a:path>
              </a:pathLst>
            </a:custGeom>
            <a:blipFill>
              <a:blip r:embed="rId3">
                <a:alphaModFix amt="0"/>
              </a:blip>
              <a:stretch>
                <a:fillRect l="0" t="-4801" r="0" b="-4801"/>
              </a:stretch>
            </a:blipFill>
          </p:spPr>
        </p:sp>
        <p:sp>
          <p:nvSpPr>
            <p:cNvPr name="TextBox 126" id="126"/>
            <p:cNvSpPr txBox="true"/>
            <p:nvPr/>
          </p:nvSpPr>
          <p:spPr>
            <a:xfrm>
              <a:off x="0" y="-38100"/>
              <a:ext cx="3291840" cy="1208532"/>
            </a:xfrm>
            <a:prstGeom prst="rect">
              <a:avLst/>
            </a:prstGeom>
          </p:spPr>
          <p:txBody>
            <a:bodyPr anchor="ctr" rtlCol="false" tIns="0" lIns="0" bIns="0" rIns="0"/>
            <a:lstStyle/>
            <a:p>
              <a:pPr algn="ctr">
                <a:lnSpc>
                  <a:spcPts val="2039"/>
                </a:lnSpc>
              </a:pPr>
              <a:r>
                <a:rPr lang="en-US" sz="1700" b="true">
                  <a:solidFill>
                    <a:srgbClr val="0F766E"/>
                  </a:solidFill>
                  <a:latin typeface="Calibri (MS) Bold"/>
                  <a:ea typeface="Calibri (MS) Bold"/>
                  <a:cs typeface="Calibri (MS) Bold"/>
                  <a:sym typeface="Calibri (MS) Bold"/>
                </a:rPr>
                <a:t>Dialysis</a:t>
              </a:r>
            </a:p>
          </p:txBody>
        </p:sp>
      </p:grpSp>
      <p:grpSp>
        <p:nvGrpSpPr>
          <p:cNvPr name="Group 127" id="127"/>
          <p:cNvGrpSpPr/>
          <p:nvPr/>
        </p:nvGrpSpPr>
        <p:grpSpPr>
          <a:xfrm rot="0">
            <a:off x="640080" y="7717536"/>
            <a:ext cx="10972800" cy="512064"/>
            <a:chOff x="0" y="0"/>
            <a:chExt cx="14630400" cy="682752"/>
          </a:xfrm>
        </p:grpSpPr>
        <p:sp>
          <p:nvSpPr>
            <p:cNvPr name="Freeform 128" id="128"/>
            <p:cNvSpPr/>
            <p:nvPr/>
          </p:nvSpPr>
          <p:spPr>
            <a:xfrm flipH="false" flipV="false" rot="0">
              <a:off x="0" y="0"/>
              <a:ext cx="14630400" cy="682752"/>
            </a:xfrm>
            <a:custGeom>
              <a:avLst/>
              <a:gdLst/>
              <a:ahLst/>
              <a:cxnLst/>
              <a:rect r="r" b="b" t="t" l="l"/>
              <a:pathLst>
                <a:path h="682752" w="14630400">
                  <a:moveTo>
                    <a:pt x="0" y="0"/>
                  </a:moveTo>
                  <a:lnTo>
                    <a:pt x="14630400" y="0"/>
                  </a:lnTo>
                  <a:lnTo>
                    <a:pt x="14630400" y="682752"/>
                  </a:lnTo>
                  <a:lnTo>
                    <a:pt x="0" y="682752"/>
                  </a:lnTo>
                  <a:close/>
                </a:path>
              </a:pathLst>
            </a:custGeom>
            <a:blipFill>
              <a:blip r:embed="rId3">
                <a:alphaModFix amt="0"/>
              </a:blip>
              <a:stretch>
                <a:fillRect l="0" t="-367536" r="0" b="-367536"/>
              </a:stretch>
            </a:blipFill>
          </p:spPr>
        </p:sp>
        <p:sp>
          <p:nvSpPr>
            <p:cNvPr name="TextBox 129" id="129"/>
            <p:cNvSpPr txBox="true"/>
            <p:nvPr/>
          </p:nvSpPr>
          <p:spPr>
            <a:xfrm>
              <a:off x="0" y="-38100"/>
              <a:ext cx="14630400" cy="720852"/>
            </a:xfrm>
            <a:prstGeom prst="rect">
              <a:avLst/>
            </a:prstGeom>
          </p:spPr>
          <p:txBody>
            <a:bodyPr anchor="ctr" rtlCol="false" tIns="0" lIns="0" bIns="0" rIns="0"/>
            <a:lstStyle/>
            <a:p>
              <a:pPr algn="l">
                <a:lnSpc>
                  <a:spcPts val="2280"/>
                </a:lnSpc>
              </a:pPr>
              <a:r>
                <a:rPr lang="en-US" sz="1900" i="true">
                  <a:solidFill>
                    <a:srgbClr val="94A3B8"/>
                  </a:solidFill>
                  <a:latin typeface="Calibri (MS) Italics"/>
                  <a:ea typeface="Calibri (MS) Italics"/>
                  <a:cs typeface="Calibri (MS) Italics"/>
                  <a:sym typeface="Calibri (MS) Italics"/>
                </a:rPr>
                <a:t>Contextual fallback factors (when pattern match &lt; 4/5):</a:t>
              </a:r>
            </a:p>
          </p:txBody>
        </p:sp>
      </p:grpSp>
      <p:grpSp>
        <p:nvGrpSpPr>
          <p:cNvPr name="Group 130" id="130"/>
          <p:cNvGrpSpPr/>
          <p:nvPr/>
        </p:nvGrpSpPr>
        <p:grpSpPr>
          <a:xfrm rot="0">
            <a:off x="633727" y="8369551"/>
            <a:ext cx="4072633" cy="1329433"/>
            <a:chOff x="0" y="0"/>
            <a:chExt cx="5430177" cy="1772577"/>
          </a:xfrm>
        </p:grpSpPr>
        <p:sp>
          <p:nvSpPr>
            <p:cNvPr name="Freeform 131" id="131"/>
            <p:cNvSpPr/>
            <p:nvPr/>
          </p:nvSpPr>
          <p:spPr>
            <a:xfrm flipH="false" flipV="false" rot="0">
              <a:off x="8509" y="8509"/>
              <a:ext cx="5413248" cy="1755648"/>
            </a:xfrm>
            <a:custGeom>
              <a:avLst/>
              <a:gdLst/>
              <a:ahLst/>
              <a:cxnLst/>
              <a:rect r="r" b="b" t="t" l="l"/>
              <a:pathLst>
                <a:path h="1755648" w="5413248">
                  <a:moveTo>
                    <a:pt x="0" y="0"/>
                  </a:moveTo>
                  <a:lnTo>
                    <a:pt x="5413248" y="0"/>
                  </a:lnTo>
                  <a:lnTo>
                    <a:pt x="5413248" y="1755648"/>
                  </a:lnTo>
                  <a:lnTo>
                    <a:pt x="0" y="1755648"/>
                  </a:lnTo>
                  <a:close/>
                </a:path>
              </a:pathLst>
            </a:custGeom>
            <a:solidFill>
              <a:srgbClr val="0D1F38"/>
            </a:solidFill>
          </p:spPr>
        </p:sp>
        <p:sp>
          <p:nvSpPr>
            <p:cNvPr name="Freeform 132" id="132"/>
            <p:cNvSpPr/>
            <p:nvPr/>
          </p:nvSpPr>
          <p:spPr>
            <a:xfrm flipH="false" flipV="false" rot="0">
              <a:off x="0" y="0"/>
              <a:ext cx="5430266" cy="1772666"/>
            </a:xfrm>
            <a:custGeom>
              <a:avLst/>
              <a:gdLst/>
              <a:ahLst/>
              <a:cxnLst/>
              <a:rect r="r" b="b" t="t" l="l"/>
              <a:pathLst>
                <a:path h="1772666" w="5430266">
                  <a:moveTo>
                    <a:pt x="8509" y="0"/>
                  </a:moveTo>
                  <a:lnTo>
                    <a:pt x="5421757" y="0"/>
                  </a:lnTo>
                  <a:cubicBezTo>
                    <a:pt x="5426456" y="0"/>
                    <a:pt x="5430266" y="3810"/>
                    <a:pt x="5430266" y="8509"/>
                  </a:cubicBezTo>
                  <a:lnTo>
                    <a:pt x="5430266" y="1764157"/>
                  </a:lnTo>
                  <a:cubicBezTo>
                    <a:pt x="5430266" y="1768856"/>
                    <a:pt x="5426456" y="1772666"/>
                    <a:pt x="5421757" y="1772666"/>
                  </a:cubicBezTo>
                  <a:lnTo>
                    <a:pt x="8509" y="1772666"/>
                  </a:lnTo>
                  <a:cubicBezTo>
                    <a:pt x="3810" y="1772666"/>
                    <a:pt x="0" y="1768856"/>
                    <a:pt x="0" y="1764157"/>
                  </a:cubicBezTo>
                  <a:lnTo>
                    <a:pt x="0" y="8509"/>
                  </a:lnTo>
                  <a:cubicBezTo>
                    <a:pt x="0" y="3810"/>
                    <a:pt x="3810" y="0"/>
                    <a:pt x="8509" y="0"/>
                  </a:cubicBezTo>
                  <a:moveTo>
                    <a:pt x="8509" y="16891"/>
                  </a:moveTo>
                  <a:lnTo>
                    <a:pt x="8509" y="8509"/>
                  </a:lnTo>
                  <a:lnTo>
                    <a:pt x="17018" y="8509"/>
                  </a:lnTo>
                  <a:lnTo>
                    <a:pt x="17018" y="1764157"/>
                  </a:lnTo>
                  <a:lnTo>
                    <a:pt x="8509" y="1764157"/>
                  </a:lnTo>
                  <a:lnTo>
                    <a:pt x="8509" y="1755648"/>
                  </a:lnTo>
                  <a:lnTo>
                    <a:pt x="5421757" y="1755648"/>
                  </a:lnTo>
                  <a:lnTo>
                    <a:pt x="5421757" y="1764157"/>
                  </a:lnTo>
                  <a:lnTo>
                    <a:pt x="5413248" y="1764157"/>
                  </a:lnTo>
                  <a:lnTo>
                    <a:pt x="5413248" y="8509"/>
                  </a:lnTo>
                  <a:lnTo>
                    <a:pt x="5421757" y="8509"/>
                  </a:lnTo>
                  <a:lnTo>
                    <a:pt x="5421757" y="17018"/>
                  </a:lnTo>
                  <a:lnTo>
                    <a:pt x="8509" y="17018"/>
                  </a:lnTo>
                  <a:close/>
                </a:path>
              </a:pathLst>
            </a:custGeom>
            <a:solidFill>
              <a:srgbClr val="0D9488"/>
            </a:solidFill>
          </p:spPr>
        </p:sp>
      </p:grpSp>
      <p:grpSp>
        <p:nvGrpSpPr>
          <p:cNvPr name="Group 133" id="133"/>
          <p:cNvGrpSpPr/>
          <p:nvPr/>
        </p:nvGrpSpPr>
        <p:grpSpPr>
          <a:xfrm rot="0">
            <a:off x="822960" y="8449056"/>
            <a:ext cx="3694176" cy="512064"/>
            <a:chOff x="0" y="0"/>
            <a:chExt cx="4925568" cy="682752"/>
          </a:xfrm>
        </p:grpSpPr>
        <p:sp>
          <p:nvSpPr>
            <p:cNvPr name="Freeform 134" id="134"/>
            <p:cNvSpPr/>
            <p:nvPr/>
          </p:nvSpPr>
          <p:spPr>
            <a:xfrm flipH="false" flipV="false" rot="0">
              <a:off x="0" y="0"/>
              <a:ext cx="4925568" cy="682752"/>
            </a:xfrm>
            <a:custGeom>
              <a:avLst/>
              <a:gdLst/>
              <a:ahLst/>
              <a:cxnLst/>
              <a:rect r="r" b="b" t="t" l="l"/>
              <a:pathLst>
                <a:path h="682752" w="4925568">
                  <a:moveTo>
                    <a:pt x="0" y="0"/>
                  </a:moveTo>
                  <a:lnTo>
                    <a:pt x="4925568" y="0"/>
                  </a:lnTo>
                  <a:lnTo>
                    <a:pt x="4925568" y="682752"/>
                  </a:lnTo>
                  <a:lnTo>
                    <a:pt x="0" y="682752"/>
                  </a:lnTo>
                  <a:close/>
                </a:path>
              </a:pathLst>
            </a:custGeom>
            <a:blipFill>
              <a:blip r:embed="rId3">
                <a:alphaModFix amt="0"/>
              </a:blip>
              <a:stretch>
                <a:fillRect l="0" t="-90570" r="0" b="-90570"/>
              </a:stretch>
            </a:blipFill>
          </p:spPr>
        </p:sp>
        <p:sp>
          <p:nvSpPr>
            <p:cNvPr name="TextBox 135" id="135"/>
            <p:cNvSpPr txBox="true"/>
            <p:nvPr/>
          </p:nvSpPr>
          <p:spPr>
            <a:xfrm>
              <a:off x="0" y="-38100"/>
              <a:ext cx="4925568" cy="720852"/>
            </a:xfrm>
            <a:prstGeom prst="rect">
              <a:avLst/>
            </a:prstGeom>
          </p:spPr>
          <p:txBody>
            <a:bodyPr anchor="ctr" rtlCol="false" tIns="0" lIns="0" bIns="0" rIns="0"/>
            <a:lstStyle/>
            <a:p>
              <a:pPr algn="l">
                <a:lnSpc>
                  <a:spcPts val="2280"/>
                </a:lnSpc>
              </a:pPr>
              <a:r>
                <a:rPr lang="en-US" sz="1900" b="true">
                  <a:solidFill>
                    <a:srgbClr val="0D9488"/>
                  </a:solidFill>
                  <a:latin typeface="Calibri (MS) Bold"/>
                  <a:ea typeface="Calibri (MS) Bold"/>
                  <a:cs typeface="Calibri (MS) Bold"/>
                  <a:sym typeface="Calibri (MS) Bold"/>
                </a:rPr>
                <a:t>Environment</a:t>
              </a:r>
            </a:p>
          </p:txBody>
        </p:sp>
      </p:grpSp>
      <p:grpSp>
        <p:nvGrpSpPr>
          <p:cNvPr name="Group 136" id="136"/>
          <p:cNvGrpSpPr/>
          <p:nvPr/>
        </p:nvGrpSpPr>
        <p:grpSpPr>
          <a:xfrm rot="0">
            <a:off x="822960" y="8961120"/>
            <a:ext cx="3694176" cy="512064"/>
            <a:chOff x="0" y="0"/>
            <a:chExt cx="4925568" cy="682752"/>
          </a:xfrm>
        </p:grpSpPr>
        <p:sp>
          <p:nvSpPr>
            <p:cNvPr name="Freeform 137" id="137"/>
            <p:cNvSpPr/>
            <p:nvPr/>
          </p:nvSpPr>
          <p:spPr>
            <a:xfrm flipH="false" flipV="false" rot="0">
              <a:off x="0" y="0"/>
              <a:ext cx="4925568" cy="682752"/>
            </a:xfrm>
            <a:custGeom>
              <a:avLst/>
              <a:gdLst/>
              <a:ahLst/>
              <a:cxnLst/>
              <a:rect r="r" b="b" t="t" l="l"/>
              <a:pathLst>
                <a:path h="682752" w="4925568">
                  <a:moveTo>
                    <a:pt x="0" y="0"/>
                  </a:moveTo>
                  <a:lnTo>
                    <a:pt x="4925568" y="0"/>
                  </a:lnTo>
                  <a:lnTo>
                    <a:pt x="4925568" y="682752"/>
                  </a:lnTo>
                  <a:lnTo>
                    <a:pt x="0" y="682752"/>
                  </a:lnTo>
                  <a:close/>
                </a:path>
              </a:pathLst>
            </a:custGeom>
            <a:blipFill>
              <a:blip r:embed="rId3">
                <a:alphaModFix amt="0"/>
              </a:blip>
              <a:stretch>
                <a:fillRect l="0" t="-90570" r="0" b="-90570"/>
              </a:stretch>
            </a:blipFill>
          </p:spPr>
        </p:sp>
        <p:sp>
          <p:nvSpPr>
            <p:cNvPr name="TextBox 138" id="138"/>
            <p:cNvSpPr txBox="true"/>
            <p:nvPr/>
          </p:nvSpPr>
          <p:spPr>
            <a:xfrm>
              <a:off x="0" y="-38100"/>
              <a:ext cx="4925568" cy="720852"/>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Region, climate, pollution</a:t>
              </a:r>
            </a:p>
          </p:txBody>
        </p:sp>
      </p:grpSp>
      <p:grpSp>
        <p:nvGrpSpPr>
          <p:cNvPr name="Group 139" id="139"/>
          <p:cNvGrpSpPr/>
          <p:nvPr/>
        </p:nvGrpSpPr>
        <p:grpSpPr>
          <a:xfrm rot="0">
            <a:off x="5059423" y="8369551"/>
            <a:ext cx="4072633" cy="1329433"/>
            <a:chOff x="0" y="0"/>
            <a:chExt cx="5430177" cy="1772577"/>
          </a:xfrm>
        </p:grpSpPr>
        <p:sp>
          <p:nvSpPr>
            <p:cNvPr name="Freeform 140" id="140"/>
            <p:cNvSpPr/>
            <p:nvPr/>
          </p:nvSpPr>
          <p:spPr>
            <a:xfrm flipH="false" flipV="false" rot="0">
              <a:off x="8509" y="8509"/>
              <a:ext cx="5413248" cy="1755648"/>
            </a:xfrm>
            <a:custGeom>
              <a:avLst/>
              <a:gdLst/>
              <a:ahLst/>
              <a:cxnLst/>
              <a:rect r="r" b="b" t="t" l="l"/>
              <a:pathLst>
                <a:path h="1755648" w="5413248">
                  <a:moveTo>
                    <a:pt x="0" y="0"/>
                  </a:moveTo>
                  <a:lnTo>
                    <a:pt x="5413248" y="0"/>
                  </a:lnTo>
                  <a:lnTo>
                    <a:pt x="5413248" y="1755648"/>
                  </a:lnTo>
                  <a:lnTo>
                    <a:pt x="0" y="1755648"/>
                  </a:lnTo>
                  <a:close/>
                </a:path>
              </a:pathLst>
            </a:custGeom>
            <a:solidFill>
              <a:srgbClr val="0D1F38"/>
            </a:solidFill>
          </p:spPr>
        </p:sp>
        <p:sp>
          <p:nvSpPr>
            <p:cNvPr name="Freeform 141" id="141"/>
            <p:cNvSpPr/>
            <p:nvPr/>
          </p:nvSpPr>
          <p:spPr>
            <a:xfrm flipH="false" flipV="false" rot="0">
              <a:off x="0" y="0"/>
              <a:ext cx="5430266" cy="1772666"/>
            </a:xfrm>
            <a:custGeom>
              <a:avLst/>
              <a:gdLst/>
              <a:ahLst/>
              <a:cxnLst/>
              <a:rect r="r" b="b" t="t" l="l"/>
              <a:pathLst>
                <a:path h="1772666" w="5430266">
                  <a:moveTo>
                    <a:pt x="8509" y="0"/>
                  </a:moveTo>
                  <a:lnTo>
                    <a:pt x="5421757" y="0"/>
                  </a:lnTo>
                  <a:cubicBezTo>
                    <a:pt x="5426456" y="0"/>
                    <a:pt x="5430266" y="3810"/>
                    <a:pt x="5430266" y="8509"/>
                  </a:cubicBezTo>
                  <a:lnTo>
                    <a:pt x="5430266" y="1764157"/>
                  </a:lnTo>
                  <a:cubicBezTo>
                    <a:pt x="5430266" y="1768856"/>
                    <a:pt x="5426456" y="1772666"/>
                    <a:pt x="5421757" y="1772666"/>
                  </a:cubicBezTo>
                  <a:lnTo>
                    <a:pt x="8509" y="1772666"/>
                  </a:lnTo>
                  <a:cubicBezTo>
                    <a:pt x="3810" y="1772666"/>
                    <a:pt x="0" y="1768856"/>
                    <a:pt x="0" y="1764157"/>
                  </a:cubicBezTo>
                  <a:lnTo>
                    <a:pt x="0" y="8509"/>
                  </a:lnTo>
                  <a:cubicBezTo>
                    <a:pt x="0" y="3810"/>
                    <a:pt x="3810" y="0"/>
                    <a:pt x="8509" y="0"/>
                  </a:cubicBezTo>
                  <a:moveTo>
                    <a:pt x="8509" y="16891"/>
                  </a:moveTo>
                  <a:lnTo>
                    <a:pt x="8509" y="8509"/>
                  </a:lnTo>
                  <a:lnTo>
                    <a:pt x="17018" y="8509"/>
                  </a:lnTo>
                  <a:lnTo>
                    <a:pt x="17018" y="1764157"/>
                  </a:lnTo>
                  <a:lnTo>
                    <a:pt x="8509" y="1764157"/>
                  </a:lnTo>
                  <a:lnTo>
                    <a:pt x="8509" y="1755648"/>
                  </a:lnTo>
                  <a:lnTo>
                    <a:pt x="5421757" y="1755648"/>
                  </a:lnTo>
                  <a:lnTo>
                    <a:pt x="5421757" y="1764157"/>
                  </a:lnTo>
                  <a:lnTo>
                    <a:pt x="5413248" y="1764157"/>
                  </a:lnTo>
                  <a:lnTo>
                    <a:pt x="5413248" y="8509"/>
                  </a:lnTo>
                  <a:lnTo>
                    <a:pt x="5421757" y="8509"/>
                  </a:lnTo>
                  <a:lnTo>
                    <a:pt x="5421757" y="17018"/>
                  </a:lnTo>
                  <a:lnTo>
                    <a:pt x="8509" y="17018"/>
                  </a:lnTo>
                  <a:close/>
                </a:path>
              </a:pathLst>
            </a:custGeom>
            <a:solidFill>
              <a:srgbClr val="F59E0B"/>
            </a:solidFill>
          </p:spPr>
        </p:sp>
      </p:grpSp>
      <p:grpSp>
        <p:nvGrpSpPr>
          <p:cNvPr name="Group 142" id="142"/>
          <p:cNvGrpSpPr/>
          <p:nvPr/>
        </p:nvGrpSpPr>
        <p:grpSpPr>
          <a:xfrm rot="0">
            <a:off x="5248656" y="8449056"/>
            <a:ext cx="3694176" cy="512064"/>
            <a:chOff x="0" y="0"/>
            <a:chExt cx="4925568" cy="682752"/>
          </a:xfrm>
        </p:grpSpPr>
        <p:sp>
          <p:nvSpPr>
            <p:cNvPr name="Freeform 143" id="143"/>
            <p:cNvSpPr/>
            <p:nvPr/>
          </p:nvSpPr>
          <p:spPr>
            <a:xfrm flipH="false" flipV="false" rot="0">
              <a:off x="0" y="0"/>
              <a:ext cx="4925568" cy="682752"/>
            </a:xfrm>
            <a:custGeom>
              <a:avLst/>
              <a:gdLst/>
              <a:ahLst/>
              <a:cxnLst/>
              <a:rect r="r" b="b" t="t" l="l"/>
              <a:pathLst>
                <a:path h="682752" w="4925568">
                  <a:moveTo>
                    <a:pt x="0" y="0"/>
                  </a:moveTo>
                  <a:lnTo>
                    <a:pt x="4925568" y="0"/>
                  </a:lnTo>
                  <a:lnTo>
                    <a:pt x="4925568" y="682752"/>
                  </a:lnTo>
                  <a:lnTo>
                    <a:pt x="0" y="682752"/>
                  </a:lnTo>
                  <a:close/>
                </a:path>
              </a:pathLst>
            </a:custGeom>
            <a:blipFill>
              <a:blip r:embed="rId3">
                <a:alphaModFix amt="0"/>
              </a:blip>
              <a:stretch>
                <a:fillRect l="0" t="-90570" r="0" b="-90570"/>
              </a:stretch>
            </a:blipFill>
          </p:spPr>
        </p:sp>
        <p:sp>
          <p:nvSpPr>
            <p:cNvPr name="TextBox 144" id="144"/>
            <p:cNvSpPr txBox="true"/>
            <p:nvPr/>
          </p:nvSpPr>
          <p:spPr>
            <a:xfrm>
              <a:off x="0" y="-38100"/>
              <a:ext cx="4925568" cy="720852"/>
            </a:xfrm>
            <a:prstGeom prst="rect">
              <a:avLst/>
            </a:prstGeom>
          </p:spPr>
          <p:txBody>
            <a:bodyPr anchor="ctr" rtlCol="false" tIns="0" lIns="0" bIns="0" rIns="0"/>
            <a:lstStyle/>
            <a:p>
              <a:pPr algn="l">
                <a:lnSpc>
                  <a:spcPts val="2280"/>
                </a:lnSpc>
              </a:pPr>
              <a:r>
                <a:rPr lang="en-US" sz="1900" b="true">
                  <a:solidFill>
                    <a:srgbClr val="F59E0B"/>
                  </a:solidFill>
                  <a:latin typeface="Calibri (MS) Bold"/>
                  <a:ea typeface="Calibri (MS) Bold"/>
                  <a:cs typeface="Calibri (MS) Bold"/>
                  <a:sym typeface="Calibri (MS) Bold"/>
                </a:rPr>
                <a:t>Family history</a:t>
              </a:r>
            </a:p>
          </p:txBody>
        </p:sp>
      </p:grpSp>
      <p:grpSp>
        <p:nvGrpSpPr>
          <p:cNvPr name="Group 145" id="145"/>
          <p:cNvGrpSpPr/>
          <p:nvPr/>
        </p:nvGrpSpPr>
        <p:grpSpPr>
          <a:xfrm rot="0">
            <a:off x="5248656" y="8961120"/>
            <a:ext cx="3694176" cy="512064"/>
            <a:chOff x="0" y="0"/>
            <a:chExt cx="4925568" cy="682752"/>
          </a:xfrm>
        </p:grpSpPr>
        <p:sp>
          <p:nvSpPr>
            <p:cNvPr name="Freeform 146" id="146"/>
            <p:cNvSpPr/>
            <p:nvPr/>
          </p:nvSpPr>
          <p:spPr>
            <a:xfrm flipH="false" flipV="false" rot="0">
              <a:off x="0" y="0"/>
              <a:ext cx="4925568" cy="682752"/>
            </a:xfrm>
            <a:custGeom>
              <a:avLst/>
              <a:gdLst/>
              <a:ahLst/>
              <a:cxnLst/>
              <a:rect r="r" b="b" t="t" l="l"/>
              <a:pathLst>
                <a:path h="682752" w="4925568">
                  <a:moveTo>
                    <a:pt x="0" y="0"/>
                  </a:moveTo>
                  <a:lnTo>
                    <a:pt x="4925568" y="0"/>
                  </a:lnTo>
                  <a:lnTo>
                    <a:pt x="4925568" y="682752"/>
                  </a:lnTo>
                  <a:lnTo>
                    <a:pt x="0" y="682752"/>
                  </a:lnTo>
                  <a:close/>
                </a:path>
              </a:pathLst>
            </a:custGeom>
            <a:blipFill>
              <a:blip r:embed="rId3">
                <a:alphaModFix amt="0"/>
              </a:blip>
              <a:stretch>
                <a:fillRect l="0" t="-90570" r="0" b="-90570"/>
              </a:stretch>
            </a:blipFill>
          </p:spPr>
        </p:sp>
        <p:sp>
          <p:nvSpPr>
            <p:cNvPr name="TextBox 147" id="147"/>
            <p:cNvSpPr txBox="true"/>
            <p:nvPr/>
          </p:nvSpPr>
          <p:spPr>
            <a:xfrm>
              <a:off x="0" y="-38100"/>
              <a:ext cx="4925568" cy="720852"/>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Hereditary conditions</a:t>
              </a:r>
            </a:p>
          </p:txBody>
        </p:sp>
      </p:grpSp>
      <p:grpSp>
        <p:nvGrpSpPr>
          <p:cNvPr name="Group 148" id="148"/>
          <p:cNvGrpSpPr/>
          <p:nvPr/>
        </p:nvGrpSpPr>
        <p:grpSpPr>
          <a:xfrm rot="0">
            <a:off x="9485119" y="8369551"/>
            <a:ext cx="4072633" cy="1329433"/>
            <a:chOff x="0" y="0"/>
            <a:chExt cx="5430177" cy="1772577"/>
          </a:xfrm>
        </p:grpSpPr>
        <p:sp>
          <p:nvSpPr>
            <p:cNvPr name="Freeform 149" id="149"/>
            <p:cNvSpPr/>
            <p:nvPr/>
          </p:nvSpPr>
          <p:spPr>
            <a:xfrm flipH="false" flipV="false" rot="0">
              <a:off x="8509" y="8509"/>
              <a:ext cx="5413248" cy="1755648"/>
            </a:xfrm>
            <a:custGeom>
              <a:avLst/>
              <a:gdLst/>
              <a:ahLst/>
              <a:cxnLst/>
              <a:rect r="r" b="b" t="t" l="l"/>
              <a:pathLst>
                <a:path h="1755648" w="5413248">
                  <a:moveTo>
                    <a:pt x="0" y="0"/>
                  </a:moveTo>
                  <a:lnTo>
                    <a:pt x="5413248" y="0"/>
                  </a:lnTo>
                  <a:lnTo>
                    <a:pt x="5413248" y="1755648"/>
                  </a:lnTo>
                  <a:lnTo>
                    <a:pt x="0" y="1755648"/>
                  </a:lnTo>
                  <a:close/>
                </a:path>
              </a:pathLst>
            </a:custGeom>
            <a:solidFill>
              <a:srgbClr val="0D1F38"/>
            </a:solidFill>
          </p:spPr>
        </p:sp>
        <p:sp>
          <p:nvSpPr>
            <p:cNvPr name="Freeform 150" id="150"/>
            <p:cNvSpPr/>
            <p:nvPr/>
          </p:nvSpPr>
          <p:spPr>
            <a:xfrm flipH="false" flipV="false" rot="0">
              <a:off x="0" y="0"/>
              <a:ext cx="5430266" cy="1772666"/>
            </a:xfrm>
            <a:custGeom>
              <a:avLst/>
              <a:gdLst/>
              <a:ahLst/>
              <a:cxnLst/>
              <a:rect r="r" b="b" t="t" l="l"/>
              <a:pathLst>
                <a:path h="1772666" w="5430266">
                  <a:moveTo>
                    <a:pt x="8509" y="0"/>
                  </a:moveTo>
                  <a:lnTo>
                    <a:pt x="5421757" y="0"/>
                  </a:lnTo>
                  <a:cubicBezTo>
                    <a:pt x="5426456" y="0"/>
                    <a:pt x="5430266" y="3810"/>
                    <a:pt x="5430266" y="8509"/>
                  </a:cubicBezTo>
                  <a:lnTo>
                    <a:pt x="5430266" y="1764157"/>
                  </a:lnTo>
                  <a:cubicBezTo>
                    <a:pt x="5430266" y="1768856"/>
                    <a:pt x="5426456" y="1772666"/>
                    <a:pt x="5421757" y="1772666"/>
                  </a:cubicBezTo>
                  <a:lnTo>
                    <a:pt x="8509" y="1772666"/>
                  </a:lnTo>
                  <a:cubicBezTo>
                    <a:pt x="3810" y="1772666"/>
                    <a:pt x="0" y="1768856"/>
                    <a:pt x="0" y="1764157"/>
                  </a:cubicBezTo>
                  <a:lnTo>
                    <a:pt x="0" y="8509"/>
                  </a:lnTo>
                  <a:cubicBezTo>
                    <a:pt x="0" y="3810"/>
                    <a:pt x="3810" y="0"/>
                    <a:pt x="8509" y="0"/>
                  </a:cubicBezTo>
                  <a:moveTo>
                    <a:pt x="8509" y="16891"/>
                  </a:moveTo>
                  <a:lnTo>
                    <a:pt x="8509" y="8509"/>
                  </a:lnTo>
                  <a:lnTo>
                    <a:pt x="17018" y="8509"/>
                  </a:lnTo>
                  <a:lnTo>
                    <a:pt x="17018" y="1764157"/>
                  </a:lnTo>
                  <a:lnTo>
                    <a:pt x="8509" y="1764157"/>
                  </a:lnTo>
                  <a:lnTo>
                    <a:pt x="8509" y="1755648"/>
                  </a:lnTo>
                  <a:lnTo>
                    <a:pt x="5421757" y="1755648"/>
                  </a:lnTo>
                  <a:lnTo>
                    <a:pt x="5421757" y="1764157"/>
                  </a:lnTo>
                  <a:lnTo>
                    <a:pt x="5413248" y="1764157"/>
                  </a:lnTo>
                  <a:lnTo>
                    <a:pt x="5413248" y="8509"/>
                  </a:lnTo>
                  <a:lnTo>
                    <a:pt x="5421757" y="8509"/>
                  </a:lnTo>
                  <a:lnTo>
                    <a:pt x="5421757" y="17018"/>
                  </a:lnTo>
                  <a:lnTo>
                    <a:pt x="8509" y="17018"/>
                  </a:lnTo>
                  <a:close/>
                </a:path>
              </a:pathLst>
            </a:custGeom>
            <a:solidFill>
              <a:srgbClr val="8B5CF6"/>
            </a:solidFill>
          </p:spPr>
        </p:sp>
      </p:grpSp>
      <p:grpSp>
        <p:nvGrpSpPr>
          <p:cNvPr name="Group 151" id="151"/>
          <p:cNvGrpSpPr/>
          <p:nvPr/>
        </p:nvGrpSpPr>
        <p:grpSpPr>
          <a:xfrm rot="0">
            <a:off x="9674352" y="8449056"/>
            <a:ext cx="3694176" cy="512064"/>
            <a:chOff x="0" y="0"/>
            <a:chExt cx="4925568" cy="682752"/>
          </a:xfrm>
        </p:grpSpPr>
        <p:sp>
          <p:nvSpPr>
            <p:cNvPr name="Freeform 152" id="152"/>
            <p:cNvSpPr/>
            <p:nvPr/>
          </p:nvSpPr>
          <p:spPr>
            <a:xfrm flipH="false" flipV="false" rot="0">
              <a:off x="0" y="0"/>
              <a:ext cx="4925568" cy="682752"/>
            </a:xfrm>
            <a:custGeom>
              <a:avLst/>
              <a:gdLst/>
              <a:ahLst/>
              <a:cxnLst/>
              <a:rect r="r" b="b" t="t" l="l"/>
              <a:pathLst>
                <a:path h="682752" w="4925568">
                  <a:moveTo>
                    <a:pt x="0" y="0"/>
                  </a:moveTo>
                  <a:lnTo>
                    <a:pt x="4925568" y="0"/>
                  </a:lnTo>
                  <a:lnTo>
                    <a:pt x="4925568" y="682752"/>
                  </a:lnTo>
                  <a:lnTo>
                    <a:pt x="0" y="682752"/>
                  </a:lnTo>
                  <a:close/>
                </a:path>
              </a:pathLst>
            </a:custGeom>
            <a:blipFill>
              <a:blip r:embed="rId3">
                <a:alphaModFix amt="0"/>
              </a:blip>
              <a:stretch>
                <a:fillRect l="0" t="-90570" r="0" b="-90570"/>
              </a:stretch>
            </a:blipFill>
          </p:spPr>
        </p:sp>
        <p:sp>
          <p:nvSpPr>
            <p:cNvPr name="TextBox 153" id="153"/>
            <p:cNvSpPr txBox="true"/>
            <p:nvPr/>
          </p:nvSpPr>
          <p:spPr>
            <a:xfrm>
              <a:off x="0" y="-38100"/>
              <a:ext cx="4925568" cy="720852"/>
            </a:xfrm>
            <a:prstGeom prst="rect">
              <a:avLst/>
            </a:prstGeom>
          </p:spPr>
          <p:txBody>
            <a:bodyPr anchor="ctr" rtlCol="false" tIns="0" lIns="0" bIns="0" rIns="0"/>
            <a:lstStyle/>
            <a:p>
              <a:pPr algn="l">
                <a:lnSpc>
                  <a:spcPts val="2280"/>
                </a:lnSpc>
              </a:pPr>
              <a:r>
                <a:rPr lang="en-US" sz="1900" b="true">
                  <a:solidFill>
                    <a:srgbClr val="8B5CF6"/>
                  </a:solidFill>
                  <a:latin typeface="Calibri (MS) Bold"/>
                  <a:ea typeface="Calibri (MS) Bold"/>
                  <a:cs typeface="Calibri (MS) Bold"/>
                  <a:sym typeface="Calibri (MS) Bold"/>
                </a:rPr>
                <a:t>Lifestyle</a:t>
              </a:r>
            </a:p>
          </p:txBody>
        </p:sp>
      </p:grpSp>
      <p:grpSp>
        <p:nvGrpSpPr>
          <p:cNvPr name="Group 154" id="154"/>
          <p:cNvGrpSpPr/>
          <p:nvPr/>
        </p:nvGrpSpPr>
        <p:grpSpPr>
          <a:xfrm rot="0">
            <a:off x="9674352" y="8961120"/>
            <a:ext cx="3694176" cy="512064"/>
            <a:chOff x="0" y="0"/>
            <a:chExt cx="4925568" cy="682752"/>
          </a:xfrm>
        </p:grpSpPr>
        <p:sp>
          <p:nvSpPr>
            <p:cNvPr name="Freeform 155" id="155"/>
            <p:cNvSpPr/>
            <p:nvPr/>
          </p:nvSpPr>
          <p:spPr>
            <a:xfrm flipH="false" flipV="false" rot="0">
              <a:off x="0" y="0"/>
              <a:ext cx="4925568" cy="682752"/>
            </a:xfrm>
            <a:custGeom>
              <a:avLst/>
              <a:gdLst/>
              <a:ahLst/>
              <a:cxnLst/>
              <a:rect r="r" b="b" t="t" l="l"/>
              <a:pathLst>
                <a:path h="682752" w="4925568">
                  <a:moveTo>
                    <a:pt x="0" y="0"/>
                  </a:moveTo>
                  <a:lnTo>
                    <a:pt x="4925568" y="0"/>
                  </a:lnTo>
                  <a:lnTo>
                    <a:pt x="4925568" y="682752"/>
                  </a:lnTo>
                  <a:lnTo>
                    <a:pt x="0" y="682752"/>
                  </a:lnTo>
                  <a:close/>
                </a:path>
              </a:pathLst>
            </a:custGeom>
            <a:blipFill>
              <a:blip r:embed="rId3">
                <a:alphaModFix amt="0"/>
              </a:blip>
              <a:stretch>
                <a:fillRect l="0" t="-90570" r="0" b="-90570"/>
              </a:stretch>
            </a:blipFill>
          </p:spPr>
        </p:sp>
        <p:sp>
          <p:nvSpPr>
            <p:cNvPr name="TextBox 156" id="156"/>
            <p:cNvSpPr txBox="true"/>
            <p:nvPr/>
          </p:nvSpPr>
          <p:spPr>
            <a:xfrm>
              <a:off x="0" y="-38100"/>
              <a:ext cx="4925568" cy="720852"/>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Diet, smoking, exercise</a:t>
              </a:r>
            </a:p>
          </p:txBody>
        </p:sp>
      </p:grpSp>
      <p:grpSp>
        <p:nvGrpSpPr>
          <p:cNvPr name="Group 157" id="157"/>
          <p:cNvGrpSpPr/>
          <p:nvPr/>
        </p:nvGrpSpPr>
        <p:grpSpPr>
          <a:xfrm rot="0">
            <a:off x="13910815" y="8369551"/>
            <a:ext cx="4072633" cy="1329433"/>
            <a:chOff x="0" y="0"/>
            <a:chExt cx="5430177" cy="1772577"/>
          </a:xfrm>
        </p:grpSpPr>
        <p:sp>
          <p:nvSpPr>
            <p:cNvPr name="Freeform 158" id="158"/>
            <p:cNvSpPr/>
            <p:nvPr/>
          </p:nvSpPr>
          <p:spPr>
            <a:xfrm flipH="false" flipV="false" rot="0">
              <a:off x="8509" y="8509"/>
              <a:ext cx="5413248" cy="1755648"/>
            </a:xfrm>
            <a:custGeom>
              <a:avLst/>
              <a:gdLst/>
              <a:ahLst/>
              <a:cxnLst/>
              <a:rect r="r" b="b" t="t" l="l"/>
              <a:pathLst>
                <a:path h="1755648" w="5413248">
                  <a:moveTo>
                    <a:pt x="0" y="0"/>
                  </a:moveTo>
                  <a:lnTo>
                    <a:pt x="5413248" y="0"/>
                  </a:lnTo>
                  <a:lnTo>
                    <a:pt x="5413248" y="1755648"/>
                  </a:lnTo>
                  <a:lnTo>
                    <a:pt x="0" y="1755648"/>
                  </a:lnTo>
                  <a:close/>
                </a:path>
              </a:pathLst>
            </a:custGeom>
            <a:solidFill>
              <a:srgbClr val="0D1F38"/>
            </a:solidFill>
          </p:spPr>
        </p:sp>
        <p:sp>
          <p:nvSpPr>
            <p:cNvPr name="Freeform 159" id="159"/>
            <p:cNvSpPr/>
            <p:nvPr/>
          </p:nvSpPr>
          <p:spPr>
            <a:xfrm flipH="false" flipV="false" rot="0">
              <a:off x="0" y="0"/>
              <a:ext cx="5430266" cy="1772666"/>
            </a:xfrm>
            <a:custGeom>
              <a:avLst/>
              <a:gdLst/>
              <a:ahLst/>
              <a:cxnLst/>
              <a:rect r="r" b="b" t="t" l="l"/>
              <a:pathLst>
                <a:path h="1772666" w="5430266">
                  <a:moveTo>
                    <a:pt x="8509" y="0"/>
                  </a:moveTo>
                  <a:lnTo>
                    <a:pt x="5421757" y="0"/>
                  </a:lnTo>
                  <a:cubicBezTo>
                    <a:pt x="5426456" y="0"/>
                    <a:pt x="5430266" y="3810"/>
                    <a:pt x="5430266" y="8509"/>
                  </a:cubicBezTo>
                  <a:lnTo>
                    <a:pt x="5430266" y="1764157"/>
                  </a:lnTo>
                  <a:cubicBezTo>
                    <a:pt x="5430266" y="1768856"/>
                    <a:pt x="5426456" y="1772666"/>
                    <a:pt x="5421757" y="1772666"/>
                  </a:cubicBezTo>
                  <a:lnTo>
                    <a:pt x="8509" y="1772666"/>
                  </a:lnTo>
                  <a:cubicBezTo>
                    <a:pt x="3810" y="1772666"/>
                    <a:pt x="0" y="1768856"/>
                    <a:pt x="0" y="1764157"/>
                  </a:cubicBezTo>
                  <a:lnTo>
                    <a:pt x="0" y="8509"/>
                  </a:lnTo>
                  <a:cubicBezTo>
                    <a:pt x="0" y="3810"/>
                    <a:pt x="3810" y="0"/>
                    <a:pt x="8509" y="0"/>
                  </a:cubicBezTo>
                  <a:moveTo>
                    <a:pt x="8509" y="16891"/>
                  </a:moveTo>
                  <a:lnTo>
                    <a:pt x="8509" y="8509"/>
                  </a:lnTo>
                  <a:lnTo>
                    <a:pt x="17018" y="8509"/>
                  </a:lnTo>
                  <a:lnTo>
                    <a:pt x="17018" y="1764157"/>
                  </a:lnTo>
                  <a:lnTo>
                    <a:pt x="8509" y="1764157"/>
                  </a:lnTo>
                  <a:lnTo>
                    <a:pt x="8509" y="1755648"/>
                  </a:lnTo>
                  <a:lnTo>
                    <a:pt x="5421757" y="1755648"/>
                  </a:lnTo>
                  <a:lnTo>
                    <a:pt x="5421757" y="1764157"/>
                  </a:lnTo>
                  <a:lnTo>
                    <a:pt x="5413248" y="1764157"/>
                  </a:lnTo>
                  <a:lnTo>
                    <a:pt x="5413248" y="8509"/>
                  </a:lnTo>
                  <a:lnTo>
                    <a:pt x="5421757" y="8509"/>
                  </a:lnTo>
                  <a:lnTo>
                    <a:pt x="5421757" y="17018"/>
                  </a:lnTo>
                  <a:lnTo>
                    <a:pt x="8509" y="17018"/>
                  </a:lnTo>
                  <a:close/>
                </a:path>
              </a:pathLst>
            </a:custGeom>
            <a:solidFill>
              <a:srgbClr val="EF4444"/>
            </a:solidFill>
          </p:spPr>
        </p:sp>
      </p:grpSp>
      <p:grpSp>
        <p:nvGrpSpPr>
          <p:cNvPr name="Group 160" id="160"/>
          <p:cNvGrpSpPr/>
          <p:nvPr/>
        </p:nvGrpSpPr>
        <p:grpSpPr>
          <a:xfrm rot="0">
            <a:off x="14100048" y="8449056"/>
            <a:ext cx="3694176" cy="512064"/>
            <a:chOff x="0" y="0"/>
            <a:chExt cx="4925568" cy="682752"/>
          </a:xfrm>
        </p:grpSpPr>
        <p:sp>
          <p:nvSpPr>
            <p:cNvPr name="Freeform 161" id="161"/>
            <p:cNvSpPr/>
            <p:nvPr/>
          </p:nvSpPr>
          <p:spPr>
            <a:xfrm flipH="false" flipV="false" rot="0">
              <a:off x="0" y="0"/>
              <a:ext cx="4925568" cy="682752"/>
            </a:xfrm>
            <a:custGeom>
              <a:avLst/>
              <a:gdLst/>
              <a:ahLst/>
              <a:cxnLst/>
              <a:rect r="r" b="b" t="t" l="l"/>
              <a:pathLst>
                <a:path h="682752" w="4925568">
                  <a:moveTo>
                    <a:pt x="0" y="0"/>
                  </a:moveTo>
                  <a:lnTo>
                    <a:pt x="4925568" y="0"/>
                  </a:lnTo>
                  <a:lnTo>
                    <a:pt x="4925568" y="682752"/>
                  </a:lnTo>
                  <a:lnTo>
                    <a:pt x="0" y="682752"/>
                  </a:lnTo>
                  <a:close/>
                </a:path>
              </a:pathLst>
            </a:custGeom>
            <a:blipFill>
              <a:blip r:embed="rId3">
                <a:alphaModFix amt="0"/>
              </a:blip>
              <a:stretch>
                <a:fillRect l="0" t="-90570" r="0" b="-90570"/>
              </a:stretch>
            </a:blipFill>
          </p:spPr>
        </p:sp>
        <p:sp>
          <p:nvSpPr>
            <p:cNvPr name="TextBox 162" id="162"/>
            <p:cNvSpPr txBox="true"/>
            <p:nvPr/>
          </p:nvSpPr>
          <p:spPr>
            <a:xfrm>
              <a:off x="0" y="-38100"/>
              <a:ext cx="4925568" cy="720852"/>
            </a:xfrm>
            <a:prstGeom prst="rect">
              <a:avLst/>
            </a:prstGeom>
          </p:spPr>
          <p:txBody>
            <a:bodyPr anchor="ctr" rtlCol="false" tIns="0" lIns="0" bIns="0" rIns="0"/>
            <a:lstStyle/>
            <a:p>
              <a:pPr algn="l">
                <a:lnSpc>
                  <a:spcPts val="2280"/>
                </a:lnSpc>
              </a:pPr>
              <a:r>
                <a:rPr lang="en-US" sz="1900" b="true">
                  <a:solidFill>
                    <a:srgbClr val="EF4444"/>
                  </a:solidFill>
                  <a:latin typeface="Calibri (MS) Bold"/>
                  <a:ea typeface="Calibri (MS) Bold"/>
                  <a:cs typeface="Calibri (MS) Bold"/>
                  <a:sym typeface="Calibri (MS) Bold"/>
                </a:rPr>
                <a:t>Demographics</a:t>
              </a:r>
            </a:p>
          </p:txBody>
        </p:sp>
      </p:grpSp>
      <p:grpSp>
        <p:nvGrpSpPr>
          <p:cNvPr name="Group 163" id="163"/>
          <p:cNvGrpSpPr/>
          <p:nvPr/>
        </p:nvGrpSpPr>
        <p:grpSpPr>
          <a:xfrm rot="0">
            <a:off x="14100048" y="8961120"/>
            <a:ext cx="3694176" cy="512064"/>
            <a:chOff x="0" y="0"/>
            <a:chExt cx="4925568" cy="682752"/>
          </a:xfrm>
        </p:grpSpPr>
        <p:sp>
          <p:nvSpPr>
            <p:cNvPr name="Freeform 164" id="164"/>
            <p:cNvSpPr/>
            <p:nvPr/>
          </p:nvSpPr>
          <p:spPr>
            <a:xfrm flipH="false" flipV="false" rot="0">
              <a:off x="0" y="0"/>
              <a:ext cx="4925568" cy="682752"/>
            </a:xfrm>
            <a:custGeom>
              <a:avLst/>
              <a:gdLst/>
              <a:ahLst/>
              <a:cxnLst/>
              <a:rect r="r" b="b" t="t" l="l"/>
              <a:pathLst>
                <a:path h="682752" w="4925568">
                  <a:moveTo>
                    <a:pt x="0" y="0"/>
                  </a:moveTo>
                  <a:lnTo>
                    <a:pt x="4925568" y="0"/>
                  </a:lnTo>
                  <a:lnTo>
                    <a:pt x="4925568" y="682752"/>
                  </a:lnTo>
                  <a:lnTo>
                    <a:pt x="0" y="682752"/>
                  </a:lnTo>
                  <a:close/>
                </a:path>
              </a:pathLst>
            </a:custGeom>
            <a:blipFill>
              <a:blip r:embed="rId3">
                <a:alphaModFix amt="0"/>
              </a:blip>
              <a:stretch>
                <a:fillRect l="0" t="-90570" r="0" b="-90570"/>
              </a:stretch>
            </a:blipFill>
          </p:spPr>
        </p:sp>
        <p:sp>
          <p:nvSpPr>
            <p:cNvPr name="TextBox 165" id="165"/>
            <p:cNvSpPr txBox="true"/>
            <p:nvPr/>
          </p:nvSpPr>
          <p:spPr>
            <a:xfrm>
              <a:off x="0" y="-38100"/>
              <a:ext cx="4925568" cy="720852"/>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Age, gender, BMI</a:t>
              </a:r>
            </a:p>
          </p:txBody>
        </p:sp>
      </p:grpSp>
      <p:grpSp>
        <p:nvGrpSpPr>
          <p:cNvPr name="Group 166" id="166"/>
          <p:cNvGrpSpPr/>
          <p:nvPr/>
        </p:nvGrpSpPr>
        <p:grpSpPr>
          <a:xfrm rot="0">
            <a:off x="-12697" y="9588503"/>
            <a:ext cx="18313403" cy="711203"/>
            <a:chOff x="0" y="0"/>
            <a:chExt cx="24417871" cy="948271"/>
          </a:xfrm>
        </p:grpSpPr>
        <p:sp>
          <p:nvSpPr>
            <p:cNvPr name="Freeform 167" id="167"/>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168" id="168"/>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169" id="169"/>
          <p:cNvGrpSpPr/>
          <p:nvPr/>
        </p:nvGrpSpPr>
        <p:grpSpPr>
          <a:xfrm rot="0">
            <a:off x="731520" y="9637776"/>
            <a:ext cx="16824960" cy="585216"/>
            <a:chOff x="0" y="0"/>
            <a:chExt cx="22433280" cy="780288"/>
          </a:xfrm>
        </p:grpSpPr>
        <p:sp>
          <p:nvSpPr>
            <p:cNvPr name="Freeform 170" id="170"/>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171" id="171"/>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A162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A162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14B8A6"/>
                  </a:solidFill>
                  <a:latin typeface="Calibri (MS) Bold"/>
                  <a:ea typeface="Calibri (MS) Bold"/>
                  <a:cs typeface="Calibri (MS) Bold"/>
                  <a:sym typeface="Calibri (MS) Bold"/>
                </a:rPr>
                <a:t>SYSTEM ARCHITECTURE</a:t>
              </a:r>
            </a:p>
          </p:txBody>
        </p:sp>
      </p:grpSp>
      <p:grpSp>
        <p:nvGrpSpPr>
          <p:cNvPr name="Group 8" id="8"/>
          <p:cNvGrpSpPr/>
          <p:nvPr/>
        </p:nvGrpSpPr>
        <p:grpSpPr>
          <a:xfrm rot="0">
            <a:off x="627383" y="1304039"/>
            <a:ext cx="5511803" cy="848363"/>
            <a:chOff x="0" y="0"/>
            <a:chExt cx="7349071" cy="1131151"/>
          </a:xfrm>
        </p:grpSpPr>
        <p:sp>
          <p:nvSpPr>
            <p:cNvPr name="Freeform 9" id="9"/>
            <p:cNvSpPr/>
            <p:nvPr/>
          </p:nvSpPr>
          <p:spPr>
            <a:xfrm flipH="false" flipV="false" rot="0">
              <a:off x="16891" y="16891"/>
              <a:ext cx="7315200" cy="1097280"/>
            </a:xfrm>
            <a:custGeom>
              <a:avLst/>
              <a:gdLst/>
              <a:ahLst/>
              <a:cxnLst/>
              <a:rect r="r" b="b" t="t" l="l"/>
              <a:pathLst>
                <a:path h="1097280" w="7315200">
                  <a:moveTo>
                    <a:pt x="0" y="0"/>
                  </a:moveTo>
                  <a:lnTo>
                    <a:pt x="7315200" y="0"/>
                  </a:lnTo>
                  <a:lnTo>
                    <a:pt x="7315200" y="1097280"/>
                  </a:lnTo>
                  <a:lnTo>
                    <a:pt x="0" y="1097280"/>
                  </a:lnTo>
                  <a:close/>
                </a:path>
              </a:pathLst>
            </a:custGeom>
            <a:solidFill>
              <a:srgbClr val="8B5CF6"/>
            </a:solidFill>
          </p:spPr>
        </p:sp>
        <p:sp>
          <p:nvSpPr>
            <p:cNvPr name="Freeform 10" id="10"/>
            <p:cNvSpPr/>
            <p:nvPr/>
          </p:nvSpPr>
          <p:spPr>
            <a:xfrm flipH="false" flipV="false" rot="0">
              <a:off x="0" y="0"/>
              <a:ext cx="7348982" cy="1131064"/>
            </a:xfrm>
            <a:custGeom>
              <a:avLst/>
              <a:gdLst/>
              <a:ahLst/>
              <a:cxnLst/>
              <a:rect r="r" b="b" t="t" l="l"/>
              <a:pathLst>
                <a:path h="1131064" w="7348982">
                  <a:moveTo>
                    <a:pt x="16891" y="0"/>
                  </a:moveTo>
                  <a:lnTo>
                    <a:pt x="7332091" y="0"/>
                  </a:lnTo>
                  <a:cubicBezTo>
                    <a:pt x="7341489" y="0"/>
                    <a:pt x="7348982" y="7620"/>
                    <a:pt x="7348982" y="16891"/>
                  </a:cubicBezTo>
                  <a:lnTo>
                    <a:pt x="7348982" y="1114171"/>
                  </a:lnTo>
                  <a:cubicBezTo>
                    <a:pt x="7348982" y="1123569"/>
                    <a:pt x="7341362" y="1131062"/>
                    <a:pt x="733209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7332091" y="1097280"/>
                  </a:lnTo>
                  <a:lnTo>
                    <a:pt x="7332091" y="1114171"/>
                  </a:lnTo>
                  <a:lnTo>
                    <a:pt x="7315200" y="1114171"/>
                  </a:lnTo>
                  <a:lnTo>
                    <a:pt x="7315200" y="16891"/>
                  </a:lnTo>
                  <a:lnTo>
                    <a:pt x="7332091" y="16891"/>
                  </a:lnTo>
                  <a:lnTo>
                    <a:pt x="7332091" y="33909"/>
                  </a:lnTo>
                  <a:lnTo>
                    <a:pt x="16891" y="33909"/>
                  </a:lnTo>
                  <a:close/>
                </a:path>
              </a:pathLst>
            </a:custGeom>
            <a:solidFill>
              <a:srgbClr val="8B5CF6"/>
            </a:solidFill>
          </p:spPr>
        </p:sp>
      </p:grpSp>
      <p:grpSp>
        <p:nvGrpSpPr>
          <p:cNvPr name="Group 11" id="11"/>
          <p:cNvGrpSpPr/>
          <p:nvPr/>
        </p:nvGrpSpPr>
        <p:grpSpPr>
          <a:xfrm rot="0">
            <a:off x="640080" y="1316736"/>
            <a:ext cx="5486400" cy="822960"/>
            <a:chOff x="0" y="0"/>
            <a:chExt cx="7315200" cy="1097280"/>
          </a:xfrm>
        </p:grpSpPr>
        <p:sp>
          <p:nvSpPr>
            <p:cNvPr name="Freeform 12" id="12"/>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3">
                <a:alphaModFix amt="0"/>
              </a:blip>
              <a:stretch>
                <a:fillRect l="0" t="-79900" r="0" b="-79900"/>
              </a:stretch>
            </a:blipFill>
          </p:spPr>
        </p:sp>
        <p:sp>
          <p:nvSpPr>
            <p:cNvPr name="TextBox 13" id="13"/>
            <p:cNvSpPr txBox="true"/>
            <p:nvPr/>
          </p:nvSpPr>
          <p:spPr>
            <a:xfrm>
              <a:off x="0" y="-38100"/>
              <a:ext cx="7315200" cy="113538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Data layer</a:t>
              </a:r>
            </a:p>
          </p:txBody>
        </p:sp>
      </p:grpSp>
      <p:grpSp>
        <p:nvGrpSpPr>
          <p:cNvPr name="Group 14" id="14"/>
          <p:cNvGrpSpPr/>
          <p:nvPr/>
        </p:nvGrpSpPr>
        <p:grpSpPr>
          <a:xfrm rot="0">
            <a:off x="773687" y="2291591"/>
            <a:ext cx="5219195" cy="976379"/>
            <a:chOff x="0" y="0"/>
            <a:chExt cx="6958927" cy="1301839"/>
          </a:xfrm>
        </p:grpSpPr>
        <p:sp>
          <p:nvSpPr>
            <p:cNvPr name="Freeform 15" id="15"/>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16" id="16"/>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17" id="17"/>
          <p:cNvGrpSpPr/>
          <p:nvPr/>
        </p:nvGrpSpPr>
        <p:grpSpPr>
          <a:xfrm rot="0">
            <a:off x="773687" y="2291591"/>
            <a:ext cx="153419" cy="976379"/>
            <a:chOff x="0" y="0"/>
            <a:chExt cx="204559" cy="1301839"/>
          </a:xfrm>
        </p:grpSpPr>
        <p:sp>
          <p:nvSpPr>
            <p:cNvPr name="Freeform 18" id="18"/>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8B5CF6"/>
            </a:solidFill>
          </p:spPr>
        </p:sp>
        <p:sp>
          <p:nvSpPr>
            <p:cNvPr name="Freeform 19" id="19"/>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8B5CF6"/>
            </a:solidFill>
          </p:spPr>
        </p:sp>
      </p:grpSp>
      <p:grpSp>
        <p:nvGrpSpPr>
          <p:cNvPr name="Group 20" id="20"/>
          <p:cNvGrpSpPr/>
          <p:nvPr/>
        </p:nvGrpSpPr>
        <p:grpSpPr>
          <a:xfrm rot="0">
            <a:off x="1042416" y="2304288"/>
            <a:ext cx="4663440" cy="950976"/>
            <a:chOff x="0" y="0"/>
            <a:chExt cx="6217920" cy="1267968"/>
          </a:xfrm>
        </p:grpSpPr>
        <p:sp>
          <p:nvSpPr>
            <p:cNvPr name="Freeform 21" id="21"/>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22" id="22"/>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Patient EHR records</a:t>
              </a:r>
            </a:p>
          </p:txBody>
        </p:sp>
      </p:grpSp>
      <p:grpSp>
        <p:nvGrpSpPr>
          <p:cNvPr name="Group 23" id="23"/>
          <p:cNvGrpSpPr/>
          <p:nvPr/>
        </p:nvGrpSpPr>
        <p:grpSpPr>
          <a:xfrm rot="0">
            <a:off x="773687" y="3425447"/>
            <a:ext cx="5219195" cy="976379"/>
            <a:chOff x="0" y="0"/>
            <a:chExt cx="6958927" cy="1301839"/>
          </a:xfrm>
        </p:grpSpPr>
        <p:sp>
          <p:nvSpPr>
            <p:cNvPr name="Freeform 24" id="24"/>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25" id="25"/>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26" id="26"/>
          <p:cNvGrpSpPr/>
          <p:nvPr/>
        </p:nvGrpSpPr>
        <p:grpSpPr>
          <a:xfrm rot="0">
            <a:off x="773687" y="3425447"/>
            <a:ext cx="153419" cy="976379"/>
            <a:chOff x="0" y="0"/>
            <a:chExt cx="204559" cy="1301839"/>
          </a:xfrm>
        </p:grpSpPr>
        <p:sp>
          <p:nvSpPr>
            <p:cNvPr name="Freeform 27" id="27"/>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8B5CF6"/>
            </a:solidFill>
          </p:spPr>
        </p:sp>
        <p:sp>
          <p:nvSpPr>
            <p:cNvPr name="Freeform 28" id="28"/>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8B5CF6"/>
            </a:solidFill>
          </p:spPr>
        </p:sp>
      </p:grpSp>
      <p:grpSp>
        <p:nvGrpSpPr>
          <p:cNvPr name="Group 29" id="29"/>
          <p:cNvGrpSpPr/>
          <p:nvPr/>
        </p:nvGrpSpPr>
        <p:grpSpPr>
          <a:xfrm rot="0">
            <a:off x="1042416" y="3438144"/>
            <a:ext cx="4663440" cy="950976"/>
            <a:chOff x="0" y="0"/>
            <a:chExt cx="6217920" cy="1267968"/>
          </a:xfrm>
        </p:grpSpPr>
        <p:sp>
          <p:nvSpPr>
            <p:cNvPr name="Freeform 30" id="30"/>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31" id="31"/>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Lab results database</a:t>
              </a:r>
            </a:p>
          </p:txBody>
        </p:sp>
      </p:grpSp>
      <p:grpSp>
        <p:nvGrpSpPr>
          <p:cNvPr name="Group 32" id="32"/>
          <p:cNvGrpSpPr/>
          <p:nvPr/>
        </p:nvGrpSpPr>
        <p:grpSpPr>
          <a:xfrm rot="0">
            <a:off x="773687" y="4559303"/>
            <a:ext cx="5219195" cy="976379"/>
            <a:chOff x="0" y="0"/>
            <a:chExt cx="6958927" cy="1301839"/>
          </a:xfrm>
        </p:grpSpPr>
        <p:sp>
          <p:nvSpPr>
            <p:cNvPr name="Freeform 33" id="33"/>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34" id="34"/>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35" id="35"/>
          <p:cNvGrpSpPr/>
          <p:nvPr/>
        </p:nvGrpSpPr>
        <p:grpSpPr>
          <a:xfrm rot="0">
            <a:off x="773687" y="4559303"/>
            <a:ext cx="153419" cy="976379"/>
            <a:chOff x="0" y="0"/>
            <a:chExt cx="204559" cy="1301839"/>
          </a:xfrm>
        </p:grpSpPr>
        <p:sp>
          <p:nvSpPr>
            <p:cNvPr name="Freeform 36" id="36"/>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8B5CF6"/>
            </a:solidFill>
          </p:spPr>
        </p:sp>
        <p:sp>
          <p:nvSpPr>
            <p:cNvPr name="Freeform 37" id="37"/>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8B5CF6"/>
            </a:solidFill>
          </p:spPr>
        </p:sp>
      </p:grpSp>
      <p:grpSp>
        <p:nvGrpSpPr>
          <p:cNvPr name="Group 38" id="38"/>
          <p:cNvGrpSpPr/>
          <p:nvPr/>
        </p:nvGrpSpPr>
        <p:grpSpPr>
          <a:xfrm rot="0">
            <a:off x="1042416" y="4572000"/>
            <a:ext cx="4663440" cy="950976"/>
            <a:chOff x="0" y="0"/>
            <a:chExt cx="6217920" cy="1267968"/>
          </a:xfrm>
        </p:grpSpPr>
        <p:sp>
          <p:nvSpPr>
            <p:cNvPr name="Freeform 39" id="39"/>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40" id="40"/>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Doctor clinical records</a:t>
              </a:r>
            </a:p>
          </p:txBody>
        </p:sp>
      </p:grpSp>
      <p:grpSp>
        <p:nvGrpSpPr>
          <p:cNvPr name="Group 41" id="41"/>
          <p:cNvGrpSpPr/>
          <p:nvPr/>
        </p:nvGrpSpPr>
        <p:grpSpPr>
          <a:xfrm rot="0">
            <a:off x="773687" y="5693159"/>
            <a:ext cx="5219195" cy="976379"/>
            <a:chOff x="0" y="0"/>
            <a:chExt cx="6958927" cy="1301839"/>
          </a:xfrm>
        </p:grpSpPr>
        <p:sp>
          <p:nvSpPr>
            <p:cNvPr name="Freeform 42" id="42"/>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43" id="43"/>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44" id="44"/>
          <p:cNvGrpSpPr/>
          <p:nvPr/>
        </p:nvGrpSpPr>
        <p:grpSpPr>
          <a:xfrm rot="0">
            <a:off x="773687" y="5693159"/>
            <a:ext cx="153419" cy="976379"/>
            <a:chOff x="0" y="0"/>
            <a:chExt cx="204559" cy="1301839"/>
          </a:xfrm>
        </p:grpSpPr>
        <p:sp>
          <p:nvSpPr>
            <p:cNvPr name="Freeform 45" id="45"/>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8B5CF6"/>
            </a:solidFill>
          </p:spPr>
        </p:sp>
        <p:sp>
          <p:nvSpPr>
            <p:cNvPr name="Freeform 46" id="46"/>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8B5CF6"/>
            </a:solidFill>
          </p:spPr>
        </p:sp>
      </p:grpSp>
      <p:grpSp>
        <p:nvGrpSpPr>
          <p:cNvPr name="Group 47" id="47"/>
          <p:cNvGrpSpPr/>
          <p:nvPr/>
        </p:nvGrpSpPr>
        <p:grpSpPr>
          <a:xfrm rot="0">
            <a:off x="1042416" y="5705856"/>
            <a:ext cx="4663440" cy="950976"/>
            <a:chOff x="0" y="0"/>
            <a:chExt cx="6217920" cy="1267968"/>
          </a:xfrm>
        </p:grpSpPr>
        <p:sp>
          <p:nvSpPr>
            <p:cNvPr name="Freeform 48" id="48"/>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49" id="49"/>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Medication history</a:t>
              </a:r>
            </a:p>
          </p:txBody>
        </p:sp>
      </p:grpSp>
      <p:grpSp>
        <p:nvGrpSpPr>
          <p:cNvPr name="Group 50" id="50"/>
          <p:cNvGrpSpPr/>
          <p:nvPr/>
        </p:nvGrpSpPr>
        <p:grpSpPr>
          <a:xfrm rot="0">
            <a:off x="773687" y="6827015"/>
            <a:ext cx="5219195" cy="976379"/>
            <a:chOff x="0" y="0"/>
            <a:chExt cx="6958927" cy="1301839"/>
          </a:xfrm>
        </p:grpSpPr>
        <p:sp>
          <p:nvSpPr>
            <p:cNvPr name="Freeform 51" id="51"/>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52" id="52"/>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53" id="53"/>
          <p:cNvGrpSpPr/>
          <p:nvPr/>
        </p:nvGrpSpPr>
        <p:grpSpPr>
          <a:xfrm rot="0">
            <a:off x="773687" y="6827015"/>
            <a:ext cx="153419" cy="976379"/>
            <a:chOff x="0" y="0"/>
            <a:chExt cx="204559" cy="1301839"/>
          </a:xfrm>
        </p:grpSpPr>
        <p:sp>
          <p:nvSpPr>
            <p:cNvPr name="Freeform 54" id="54"/>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8B5CF6"/>
            </a:solidFill>
          </p:spPr>
        </p:sp>
        <p:sp>
          <p:nvSpPr>
            <p:cNvPr name="Freeform 55" id="55"/>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8B5CF6"/>
            </a:solidFill>
          </p:spPr>
        </p:sp>
      </p:grpSp>
      <p:grpSp>
        <p:nvGrpSpPr>
          <p:cNvPr name="Group 56" id="56"/>
          <p:cNvGrpSpPr/>
          <p:nvPr/>
        </p:nvGrpSpPr>
        <p:grpSpPr>
          <a:xfrm rot="0">
            <a:off x="1042416" y="6839712"/>
            <a:ext cx="4663440" cy="950976"/>
            <a:chOff x="0" y="0"/>
            <a:chExt cx="6217920" cy="1267968"/>
          </a:xfrm>
        </p:grpSpPr>
        <p:sp>
          <p:nvSpPr>
            <p:cNvPr name="Freeform 57" id="57"/>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58" id="58"/>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Symptom logs &amp; intake</a:t>
              </a:r>
            </a:p>
          </p:txBody>
        </p:sp>
      </p:grpSp>
      <p:grpSp>
        <p:nvGrpSpPr>
          <p:cNvPr name="Group 59" id="59"/>
          <p:cNvGrpSpPr/>
          <p:nvPr/>
        </p:nvGrpSpPr>
        <p:grpSpPr>
          <a:xfrm rot="0">
            <a:off x="6516119" y="1304039"/>
            <a:ext cx="5511803" cy="848363"/>
            <a:chOff x="0" y="0"/>
            <a:chExt cx="7349071" cy="1131151"/>
          </a:xfrm>
        </p:grpSpPr>
        <p:sp>
          <p:nvSpPr>
            <p:cNvPr name="Freeform 60" id="60"/>
            <p:cNvSpPr/>
            <p:nvPr/>
          </p:nvSpPr>
          <p:spPr>
            <a:xfrm flipH="false" flipV="false" rot="0">
              <a:off x="16891" y="16891"/>
              <a:ext cx="7315200" cy="1097280"/>
            </a:xfrm>
            <a:custGeom>
              <a:avLst/>
              <a:gdLst/>
              <a:ahLst/>
              <a:cxnLst/>
              <a:rect r="r" b="b" t="t" l="l"/>
              <a:pathLst>
                <a:path h="1097280" w="7315200">
                  <a:moveTo>
                    <a:pt x="0" y="0"/>
                  </a:moveTo>
                  <a:lnTo>
                    <a:pt x="7315200" y="0"/>
                  </a:lnTo>
                  <a:lnTo>
                    <a:pt x="7315200" y="1097280"/>
                  </a:lnTo>
                  <a:lnTo>
                    <a:pt x="0" y="1097280"/>
                  </a:lnTo>
                  <a:close/>
                </a:path>
              </a:pathLst>
            </a:custGeom>
            <a:solidFill>
              <a:srgbClr val="0D9488"/>
            </a:solidFill>
          </p:spPr>
        </p:sp>
        <p:sp>
          <p:nvSpPr>
            <p:cNvPr name="Freeform 61" id="61"/>
            <p:cNvSpPr/>
            <p:nvPr/>
          </p:nvSpPr>
          <p:spPr>
            <a:xfrm flipH="false" flipV="false" rot="0">
              <a:off x="0" y="0"/>
              <a:ext cx="7348982" cy="1131064"/>
            </a:xfrm>
            <a:custGeom>
              <a:avLst/>
              <a:gdLst/>
              <a:ahLst/>
              <a:cxnLst/>
              <a:rect r="r" b="b" t="t" l="l"/>
              <a:pathLst>
                <a:path h="1131064" w="7348982">
                  <a:moveTo>
                    <a:pt x="16891" y="0"/>
                  </a:moveTo>
                  <a:lnTo>
                    <a:pt x="7332091" y="0"/>
                  </a:lnTo>
                  <a:cubicBezTo>
                    <a:pt x="7341489" y="0"/>
                    <a:pt x="7348982" y="7620"/>
                    <a:pt x="7348982" y="16891"/>
                  </a:cubicBezTo>
                  <a:lnTo>
                    <a:pt x="7348982" y="1114171"/>
                  </a:lnTo>
                  <a:cubicBezTo>
                    <a:pt x="7348982" y="1123569"/>
                    <a:pt x="7341362" y="1131062"/>
                    <a:pt x="733209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7332091" y="1097280"/>
                  </a:lnTo>
                  <a:lnTo>
                    <a:pt x="7332091" y="1114171"/>
                  </a:lnTo>
                  <a:lnTo>
                    <a:pt x="7315200" y="1114171"/>
                  </a:lnTo>
                  <a:lnTo>
                    <a:pt x="7315200" y="16891"/>
                  </a:lnTo>
                  <a:lnTo>
                    <a:pt x="7332091" y="16891"/>
                  </a:lnTo>
                  <a:lnTo>
                    <a:pt x="7332091" y="33909"/>
                  </a:lnTo>
                  <a:lnTo>
                    <a:pt x="16891" y="33909"/>
                  </a:lnTo>
                  <a:close/>
                </a:path>
              </a:pathLst>
            </a:custGeom>
            <a:solidFill>
              <a:srgbClr val="0D9488"/>
            </a:solidFill>
          </p:spPr>
        </p:sp>
      </p:grpSp>
      <p:grpSp>
        <p:nvGrpSpPr>
          <p:cNvPr name="Group 62" id="62"/>
          <p:cNvGrpSpPr/>
          <p:nvPr/>
        </p:nvGrpSpPr>
        <p:grpSpPr>
          <a:xfrm rot="0">
            <a:off x="6528816" y="1316736"/>
            <a:ext cx="5486400" cy="822960"/>
            <a:chOff x="0" y="0"/>
            <a:chExt cx="7315200" cy="1097280"/>
          </a:xfrm>
        </p:grpSpPr>
        <p:sp>
          <p:nvSpPr>
            <p:cNvPr name="Freeform 63" id="63"/>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3">
                <a:alphaModFix amt="0"/>
              </a:blip>
              <a:stretch>
                <a:fillRect l="0" t="-79900" r="0" b="-79900"/>
              </a:stretch>
            </a:blipFill>
          </p:spPr>
        </p:sp>
        <p:sp>
          <p:nvSpPr>
            <p:cNvPr name="TextBox 64" id="64"/>
            <p:cNvSpPr txBox="true"/>
            <p:nvPr/>
          </p:nvSpPr>
          <p:spPr>
            <a:xfrm>
              <a:off x="0" y="-38100"/>
              <a:ext cx="7315200" cy="113538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Processing layer</a:t>
              </a:r>
            </a:p>
          </p:txBody>
        </p:sp>
      </p:grpSp>
      <p:grpSp>
        <p:nvGrpSpPr>
          <p:cNvPr name="Group 65" id="65"/>
          <p:cNvGrpSpPr/>
          <p:nvPr/>
        </p:nvGrpSpPr>
        <p:grpSpPr>
          <a:xfrm rot="0">
            <a:off x="6662423" y="2291591"/>
            <a:ext cx="5219195" cy="976379"/>
            <a:chOff x="0" y="0"/>
            <a:chExt cx="6958927" cy="1301839"/>
          </a:xfrm>
        </p:grpSpPr>
        <p:sp>
          <p:nvSpPr>
            <p:cNvPr name="Freeform 66" id="66"/>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67" id="67"/>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68" id="68"/>
          <p:cNvGrpSpPr/>
          <p:nvPr/>
        </p:nvGrpSpPr>
        <p:grpSpPr>
          <a:xfrm rot="0">
            <a:off x="6662423" y="2291591"/>
            <a:ext cx="153419" cy="976379"/>
            <a:chOff x="0" y="0"/>
            <a:chExt cx="204559" cy="1301839"/>
          </a:xfrm>
        </p:grpSpPr>
        <p:sp>
          <p:nvSpPr>
            <p:cNvPr name="Freeform 69" id="69"/>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0D9488"/>
            </a:solidFill>
          </p:spPr>
        </p:sp>
        <p:sp>
          <p:nvSpPr>
            <p:cNvPr name="Freeform 70" id="70"/>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0D9488"/>
            </a:solidFill>
          </p:spPr>
        </p:sp>
      </p:grpSp>
      <p:grpSp>
        <p:nvGrpSpPr>
          <p:cNvPr name="Group 71" id="71"/>
          <p:cNvGrpSpPr/>
          <p:nvPr/>
        </p:nvGrpSpPr>
        <p:grpSpPr>
          <a:xfrm rot="0">
            <a:off x="6931152" y="2304288"/>
            <a:ext cx="4663440" cy="950976"/>
            <a:chOff x="0" y="0"/>
            <a:chExt cx="6217920" cy="1267968"/>
          </a:xfrm>
        </p:grpSpPr>
        <p:sp>
          <p:nvSpPr>
            <p:cNvPr name="Freeform 72" id="72"/>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73" id="73"/>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Data cleaning module</a:t>
              </a:r>
            </a:p>
          </p:txBody>
        </p:sp>
      </p:grpSp>
      <p:grpSp>
        <p:nvGrpSpPr>
          <p:cNvPr name="Group 74" id="74"/>
          <p:cNvGrpSpPr/>
          <p:nvPr/>
        </p:nvGrpSpPr>
        <p:grpSpPr>
          <a:xfrm rot="0">
            <a:off x="6662423" y="3425447"/>
            <a:ext cx="5219195" cy="976379"/>
            <a:chOff x="0" y="0"/>
            <a:chExt cx="6958927" cy="1301839"/>
          </a:xfrm>
        </p:grpSpPr>
        <p:sp>
          <p:nvSpPr>
            <p:cNvPr name="Freeform 75" id="75"/>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76" id="76"/>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77" id="77"/>
          <p:cNvGrpSpPr/>
          <p:nvPr/>
        </p:nvGrpSpPr>
        <p:grpSpPr>
          <a:xfrm rot="0">
            <a:off x="6662423" y="3425447"/>
            <a:ext cx="153419" cy="976379"/>
            <a:chOff x="0" y="0"/>
            <a:chExt cx="204559" cy="1301839"/>
          </a:xfrm>
        </p:grpSpPr>
        <p:sp>
          <p:nvSpPr>
            <p:cNvPr name="Freeform 78" id="78"/>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0D9488"/>
            </a:solidFill>
          </p:spPr>
        </p:sp>
        <p:sp>
          <p:nvSpPr>
            <p:cNvPr name="Freeform 79" id="79"/>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0D9488"/>
            </a:solidFill>
          </p:spPr>
        </p:sp>
      </p:grpSp>
      <p:grpSp>
        <p:nvGrpSpPr>
          <p:cNvPr name="Group 80" id="80"/>
          <p:cNvGrpSpPr/>
          <p:nvPr/>
        </p:nvGrpSpPr>
        <p:grpSpPr>
          <a:xfrm rot="0">
            <a:off x="6931152" y="3438144"/>
            <a:ext cx="4663440" cy="950976"/>
            <a:chOff x="0" y="0"/>
            <a:chExt cx="6217920" cy="1267968"/>
          </a:xfrm>
        </p:grpSpPr>
        <p:sp>
          <p:nvSpPr>
            <p:cNvPr name="Freeform 81" id="81"/>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82" id="82"/>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Feature extraction</a:t>
              </a:r>
            </a:p>
          </p:txBody>
        </p:sp>
      </p:grpSp>
      <p:grpSp>
        <p:nvGrpSpPr>
          <p:cNvPr name="Group 83" id="83"/>
          <p:cNvGrpSpPr/>
          <p:nvPr/>
        </p:nvGrpSpPr>
        <p:grpSpPr>
          <a:xfrm rot="0">
            <a:off x="6662423" y="4559303"/>
            <a:ext cx="5219195" cy="976379"/>
            <a:chOff x="0" y="0"/>
            <a:chExt cx="6958927" cy="1301839"/>
          </a:xfrm>
        </p:grpSpPr>
        <p:sp>
          <p:nvSpPr>
            <p:cNvPr name="Freeform 84" id="84"/>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85" id="85"/>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86" id="86"/>
          <p:cNvGrpSpPr/>
          <p:nvPr/>
        </p:nvGrpSpPr>
        <p:grpSpPr>
          <a:xfrm rot="0">
            <a:off x="6662423" y="4559303"/>
            <a:ext cx="153419" cy="976379"/>
            <a:chOff x="0" y="0"/>
            <a:chExt cx="204559" cy="1301839"/>
          </a:xfrm>
        </p:grpSpPr>
        <p:sp>
          <p:nvSpPr>
            <p:cNvPr name="Freeform 87" id="87"/>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0D9488"/>
            </a:solidFill>
          </p:spPr>
        </p:sp>
        <p:sp>
          <p:nvSpPr>
            <p:cNvPr name="Freeform 88" id="88"/>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0D9488"/>
            </a:solidFill>
          </p:spPr>
        </p:sp>
      </p:grpSp>
      <p:grpSp>
        <p:nvGrpSpPr>
          <p:cNvPr name="Group 89" id="89"/>
          <p:cNvGrpSpPr/>
          <p:nvPr/>
        </p:nvGrpSpPr>
        <p:grpSpPr>
          <a:xfrm rot="0">
            <a:off x="6931152" y="4572000"/>
            <a:ext cx="4663440" cy="950976"/>
            <a:chOff x="0" y="0"/>
            <a:chExt cx="6217920" cy="1267968"/>
          </a:xfrm>
        </p:grpSpPr>
        <p:sp>
          <p:nvSpPr>
            <p:cNvPr name="Freeform 90" id="90"/>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91" id="91"/>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Markov chain builder</a:t>
              </a:r>
            </a:p>
          </p:txBody>
        </p:sp>
      </p:grpSp>
      <p:grpSp>
        <p:nvGrpSpPr>
          <p:cNvPr name="Group 92" id="92"/>
          <p:cNvGrpSpPr/>
          <p:nvPr/>
        </p:nvGrpSpPr>
        <p:grpSpPr>
          <a:xfrm rot="0">
            <a:off x="6662423" y="5693159"/>
            <a:ext cx="5219195" cy="976379"/>
            <a:chOff x="0" y="0"/>
            <a:chExt cx="6958927" cy="1301839"/>
          </a:xfrm>
        </p:grpSpPr>
        <p:sp>
          <p:nvSpPr>
            <p:cNvPr name="Freeform 93" id="93"/>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94" id="94"/>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95" id="95"/>
          <p:cNvGrpSpPr/>
          <p:nvPr/>
        </p:nvGrpSpPr>
        <p:grpSpPr>
          <a:xfrm rot="0">
            <a:off x="6662423" y="5693159"/>
            <a:ext cx="153419" cy="976379"/>
            <a:chOff x="0" y="0"/>
            <a:chExt cx="204559" cy="1301839"/>
          </a:xfrm>
        </p:grpSpPr>
        <p:sp>
          <p:nvSpPr>
            <p:cNvPr name="Freeform 96" id="96"/>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0D9488"/>
            </a:solidFill>
          </p:spPr>
        </p:sp>
        <p:sp>
          <p:nvSpPr>
            <p:cNvPr name="Freeform 97" id="97"/>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0D9488"/>
            </a:solidFill>
          </p:spPr>
        </p:sp>
      </p:grpSp>
      <p:grpSp>
        <p:nvGrpSpPr>
          <p:cNvPr name="Group 98" id="98"/>
          <p:cNvGrpSpPr/>
          <p:nvPr/>
        </p:nvGrpSpPr>
        <p:grpSpPr>
          <a:xfrm rot="0">
            <a:off x="6931152" y="5705856"/>
            <a:ext cx="4663440" cy="950976"/>
            <a:chOff x="0" y="0"/>
            <a:chExt cx="6217920" cy="1267968"/>
          </a:xfrm>
        </p:grpSpPr>
        <p:sp>
          <p:nvSpPr>
            <p:cNvPr name="Freeform 99" id="99"/>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100" id="100"/>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ML training pipeline</a:t>
              </a:r>
            </a:p>
          </p:txBody>
        </p:sp>
      </p:grpSp>
      <p:grpSp>
        <p:nvGrpSpPr>
          <p:cNvPr name="Group 101" id="101"/>
          <p:cNvGrpSpPr/>
          <p:nvPr/>
        </p:nvGrpSpPr>
        <p:grpSpPr>
          <a:xfrm rot="0">
            <a:off x="6662423" y="6827015"/>
            <a:ext cx="5219195" cy="976379"/>
            <a:chOff x="0" y="0"/>
            <a:chExt cx="6958927" cy="1301839"/>
          </a:xfrm>
        </p:grpSpPr>
        <p:sp>
          <p:nvSpPr>
            <p:cNvPr name="Freeform 102" id="102"/>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103" id="103"/>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104" id="104"/>
          <p:cNvGrpSpPr/>
          <p:nvPr/>
        </p:nvGrpSpPr>
        <p:grpSpPr>
          <a:xfrm rot="0">
            <a:off x="6662423" y="6827015"/>
            <a:ext cx="153419" cy="976379"/>
            <a:chOff x="0" y="0"/>
            <a:chExt cx="204559" cy="1301839"/>
          </a:xfrm>
        </p:grpSpPr>
        <p:sp>
          <p:nvSpPr>
            <p:cNvPr name="Freeform 105" id="105"/>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0D9488"/>
            </a:solidFill>
          </p:spPr>
        </p:sp>
        <p:sp>
          <p:nvSpPr>
            <p:cNvPr name="Freeform 106" id="106"/>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0D9488"/>
            </a:solidFill>
          </p:spPr>
        </p:sp>
      </p:grpSp>
      <p:grpSp>
        <p:nvGrpSpPr>
          <p:cNvPr name="Group 107" id="107"/>
          <p:cNvGrpSpPr/>
          <p:nvPr/>
        </p:nvGrpSpPr>
        <p:grpSpPr>
          <a:xfrm rot="0">
            <a:off x="6931152" y="6839712"/>
            <a:ext cx="4663440" cy="950976"/>
            <a:chOff x="0" y="0"/>
            <a:chExt cx="6217920" cy="1267968"/>
          </a:xfrm>
        </p:grpSpPr>
        <p:sp>
          <p:nvSpPr>
            <p:cNvPr name="Freeform 108" id="108"/>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109" id="109"/>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Pattern recognition</a:t>
              </a:r>
            </a:p>
          </p:txBody>
        </p:sp>
      </p:grpSp>
      <p:grpSp>
        <p:nvGrpSpPr>
          <p:cNvPr name="Group 110" id="110"/>
          <p:cNvGrpSpPr/>
          <p:nvPr/>
        </p:nvGrpSpPr>
        <p:grpSpPr>
          <a:xfrm rot="0">
            <a:off x="12404855" y="1304039"/>
            <a:ext cx="5511803" cy="848363"/>
            <a:chOff x="0" y="0"/>
            <a:chExt cx="7349071" cy="1131151"/>
          </a:xfrm>
        </p:grpSpPr>
        <p:sp>
          <p:nvSpPr>
            <p:cNvPr name="Freeform 111" id="111"/>
            <p:cNvSpPr/>
            <p:nvPr/>
          </p:nvSpPr>
          <p:spPr>
            <a:xfrm flipH="false" flipV="false" rot="0">
              <a:off x="16891" y="16891"/>
              <a:ext cx="7315200" cy="1097280"/>
            </a:xfrm>
            <a:custGeom>
              <a:avLst/>
              <a:gdLst/>
              <a:ahLst/>
              <a:cxnLst/>
              <a:rect r="r" b="b" t="t" l="l"/>
              <a:pathLst>
                <a:path h="1097280" w="7315200">
                  <a:moveTo>
                    <a:pt x="0" y="0"/>
                  </a:moveTo>
                  <a:lnTo>
                    <a:pt x="7315200" y="0"/>
                  </a:lnTo>
                  <a:lnTo>
                    <a:pt x="7315200" y="1097280"/>
                  </a:lnTo>
                  <a:lnTo>
                    <a:pt x="0" y="1097280"/>
                  </a:lnTo>
                  <a:close/>
                </a:path>
              </a:pathLst>
            </a:custGeom>
            <a:solidFill>
              <a:srgbClr val="F59E0B"/>
            </a:solidFill>
          </p:spPr>
        </p:sp>
        <p:sp>
          <p:nvSpPr>
            <p:cNvPr name="Freeform 112" id="112"/>
            <p:cNvSpPr/>
            <p:nvPr/>
          </p:nvSpPr>
          <p:spPr>
            <a:xfrm flipH="false" flipV="false" rot="0">
              <a:off x="0" y="0"/>
              <a:ext cx="7348982" cy="1131064"/>
            </a:xfrm>
            <a:custGeom>
              <a:avLst/>
              <a:gdLst/>
              <a:ahLst/>
              <a:cxnLst/>
              <a:rect r="r" b="b" t="t" l="l"/>
              <a:pathLst>
                <a:path h="1131064" w="7348982">
                  <a:moveTo>
                    <a:pt x="16891" y="0"/>
                  </a:moveTo>
                  <a:lnTo>
                    <a:pt x="7332091" y="0"/>
                  </a:lnTo>
                  <a:cubicBezTo>
                    <a:pt x="7341489" y="0"/>
                    <a:pt x="7348982" y="7620"/>
                    <a:pt x="7348982" y="16891"/>
                  </a:cubicBezTo>
                  <a:lnTo>
                    <a:pt x="7348982" y="1114171"/>
                  </a:lnTo>
                  <a:cubicBezTo>
                    <a:pt x="7348982" y="1123569"/>
                    <a:pt x="7341362" y="1131062"/>
                    <a:pt x="733209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7332091" y="1097280"/>
                  </a:lnTo>
                  <a:lnTo>
                    <a:pt x="7332091" y="1114171"/>
                  </a:lnTo>
                  <a:lnTo>
                    <a:pt x="7315200" y="1114171"/>
                  </a:lnTo>
                  <a:lnTo>
                    <a:pt x="7315200" y="16891"/>
                  </a:lnTo>
                  <a:lnTo>
                    <a:pt x="7332091" y="16891"/>
                  </a:lnTo>
                  <a:lnTo>
                    <a:pt x="7332091" y="33909"/>
                  </a:lnTo>
                  <a:lnTo>
                    <a:pt x="16891" y="33909"/>
                  </a:lnTo>
                  <a:close/>
                </a:path>
              </a:pathLst>
            </a:custGeom>
            <a:solidFill>
              <a:srgbClr val="F59E0B"/>
            </a:solidFill>
          </p:spPr>
        </p:sp>
      </p:grpSp>
      <p:grpSp>
        <p:nvGrpSpPr>
          <p:cNvPr name="Group 113" id="113"/>
          <p:cNvGrpSpPr/>
          <p:nvPr/>
        </p:nvGrpSpPr>
        <p:grpSpPr>
          <a:xfrm rot="0">
            <a:off x="12417552" y="1316736"/>
            <a:ext cx="5486400" cy="822960"/>
            <a:chOff x="0" y="0"/>
            <a:chExt cx="7315200" cy="1097280"/>
          </a:xfrm>
        </p:grpSpPr>
        <p:sp>
          <p:nvSpPr>
            <p:cNvPr name="Freeform 114" id="114"/>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3">
                <a:alphaModFix amt="0"/>
              </a:blip>
              <a:stretch>
                <a:fillRect l="0" t="-79900" r="0" b="-79900"/>
              </a:stretch>
            </a:blipFill>
          </p:spPr>
        </p:sp>
        <p:sp>
          <p:nvSpPr>
            <p:cNvPr name="TextBox 115" id="115"/>
            <p:cNvSpPr txBox="true"/>
            <p:nvPr/>
          </p:nvSpPr>
          <p:spPr>
            <a:xfrm>
              <a:off x="0" y="-38100"/>
              <a:ext cx="7315200" cy="113538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Output layer</a:t>
              </a:r>
            </a:p>
          </p:txBody>
        </p:sp>
      </p:grpSp>
      <p:grpSp>
        <p:nvGrpSpPr>
          <p:cNvPr name="Group 116" id="116"/>
          <p:cNvGrpSpPr/>
          <p:nvPr/>
        </p:nvGrpSpPr>
        <p:grpSpPr>
          <a:xfrm rot="0">
            <a:off x="12551159" y="2291591"/>
            <a:ext cx="5219195" cy="976379"/>
            <a:chOff x="0" y="0"/>
            <a:chExt cx="6958927" cy="1301839"/>
          </a:xfrm>
        </p:grpSpPr>
        <p:sp>
          <p:nvSpPr>
            <p:cNvPr name="Freeform 117" id="117"/>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118" id="118"/>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119" id="119"/>
          <p:cNvGrpSpPr/>
          <p:nvPr/>
        </p:nvGrpSpPr>
        <p:grpSpPr>
          <a:xfrm rot="0">
            <a:off x="12551159" y="2291591"/>
            <a:ext cx="153419" cy="976379"/>
            <a:chOff x="0" y="0"/>
            <a:chExt cx="204559" cy="1301839"/>
          </a:xfrm>
        </p:grpSpPr>
        <p:sp>
          <p:nvSpPr>
            <p:cNvPr name="Freeform 120" id="120"/>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F59E0B"/>
            </a:solidFill>
          </p:spPr>
        </p:sp>
        <p:sp>
          <p:nvSpPr>
            <p:cNvPr name="Freeform 121" id="121"/>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F59E0B"/>
            </a:solidFill>
          </p:spPr>
        </p:sp>
      </p:grpSp>
      <p:grpSp>
        <p:nvGrpSpPr>
          <p:cNvPr name="Group 122" id="122"/>
          <p:cNvGrpSpPr/>
          <p:nvPr/>
        </p:nvGrpSpPr>
        <p:grpSpPr>
          <a:xfrm rot="0">
            <a:off x="12819888" y="2304288"/>
            <a:ext cx="4663440" cy="950976"/>
            <a:chOff x="0" y="0"/>
            <a:chExt cx="6217920" cy="1267968"/>
          </a:xfrm>
        </p:grpSpPr>
        <p:sp>
          <p:nvSpPr>
            <p:cNvPr name="Freeform 123" id="123"/>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124" id="124"/>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Risk score calculator</a:t>
              </a:r>
            </a:p>
          </p:txBody>
        </p:sp>
      </p:grpSp>
      <p:grpSp>
        <p:nvGrpSpPr>
          <p:cNvPr name="Group 125" id="125"/>
          <p:cNvGrpSpPr/>
          <p:nvPr/>
        </p:nvGrpSpPr>
        <p:grpSpPr>
          <a:xfrm rot="0">
            <a:off x="12551159" y="3425447"/>
            <a:ext cx="5219195" cy="976379"/>
            <a:chOff x="0" y="0"/>
            <a:chExt cx="6958927" cy="1301839"/>
          </a:xfrm>
        </p:grpSpPr>
        <p:sp>
          <p:nvSpPr>
            <p:cNvPr name="Freeform 126" id="126"/>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127" id="127"/>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128" id="128"/>
          <p:cNvGrpSpPr/>
          <p:nvPr/>
        </p:nvGrpSpPr>
        <p:grpSpPr>
          <a:xfrm rot="0">
            <a:off x="12551159" y="3425447"/>
            <a:ext cx="153419" cy="976379"/>
            <a:chOff x="0" y="0"/>
            <a:chExt cx="204559" cy="1301839"/>
          </a:xfrm>
        </p:grpSpPr>
        <p:sp>
          <p:nvSpPr>
            <p:cNvPr name="Freeform 129" id="129"/>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F59E0B"/>
            </a:solidFill>
          </p:spPr>
        </p:sp>
        <p:sp>
          <p:nvSpPr>
            <p:cNvPr name="Freeform 130" id="130"/>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F59E0B"/>
            </a:solidFill>
          </p:spPr>
        </p:sp>
      </p:grpSp>
      <p:grpSp>
        <p:nvGrpSpPr>
          <p:cNvPr name="Group 131" id="131"/>
          <p:cNvGrpSpPr/>
          <p:nvPr/>
        </p:nvGrpSpPr>
        <p:grpSpPr>
          <a:xfrm rot="0">
            <a:off x="12819888" y="3438144"/>
            <a:ext cx="4663440" cy="950976"/>
            <a:chOff x="0" y="0"/>
            <a:chExt cx="6217920" cy="1267968"/>
          </a:xfrm>
        </p:grpSpPr>
        <p:sp>
          <p:nvSpPr>
            <p:cNvPr name="Freeform 132" id="132"/>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133" id="133"/>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Disease prediction API</a:t>
              </a:r>
            </a:p>
          </p:txBody>
        </p:sp>
      </p:grpSp>
      <p:grpSp>
        <p:nvGrpSpPr>
          <p:cNvPr name="Group 134" id="134"/>
          <p:cNvGrpSpPr/>
          <p:nvPr/>
        </p:nvGrpSpPr>
        <p:grpSpPr>
          <a:xfrm rot="0">
            <a:off x="12551159" y="4559303"/>
            <a:ext cx="5219195" cy="976379"/>
            <a:chOff x="0" y="0"/>
            <a:chExt cx="6958927" cy="1301839"/>
          </a:xfrm>
        </p:grpSpPr>
        <p:sp>
          <p:nvSpPr>
            <p:cNvPr name="Freeform 135" id="135"/>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136" id="136"/>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137" id="137"/>
          <p:cNvGrpSpPr/>
          <p:nvPr/>
        </p:nvGrpSpPr>
        <p:grpSpPr>
          <a:xfrm rot="0">
            <a:off x="12551159" y="4559303"/>
            <a:ext cx="153419" cy="976379"/>
            <a:chOff x="0" y="0"/>
            <a:chExt cx="204559" cy="1301839"/>
          </a:xfrm>
        </p:grpSpPr>
        <p:sp>
          <p:nvSpPr>
            <p:cNvPr name="Freeform 138" id="138"/>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F59E0B"/>
            </a:solidFill>
          </p:spPr>
        </p:sp>
        <p:sp>
          <p:nvSpPr>
            <p:cNvPr name="Freeform 139" id="139"/>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F59E0B"/>
            </a:solidFill>
          </p:spPr>
        </p:sp>
      </p:grpSp>
      <p:grpSp>
        <p:nvGrpSpPr>
          <p:cNvPr name="Group 140" id="140"/>
          <p:cNvGrpSpPr/>
          <p:nvPr/>
        </p:nvGrpSpPr>
        <p:grpSpPr>
          <a:xfrm rot="0">
            <a:off x="12819888" y="4572000"/>
            <a:ext cx="4663440" cy="950976"/>
            <a:chOff x="0" y="0"/>
            <a:chExt cx="6217920" cy="1267968"/>
          </a:xfrm>
        </p:grpSpPr>
        <p:sp>
          <p:nvSpPr>
            <p:cNvPr name="Freeform 141" id="141"/>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142" id="142"/>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SHAP explainer module</a:t>
              </a:r>
            </a:p>
          </p:txBody>
        </p:sp>
      </p:grpSp>
      <p:grpSp>
        <p:nvGrpSpPr>
          <p:cNvPr name="Group 143" id="143"/>
          <p:cNvGrpSpPr/>
          <p:nvPr/>
        </p:nvGrpSpPr>
        <p:grpSpPr>
          <a:xfrm rot="0">
            <a:off x="12551159" y="5693159"/>
            <a:ext cx="5219195" cy="976379"/>
            <a:chOff x="0" y="0"/>
            <a:chExt cx="6958927" cy="1301839"/>
          </a:xfrm>
        </p:grpSpPr>
        <p:sp>
          <p:nvSpPr>
            <p:cNvPr name="Freeform 144" id="144"/>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145" id="145"/>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146" id="146"/>
          <p:cNvGrpSpPr/>
          <p:nvPr/>
        </p:nvGrpSpPr>
        <p:grpSpPr>
          <a:xfrm rot="0">
            <a:off x="12551159" y="5693159"/>
            <a:ext cx="153419" cy="976379"/>
            <a:chOff x="0" y="0"/>
            <a:chExt cx="204559" cy="1301839"/>
          </a:xfrm>
        </p:grpSpPr>
        <p:sp>
          <p:nvSpPr>
            <p:cNvPr name="Freeform 147" id="147"/>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F59E0B"/>
            </a:solidFill>
          </p:spPr>
        </p:sp>
        <p:sp>
          <p:nvSpPr>
            <p:cNvPr name="Freeform 148" id="148"/>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F59E0B"/>
            </a:solidFill>
          </p:spPr>
        </p:sp>
      </p:grpSp>
      <p:grpSp>
        <p:nvGrpSpPr>
          <p:cNvPr name="Group 149" id="149"/>
          <p:cNvGrpSpPr/>
          <p:nvPr/>
        </p:nvGrpSpPr>
        <p:grpSpPr>
          <a:xfrm rot="0">
            <a:off x="12819888" y="5705856"/>
            <a:ext cx="4663440" cy="950976"/>
            <a:chOff x="0" y="0"/>
            <a:chExt cx="6217920" cy="1267968"/>
          </a:xfrm>
        </p:grpSpPr>
        <p:sp>
          <p:nvSpPr>
            <p:cNvPr name="Freeform 150" id="150"/>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151" id="151"/>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Doctor dashboard UI</a:t>
              </a:r>
            </a:p>
          </p:txBody>
        </p:sp>
      </p:grpSp>
      <p:grpSp>
        <p:nvGrpSpPr>
          <p:cNvPr name="Group 152" id="152"/>
          <p:cNvGrpSpPr/>
          <p:nvPr/>
        </p:nvGrpSpPr>
        <p:grpSpPr>
          <a:xfrm rot="0">
            <a:off x="12551159" y="6827015"/>
            <a:ext cx="5219195" cy="976379"/>
            <a:chOff x="0" y="0"/>
            <a:chExt cx="6958927" cy="1301839"/>
          </a:xfrm>
        </p:grpSpPr>
        <p:sp>
          <p:nvSpPr>
            <p:cNvPr name="Freeform 153" id="153"/>
            <p:cNvSpPr/>
            <p:nvPr/>
          </p:nvSpPr>
          <p:spPr>
            <a:xfrm flipH="false" flipV="false" rot="0">
              <a:off x="16891" y="16891"/>
              <a:ext cx="6925056" cy="1267968"/>
            </a:xfrm>
            <a:custGeom>
              <a:avLst/>
              <a:gdLst/>
              <a:ahLst/>
              <a:cxnLst/>
              <a:rect r="r" b="b" t="t" l="l"/>
              <a:pathLst>
                <a:path h="1267968" w="6925056">
                  <a:moveTo>
                    <a:pt x="0" y="0"/>
                  </a:moveTo>
                  <a:lnTo>
                    <a:pt x="6925056" y="0"/>
                  </a:lnTo>
                  <a:lnTo>
                    <a:pt x="6925056" y="1267968"/>
                  </a:lnTo>
                  <a:lnTo>
                    <a:pt x="0" y="1267968"/>
                  </a:lnTo>
                  <a:close/>
                </a:path>
              </a:pathLst>
            </a:custGeom>
            <a:solidFill>
              <a:srgbClr val="FFFFFF"/>
            </a:solidFill>
          </p:spPr>
        </p:sp>
        <p:sp>
          <p:nvSpPr>
            <p:cNvPr name="Freeform 154" id="154"/>
            <p:cNvSpPr/>
            <p:nvPr/>
          </p:nvSpPr>
          <p:spPr>
            <a:xfrm flipH="false" flipV="false" rot="0">
              <a:off x="0" y="0"/>
              <a:ext cx="6958838" cy="1301750"/>
            </a:xfrm>
            <a:custGeom>
              <a:avLst/>
              <a:gdLst/>
              <a:ahLst/>
              <a:cxnLst/>
              <a:rect r="r" b="b" t="t" l="l"/>
              <a:pathLst>
                <a:path h="1301750" w="6958838">
                  <a:moveTo>
                    <a:pt x="16891" y="0"/>
                  </a:moveTo>
                  <a:lnTo>
                    <a:pt x="6941947" y="0"/>
                  </a:lnTo>
                  <a:cubicBezTo>
                    <a:pt x="6951345" y="0"/>
                    <a:pt x="6958838" y="7620"/>
                    <a:pt x="6958838" y="16891"/>
                  </a:cubicBezTo>
                  <a:lnTo>
                    <a:pt x="6958838" y="1284859"/>
                  </a:lnTo>
                  <a:cubicBezTo>
                    <a:pt x="6958838" y="1294257"/>
                    <a:pt x="6951218" y="1301750"/>
                    <a:pt x="6941947"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941947" y="1267968"/>
                  </a:lnTo>
                  <a:lnTo>
                    <a:pt x="6941947" y="1284859"/>
                  </a:lnTo>
                  <a:lnTo>
                    <a:pt x="6925056" y="1284859"/>
                  </a:lnTo>
                  <a:lnTo>
                    <a:pt x="6925056" y="16891"/>
                  </a:lnTo>
                  <a:lnTo>
                    <a:pt x="6941947" y="16891"/>
                  </a:lnTo>
                  <a:lnTo>
                    <a:pt x="6941947" y="33909"/>
                  </a:lnTo>
                  <a:lnTo>
                    <a:pt x="16891" y="33909"/>
                  </a:lnTo>
                  <a:close/>
                </a:path>
              </a:pathLst>
            </a:custGeom>
            <a:solidFill>
              <a:srgbClr val="E2E8F0"/>
            </a:solidFill>
          </p:spPr>
        </p:sp>
      </p:grpSp>
      <p:grpSp>
        <p:nvGrpSpPr>
          <p:cNvPr name="Group 155" id="155"/>
          <p:cNvGrpSpPr/>
          <p:nvPr/>
        </p:nvGrpSpPr>
        <p:grpSpPr>
          <a:xfrm rot="0">
            <a:off x="12551159" y="6827015"/>
            <a:ext cx="153419" cy="976379"/>
            <a:chOff x="0" y="0"/>
            <a:chExt cx="204559" cy="1301839"/>
          </a:xfrm>
        </p:grpSpPr>
        <p:sp>
          <p:nvSpPr>
            <p:cNvPr name="Freeform 156" id="156"/>
            <p:cNvSpPr/>
            <p:nvPr/>
          </p:nvSpPr>
          <p:spPr>
            <a:xfrm flipH="false" flipV="false" rot="0">
              <a:off x="16891" y="16891"/>
              <a:ext cx="170688" cy="1267968"/>
            </a:xfrm>
            <a:custGeom>
              <a:avLst/>
              <a:gdLst/>
              <a:ahLst/>
              <a:cxnLst/>
              <a:rect r="r" b="b" t="t" l="l"/>
              <a:pathLst>
                <a:path h="1267968" w="170688">
                  <a:moveTo>
                    <a:pt x="0" y="0"/>
                  </a:moveTo>
                  <a:lnTo>
                    <a:pt x="170688" y="0"/>
                  </a:lnTo>
                  <a:lnTo>
                    <a:pt x="170688" y="1267968"/>
                  </a:lnTo>
                  <a:lnTo>
                    <a:pt x="0" y="1267968"/>
                  </a:lnTo>
                  <a:close/>
                </a:path>
              </a:pathLst>
            </a:custGeom>
            <a:solidFill>
              <a:srgbClr val="F59E0B"/>
            </a:solidFill>
          </p:spPr>
        </p:sp>
        <p:sp>
          <p:nvSpPr>
            <p:cNvPr name="Freeform 157" id="157"/>
            <p:cNvSpPr/>
            <p:nvPr/>
          </p:nvSpPr>
          <p:spPr>
            <a:xfrm flipH="false" flipV="false" rot="0">
              <a:off x="0" y="0"/>
              <a:ext cx="204470" cy="1301750"/>
            </a:xfrm>
            <a:custGeom>
              <a:avLst/>
              <a:gdLst/>
              <a:ahLst/>
              <a:cxnLst/>
              <a:rect r="r" b="b" t="t" l="l"/>
              <a:pathLst>
                <a:path h="1301750" w="204470">
                  <a:moveTo>
                    <a:pt x="16891" y="0"/>
                  </a:moveTo>
                  <a:lnTo>
                    <a:pt x="187579" y="0"/>
                  </a:lnTo>
                  <a:cubicBezTo>
                    <a:pt x="196977" y="0"/>
                    <a:pt x="204470" y="7620"/>
                    <a:pt x="204470" y="16891"/>
                  </a:cubicBezTo>
                  <a:lnTo>
                    <a:pt x="204470" y="1284859"/>
                  </a:lnTo>
                  <a:cubicBezTo>
                    <a:pt x="204470" y="1294257"/>
                    <a:pt x="196850" y="1301750"/>
                    <a:pt x="18757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87579" y="1267968"/>
                  </a:lnTo>
                  <a:lnTo>
                    <a:pt x="187579" y="1284859"/>
                  </a:lnTo>
                  <a:lnTo>
                    <a:pt x="170688" y="1284859"/>
                  </a:lnTo>
                  <a:lnTo>
                    <a:pt x="170688" y="16891"/>
                  </a:lnTo>
                  <a:lnTo>
                    <a:pt x="187579" y="16891"/>
                  </a:lnTo>
                  <a:lnTo>
                    <a:pt x="187579" y="33909"/>
                  </a:lnTo>
                  <a:lnTo>
                    <a:pt x="16891" y="33909"/>
                  </a:lnTo>
                  <a:close/>
                </a:path>
              </a:pathLst>
            </a:custGeom>
            <a:solidFill>
              <a:srgbClr val="F59E0B"/>
            </a:solidFill>
          </p:spPr>
        </p:sp>
      </p:grpSp>
      <p:grpSp>
        <p:nvGrpSpPr>
          <p:cNvPr name="Group 158" id="158"/>
          <p:cNvGrpSpPr/>
          <p:nvPr/>
        </p:nvGrpSpPr>
        <p:grpSpPr>
          <a:xfrm rot="0">
            <a:off x="12819888" y="6839712"/>
            <a:ext cx="4663440" cy="950976"/>
            <a:chOff x="0" y="0"/>
            <a:chExt cx="6217920" cy="1267968"/>
          </a:xfrm>
        </p:grpSpPr>
        <p:sp>
          <p:nvSpPr>
            <p:cNvPr name="Freeform 159" id="159"/>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3">
                <a:alphaModFix amt="0"/>
              </a:blip>
              <a:stretch>
                <a:fillRect l="0" t="-45551" r="0" b="-45551"/>
              </a:stretch>
            </a:blipFill>
          </p:spPr>
        </p:sp>
        <p:sp>
          <p:nvSpPr>
            <p:cNvPr name="TextBox 160" id="160"/>
            <p:cNvSpPr txBox="true"/>
            <p:nvPr/>
          </p:nvSpPr>
          <p:spPr>
            <a:xfrm>
              <a:off x="0" y="-38100"/>
              <a:ext cx="6217920" cy="1306068"/>
            </a:xfrm>
            <a:prstGeom prst="rect">
              <a:avLst/>
            </a:prstGeom>
          </p:spPr>
          <p:txBody>
            <a:bodyPr anchor="ctr" rtlCol="false" tIns="0" lIns="0" bIns="0" rIns="0"/>
            <a:lstStyle/>
            <a:p>
              <a:pPr algn="l">
                <a:lnSpc>
                  <a:spcPts val="2280"/>
                </a:lnSpc>
              </a:pPr>
              <a:r>
                <a:rPr lang="en-US" sz="1900">
                  <a:solidFill>
                    <a:srgbClr val="0F172A"/>
                  </a:solidFill>
                  <a:latin typeface="Calibri (MS)"/>
                  <a:ea typeface="Calibri (MS)"/>
                  <a:cs typeface="Calibri (MS)"/>
                  <a:sym typeface="Calibri (MS)"/>
                </a:rPr>
                <a:t>Alert &amp; report engine</a:t>
              </a:r>
            </a:p>
          </p:txBody>
        </p:sp>
      </p:grpSp>
      <p:grpSp>
        <p:nvGrpSpPr>
          <p:cNvPr name="Group 161" id="161"/>
          <p:cNvGrpSpPr/>
          <p:nvPr/>
        </p:nvGrpSpPr>
        <p:grpSpPr>
          <a:xfrm rot="0">
            <a:off x="6113783" y="4742183"/>
            <a:ext cx="427739" cy="25403"/>
            <a:chOff x="0" y="0"/>
            <a:chExt cx="570319" cy="33871"/>
          </a:xfrm>
        </p:grpSpPr>
        <p:sp>
          <p:nvSpPr>
            <p:cNvPr name="Freeform 162" id="162"/>
            <p:cNvSpPr/>
            <p:nvPr/>
          </p:nvSpPr>
          <p:spPr>
            <a:xfrm flipH="false" flipV="false" rot="0">
              <a:off x="16891" y="0"/>
              <a:ext cx="536448" cy="33909"/>
            </a:xfrm>
            <a:custGeom>
              <a:avLst/>
              <a:gdLst/>
              <a:ahLst/>
              <a:cxnLst/>
              <a:rect r="r" b="b" t="t" l="l"/>
              <a:pathLst>
                <a:path h="33909" w="536448">
                  <a:moveTo>
                    <a:pt x="0" y="0"/>
                  </a:moveTo>
                  <a:lnTo>
                    <a:pt x="536448" y="0"/>
                  </a:lnTo>
                  <a:lnTo>
                    <a:pt x="536448" y="33909"/>
                  </a:lnTo>
                  <a:lnTo>
                    <a:pt x="0" y="33909"/>
                  </a:lnTo>
                  <a:close/>
                </a:path>
              </a:pathLst>
            </a:custGeom>
            <a:solidFill>
              <a:srgbClr val="94A3B8"/>
            </a:solidFill>
          </p:spPr>
        </p:sp>
      </p:grpSp>
      <p:grpSp>
        <p:nvGrpSpPr>
          <p:cNvPr name="Group 163" id="163"/>
          <p:cNvGrpSpPr/>
          <p:nvPr/>
        </p:nvGrpSpPr>
        <p:grpSpPr>
          <a:xfrm rot="0">
            <a:off x="12002519" y="4742183"/>
            <a:ext cx="427739" cy="25403"/>
            <a:chOff x="0" y="0"/>
            <a:chExt cx="570319" cy="33871"/>
          </a:xfrm>
        </p:grpSpPr>
        <p:sp>
          <p:nvSpPr>
            <p:cNvPr name="Freeform 164" id="164"/>
            <p:cNvSpPr/>
            <p:nvPr/>
          </p:nvSpPr>
          <p:spPr>
            <a:xfrm flipH="false" flipV="false" rot="0">
              <a:off x="16891" y="0"/>
              <a:ext cx="536448" cy="33909"/>
            </a:xfrm>
            <a:custGeom>
              <a:avLst/>
              <a:gdLst/>
              <a:ahLst/>
              <a:cxnLst/>
              <a:rect r="r" b="b" t="t" l="l"/>
              <a:pathLst>
                <a:path h="33909" w="536448">
                  <a:moveTo>
                    <a:pt x="0" y="0"/>
                  </a:moveTo>
                  <a:lnTo>
                    <a:pt x="536448" y="0"/>
                  </a:lnTo>
                  <a:lnTo>
                    <a:pt x="536448" y="33909"/>
                  </a:lnTo>
                  <a:lnTo>
                    <a:pt x="0" y="33909"/>
                  </a:lnTo>
                  <a:close/>
                </a:path>
              </a:pathLst>
            </a:custGeom>
            <a:solidFill>
              <a:srgbClr val="94A3B8"/>
            </a:solidFill>
          </p:spPr>
        </p:sp>
      </p:grpSp>
      <p:grpSp>
        <p:nvGrpSpPr>
          <p:cNvPr name="Group 165" id="165"/>
          <p:cNvGrpSpPr/>
          <p:nvPr/>
        </p:nvGrpSpPr>
        <p:grpSpPr>
          <a:xfrm rot="0">
            <a:off x="640080" y="8321040"/>
            <a:ext cx="3657600" cy="512064"/>
            <a:chOff x="0" y="0"/>
            <a:chExt cx="4876800" cy="682752"/>
          </a:xfrm>
        </p:grpSpPr>
        <p:sp>
          <p:nvSpPr>
            <p:cNvPr name="Freeform 166" id="166"/>
            <p:cNvSpPr/>
            <p:nvPr/>
          </p:nvSpPr>
          <p:spPr>
            <a:xfrm flipH="false" flipV="false" rot="0">
              <a:off x="0" y="0"/>
              <a:ext cx="4876800" cy="682752"/>
            </a:xfrm>
            <a:custGeom>
              <a:avLst/>
              <a:gdLst/>
              <a:ahLst/>
              <a:cxnLst/>
              <a:rect r="r" b="b" t="t" l="l"/>
              <a:pathLst>
                <a:path h="682752" w="4876800">
                  <a:moveTo>
                    <a:pt x="0" y="0"/>
                  </a:moveTo>
                  <a:lnTo>
                    <a:pt x="4876800" y="0"/>
                  </a:lnTo>
                  <a:lnTo>
                    <a:pt x="4876800" y="682752"/>
                  </a:lnTo>
                  <a:lnTo>
                    <a:pt x="0" y="682752"/>
                  </a:lnTo>
                  <a:close/>
                </a:path>
              </a:pathLst>
            </a:custGeom>
            <a:blipFill>
              <a:blip r:embed="rId3">
                <a:alphaModFix amt="0"/>
              </a:blip>
              <a:stretch>
                <a:fillRect l="0" t="-89178" r="0" b="-89178"/>
              </a:stretch>
            </a:blipFill>
          </p:spPr>
        </p:sp>
        <p:sp>
          <p:nvSpPr>
            <p:cNvPr name="TextBox 167" id="167"/>
            <p:cNvSpPr txBox="true"/>
            <p:nvPr/>
          </p:nvSpPr>
          <p:spPr>
            <a:xfrm>
              <a:off x="0" y="-38100"/>
              <a:ext cx="4876800" cy="720852"/>
            </a:xfrm>
            <a:prstGeom prst="rect">
              <a:avLst/>
            </a:prstGeom>
          </p:spPr>
          <p:txBody>
            <a:bodyPr anchor="ctr" rtlCol="false" tIns="0" lIns="0" bIns="0" rIns="0"/>
            <a:lstStyle/>
            <a:p>
              <a:pPr algn="l">
                <a:lnSpc>
                  <a:spcPts val="2160"/>
                </a:lnSpc>
              </a:pPr>
              <a:r>
                <a:rPr lang="en-US" sz="1800" i="true">
                  <a:solidFill>
                    <a:srgbClr val="64748B"/>
                  </a:solidFill>
                  <a:latin typeface="Calibri (MS) Italics"/>
                  <a:ea typeface="Calibri (MS) Italics"/>
                  <a:cs typeface="Calibri (MS) Italics"/>
                  <a:sym typeface="Calibri (MS) Italics"/>
                </a:rPr>
                <a:t>Core technologies:</a:t>
              </a:r>
            </a:p>
          </p:txBody>
        </p:sp>
      </p:grpSp>
      <p:grpSp>
        <p:nvGrpSpPr>
          <p:cNvPr name="Group 168" id="168"/>
          <p:cNvGrpSpPr/>
          <p:nvPr/>
        </p:nvGrpSpPr>
        <p:grpSpPr>
          <a:xfrm rot="0">
            <a:off x="633727" y="8918191"/>
            <a:ext cx="1932937" cy="524761"/>
            <a:chOff x="0" y="0"/>
            <a:chExt cx="2577249" cy="699681"/>
          </a:xfrm>
        </p:grpSpPr>
        <p:sp>
          <p:nvSpPr>
            <p:cNvPr name="Freeform 169" id="169"/>
            <p:cNvSpPr/>
            <p:nvPr/>
          </p:nvSpPr>
          <p:spPr>
            <a:xfrm flipH="false" flipV="false" rot="0">
              <a:off x="8509" y="8509"/>
              <a:ext cx="2560193" cy="682752"/>
            </a:xfrm>
            <a:custGeom>
              <a:avLst/>
              <a:gdLst/>
              <a:ahLst/>
              <a:cxnLst/>
              <a:rect r="r" b="b" t="t" l="l"/>
              <a:pathLst>
                <a:path h="682752" w="2560193">
                  <a:moveTo>
                    <a:pt x="0" y="121920"/>
                  </a:moveTo>
                  <a:cubicBezTo>
                    <a:pt x="0" y="54610"/>
                    <a:pt x="55626" y="0"/>
                    <a:pt x="124079" y="0"/>
                  </a:cubicBezTo>
                  <a:lnTo>
                    <a:pt x="2436114" y="0"/>
                  </a:lnTo>
                  <a:cubicBezTo>
                    <a:pt x="2504694" y="0"/>
                    <a:pt x="2560193" y="54610"/>
                    <a:pt x="2560193" y="121920"/>
                  </a:cubicBezTo>
                  <a:lnTo>
                    <a:pt x="2560193" y="560832"/>
                  </a:lnTo>
                  <a:cubicBezTo>
                    <a:pt x="2560193" y="628142"/>
                    <a:pt x="2504567" y="682752"/>
                    <a:pt x="2436114" y="682752"/>
                  </a:cubicBezTo>
                  <a:lnTo>
                    <a:pt x="124079" y="682752"/>
                  </a:lnTo>
                  <a:cubicBezTo>
                    <a:pt x="55499" y="682752"/>
                    <a:pt x="0" y="628142"/>
                    <a:pt x="0" y="560832"/>
                  </a:cubicBezTo>
                  <a:close/>
                </a:path>
              </a:pathLst>
            </a:custGeom>
            <a:solidFill>
              <a:srgbClr val="CCFBF1"/>
            </a:solidFill>
          </p:spPr>
        </p:sp>
        <p:sp>
          <p:nvSpPr>
            <p:cNvPr name="Freeform 170" id="170"/>
            <p:cNvSpPr/>
            <p:nvPr/>
          </p:nvSpPr>
          <p:spPr>
            <a:xfrm flipH="false" flipV="false" rot="0">
              <a:off x="0" y="0"/>
              <a:ext cx="2577211" cy="699770"/>
            </a:xfrm>
            <a:custGeom>
              <a:avLst/>
              <a:gdLst/>
              <a:ahLst/>
              <a:cxnLst/>
              <a:rect r="r" b="b" t="t" l="l"/>
              <a:pathLst>
                <a:path h="699770" w="2577211">
                  <a:moveTo>
                    <a:pt x="0" y="130429"/>
                  </a:moveTo>
                  <a:cubicBezTo>
                    <a:pt x="0" y="58293"/>
                    <a:pt x="59563" y="0"/>
                    <a:pt x="132588" y="0"/>
                  </a:cubicBezTo>
                  <a:lnTo>
                    <a:pt x="2444623" y="0"/>
                  </a:lnTo>
                  <a:lnTo>
                    <a:pt x="2444623" y="8509"/>
                  </a:lnTo>
                  <a:lnTo>
                    <a:pt x="2444623" y="0"/>
                  </a:lnTo>
                  <a:cubicBezTo>
                    <a:pt x="2517648" y="0"/>
                    <a:pt x="2577211" y="58293"/>
                    <a:pt x="2577211" y="130429"/>
                  </a:cubicBezTo>
                  <a:lnTo>
                    <a:pt x="2568702" y="130429"/>
                  </a:lnTo>
                  <a:lnTo>
                    <a:pt x="2577211" y="130429"/>
                  </a:lnTo>
                  <a:lnTo>
                    <a:pt x="2577211" y="569341"/>
                  </a:lnTo>
                  <a:lnTo>
                    <a:pt x="2568702" y="569341"/>
                  </a:lnTo>
                  <a:lnTo>
                    <a:pt x="2577211" y="569341"/>
                  </a:lnTo>
                  <a:cubicBezTo>
                    <a:pt x="2577211" y="641477"/>
                    <a:pt x="2517648" y="699770"/>
                    <a:pt x="2444623" y="699770"/>
                  </a:cubicBezTo>
                  <a:lnTo>
                    <a:pt x="2444623" y="691261"/>
                  </a:lnTo>
                  <a:lnTo>
                    <a:pt x="2444623" y="699770"/>
                  </a:lnTo>
                  <a:lnTo>
                    <a:pt x="132588" y="699770"/>
                  </a:lnTo>
                  <a:lnTo>
                    <a:pt x="132588" y="691261"/>
                  </a:lnTo>
                  <a:lnTo>
                    <a:pt x="132588" y="699770"/>
                  </a:lnTo>
                  <a:cubicBezTo>
                    <a:pt x="59563" y="699643"/>
                    <a:pt x="0" y="641477"/>
                    <a:pt x="0" y="569341"/>
                  </a:cubicBezTo>
                  <a:lnTo>
                    <a:pt x="0" y="130429"/>
                  </a:lnTo>
                  <a:lnTo>
                    <a:pt x="8509" y="130429"/>
                  </a:lnTo>
                  <a:lnTo>
                    <a:pt x="0" y="130429"/>
                  </a:lnTo>
                  <a:moveTo>
                    <a:pt x="16891" y="130429"/>
                  </a:moveTo>
                  <a:lnTo>
                    <a:pt x="16891" y="569341"/>
                  </a:lnTo>
                  <a:lnTo>
                    <a:pt x="8509" y="569341"/>
                  </a:lnTo>
                  <a:lnTo>
                    <a:pt x="17018" y="569341"/>
                  </a:lnTo>
                  <a:cubicBezTo>
                    <a:pt x="17018" y="631825"/>
                    <a:pt x="68707" y="682752"/>
                    <a:pt x="132715" y="682752"/>
                  </a:cubicBezTo>
                  <a:lnTo>
                    <a:pt x="2444623" y="682752"/>
                  </a:lnTo>
                  <a:cubicBezTo>
                    <a:pt x="2508631" y="682752"/>
                    <a:pt x="2560320" y="631825"/>
                    <a:pt x="2560320" y="569341"/>
                  </a:cubicBezTo>
                  <a:lnTo>
                    <a:pt x="2560320" y="130429"/>
                  </a:lnTo>
                  <a:cubicBezTo>
                    <a:pt x="2560320" y="67945"/>
                    <a:pt x="2508631" y="17018"/>
                    <a:pt x="2444623" y="17018"/>
                  </a:cubicBezTo>
                  <a:lnTo>
                    <a:pt x="132588" y="17018"/>
                  </a:lnTo>
                  <a:lnTo>
                    <a:pt x="132588" y="8509"/>
                  </a:lnTo>
                  <a:lnTo>
                    <a:pt x="132588" y="17018"/>
                  </a:lnTo>
                  <a:cubicBezTo>
                    <a:pt x="68580" y="17018"/>
                    <a:pt x="16891" y="67945"/>
                    <a:pt x="16891" y="130429"/>
                  </a:cubicBezTo>
                  <a:close/>
                </a:path>
              </a:pathLst>
            </a:custGeom>
            <a:solidFill>
              <a:srgbClr val="0D9488"/>
            </a:solidFill>
          </p:spPr>
        </p:sp>
      </p:grpSp>
      <p:grpSp>
        <p:nvGrpSpPr>
          <p:cNvPr name="Group 171" id="171"/>
          <p:cNvGrpSpPr/>
          <p:nvPr/>
        </p:nvGrpSpPr>
        <p:grpSpPr>
          <a:xfrm rot="0">
            <a:off x="640080" y="8924544"/>
            <a:ext cx="1920240" cy="512064"/>
            <a:chOff x="0" y="0"/>
            <a:chExt cx="2560320" cy="682752"/>
          </a:xfrm>
        </p:grpSpPr>
        <p:sp>
          <p:nvSpPr>
            <p:cNvPr name="Freeform 172" id="172"/>
            <p:cNvSpPr/>
            <p:nvPr/>
          </p:nvSpPr>
          <p:spPr>
            <a:xfrm flipH="false" flipV="false" rot="0">
              <a:off x="0" y="0"/>
              <a:ext cx="2560320" cy="682752"/>
            </a:xfrm>
            <a:custGeom>
              <a:avLst/>
              <a:gdLst/>
              <a:ahLst/>
              <a:cxnLst/>
              <a:rect r="r" b="b" t="t" l="l"/>
              <a:pathLst>
                <a:path h="682752" w="2560320">
                  <a:moveTo>
                    <a:pt x="0" y="0"/>
                  </a:moveTo>
                  <a:lnTo>
                    <a:pt x="2560320" y="0"/>
                  </a:lnTo>
                  <a:lnTo>
                    <a:pt x="2560320" y="682752"/>
                  </a:lnTo>
                  <a:lnTo>
                    <a:pt x="0" y="682752"/>
                  </a:lnTo>
                  <a:close/>
                </a:path>
              </a:pathLst>
            </a:custGeom>
            <a:blipFill>
              <a:blip r:embed="rId3">
                <a:alphaModFix amt="0"/>
              </a:blip>
              <a:stretch>
                <a:fillRect l="0" t="-23068" r="0" b="-23068"/>
              </a:stretch>
            </a:blipFill>
          </p:spPr>
        </p:sp>
        <p:sp>
          <p:nvSpPr>
            <p:cNvPr name="TextBox 173" id="173"/>
            <p:cNvSpPr txBox="true"/>
            <p:nvPr/>
          </p:nvSpPr>
          <p:spPr>
            <a:xfrm>
              <a:off x="0" y="-28575"/>
              <a:ext cx="2560320" cy="711327"/>
            </a:xfrm>
            <a:prstGeom prst="rect">
              <a:avLst/>
            </a:prstGeom>
          </p:spPr>
          <p:txBody>
            <a:bodyPr anchor="ctr" rtlCol="false" tIns="0" lIns="0" bIns="0" rIns="0"/>
            <a:lstStyle/>
            <a:p>
              <a:pPr algn="ctr">
                <a:lnSpc>
                  <a:spcPts val="1920"/>
                </a:lnSpc>
              </a:pPr>
              <a:r>
                <a:rPr lang="en-US" sz="1600" b="true">
                  <a:solidFill>
                    <a:srgbClr val="0F766E"/>
                  </a:solidFill>
                  <a:latin typeface="Calibri (MS) Bold"/>
                  <a:ea typeface="Calibri (MS) Bold"/>
                  <a:cs typeface="Calibri (MS) Bold"/>
                  <a:sym typeface="Calibri (MS) Bold"/>
                </a:rPr>
                <a:t>Python 3.x</a:t>
              </a:r>
            </a:p>
          </p:txBody>
        </p:sp>
      </p:grpSp>
      <p:grpSp>
        <p:nvGrpSpPr>
          <p:cNvPr name="Group 174" id="174"/>
          <p:cNvGrpSpPr/>
          <p:nvPr/>
        </p:nvGrpSpPr>
        <p:grpSpPr>
          <a:xfrm rot="0">
            <a:off x="2828287" y="8918191"/>
            <a:ext cx="1932937" cy="524761"/>
            <a:chOff x="0" y="0"/>
            <a:chExt cx="2577249" cy="699681"/>
          </a:xfrm>
        </p:grpSpPr>
        <p:sp>
          <p:nvSpPr>
            <p:cNvPr name="Freeform 175" id="175"/>
            <p:cNvSpPr/>
            <p:nvPr/>
          </p:nvSpPr>
          <p:spPr>
            <a:xfrm flipH="false" flipV="false" rot="0">
              <a:off x="8509" y="8509"/>
              <a:ext cx="2560193" cy="682752"/>
            </a:xfrm>
            <a:custGeom>
              <a:avLst/>
              <a:gdLst/>
              <a:ahLst/>
              <a:cxnLst/>
              <a:rect r="r" b="b" t="t" l="l"/>
              <a:pathLst>
                <a:path h="682752" w="2560193">
                  <a:moveTo>
                    <a:pt x="0" y="121920"/>
                  </a:moveTo>
                  <a:cubicBezTo>
                    <a:pt x="0" y="54610"/>
                    <a:pt x="55626" y="0"/>
                    <a:pt x="124079" y="0"/>
                  </a:cubicBezTo>
                  <a:lnTo>
                    <a:pt x="2436114" y="0"/>
                  </a:lnTo>
                  <a:cubicBezTo>
                    <a:pt x="2504694" y="0"/>
                    <a:pt x="2560193" y="54610"/>
                    <a:pt x="2560193" y="121920"/>
                  </a:cubicBezTo>
                  <a:lnTo>
                    <a:pt x="2560193" y="560832"/>
                  </a:lnTo>
                  <a:cubicBezTo>
                    <a:pt x="2560193" y="628142"/>
                    <a:pt x="2504567" y="682752"/>
                    <a:pt x="2436114" y="682752"/>
                  </a:cubicBezTo>
                  <a:lnTo>
                    <a:pt x="124079" y="682752"/>
                  </a:lnTo>
                  <a:cubicBezTo>
                    <a:pt x="55499" y="682752"/>
                    <a:pt x="0" y="628142"/>
                    <a:pt x="0" y="560832"/>
                  </a:cubicBezTo>
                  <a:close/>
                </a:path>
              </a:pathLst>
            </a:custGeom>
            <a:solidFill>
              <a:srgbClr val="CCFBF1"/>
            </a:solidFill>
          </p:spPr>
        </p:sp>
        <p:sp>
          <p:nvSpPr>
            <p:cNvPr name="Freeform 176" id="176"/>
            <p:cNvSpPr/>
            <p:nvPr/>
          </p:nvSpPr>
          <p:spPr>
            <a:xfrm flipH="false" flipV="false" rot="0">
              <a:off x="0" y="0"/>
              <a:ext cx="2577211" cy="699770"/>
            </a:xfrm>
            <a:custGeom>
              <a:avLst/>
              <a:gdLst/>
              <a:ahLst/>
              <a:cxnLst/>
              <a:rect r="r" b="b" t="t" l="l"/>
              <a:pathLst>
                <a:path h="699770" w="2577211">
                  <a:moveTo>
                    <a:pt x="0" y="130429"/>
                  </a:moveTo>
                  <a:cubicBezTo>
                    <a:pt x="0" y="58293"/>
                    <a:pt x="59563" y="0"/>
                    <a:pt x="132588" y="0"/>
                  </a:cubicBezTo>
                  <a:lnTo>
                    <a:pt x="2444623" y="0"/>
                  </a:lnTo>
                  <a:lnTo>
                    <a:pt x="2444623" y="8509"/>
                  </a:lnTo>
                  <a:lnTo>
                    <a:pt x="2444623" y="0"/>
                  </a:lnTo>
                  <a:cubicBezTo>
                    <a:pt x="2517648" y="0"/>
                    <a:pt x="2577211" y="58293"/>
                    <a:pt x="2577211" y="130429"/>
                  </a:cubicBezTo>
                  <a:lnTo>
                    <a:pt x="2568702" y="130429"/>
                  </a:lnTo>
                  <a:lnTo>
                    <a:pt x="2577211" y="130429"/>
                  </a:lnTo>
                  <a:lnTo>
                    <a:pt x="2577211" y="569341"/>
                  </a:lnTo>
                  <a:lnTo>
                    <a:pt x="2568702" y="569341"/>
                  </a:lnTo>
                  <a:lnTo>
                    <a:pt x="2577211" y="569341"/>
                  </a:lnTo>
                  <a:cubicBezTo>
                    <a:pt x="2577211" y="641477"/>
                    <a:pt x="2517648" y="699770"/>
                    <a:pt x="2444623" y="699770"/>
                  </a:cubicBezTo>
                  <a:lnTo>
                    <a:pt x="2444623" y="691261"/>
                  </a:lnTo>
                  <a:lnTo>
                    <a:pt x="2444623" y="699770"/>
                  </a:lnTo>
                  <a:lnTo>
                    <a:pt x="132588" y="699770"/>
                  </a:lnTo>
                  <a:lnTo>
                    <a:pt x="132588" y="691261"/>
                  </a:lnTo>
                  <a:lnTo>
                    <a:pt x="132588" y="699770"/>
                  </a:lnTo>
                  <a:cubicBezTo>
                    <a:pt x="59563" y="699643"/>
                    <a:pt x="0" y="641477"/>
                    <a:pt x="0" y="569341"/>
                  </a:cubicBezTo>
                  <a:lnTo>
                    <a:pt x="0" y="130429"/>
                  </a:lnTo>
                  <a:lnTo>
                    <a:pt x="8509" y="130429"/>
                  </a:lnTo>
                  <a:lnTo>
                    <a:pt x="0" y="130429"/>
                  </a:lnTo>
                  <a:moveTo>
                    <a:pt x="16891" y="130429"/>
                  </a:moveTo>
                  <a:lnTo>
                    <a:pt x="16891" y="569341"/>
                  </a:lnTo>
                  <a:lnTo>
                    <a:pt x="8509" y="569341"/>
                  </a:lnTo>
                  <a:lnTo>
                    <a:pt x="17018" y="569341"/>
                  </a:lnTo>
                  <a:cubicBezTo>
                    <a:pt x="17018" y="631825"/>
                    <a:pt x="68707" y="682752"/>
                    <a:pt x="132715" y="682752"/>
                  </a:cubicBezTo>
                  <a:lnTo>
                    <a:pt x="2444623" y="682752"/>
                  </a:lnTo>
                  <a:cubicBezTo>
                    <a:pt x="2508631" y="682752"/>
                    <a:pt x="2560320" y="631825"/>
                    <a:pt x="2560320" y="569341"/>
                  </a:cubicBezTo>
                  <a:lnTo>
                    <a:pt x="2560320" y="130429"/>
                  </a:lnTo>
                  <a:cubicBezTo>
                    <a:pt x="2560320" y="67945"/>
                    <a:pt x="2508631" y="17018"/>
                    <a:pt x="2444623" y="17018"/>
                  </a:cubicBezTo>
                  <a:lnTo>
                    <a:pt x="132588" y="17018"/>
                  </a:lnTo>
                  <a:lnTo>
                    <a:pt x="132588" y="8509"/>
                  </a:lnTo>
                  <a:lnTo>
                    <a:pt x="132588" y="17018"/>
                  </a:lnTo>
                  <a:cubicBezTo>
                    <a:pt x="68580" y="17018"/>
                    <a:pt x="16891" y="67945"/>
                    <a:pt x="16891" y="130429"/>
                  </a:cubicBezTo>
                  <a:close/>
                </a:path>
              </a:pathLst>
            </a:custGeom>
            <a:solidFill>
              <a:srgbClr val="0D9488"/>
            </a:solidFill>
          </p:spPr>
        </p:sp>
      </p:grpSp>
      <p:grpSp>
        <p:nvGrpSpPr>
          <p:cNvPr name="Group 177" id="177"/>
          <p:cNvGrpSpPr/>
          <p:nvPr/>
        </p:nvGrpSpPr>
        <p:grpSpPr>
          <a:xfrm rot="0">
            <a:off x="2834640" y="8924544"/>
            <a:ext cx="1920240" cy="512064"/>
            <a:chOff x="0" y="0"/>
            <a:chExt cx="2560320" cy="682752"/>
          </a:xfrm>
        </p:grpSpPr>
        <p:sp>
          <p:nvSpPr>
            <p:cNvPr name="Freeform 178" id="178"/>
            <p:cNvSpPr/>
            <p:nvPr/>
          </p:nvSpPr>
          <p:spPr>
            <a:xfrm flipH="false" flipV="false" rot="0">
              <a:off x="0" y="0"/>
              <a:ext cx="2560320" cy="682752"/>
            </a:xfrm>
            <a:custGeom>
              <a:avLst/>
              <a:gdLst/>
              <a:ahLst/>
              <a:cxnLst/>
              <a:rect r="r" b="b" t="t" l="l"/>
              <a:pathLst>
                <a:path h="682752" w="2560320">
                  <a:moveTo>
                    <a:pt x="0" y="0"/>
                  </a:moveTo>
                  <a:lnTo>
                    <a:pt x="2560320" y="0"/>
                  </a:lnTo>
                  <a:lnTo>
                    <a:pt x="2560320" y="682752"/>
                  </a:lnTo>
                  <a:lnTo>
                    <a:pt x="0" y="682752"/>
                  </a:lnTo>
                  <a:close/>
                </a:path>
              </a:pathLst>
            </a:custGeom>
            <a:blipFill>
              <a:blip r:embed="rId3">
                <a:alphaModFix amt="0"/>
              </a:blip>
              <a:stretch>
                <a:fillRect l="0" t="-23068" r="0" b="-23068"/>
              </a:stretch>
            </a:blipFill>
          </p:spPr>
        </p:sp>
        <p:sp>
          <p:nvSpPr>
            <p:cNvPr name="TextBox 179" id="179"/>
            <p:cNvSpPr txBox="true"/>
            <p:nvPr/>
          </p:nvSpPr>
          <p:spPr>
            <a:xfrm>
              <a:off x="0" y="-28575"/>
              <a:ext cx="2560320" cy="711327"/>
            </a:xfrm>
            <a:prstGeom prst="rect">
              <a:avLst/>
            </a:prstGeom>
          </p:spPr>
          <p:txBody>
            <a:bodyPr anchor="ctr" rtlCol="false" tIns="0" lIns="0" bIns="0" rIns="0"/>
            <a:lstStyle/>
            <a:p>
              <a:pPr algn="ctr">
                <a:lnSpc>
                  <a:spcPts val="1920"/>
                </a:lnSpc>
              </a:pPr>
              <a:r>
                <a:rPr lang="en-US" sz="1600" b="true">
                  <a:solidFill>
                    <a:srgbClr val="0F766E"/>
                  </a:solidFill>
                  <a:latin typeface="Calibri (MS) Bold"/>
                  <a:ea typeface="Calibri (MS) Bold"/>
                  <a:cs typeface="Calibri (MS) Bold"/>
                  <a:sym typeface="Calibri (MS) Bold"/>
                </a:rPr>
                <a:t>Scikit-learn</a:t>
              </a:r>
            </a:p>
          </p:txBody>
        </p:sp>
      </p:grpSp>
      <p:grpSp>
        <p:nvGrpSpPr>
          <p:cNvPr name="Group 180" id="180"/>
          <p:cNvGrpSpPr/>
          <p:nvPr/>
        </p:nvGrpSpPr>
        <p:grpSpPr>
          <a:xfrm rot="0">
            <a:off x="5022847" y="8918191"/>
            <a:ext cx="1932937" cy="524761"/>
            <a:chOff x="0" y="0"/>
            <a:chExt cx="2577249" cy="699681"/>
          </a:xfrm>
        </p:grpSpPr>
        <p:sp>
          <p:nvSpPr>
            <p:cNvPr name="Freeform 181" id="181"/>
            <p:cNvSpPr/>
            <p:nvPr/>
          </p:nvSpPr>
          <p:spPr>
            <a:xfrm flipH="false" flipV="false" rot="0">
              <a:off x="8509" y="8509"/>
              <a:ext cx="2560193" cy="682752"/>
            </a:xfrm>
            <a:custGeom>
              <a:avLst/>
              <a:gdLst/>
              <a:ahLst/>
              <a:cxnLst/>
              <a:rect r="r" b="b" t="t" l="l"/>
              <a:pathLst>
                <a:path h="682752" w="2560193">
                  <a:moveTo>
                    <a:pt x="0" y="121920"/>
                  </a:moveTo>
                  <a:cubicBezTo>
                    <a:pt x="0" y="54610"/>
                    <a:pt x="55626" y="0"/>
                    <a:pt x="124079" y="0"/>
                  </a:cubicBezTo>
                  <a:lnTo>
                    <a:pt x="2436114" y="0"/>
                  </a:lnTo>
                  <a:cubicBezTo>
                    <a:pt x="2504694" y="0"/>
                    <a:pt x="2560193" y="54610"/>
                    <a:pt x="2560193" y="121920"/>
                  </a:cubicBezTo>
                  <a:lnTo>
                    <a:pt x="2560193" y="560832"/>
                  </a:lnTo>
                  <a:cubicBezTo>
                    <a:pt x="2560193" y="628142"/>
                    <a:pt x="2504567" y="682752"/>
                    <a:pt x="2436114" y="682752"/>
                  </a:cubicBezTo>
                  <a:lnTo>
                    <a:pt x="124079" y="682752"/>
                  </a:lnTo>
                  <a:cubicBezTo>
                    <a:pt x="55499" y="682752"/>
                    <a:pt x="0" y="628142"/>
                    <a:pt x="0" y="560832"/>
                  </a:cubicBezTo>
                  <a:close/>
                </a:path>
              </a:pathLst>
            </a:custGeom>
            <a:solidFill>
              <a:srgbClr val="CCFBF1"/>
            </a:solidFill>
          </p:spPr>
        </p:sp>
        <p:sp>
          <p:nvSpPr>
            <p:cNvPr name="Freeform 182" id="182"/>
            <p:cNvSpPr/>
            <p:nvPr/>
          </p:nvSpPr>
          <p:spPr>
            <a:xfrm flipH="false" flipV="false" rot="0">
              <a:off x="0" y="0"/>
              <a:ext cx="2577211" cy="699770"/>
            </a:xfrm>
            <a:custGeom>
              <a:avLst/>
              <a:gdLst/>
              <a:ahLst/>
              <a:cxnLst/>
              <a:rect r="r" b="b" t="t" l="l"/>
              <a:pathLst>
                <a:path h="699770" w="2577211">
                  <a:moveTo>
                    <a:pt x="0" y="130429"/>
                  </a:moveTo>
                  <a:cubicBezTo>
                    <a:pt x="0" y="58293"/>
                    <a:pt x="59563" y="0"/>
                    <a:pt x="132588" y="0"/>
                  </a:cubicBezTo>
                  <a:lnTo>
                    <a:pt x="2444623" y="0"/>
                  </a:lnTo>
                  <a:lnTo>
                    <a:pt x="2444623" y="8509"/>
                  </a:lnTo>
                  <a:lnTo>
                    <a:pt x="2444623" y="0"/>
                  </a:lnTo>
                  <a:cubicBezTo>
                    <a:pt x="2517648" y="0"/>
                    <a:pt x="2577211" y="58293"/>
                    <a:pt x="2577211" y="130429"/>
                  </a:cubicBezTo>
                  <a:lnTo>
                    <a:pt x="2568702" y="130429"/>
                  </a:lnTo>
                  <a:lnTo>
                    <a:pt x="2577211" y="130429"/>
                  </a:lnTo>
                  <a:lnTo>
                    <a:pt x="2577211" y="569341"/>
                  </a:lnTo>
                  <a:lnTo>
                    <a:pt x="2568702" y="569341"/>
                  </a:lnTo>
                  <a:lnTo>
                    <a:pt x="2577211" y="569341"/>
                  </a:lnTo>
                  <a:cubicBezTo>
                    <a:pt x="2577211" y="641477"/>
                    <a:pt x="2517648" y="699770"/>
                    <a:pt x="2444623" y="699770"/>
                  </a:cubicBezTo>
                  <a:lnTo>
                    <a:pt x="2444623" y="691261"/>
                  </a:lnTo>
                  <a:lnTo>
                    <a:pt x="2444623" y="699770"/>
                  </a:lnTo>
                  <a:lnTo>
                    <a:pt x="132588" y="699770"/>
                  </a:lnTo>
                  <a:lnTo>
                    <a:pt x="132588" y="691261"/>
                  </a:lnTo>
                  <a:lnTo>
                    <a:pt x="132588" y="699770"/>
                  </a:lnTo>
                  <a:cubicBezTo>
                    <a:pt x="59563" y="699643"/>
                    <a:pt x="0" y="641477"/>
                    <a:pt x="0" y="569341"/>
                  </a:cubicBezTo>
                  <a:lnTo>
                    <a:pt x="0" y="130429"/>
                  </a:lnTo>
                  <a:lnTo>
                    <a:pt x="8509" y="130429"/>
                  </a:lnTo>
                  <a:lnTo>
                    <a:pt x="0" y="130429"/>
                  </a:lnTo>
                  <a:moveTo>
                    <a:pt x="16891" y="130429"/>
                  </a:moveTo>
                  <a:lnTo>
                    <a:pt x="16891" y="569341"/>
                  </a:lnTo>
                  <a:lnTo>
                    <a:pt x="8509" y="569341"/>
                  </a:lnTo>
                  <a:lnTo>
                    <a:pt x="17018" y="569341"/>
                  </a:lnTo>
                  <a:cubicBezTo>
                    <a:pt x="17018" y="631825"/>
                    <a:pt x="68707" y="682752"/>
                    <a:pt x="132715" y="682752"/>
                  </a:cubicBezTo>
                  <a:lnTo>
                    <a:pt x="2444623" y="682752"/>
                  </a:lnTo>
                  <a:cubicBezTo>
                    <a:pt x="2508631" y="682752"/>
                    <a:pt x="2560320" y="631825"/>
                    <a:pt x="2560320" y="569341"/>
                  </a:cubicBezTo>
                  <a:lnTo>
                    <a:pt x="2560320" y="130429"/>
                  </a:lnTo>
                  <a:cubicBezTo>
                    <a:pt x="2560320" y="67945"/>
                    <a:pt x="2508631" y="17018"/>
                    <a:pt x="2444623" y="17018"/>
                  </a:cubicBezTo>
                  <a:lnTo>
                    <a:pt x="132588" y="17018"/>
                  </a:lnTo>
                  <a:lnTo>
                    <a:pt x="132588" y="8509"/>
                  </a:lnTo>
                  <a:lnTo>
                    <a:pt x="132588" y="17018"/>
                  </a:lnTo>
                  <a:cubicBezTo>
                    <a:pt x="68580" y="17018"/>
                    <a:pt x="16891" y="67945"/>
                    <a:pt x="16891" y="130429"/>
                  </a:cubicBezTo>
                  <a:close/>
                </a:path>
              </a:pathLst>
            </a:custGeom>
            <a:solidFill>
              <a:srgbClr val="0D9488"/>
            </a:solidFill>
          </p:spPr>
        </p:sp>
      </p:grpSp>
      <p:grpSp>
        <p:nvGrpSpPr>
          <p:cNvPr name="Group 183" id="183"/>
          <p:cNvGrpSpPr/>
          <p:nvPr/>
        </p:nvGrpSpPr>
        <p:grpSpPr>
          <a:xfrm rot="0">
            <a:off x="5029200" y="8924544"/>
            <a:ext cx="1920240" cy="512064"/>
            <a:chOff x="0" y="0"/>
            <a:chExt cx="2560320" cy="682752"/>
          </a:xfrm>
        </p:grpSpPr>
        <p:sp>
          <p:nvSpPr>
            <p:cNvPr name="Freeform 184" id="184"/>
            <p:cNvSpPr/>
            <p:nvPr/>
          </p:nvSpPr>
          <p:spPr>
            <a:xfrm flipH="false" flipV="false" rot="0">
              <a:off x="0" y="0"/>
              <a:ext cx="2560320" cy="682752"/>
            </a:xfrm>
            <a:custGeom>
              <a:avLst/>
              <a:gdLst/>
              <a:ahLst/>
              <a:cxnLst/>
              <a:rect r="r" b="b" t="t" l="l"/>
              <a:pathLst>
                <a:path h="682752" w="2560320">
                  <a:moveTo>
                    <a:pt x="0" y="0"/>
                  </a:moveTo>
                  <a:lnTo>
                    <a:pt x="2560320" y="0"/>
                  </a:lnTo>
                  <a:lnTo>
                    <a:pt x="2560320" y="682752"/>
                  </a:lnTo>
                  <a:lnTo>
                    <a:pt x="0" y="682752"/>
                  </a:lnTo>
                  <a:close/>
                </a:path>
              </a:pathLst>
            </a:custGeom>
            <a:blipFill>
              <a:blip r:embed="rId3">
                <a:alphaModFix amt="0"/>
              </a:blip>
              <a:stretch>
                <a:fillRect l="0" t="-23068" r="0" b="-23068"/>
              </a:stretch>
            </a:blipFill>
          </p:spPr>
        </p:sp>
        <p:sp>
          <p:nvSpPr>
            <p:cNvPr name="TextBox 185" id="185"/>
            <p:cNvSpPr txBox="true"/>
            <p:nvPr/>
          </p:nvSpPr>
          <p:spPr>
            <a:xfrm>
              <a:off x="0" y="-28575"/>
              <a:ext cx="2560320" cy="711327"/>
            </a:xfrm>
            <a:prstGeom prst="rect">
              <a:avLst/>
            </a:prstGeom>
          </p:spPr>
          <p:txBody>
            <a:bodyPr anchor="ctr" rtlCol="false" tIns="0" lIns="0" bIns="0" rIns="0"/>
            <a:lstStyle/>
            <a:p>
              <a:pPr algn="ctr">
                <a:lnSpc>
                  <a:spcPts val="1920"/>
                </a:lnSpc>
              </a:pPr>
              <a:r>
                <a:rPr lang="en-US" sz="1600" b="true">
                  <a:solidFill>
                    <a:srgbClr val="0F766E"/>
                  </a:solidFill>
                  <a:latin typeface="Calibri (MS) Bold"/>
                  <a:ea typeface="Calibri (MS) Bold"/>
                  <a:cs typeface="Calibri (MS) Bold"/>
                  <a:sym typeface="Calibri (MS) Bold"/>
                </a:rPr>
                <a:t>TensorFlow</a:t>
              </a:r>
            </a:p>
          </p:txBody>
        </p:sp>
      </p:grpSp>
      <p:grpSp>
        <p:nvGrpSpPr>
          <p:cNvPr name="Group 186" id="186"/>
          <p:cNvGrpSpPr/>
          <p:nvPr/>
        </p:nvGrpSpPr>
        <p:grpSpPr>
          <a:xfrm rot="0">
            <a:off x="7217407" y="8918191"/>
            <a:ext cx="1932937" cy="524761"/>
            <a:chOff x="0" y="0"/>
            <a:chExt cx="2577249" cy="699681"/>
          </a:xfrm>
        </p:grpSpPr>
        <p:sp>
          <p:nvSpPr>
            <p:cNvPr name="Freeform 187" id="187"/>
            <p:cNvSpPr/>
            <p:nvPr/>
          </p:nvSpPr>
          <p:spPr>
            <a:xfrm flipH="false" flipV="false" rot="0">
              <a:off x="8509" y="8509"/>
              <a:ext cx="2560193" cy="682752"/>
            </a:xfrm>
            <a:custGeom>
              <a:avLst/>
              <a:gdLst/>
              <a:ahLst/>
              <a:cxnLst/>
              <a:rect r="r" b="b" t="t" l="l"/>
              <a:pathLst>
                <a:path h="682752" w="2560193">
                  <a:moveTo>
                    <a:pt x="0" y="121920"/>
                  </a:moveTo>
                  <a:cubicBezTo>
                    <a:pt x="0" y="54610"/>
                    <a:pt x="55626" y="0"/>
                    <a:pt x="124079" y="0"/>
                  </a:cubicBezTo>
                  <a:lnTo>
                    <a:pt x="2436114" y="0"/>
                  </a:lnTo>
                  <a:cubicBezTo>
                    <a:pt x="2504694" y="0"/>
                    <a:pt x="2560193" y="54610"/>
                    <a:pt x="2560193" y="121920"/>
                  </a:cubicBezTo>
                  <a:lnTo>
                    <a:pt x="2560193" y="560832"/>
                  </a:lnTo>
                  <a:cubicBezTo>
                    <a:pt x="2560193" y="628142"/>
                    <a:pt x="2504567" y="682752"/>
                    <a:pt x="2436114" y="682752"/>
                  </a:cubicBezTo>
                  <a:lnTo>
                    <a:pt x="124079" y="682752"/>
                  </a:lnTo>
                  <a:cubicBezTo>
                    <a:pt x="55499" y="682752"/>
                    <a:pt x="0" y="628142"/>
                    <a:pt x="0" y="560832"/>
                  </a:cubicBezTo>
                  <a:close/>
                </a:path>
              </a:pathLst>
            </a:custGeom>
            <a:solidFill>
              <a:srgbClr val="CCFBF1"/>
            </a:solidFill>
          </p:spPr>
        </p:sp>
        <p:sp>
          <p:nvSpPr>
            <p:cNvPr name="Freeform 188" id="188"/>
            <p:cNvSpPr/>
            <p:nvPr/>
          </p:nvSpPr>
          <p:spPr>
            <a:xfrm flipH="false" flipV="false" rot="0">
              <a:off x="0" y="0"/>
              <a:ext cx="2577211" cy="699770"/>
            </a:xfrm>
            <a:custGeom>
              <a:avLst/>
              <a:gdLst/>
              <a:ahLst/>
              <a:cxnLst/>
              <a:rect r="r" b="b" t="t" l="l"/>
              <a:pathLst>
                <a:path h="699770" w="2577211">
                  <a:moveTo>
                    <a:pt x="0" y="130429"/>
                  </a:moveTo>
                  <a:cubicBezTo>
                    <a:pt x="0" y="58293"/>
                    <a:pt x="59563" y="0"/>
                    <a:pt x="132588" y="0"/>
                  </a:cubicBezTo>
                  <a:lnTo>
                    <a:pt x="2444623" y="0"/>
                  </a:lnTo>
                  <a:lnTo>
                    <a:pt x="2444623" y="8509"/>
                  </a:lnTo>
                  <a:lnTo>
                    <a:pt x="2444623" y="0"/>
                  </a:lnTo>
                  <a:cubicBezTo>
                    <a:pt x="2517648" y="0"/>
                    <a:pt x="2577211" y="58293"/>
                    <a:pt x="2577211" y="130429"/>
                  </a:cubicBezTo>
                  <a:lnTo>
                    <a:pt x="2568702" y="130429"/>
                  </a:lnTo>
                  <a:lnTo>
                    <a:pt x="2577211" y="130429"/>
                  </a:lnTo>
                  <a:lnTo>
                    <a:pt x="2577211" y="569341"/>
                  </a:lnTo>
                  <a:lnTo>
                    <a:pt x="2568702" y="569341"/>
                  </a:lnTo>
                  <a:lnTo>
                    <a:pt x="2577211" y="569341"/>
                  </a:lnTo>
                  <a:cubicBezTo>
                    <a:pt x="2577211" y="641477"/>
                    <a:pt x="2517648" y="699770"/>
                    <a:pt x="2444623" y="699770"/>
                  </a:cubicBezTo>
                  <a:lnTo>
                    <a:pt x="2444623" y="691261"/>
                  </a:lnTo>
                  <a:lnTo>
                    <a:pt x="2444623" y="699770"/>
                  </a:lnTo>
                  <a:lnTo>
                    <a:pt x="132588" y="699770"/>
                  </a:lnTo>
                  <a:lnTo>
                    <a:pt x="132588" y="691261"/>
                  </a:lnTo>
                  <a:lnTo>
                    <a:pt x="132588" y="699770"/>
                  </a:lnTo>
                  <a:cubicBezTo>
                    <a:pt x="59563" y="699643"/>
                    <a:pt x="0" y="641477"/>
                    <a:pt x="0" y="569341"/>
                  </a:cubicBezTo>
                  <a:lnTo>
                    <a:pt x="0" y="130429"/>
                  </a:lnTo>
                  <a:lnTo>
                    <a:pt x="8509" y="130429"/>
                  </a:lnTo>
                  <a:lnTo>
                    <a:pt x="0" y="130429"/>
                  </a:lnTo>
                  <a:moveTo>
                    <a:pt x="16891" y="130429"/>
                  </a:moveTo>
                  <a:lnTo>
                    <a:pt x="16891" y="569341"/>
                  </a:lnTo>
                  <a:lnTo>
                    <a:pt x="8509" y="569341"/>
                  </a:lnTo>
                  <a:lnTo>
                    <a:pt x="17018" y="569341"/>
                  </a:lnTo>
                  <a:cubicBezTo>
                    <a:pt x="17018" y="631825"/>
                    <a:pt x="68707" y="682752"/>
                    <a:pt x="132715" y="682752"/>
                  </a:cubicBezTo>
                  <a:lnTo>
                    <a:pt x="2444623" y="682752"/>
                  </a:lnTo>
                  <a:cubicBezTo>
                    <a:pt x="2508631" y="682752"/>
                    <a:pt x="2560320" y="631825"/>
                    <a:pt x="2560320" y="569341"/>
                  </a:cubicBezTo>
                  <a:lnTo>
                    <a:pt x="2560320" y="130429"/>
                  </a:lnTo>
                  <a:cubicBezTo>
                    <a:pt x="2560320" y="67945"/>
                    <a:pt x="2508631" y="17018"/>
                    <a:pt x="2444623" y="17018"/>
                  </a:cubicBezTo>
                  <a:lnTo>
                    <a:pt x="132588" y="17018"/>
                  </a:lnTo>
                  <a:lnTo>
                    <a:pt x="132588" y="8509"/>
                  </a:lnTo>
                  <a:lnTo>
                    <a:pt x="132588" y="17018"/>
                  </a:lnTo>
                  <a:cubicBezTo>
                    <a:pt x="68580" y="17018"/>
                    <a:pt x="16891" y="67945"/>
                    <a:pt x="16891" y="130429"/>
                  </a:cubicBezTo>
                  <a:close/>
                </a:path>
              </a:pathLst>
            </a:custGeom>
            <a:solidFill>
              <a:srgbClr val="0D9488"/>
            </a:solidFill>
          </p:spPr>
        </p:sp>
      </p:grpSp>
      <p:grpSp>
        <p:nvGrpSpPr>
          <p:cNvPr name="Group 189" id="189"/>
          <p:cNvGrpSpPr/>
          <p:nvPr/>
        </p:nvGrpSpPr>
        <p:grpSpPr>
          <a:xfrm rot="0">
            <a:off x="7223760" y="8924544"/>
            <a:ext cx="1920240" cy="512064"/>
            <a:chOff x="0" y="0"/>
            <a:chExt cx="2560320" cy="682752"/>
          </a:xfrm>
        </p:grpSpPr>
        <p:sp>
          <p:nvSpPr>
            <p:cNvPr name="Freeform 190" id="190"/>
            <p:cNvSpPr/>
            <p:nvPr/>
          </p:nvSpPr>
          <p:spPr>
            <a:xfrm flipH="false" flipV="false" rot="0">
              <a:off x="0" y="0"/>
              <a:ext cx="2560320" cy="682752"/>
            </a:xfrm>
            <a:custGeom>
              <a:avLst/>
              <a:gdLst/>
              <a:ahLst/>
              <a:cxnLst/>
              <a:rect r="r" b="b" t="t" l="l"/>
              <a:pathLst>
                <a:path h="682752" w="2560320">
                  <a:moveTo>
                    <a:pt x="0" y="0"/>
                  </a:moveTo>
                  <a:lnTo>
                    <a:pt x="2560320" y="0"/>
                  </a:lnTo>
                  <a:lnTo>
                    <a:pt x="2560320" y="682752"/>
                  </a:lnTo>
                  <a:lnTo>
                    <a:pt x="0" y="682752"/>
                  </a:lnTo>
                  <a:close/>
                </a:path>
              </a:pathLst>
            </a:custGeom>
            <a:blipFill>
              <a:blip r:embed="rId3">
                <a:alphaModFix amt="0"/>
              </a:blip>
              <a:stretch>
                <a:fillRect l="0" t="-23068" r="0" b="-23068"/>
              </a:stretch>
            </a:blipFill>
          </p:spPr>
        </p:sp>
        <p:sp>
          <p:nvSpPr>
            <p:cNvPr name="TextBox 191" id="191"/>
            <p:cNvSpPr txBox="true"/>
            <p:nvPr/>
          </p:nvSpPr>
          <p:spPr>
            <a:xfrm>
              <a:off x="0" y="-28575"/>
              <a:ext cx="2560320" cy="711327"/>
            </a:xfrm>
            <a:prstGeom prst="rect">
              <a:avLst/>
            </a:prstGeom>
          </p:spPr>
          <p:txBody>
            <a:bodyPr anchor="ctr" rtlCol="false" tIns="0" lIns="0" bIns="0" rIns="0"/>
            <a:lstStyle/>
            <a:p>
              <a:pPr algn="ctr">
                <a:lnSpc>
                  <a:spcPts val="1920"/>
                </a:lnSpc>
              </a:pPr>
              <a:r>
                <a:rPr lang="en-US" sz="1600" b="true">
                  <a:solidFill>
                    <a:srgbClr val="0F766E"/>
                  </a:solidFill>
                  <a:latin typeface="Calibri (MS) Bold"/>
                  <a:ea typeface="Calibri (MS) Bold"/>
                  <a:cs typeface="Calibri (MS) Bold"/>
                  <a:sym typeface="Calibri (MS) Bold"/>
                </a:rPr>
                <a:t>SHAP</a:t>
              </a:r>
            </a:p>
          </p:txBody>
        </p:sp>
      </p:grpSp>
      <p:grpSp>
        <p:nvGrpSpPr>
          <p:cNvPr name="Group 192" id="192"/>
          <p:cNvGrpSpPr/>
          <p:nvPr/>
        </p:nvGrpSpPr>
        <p:grpSpPr>
          <a:xfrm rot="0">
            <a:off x="9411967" y="8918191"/>
            <a:ext cx="1932937" cy="524761"/>
            <a:chOff x="0" y="0"/>
            <a:chExt cx="2577249" cy="699681"/>
          </a:xfrm>
        </p:grpSpPr>
        <p:sp>
          <p:nvSpPr>
            <p:cNvPr name="Freeform 193" id="193"/>
            <p:cNvSpPr/>
            <p:nvPr/>
          </p:nvSpPr>
          <p:spPr>
            <a:xfrm flipH="false" flipV="false" rot="0">
              <a:off x="8509" y="8509"/>
              <a:ext cx="2560193" cy="682752"/>
            </a:xfrm>
            <a:custGeom>
              <a:avLst/>
              <a:gdLst/>
              <a:ahLst/>
              <a:cxnLst/>
              <a:rect r="r" b="b" t="t" l="l"/>
              <a:pathLst>
                <a:path h="682752" w="2560193">
                  <a:moveTo>
                    <a:pt x="0" y="121920"/>
                  </a:moveTo>
                  <a:cubicBezTo>
                    <a:pt x="0" y="54610"/>
                    <a:pt x="55626" y="0"/>
                    <a:pt x="124079" y="0"/>
                  </a:cubicBezTo>
                  <a:lnTo>
                    <a:pt x="2436114" y="0"/>
                  </a:lnTo>
                  <a:cubicBezTo>
                    <a:pt x="2504694" y="0"/>
                    <a:pt x="2560193" y="54610"/>
                    <a:pt x="2560193" y="121920"/>
                  </a:cubicBezTo>
                  <a:lnTo>
                    <a:pt x="2560193" y="560832"/>
                  </a:lnTo>
                  <a:cubicBezTo>
                    <a:pt x="2560193" y="628142"/>
                    <a:pt x="2504567" y="682752"/>
                    <a:pt x="2436114" y="682752"/>
                  </a:cubicBezTo>
                  <a:lnTo>
                    <a:pt x="124079" y="682752"/>
                  </a:lnTo>
                  <a:cubicBezTo>
                    <a:pt x="55499" y="682752"/>
                    <a:pt x="0" y="628142"/>
                    <a:pt x="0" y="560832"/>
                  </a:cubicBezTo>
                  <a:close/>
                </a:path>
              </a:pathLst>
            </a:custGeom>
            <a:solidFill>
              <a:srgbClr val="CCFBF1"/>
            </a:solidFill>
          </p:spPr>
        </p:sp>
        <p:sp>
          <p:nvSpPr>
            <p:cNvPr name="Freeform 194" id="194"/>
            <p:cNvSpPr/>
            <p:nvPr/>
          </p:nvSpPr>
          <p:spPr>
            <a:xfrm flipH="false" flipV="false" rot="0">
              <a:off x="0" y="0"/>
              <a:ext cx="2577211" cy="699770"/>
            </a:xfrm>
            <a:custGeom>
              <a:avLst/>
              <a:gdLst/>
              <a:ahLst/>
              <a:cxnLst/>
              <a:rect r="r" b="b" t="t" l="l"/>
              <a:pathLst>
                <a:path h="699770" w="2577211">
                  <a:moveTo>
                    <a:pt x="0" y="130429"/>
                  </a:moveTo>
                  <a:cubicBezTo>
                    <a:pt x="0" y="58293"/>
                    <a:pt x="59563" y="0"/>
                    <a:pt x="132588" y="0"/>
                  </a:cubicBezTo>
                  <a:lnTo>
                    <a:pt x="2444623" y="0"/>
                  </a:lnTo>
                  <a:lnTo>
                    <a:pt x="2444623" y="8509"/>
                  </a:lnTo>
                  <a:lnTo>
                    <a:pt x="2444623" y="0"/>
                  </a:lnTo>
                  <a:cubicBezTo>
                    <a:pt x="2517648" y="0"/>
                    <a:pt x="2577211" y="58293"/>
                    <a:pt x="2577211" y="130429"/>
                  </a:cubicBezTo>
                  <a:lnTo>
                    <a:pt x="2568702" y="130429"/>
                  </a:lnTo>
                  <a:lnTo>
                    <a:pt x="2577211" y="130429"/>
                  </a:lnTo>
                  <a:lnTo>
                    <a:pt x="2577211" y="569341"/>
                  </a:lnTo>
                  <a:lnTo>
                    <a:pt x="2568702" y="569341"/>
                  </a:lnTo>
                  <a:lnTo>
                    <a:pt x="2577211" y="569341"/>
                  </a:lnTo>
                  <a:cubicBezTo>
                    <a:pt x="2577211" y="641477"/>
                    <a:pt x="2517648" y="699770"/>
                    <a:pt x="2444623" y="699770"/>
                  </a:cubicBezTo>
                  <a:lnTo>
                    <a:pt x="2444623" y="691261"/>
                  </a:lnTo>
                  <a:lnTo>
                    <a:pt x="2444623" y="699770"/>
                  </a:lnTo>
                  <a:lnTo>
                    <a:pt x="132588" y="699770"/>
                  </a:lnTo>
                  <a:lnTo>
                    <a:pt x="132588" y="691261"/>
                  </a:lnTo>
                  <a:lnTo>
                    <a:pt x="132588" y="699770"/>
                  </a:lnTo>
                  <a:cubicBezTo>
                    <a:pt x="59563" y="699643"/>
                    <a:pt x="0" y="641477"/>
                    <a:pt x="0" y="569341"/>
                  </a:cubicBezTo>
                  <a:lnTo>
                    <a:pt x="0" y="130429"/>
                  </a:lnTo>
                  <a:lnTo>
                    <a:pt x="8509" y="130429"/>
                  </a:lnTo>
                  <a:lnTo>
                    <a:pt x="0" y="130429"/>
                  </a:lnTo>
                  <a:moveTo>
                    <a:pt x="16891" y="130429"/>
                  </a:moveTo>
                  <a:lnTo>
                    <a:pt x="16891" y="569341"/>
                  </a:lnTo>
                  <a:lnTo>
                    <a:pt x="8509" y="569341"/>
                  </a:lnTo>
                  <a:lnTo>
                    <a:pt x="17018" y="569341"/>
                  </a:lnTo>
                  <a:cubicBezTo>
                    <a:pt x="17018" y="631825"/>
                    <a:pt x="68707" y="682752"/>
                    <a:pt x="132715" y="682752"/>
                  </a:cubicBezTo>
                  <a:lnTo>
                    <a:pt x="2444623" y="682752"/>
                  </a:lnTo>
                  <a:cubicBezTo>
                    <a:pt x="2508631" y="682752"/>
                    <a:pt x="2560320" y="631825"/>
                    <a:pt x="2560320" y="569341"/>
                  </a:cubicBezTo>
                  <a:lnTo>
                    <a:pt x="2560320" y="130429"/>
                  </a:lnTo>
                  <a:cubicBezTo>
                    <a:pt x="2560320" y="67945"/>
                    <a:pt x="2508631" y="17018"/>
                    <a:pt x="2444623" y="17018"/>
                  </a:cubicBezTo>
                  <a:lnTo>
                    <a:pt x="132588" y="17018"/>
                  </a:lnTo>
                  <a:lnTo>
                    <a:pt x="132588" y="8509"/>
                  </a:lnTo>
                  <a:lnTo>
                    <a:pt x="132588" y="17018"/>
                  </a:lnTo>
                  <a:cubicBezTo>
                    <a:pt x="68580" y="17018"/>
                    <a:pt x="16891" y="67945"/>
                    <a:pt x="16891" y="130429"/>
                  </a:cubicBezTo>
                  <a:close/>
                </a:path>
              </a:pathLst>
            </a:custGeom>
            <a:solidFill>
              <a:srgbClr val="0D9488"/>
            </a:solidFill>
          </p:spPr>
        </p:sp>
      </p:grpSp>
      <p:grpSp>
        <p:nvGrpSpPr>
          <p:cNvPr name="Group 195" id="195"/>
          <p:cNvGrpSpPr/>
          <p:nvPr/>
        </p:nvGrpSpPr>
        <p:grpSpPr>
          <a:xfrm rot="0">
            <a:off x="9418320" y="8924544"/>
            <a:ext cx="1920240" cy="512064"/>
            <a:chOff x="0" y="0"/>
            <a:chExt cx="2560320" cy="682752"/>
          </a:xfrm>
        </p:grpSpPr>
        <p:sp>
          <p:nvSpPr>
            <p:cNvPr name="Freeform 196" id="196"/>
            <p:cNvSpPr/>
            <p:nvPr/>
          </p:nvSpPr>
          <p:spPr>
            <a:xfrm flipH="false" flipV="false" rot="0">
              <a:off x="0" y="0"/>
              <a:ext cx="2560320" cy="682752"/>
            </a:xfrm>
            <a:custGeom>
              <a:avLst/>
              <a:gdLst/>
              <a:ahLst/>
              <a:cxnLst/>
              <a:rect r="r" b="b" t="t" l="l"/>
              <a:pathLst>
                <a:path h="682752" w="2560320">
                  <a:moveTo>
                    <a:pt x="0" y="0"/>
                  </a:moveTo>
                  <a:lnTo>
                    <a:pt x="2560320" y="0"/>
                  </a:lnTo>
                  <a:lnTo>
                    <a:pt x="2560320" y="682752"/>
                  </a:lnTo>
                  <a:lnTo>
                    <a:pt x="0" y="682752"/>
                  </a:lnTo>
                  <a:close/>
                </a:path>
              </a:pathLst>
            </a:custGeom>
            <a:blipFill>
              <a:blip r:embed="rId3">
                <a:alphaModFix amt="0"/>
              </a:blip>
              <a:stretch>
                <a:fillRect l="0" t="-23068" r="0" b="-23068"/>
              </a:stretch>
            </a:blipFill>
          </p:spPr>
        </p:sp>
        <p:sp>
          <p:nvSpPr>
            <p:cNvPr name="TextBox 197" id="197"/>
            <p:cNvSpPr txBox="true"/>
            <p:nvPr/>
          </p:nvSpPr>
          <p:spPr>
            <a:xfrm>
              <a:off x="0" y="-28575"/>
              <a:ext cx="2560320" cy="711327"/>
            </a:xfrm>
            <a:prstGeom prst="rect">
              <a:avLst/>
            </a:prstGeom>
          </p:spPr>
          <p:txBody>
            <a:bodyPr anchor="ctr" rtlCol="false" tIns="0" lIns="0" bIns="0" rIns="0"/>
            <a:lstStyle/>
            <a:p>
              <a:pPr algn="ctr">
                <a:lnSpc>
                  <a:spcPts val="1920"/>
                </a:lnSpc>
              </a:pPr>
              <a:r>
                <a:rPr lang="en-US" sz="1600" b="true">
                  <a:solidFill>
                    <a:srgbClr val="0F766E"/>
                  </a:solidFill>
                  <a:latin typeface="Calibri (MS) Bold"/>
                  <a:ea typeface="Calibri (MS) Bold"/>
                  <a:cs typeface="Calibri (MS) Bold"/>
                  <a:sym typeface="Calibri (MS) Bold"/>
                </a:rPr>
                <a:t>Flask API</a:t>
              </a:r>
            </a:p>
          </p:txBody>
        </p:sp>
      </p:grpSp>
      <p:grpSp>
        <p:nvGrpSpPr>
          <p:cNvPr name="Group 198" id="198"/>
          <p:cNvGrpSpPr/>
          <p:nvPr/>
        </p:nvGrpSpPr>
        <p:grpSpPr>
          <a:xfrm rot="0">
            <a:off x="11606527" y="8918191"/>
            <a:ext cx="1932937" cy="524761"/>
            <a:chOff x="0" y="0"/>
            <a:chExt cx="2577249" cy="699681"/>
          </a:xfrm>
        </p:grpSpPr>
        <p:sp>
          <p:nvSpPr>
            <p:cNvPr name="Freeform 199" id="199"/>
            <p:cNvSpPr/>
            <p:nvPr/>
          </p:nvSpPr>
          <p:spPr>
            <a:xfrm flipH="false" flipV="false" rot="0">
              <a:off x="8509" y="8509"/>
              <a:ext cx="2560193" cy="682752"/>
            </a:xfrm>
            <a:custGeom>
              <a:avLst/>
              <a:gdLst/>
              <a:ahLst/>
              <a:cxnLst/>
              <a:rect r="r" b="b" t="t" l="l"/>
              <a:pathLst>
                <a:path h="682752" w="2560193">
                  <a:moveTo>
                    <a:pt x="0" y="121920"/>
                  </a:moveTo>
                  <a:cubicBezTo>
                    <a:pt x="0" y="54610"/>
                    <a:pt x="55626" y="0"/>
                    <a:pt x="124079" y="0"/>
                  </a:cubicBezTo>
                  <a:lnTo>
                    <a:pt x="2436114" y="0"/>
                  </a:lnTo>
                  <a:cubicBezTo>
                    <a:pt x="2504694" y="0"/>
                    <a:pt x="2560193" y="54610"/>
                    <a:pt x="2560193" y="121920"/>
                  </a:cubicBezTo>
                  <a:lnTo>
                    <a:pt x="2560193" y="560832"/>
                  </a:lnTo>
                  <a:cubicBezTo>
                    <a:pt x="2560193" y="628142"/>
                    <a:pt x="2504567" y="682752"/>
                    <a:pt x="2436114" y="682752"/>
                  </a:cubicBezTo>
                  <a:lnTo>
                    <a:pt x="124079" y="682752"/>
                  </a:lnTo>
                  <a:cubicBezTo>
                    <a:pt x="55499" y="682752"/>
                    <a:pt x="0" y="628142"/>
                    <a:pt x="0" y="560832"/>
                  </a:cubicBezTo>
                  <a:close/>
                </a:path>
              </a:pathLst>
            </a:custGeom>
            <a:solidFill>
              <a:srgbClr val="CCFBF1"/>
            </a:solidFill>
          </p:spPr>
        </p:sp>
        <p:sp>
          <p:nvSpPr>
            <p:cNvPr name="Freeform 200" id="200"/>
            <p:cNvSpPr/>
            <p:nvPr/>
          </p:nvSpPr>
          <p:spPr>
            <a:xfrm flipH="false" flipV="false" rot="0">
              <a:off x="0" y="0"/>
              <a:ext cx="2577211" cy="699770"/>
            </a:xfrm>
            <a:custGeom>
              <a:avLst/>
              <a:gdLst/>
              <a:ahLst/>
              <a:cxnLst/>
              <a:rect r="r" b="b" t="t" l="l"/>
              <a:pathLst>
                <a:path h="699770" w="2577211">
                  <a:moveTo>
                    <a:pt x="0" y="130429"/>
                  </a:moveTo>
                  <a:cubicBezTo>
                    <a:pt x="0" y="58293"/>
                    <a:pt x="59563" y="0"/>
                    <a:pt x="132588" y="0"/>
                  </a:cubicBezTo>
                  <a:lnTo>
                    <a:pt x="2444623" y="0"/>
                  </a:lnTo>
                  <a:lnTo>
                    <a:pt x="2444623" y="8509"/>
                  </a:lnTo>
                  <a:lnTo>
                    <a:pt x="2444623" y="0"/>
                  </a:lnTo>
                  <a:cubicBezTo>
                    <a:pt x="2517648" y="0"/>
                    <a:pt x="2577211" y="58293"/>
                    <a:pt x="2577211" y="130429"/>
                  </a:cubicBezTo>
                  <a:lnTo>
                    <a:pt x="2568702" y="130429"/>
                  </a:lnTo>
                  <a:lnTo>
                    <a:pt x="2577211" y="130429"/>
                  </a:lnTo>
                  <a:lnTo>
                    <a:pt x="2577211" y="569341"/>
                  </a:lnTo>
                  <a:lnTo>
                    <a:pt x="2568702" y="569341"/>
                  </a:lnTo>
                  <a:lnTo>
                    <a:pt x="2577211" y="569341"/>
                  </a:lnTo>
                  <a:cubicBezTo>
                    <a:pt x="2577211" y="641477"/>
                    <a:pt x="2517648" y="699770"/>
                    <a:pt x="2444623" y="699770"/>
                  </a:cubicBezTo>
                  <a:lnTo>
                    <a:pt x="2444623" y="691261"/>
                  </a:lnTo>
                  <a:lnTo>
                    <a:pt x="2444623" y="699770"/>
                  </a:lnTo>
                  <a:lnTo>
                    <a:pt x="132588" y="699770"/>
                  </a:lnTo>
                  <a:lnTo>
                    <a:pt x="132588" y="691261"/>
                  </a:lnTo>
                  <a:lnTo>
                    <a:pt x="132588" y="699770"/>
                  </a:lnTo>
                  <a:cubicBezTo>
                    <a:pt x="59563" y="699643"/>
                    <a:pt x="0" y="641477"/>
                    <a:pt x="0" y="569341"/>
                  </a:cubicBezTo>
                  <a:lnTo>
                    <a:pt x="0" y="130429"/>
                  </a:lnTo>
                  <a:lnTo>
                    <a:pt x="8509" y="130429"/>
                  </a:lnTo>
                  <a:lnTo>
                    <a:pt x="0" y="130429"/>
                  </a:lnTo>
                  <a:moveTo>
                    <a:pt x="16891" y="130429"/>
                  </a:moveTo>
                  <a:lnTo>
                    <a:pt x="16891" y="569341"/>
                  </a:lnTo>
                  <a:lnTo>
                    <a:pt x="8509" y="569341"/>
                  </a:lnTo>
                  <a:lnTo>
                    <a:pt x="17018" y="569341"/>
                  </a:lnTo>
                  <a:cubicBezTo>
                    <a:pt x="17018" y="631825"/>
                    <a:pt x="68707" y="682752"/>
                    <a:pt x="132715" y="682752"/>
                  </a:cubicBezTo>
                  <a:lnTo>
                    <a:pt x="2444623" y="682752"/>
                  </a:lnTo>
                  <a:cubicBezTo>
                    <a:pt x="2508631" y="682752"/>
                    <a:pt x="2560320" y="631825"/>
                    <a:pt x="2560320" y="569341"/>
                  </a:cubicBezTo>
                  <a:lnTo>
                    <a:pt x="2560320" y="130429"/>
                  </a:lnTo>
                  <a:cubicBezTo>
                    <a:pt x="2560320" y="67945"/>
                    <a:pt x="2508631" y="17018"/>
                    <a:pt x="2444623" y="17018"/>
                  </a:cubicBezTo>
                  <a:lnTo>
                    <a:pt x="132588" y="17018"/>
                  </a:lnTo>
                  <a:lnTo>
                    <a:pt x="132588" y="8509"/>
                  </a:lnTo>
                  <a:lnTo>
                    <a:pt x="132588" y="17018"/>
                  </a:lnTo>
                  <a:cubicBezTo>
                    <a:pt x="68580" y="17018"/>
                    <a:pt x="16891" y="67945"/>
                    <a:pt x="16891" y="130429"/>
                  </a:cubicBezTo>
                  <a:close/>
                </a:path>
              </a:pathLst>
            </a:custGeom>
            <a:solidFill>
              <a:srgbClr val="0D9488"/>
            </a:solidFill>
          </p:spPr>
        </p:sp>
      </p:grpSp>
      <p:grpSp>
        <p:nvGrpSpPr>
          <p:cNvPr name="Group 201" id="201"/>
          <p:cNvGrpSpPr/>
          <p:nvPr/>
        </p:nvGrpSpPr>
        <p:grpSpPr>
          <a:xfrm rot="0">
            <a:off x="11612880" y="8924544"/>
            <a:ext cx="1920240" cy="512064"/>
            <a:chOff x="0" y="0"/>
            <a:chExt cx="2560320" cy="682752"/>
          </a:xfrm>
        </p:grpSpPr>
        <p:sp>
          <p:nvSpPr>
            <p:cNvPr name="Freeform 202" id="202"/>
            <p:cNvSpPr/>
            <p:nvPr/>
          </p:nvSpPr>
          <p:spPr>
            <a:xfrm flipH="false" flipV="false" rot="0">
              <a:off x="0" y="0"/>
              <a:ext cx="2560320" cy="682752"/>
            </a:xfrm>
            <a:custGeom>
              <a:avLst/>
              <a:gdLst/>
              <a:ahLst/>
              <a:cxnLst/>
              <a:rect r="r" b="b" t="t" l="l"/>
              <a:pathLst>
                <a:path h="682752" w="2560320">
                  <a:moveTo>
                    <a:pt x="0" y="0"/>
                  </a:moveTo>
                  <a:lnTo>
                    <a:pt x="2560320" y="0"/>
                  </a:lnTo>
                  <a:lnTo>
                    <a:pt x="2560320" y="682752"/>
                  </a:lnTo>
                  <a:lnTo>
                    <a:pt x="0" y="682752"/>
                  </a:lnTo>
                  <a:close/>
                </a:path>
              </a:pathLst>
            </a:custGeom>
            <a:blipFill>
              <a:blip r:embed="rId3">
                <a:alphaModFix amt="0"/>
              </a:blip>
              <a:stretch>
                <a:fillRect l="0" t="-23068" r="0" b="-23068"/>
              </a:stretch>
            </a:blipFill>
          </p:spPr>
        </p:sp>
        <p:sp>
          <p:nvSpPr>
            <p:cNvPr name="TextBox 203" id="203"/>
            <p:cNvSpPr txBox="true"/>
            <p:nvPr/>
          </p:nvSpPr>
          <p:spPr>
            <a:xfrm>
              <a:off x="0" y="-28575"/>
              <a:ext cx="2560320" cy="711327"/>
            </a:xfrm>
            <a:prstGeom prst="rect">
              <a:avLst/>
            </a:prstGeom>
          </p:spPr>
          <p:txBody>
            <a:bodyPr anchor="ctr" rtlCol="false" tIns="0" lIns="0" bIns="0" rIns="0"/>
            <a:lstStyle/>
            <a:p>
              <a:pPr algn="ctr">
                <a:lnSpc>
                  <a:spcPts val="1920"/>
                </a:lnSpc>
              </a:pPr>
              <a:r>
                <a:rPr lang="en-US" sz="1600" b="true">
                  <a:solidFill>
                    <a:srgbClr val="0F766E"/>
                  </a:solidFill>
                  <a:latin typeface="Calibri (MS) Bold"/>
                  <a:ea typeface="Calibri (MS) Bold"/>
                  <a:cs typeface="Calibri (MS) Bold"/>
                  <a:sym typeface="Calibri (MS) Bold"/>
                </a:rPr>
                <a:t>MySQL</a:t>
              </a:r>
            </a:p>
          </p:txBody>
        </p:sp>
      </p:grpSp>
      <p:grpSp>
        <p:nvGrpSpPr>
          <p:cNvPr name="Group 204" id="204"/>
          <p:cNvGrpSpPr/>
          <p:nvPr/>
        </p:nvGrpSpPr>
        <p:grpSpPr>
          <a:xfrm rot="0">
            <a:off x="13801087" y="8918191"/>
            <a:ext cx="1932937" cy="524761"/>
            <a:chOff x="0" y="0"/>
            <a:chExt cx="2577249" cy="699681"/>
          </a:xfrm>
        </p:grpSpPr>
        <p:sp>
          <p:nvSpPr>
            <p:cNvPr name="Freeform 205" id="205"/>
            <p:cNvSpPr/>
            <p:nvPr/>
          </p:nvSpPr>
          <p:spPr>
            <a:xfrm flipH="false" flipV="false" rot="0">
              <a:off x="8509" y="8509"/>
              <a:ext cx="2560193" cy="682752"/>
            </a:xfrm>
            <a:custGeom>
              <a:avLst/>
              <a:gdLst/>
              <a:ahLst/>
              <a:cxnLst/>
              <a:rect r="r" b="b" t="t" l="l"/>
              <a:pathLst>
                <a:path h="682752" w="2560193">
                  <a:moveTo>
                    <a:pt x="0" y="121920"/>
                  </a:moveTo>
                  <a:cubicBezTo>
                    <a:pt x="0" y="54610"/>
                    <a:pt x="55626" y="0"/>
                    <a:pt x="124079" y="0"/>
                  </a:cubicBezTo>
                  <a:lnTo>
                    <a:pt x="2436114" y="0"/>
                  </a:lnTo>
                  <a:cubicBezTo>
                    <a:pt x="2504694" y="0"/>
                    <a:pt x="2560193" y="54610"/>
                    <a:pt x="2560193" y="121920"/>
                  </a:cubicBezTo>
                  <a:lnTo>
                    <a:pt x="2560193" y="560832"/>
                  </a:lnTo>
                  <a:cubicBezTo>
                    <a:pt x="2560193" y="628142"/>
                    <a:pt x="2504567" y="682752"/>
                    <a:pt x="2436114" y="682752"/>
                  </a:cubicBezTo>
                  <a:lnTo>
                    <a:pt x="124079" y="682752"/>
                  </a:lnTo>
                  <a:cubicBezTo>
                    <a:pt x="55499" y="682752"/>
                    <a:pt x="0" y="628142"/>
                    <a:pt x="0" y="560832"/>
                  </a:cubicBezTo>
                  <a:close/>
                </a:path>
              </a:pathLst>
            </a:custGeom>
            <a:solidFill>
              <a:srgbClr val="CCFBF1"/>
            </a:solidFill>
          </p:spPr>
        </p:sp>
        <p:sp>
          <p:nvSpPr>
            <p:cNvPr name="Freeform 206" id="206"/>
            <p:cNvSpPr/>
            <p:nvPr/>
          </p:nvSpPr>
          <p:spPr>
            <a:xfrm flipH="false" flipV="false" rot="0">
              <a:off x="0" y="0"/>
              <a:ext cx="2577211" cy="699770"/>
            </a:xfrm>
            <a:custGeom>
              <a:avLst/>
              <a:gdLst/>
              <a:ahLst/>
              <a:cxnLst/>
              <a:rect r="r" b="b" t="t" l="l"/>
              <a:pathLst>
                <a:path h="699770" w="2577211">
                  <a:moveTo>
                    <a:pt x="0" y="130429"/>
                  </a:moveTo>
                  <a:cubicBezTo>
                    <a:pt x="0" y="58293"/>
                    <a:pt x="59563" y="0"/>
                    <a:pt x="132588" y="0"/>
                  </a:cubicBezTo>
                  <a:lnTo>
                    <a:pt x="2444623" y="0"/>
                  </a:lnTo>
                  <a:lnTo>
                    <a:pt x="2444623" y="8509"/>
                  </a:lnTo>
                  <a:lnTo>
                    <a:pt x="2444623" y="0"/>
                  </a:lnTo>
                  <a:cubicBezTo>
                    <a:pt x="2517648" y="0"/>
                    <a:pt x="2577211" y="58293"/>
                    <a:pt x="2577211" y="130429"/>
                  </a:cubicBezTo>
                  <a:lnTo>
                    <a:pt x="2568702" y="130429"/>
                  </a:lnTo>
                  <a:lnTo>
                    <a:pt x="2577211" y="130429"/>
                  </a:lnTo>
                  <a:lnTo>
                    <a:pt x="2577211" y="569341"/>
                  </a:lnTo>
                  <a:lnTo>
                    <a:pt x="2568702" y="569341"/>
                  </a:lnTo>
                  <a:lnTo>
                    <a:pt x="2577211" y="569341"/>
                  </a:lnTo>
                  <a:cubicBezTo>
                    <a:pt x="2577211" y="641477"/>
                    <a:pt x="2517648" y="699770"/>
                    <a:pt x="2444623" y="699770"/>
                  </a:cubicBezTo>
                  <a:lnTo>
                    <a:pt x="2444623" y="691261"/>
                  </a:lnTo>
                  <a:lnTo>
                    <a:pt x="2444623" y="699770"/>
                  </a:lnTo>
                  <a:lnTo>
                    <a:pt x="132588" y="699770"/>
                  </a:lnTo>
                  <a:lnTo>
                    <a:pt x="132588" y="691261"/>
                  </a:lnTo>
                  <a:lnTo>
                    <a:pt x="132588" y="699770"/>
                  </a:lnTo>
                  <a:cubicBezTo>
                    <a:pt x="59563" y="699643"/>
                    <a:pt x="0" y="641477"/>
                    <a:pt x="0" y="569341"/>
                  </a:cubicBezTo>
                  <a:lnTo>
                    <a:pt x="0" y="130429"/>
                  </a:lnTo>
                  <a:lnTo>
                    <a:pt x="8509" y="130429"/>
                  </a:lnTo>
                  <a:lnTo>
                    <a:pt x="0" y="130429"/>
                  </a:lnTo>
                  <a:moveTo>
                    <a:pt x="16891" y="130429"/>
                  </a:moveTo>
                  <a:lnTo>
                    <a:pt x="16891" y="569341"/>
                  </a:lnTo>
                  <a:lnTo>
                    <a:pt x="8509" y="569341"/>
                  </a:lnTo>
                  <a:lnTo>
                    <a:pt x="17018" y="569341"/>
                  </a:lnTo>
                  <a:cubicBezTo>
                    <a:pt x="17018" y="631825"/>
                    <a:pt x="68707" y="682752"/>
                    <a:pt x="132715" y="682752"/>
                  </a:cubicBezTo>
                  <a:lnTo>
                    <a:pt x="2444623" y="682752"/>
                  </a:lnTo>
                  <a:cubicBezTo>
                    <a:pt x="2508631" y="682752"/>
                    <a:pt x="2560320" y="631825"/>
                    <a:pt x="2560320" y="569341"/>
                  </a:cubicBezTo>
                  <a:lnTo>
                    <a:pt x="2560320" y="130429"/>
                  </a:lnTo>
                  <a:cubicBezTo>
                    <a:pt x="2560320" y="67945"/>
                    <a:pt x="2508631" y="17018"/>
                    <a:pt x="2444623" y="17018"/>
                  </a:cubicBezTo>
                  <a:lnTo>
                    <a:pt x="132588" y="17018"/>
                  </a:lnTo>
                  <a:lnTo>
                    <a:pt x="132588" y="8509"/>
                  </a:lnTo>
                  <a:lnTo>
                    <a:pt x="132588" y="17018"/>
                  </a:lnTo>
                  <a:cubicBezTo>
                    <a:pt x="68580" y="17018"/>
                    <a:pt x="16891" y="67945"/>
                    <a:pt x="16891" y="130429"/>
                  </a:cubicBezTo>
                  <a:close/>
                </a:path>
              </a:pathLst>
            </a:custGeom>
            <a:solidFill>
              <a:srgbClr val="0D9488"/>
            </a:solidFill>
          </p:spPr>
        </p:sp>
      </p:grpSp>
      <p:grpSp>
        <p:nvGrpSpPr>
          <p:cNvPr name="Group 207" id="207"/>
          <p:cNvGrpSpPr/>
          <p:nvPr/>
        </p:nvGrpSpPr>
        <p:grpSpPr>
          <a:xfrm rot="0">
            <a:off x="13807440" y="8924544"/>
            <a:ext cx="1920240" cy="512064"/>
            <a:chOff x="0" y="0"/>
            <a:chExt cx="2560320" cy="682752"/>
          </a:xfrm>
        </p:grpSpPr>
        <p:sp>
          <p:nvSpPr>
            <p:cNvPr name="Freeform 208" id="208"/>
            <p:cNvSpPr/>
            <p:nvPr/>
          </p:nvSpPr>
          <p:spPr>
            <a:xfrm flipH="false" flipV="false" rot="0">
              <a:off x="0" y="0"/>
              <a:ext cx="2560320" cy="682752"/>
            </a:xfrm>
            <a:custGeom>
              <a:avLst/>
              <a:gdLst/>
              <a:ahLst/>
              <a:cxnLst/>
              <a:rect r="r" b="b" t="t" l="l"/>
              <a:pathLst>
                <a:path h="682752" w="2560320">
                  <a:moveTo>
                    <a:pt x="0" y="0"/>
                  </a:moveTo>
                  <a:lnTo>
                    <a:pt x="2560320" y="0"/>
                  </a:lnTo>
                  <a:lnTo>
                    <a:pt x="2560320" y="682752"/>
                  </a:lnTo>
                  <a:lnTo>
                    <a:pt x="0" y="682752"/>
                  </a:lnTo>
                  <a:close/>
                </a:path>
              </a:pathLst>
            </a:custGeom>
            <a:blipFill>
              <a:blip r:embed="rId3">
                <a:alphaModFix amt="0"/>
              </a:blip>
              <a:stretch>
                <a:fillRect l="0" t="-23068" r="0" b="-23068"/>
              </a:stretch>
            </a:blipFill>
          </p:spPr>
        </p:sp>
        <p:sp>
          <p:nvSpPr>
            <p:cNvPr name="TextBox 209" id="209"/>
            <p:cNvSpPr txBox="true"/>
            <p:nvPr/>
          </p:nvSpPr>
          <p:spPr>
            <a:xfrm>
              <a:off x="0" y="-28575"/>
              <a:ext cx="2560320" cy="711327"/>
            </a:xfrm>
            <a:prstGeom prst="rect">
              <a:avLst/>
            </a:prstGeom>
          </p:spPr>
          <p:txBody>
            <a:bodyPr anchor="ctr" rtlCol="false" tIns="0" lIns="0" bIns="0" rIns="0"/>
            <a:lstStyle/>
            <a:p>
              <a:pPr algn="ctr">
                <a:lnSpc>
                  <a:spcPts val="1920"/>
                </a:lnSpc>
              </a:pPr>
              <a:r>
                <a:rPr lang="en-US" sz="1600" b="true">
                  <a:solidFill>
                    <a:srgbClr val="0F766E"/>
                  </a:solidFill>
                  <a:latin typeface="Calibri (MS) Bold"/>
                  <a:ea typeface="Calibri (MS) Bold"/>
                  <a:cs typeface="Calibri (MS) Bold"/>
                  <a:sym typeface="Calibri (MS) Bold"/>
                </a:rPr>
                <a:t>Chart.js</a:t>
              </a:r>
            </a:p>
          </p:txBody>
        </p:sp>
      </p:grpSp>
      <p:grpSp>
        <p:nvGrpSpPr>
          <p:cNvPr name="Group 210" id="210"/>
          <p:cNvGrpSpPr/>
          <p:nvPr/>
        </p:nvGrpSpPr>
        <p:grpSpPr>
          <a:xfrm rot="0">
            <a:off x="15995647" y="8918191"/>
            <a:ext cx="1932937" cy="524761"/>
            <a:chOff x="0" y="0"/>
            <a:chExt cx="2577249" cy="699681"/>
          </a:xfrm>
        </p:grpSpPr>
        <p:sp>
          <p:nvSpPr>
            <p:cNvPr name="Freeform 211" id="211"/>
            <p:cNvSpPr/>
            <p:nvPr/>
          </p:nvSpPr>
          <p:spPr>
            <a:xfrm flipH="false" flipV="false" rot="0">
              <a:off x="8509" y="8509"/>
              <a:ext cx="2560193" cy="682752"/>
            </a:xfrm>
            <a:custGeom>
              <a:avLst/>
              <a:gdLst/>
              <a:ahLst/>
              <a:cxnLst/>
              <a:rect r="r" b="b" t="t" l="l"/>
              <a:pathLst>
                <a:path h="682752" w="2560193">
                  <a:moveTo>
                    <a:pt x="0" y="121920"/>
                  </a:moveTo>
                  <a:cubicBezTo>
                    <a:pt x="0" y="54610"/>
                    <a:pt x="55626" y="0"/>
                    <a:pt x="124079" y="0"/>
                  </a:cubicBezTo>
                  <a:lnTo>
                    <a:pt x="2436114" y="0"/>
                  </a:lnTo>
                  <a:cubicBezTo>
                    <a:pt x="2504694" y="0"/>
                    <a:pt x="2560193" y="54610"/>
                    <a:pt x="2560193" y="121920"/>
                  </a:cubicBezTo>
                  <a:lnTo>
                    <a:pt x="2560193" y="560832"/>
                  </a:lnTo>
                  <a:cubicBezTo>
                    <a:pt x="2560193" y="628142"/>
                    <a:pt x="2504567" y="682752"/>
                    <a:pt x="2436114" y="682752"/>
                  </a:cubicBezTo>
                  <a:lnTo>
                    <a:pt x="124079" y="682752"/>
                  </a:lnTo>
                  <a:cubicBezTo>
                    <a:pt x="55499" y="682752"/>
                    <a:pt x="0" y="628142"/>
                    <a:pt x="0" y="560832"/>
                  </a:cubicBezTo>
                  <a:close/>
                </a:path>
              </a:pathLst>
            </a:custGeom>
            <a:solidFill>
              <a:srgbClr val="CCFBF1"/>
            </a:solidFill>
          </p:spPr>
        </p:sp>
        <p:sp>
          <p:nvSpPr>
            <p:cNvPr name="Freeform 212" id="212"/>
            <p:cNvSpPr/>
            <p:nvPr/>
          </p:nvSpPr>
          <p:spPr>
            <a:xfrm flipH="false" flipV="false" rot="0">
              <a:off x="0" y="0"/>
              <a:ext cx="2577211" cy="699770"/>
            </a:xfrm>
            <a:custGeom>
              <a:avLst/>
              <a:gdLst/>
              <a:ahLst/>
              <a:cxnLst/>
              <a:rect r="r" b="b" t="t" l="l"/>
              <a:pathLst>
                <a:path h="699770" w="2577211">
                  <a:moveTo>
                    <a:pt x="0" y="130429"/>
                  </a:moveTo>
                  <a:cubicBezTo>
                    <a:pt x="0" y="58293"/>
                    <a:pt x="59563" y="0"/>
                    <a:pt x="132588" y="0"/>
                  </a:cubicBezTo>
                  <a:lnTo>
                    <a:pt x="2444623" y="0"/>
                  </a:lnTo>
                  <a:lnTo>
                    <a:pt x="2444623" y="8509"/>
                  </a:lnTo>
                  <a:lnTo>
                    <a:pt x="2444623" y="0"/>
                  </a:lnTo>
                  <a:cubicBezTo>
                    <a:pt x="2517648" y="0"/>
                    <a:pt x="2577211" y="58293"/>
                    <a:pt x="2577211" y="130429"/>
                  </a:cubicBezTo>
                  <a:lnTo>
                    <a:pt x="2568702" y="130429"/>
                  </a:lnTo>
                  <a:lnTo>
                    <a:pt x="2577211" y="130429"/>
                  </a:lnTo>
                  <a:lnTo>
                    <a:pt x="2577211" y="569341"/>
                  </a:lnTo>
                  <a:lnTo>
                    <a:pt x="2568702" y="569341"/>
                  </a:lnTo>
                  <a:lnTo>
                    <a:pt x="2577211" y="569341"/>
                  </a:lnTo>
                  <a:cubicBezTo>
                    <a:pt x="2577211" y="641477"/>
                    <a:pt x="2517648" y="699770"/>
                    <a:pt x="2444623" y="699770"/>
                  </a:cubicBezTo>
                  <a:lnTo>
                    <a:pt x="2444623" y="691261"/>
                  </a:lnTo>
                  <a:lnTo>
                    <a:pt x="2444623" y="699770"/>
                  </a:lnTo>
                  <a:lnTo>
                    <a:pt x="132588" y="699770"/>
                  </a:lnTo>
                  <a:lnTo>
                    <a:pt x="132588" y="691261"/>
                  </a:lnTo>
                  <a:lnTo>
                    <a:pt x="132588" y="699770"/>
                  </a:lnTo>
                  <a:cubicBezTo>
                    <a:pt x="59563" y="699643"/>
                    <a:pt x="0" y="641477"/>
                    <a:pt x="0" y="569341"/>
                  </a:cubicBezTo>
                  <a:lnTo>
                    <a:pt x="0" y="130429"/>
                  </a:lnTo>
                  <a:lnTo>
                    <a:pt x="8509" y="130429"/>
                  </a:lnTo>
                  <a:lnTo>
                    <a:pt x="0" y="130429"/>
                  </a:lnTo>
                  <a:moveTo>
                    <a:pt x="16891" y="130429"/>
                  </a:moveTo>
                  <a:lnTo>
                    <a:pt x="16891" y="569341"/>
                  </a:lnTo>
                  <a:lnTo>
                    <a:pt x="8509" y="569341"/>
                  </a:lnTo>
                  <a:lnTo>
                    <a:pt x="17018" y="569341"/>
                  </a:lnTo>
                  <a:cubicBezTo>
                    <a:pt x="17018" y="631825"/>
                    <a:pt x="68707" y="682752"/>
                    <a:pt x="132715" y="682752"/>
                  </a:cubicBezTo>
                  <a:lnTo>
                    <a:pt x="2444623" y="682752"/>
                  </a:lnTo>
                  <a:cubicBezTo>
                    <a:pt x="2508631" y="682752"/>
                    <a:pt x="2560320" y="631825"/>
                    <a:pt x="2560320" y="569341"/>
                  </a:cubicBezTo>
                  <a:lnTo>
                    <a:pt x="2560320" y="130429"/>
                  </a:lnTo>
                  <a:cubicBezTo>
                    <a:pt x="2560320" y="67945"/>
                    <a:pt x="2508631" y="17018"/>
                    <a:pt x="2444623" y="17018"/>
                  </a:cubicBezTo>
                  <a:lnTo>
                    <a:pt x="132588" y="17018"/>
                  </a:lnTo>
                  <a:lnTo>
                    <a:pt x="132588" y="8509"/>
                  </a:lnTo>
                  <a:lnTo>
                    <a:pt x="132588" y="17018"/>
                  </a:lnTo>
                  <a:cubicBezTo>
                    <a:pt x="68580" y="17018"/>
                    <a:pt x="16891" y="67945"/>
                    <a:pt x="16891" y="130429"/>
                  </a:cubicBezTo>
                  <a:close/>
                </a:path>
              </a:pathLst>
            </a:custGeom>
            <a:solidFill>
              <a:srgbClr val="0D9488"/>
            </a:solidFill>
          </p:spPr>
        </p:sp>
      </p:grpSp>
      <p:grpSp>
        <p:nvGrpSpPr>
          <p:cNvPr name="Group 213" id="213"/>
          <p:cNvGrpSpPr/>
          <p:nvPr/>
        </p:nvGrpSpPr>
        <p:grpSpPr>
          <a:xfrm rot="0">
            <a:off x="16002000" y="8924544"/>
            <a:ext cx="1920240" cy="512064"/>
            <a:chOff x="0" y="0"/>
            <a:chExt cx="2560320" cy="682752"/>
          </a:xfrm>
        </p:grpSpPr>
        <p:sp>
          <p:nvSpPr>
            <p:cNvPr name="Freeform 214" id="214"/>
            <p:cNvSpPr/>
            <p:nvPr/>
          </p:nvSpPr>
          <p:spPr>
            <a:xfrm flipH="false" flipV="false" rot="0">
              <a:off x="0" y="0"/>
              <a:ext cx="2560320" cy="682752"/>
            </a:xfrm>
            <a:custGeom>
              <a:avLst/>
              <a:gdLst/>
              <a:ahLst/>
              <a:cxnLst/>
              <a:rect r="r" b="b" t="t" l="l"/>
              <a:pathLst>
                <a:path h="682752" w="2560320">
                  <a:moveTo>
                    <a:pt x="0" y="0"/>
                  </a:moveTo>
                  <a:lnTo>
                    <a:pt x="2560320" y="0"/>
                  </a:lnTo>
                  <a:lnTo>
                    <a:pt x="2560320" y="682752"/>
                  </a:lnTo>
                  <a:lnTo>
                    <a:pt x="0" y="682752"/>
                  </a:lnTo>
                  <a:close/>
                </a:path>
              </a:pathLst>
            </a:custGeom>
            <a:blipFill>
              <a:blip r:embed="rId3">
                <a:alphaModFix amt="0"/>
              </a:blip>
              <a:stretch>
                <a:fillRect l="0" t="-23068" r="0" b="-23068"/>
              </a:stretch>
            </a:blipFill>
          </p:spPr>
        </p:sp>
        <p:sp>
          <p:nvSpPr>
            <p:cNvPr name="TextBox 215" id="215"/>
            <p:cNvSpPr txBox="true"/>
            <p:nvPr/>
          </p:nvSpPr>
          <p:spPr>
            <a:xfrm>
              <a:off x="0" y="-28575"/>
              <a:ext cx="2560320" cy="711327"/>
            </a:xfrm>
            <a:prstGeom prst="rect">
              <a:avLst/>
            </a:prstGeom>
          </p:spPr>
          <p:txBody>
            <a:bodyPr anchor="ctr" rtlCol="false" tIns="0" lIns="0" bIns="0" rIns="0"/>
            <a:lstStyle/>
            <a:p>
              <a:pPr algn="ctr">
                <a:lnSpc>
                  <a:spcPts val="1920"/>
                </a:lnSpc>
              </a:pPr>
              <a:r>
                <a:rPr lang="en-US" sz="1600" b="true">
                  <a:solidFill>
                    <a:srgbClr val="0F766E"/>
                  </a:solidFill>
                  <a:latin typeface="Calibri (MS) Bold"/>
                  <a:ea typeface="Calibri (MS) Bold"/>
                  <a:cs typeface="Calibri (MS) Bold"/>
                  <a:sym typeface="Calibri (MS) Bold"/>
                </a:rPr>
                <a:t>Jupyter</a:t>
              </a:r>
            </a:p>
          </p:txBody>
        </p:sp>
      </p:grpSp>
      <p:grpSp>
        <p:nvGrpSpPr>
          <p:cNvPr name="Group 216" id="216"/>
          <p:cNvGrpSpPr/>
          <p:nvPr/>
        </p:nvGrpSpPr>
        <p:grpSpPr>
          <a:xfrm rot="0">
            <a:off x="-12697" y="9588503"/>
            <a:ext cx="18313403" cy="711203"/>
            <a:chOff x="0" y="0"/>
            <a:chExt cx="24417871" cy="948271"/>
          </a:xfrm>
        </p:grpSpPr>
        <p:sp>
          <p:nvSpPr>
            <p:cNvPr name="Freeform 217" id="217"/>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218" id="218"/>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219" id="219"/>
          <p:cNvGrpSpPr/>
          <p:nvPr/>
        </p:nvGrpSpPr>
        <p:grpSpPr>
          <a:xfrm rot="0">
            <a:off x="731520" y="9637776"/>
            <a:ext cx="16824960" cy="585216"/>
            <a:chOff x="0" y="0"/>
            <a:chExt cx="22433280" cy="780288"/>
          </a:xfrm>
        </p:grpSpPr>
        <p:sp>
          <p:nvSpPr>
            <p:cNvPr name="Freeform 220" id="220"/>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221" id="221"/>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D948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D948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FFFFFF"/>
                  </a:solidFill>
                  <a:latin typeface="Calibri (MS) Bold"/>
                  <a:ea typeface="Calibri (MS) Bold"/>
                  <a:cs typeface="Calibri (MS) Bold"/>
                  <a:sym typeface="Calibri (MS) Bold"/>
                </a:rPr>
                <a:t>THE AI MODEL</a:t>
              </a:r>
            </a:p>
          </p:txBody>
        </p:sp>
      </p:grpSp>
      <p:grpSp>
        <p:nvGrpSpPr>
          <p:cNvPr name="Group 8" id="8"/>
          <p:cNvGrpSpPr/>
          <p:nvPr/>
        </p:nvGrpSpPr>
        <p:grpSpPr>
          <a:xfrm rot="0">
            <a:off x="694944" y="1371600"/>
            <a:ext cx="10241280" cy="621792"/>
            <a:chOff x="0" y="0"/>
            <a:chExt cx="13655040" cy="829056"/>
          </a:xfrm>
        </p:grpSpPr>
        <p:sp>
          <p:nvSpPr>
            <p:cNvPr name="Freeform 9" id="9"/>
            <p:cNvSpPr/>
            <p:nvPr/>
          </p:nvSpPr>
          <p:spPr>
            <a:xfrm flipH="false" flipV="false" rot="0">
              <a:off x="0" y="0"/>
              <a:ext cx="13655039" cy="829056"/>
            </a:xfrm>
            <a:custGeom>
              <a:avLst/>
              <a:gdLst/>
              <a:ahLst/>
              <a:cxnLst/>
              <a:rect r="r" b="b" t="t" l="l"/>
              <a:pathLst>
                <a:path h="829056" w="13655039">
                  <a:moveTo>
                    <a:pt x="0" y="0"/>
                  </a:moveTo>
                  <a:lnTo>
                    <a:pt x="13655039" y="0"/>
                  </a:lnTo>
                  <a:lnTo>
                    <a:pt x="13655039" y="829056"/>
                  </a:lnTo>
                  <a:lnTo>
                    <a:pt x="0" y="829056"/>
                  </a:lnTo>
                  <a:close/>
                </a:path>
              </a:pathLst>
            </a:custGeom>
            <a:blipFill>
              <a:blip r:embed="rId3">
                <a:alphaModFix amt="0"/>
              </a:blip>
              <a:stretch>
                <a:fillRect l="0" t="-270930" r="0" b="-270930"/>
              </a:stretch>
            </a:blipFill>
          </p:spPr>
        </p:sp>
        <p:sp>
          <p:nvSpPr>
            <p:cNvPr name="TextBox 10" id="10"/>
            <p:cNvSpPr txBox="true"/>
            <p:nvPr/>
          </p:nvSpPr>
          <p:spPr>
            <a:xfrm>
              <a:off x="0" y="-57150"/>
              <a:ext cx="13655040" cy="886206"/>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Algorithm comparison</a:t>
              </a:r>
            </a:p>
          </p:txBody>
        </p:sp>
      </p:grpSp>
      <p:graphicFrame>
        <p:nvGraphicFramePr>
          <p:cNvPr name="Table 11" id="11"/>
          <p:cNvGraphicFramePr>
            <a:graphicFrameLocks noGrp="true"/>
          </p:cNvGraphicFramePr>
          <p:nvPr/>
        </p:nvGraphicFramePr>
        <p:xfrm>
          <a:off x="694944" y="2048256"/>
          <a:ext cx="10083800" cy="3962400"/>
        </p:xfrm>
        <a:graphic>
          <a:graphicData uri="http://schemas.openxmlformats.org/drawingml/2006/table">
            <a:tbl>
              <a:tblPr/>
              <a:tblGrid>
                <a:gridCol w="2806317"/>
                <a:gridCol w="1639926"/>
                <a:gridCol w="2088538"/>
                <a:gridCol w="1729648"/>
                <a:gridCol w="1819371"/>
              </a:tblGrid>
              <a:tr h="660400">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Algorithm</a:t>
                      </a: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9488"/>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Accuracy</a:t>
                      </a: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9488"/>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Interpretability</a:t>
                      </a: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9488"/>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Speed</a:t>
                      </a: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9488"/>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Our role</a:t>
                      </a: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9488"/>
                    </a:solidFill>
                  </a:tcPr>
                </a:tc>
              </a:tr>
              <a:tr h="660400">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r>
              <a:tr h="660400">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r>
              <a:tr h="660400">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r>
              <a:tr h="660400">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r>
              <a:tr h="660400">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c>
                  <a:txBody>
                    <a:bodyPr anchor="t" rtlCol="false"/>
                    <a:lstStyle/>
                    <a:p>
                      <a:pPr algn="l">
                        <a:lnSpc>
                          <a:spcPts val="2160"/>
                        </a:lnSpc>
                        <a:defRPr/>
                      </a:pPr>
                      <a:endParaRPr lang="en-US" sz="1100"/>
                    </a:p>
                  </a:txBody>
                  <a:tcPr marL="91440" marR="91440" marT="91440" marB="91440" anchor="ctr">
                    <a:lnL cmpd="sng" algn="ctr" cap="flat" w="6350">
                      <a:solidFill>
                        <a:srgbClr val="1E3A5F"/>
                      </a:solidFill>
                      <a:prstDash val="solid"/>
                      <a:round/>
                      <a:headEnd type="none" w="med" len="med"/>
                      <a:tailEnd type="none" w="med" len="med"/>
                    </a:lnL>
                    <a:lnR cmpd="sng" algn="ctr" cap="flat" w="6350">
                      <a:solidFill>
                        <a:srgbClr val="1E3A5F"/>
                      </a:solidFill>
                      <a:prstDash val="solid"/>
                      <a:round/>
                      <a:headEnd type="none" w="med" len="med"/>
                      <a:tailEnd type="none" w="med" len="med"/>
                    </a:lnR>
                    <a:lnT cmpd="sng" algn="ctr" cap="flat" w="6350">
                      <a:solidFill>
                        <a:srgbClr val="1E3A5F"/>
                      </a:solidFill>
                      <a:prstDash val="solid"/>
                      <a:round/>
                      <a:headEnd type="none" w="med" len="med"/>
                      <a:tailEnd type="none" w="med" len="med"/>
                    </a:lnT>
                    <a:lnB cmpd="sng" algn="ctr" cap="flat" w="6350">
                      <a:solidFill>
                        <a:srgbClr val="1E3A5F"/>
                      </a:solidFill>
                      <a:prstDash val="solid"/>
                      <a:round/>
                      <a:headEnd type="none" w="med" len="med"/>
                      <a:tailEnd type="none" w="med" len="med"/>
                    </a:lnB>
                    <a:solidFill>
                      <a:srgbClr val="0D1F38"/>
                    </a:solidFill>
                  </a:tcPr>
                </a:tc>
              </a:tr>
            </a:tbl>
          </a:graphicData>
        </a:graphic>
      </p:graphicFrame>
      <p:grpSp>
        <p:nvGrpSpPr>
          <p:cNvPr name="Group 12" id="12"/>
          <p:cNvGrpSpPr/>
          <p:nvPr/>
        </p:nvGrpSpPr>
        <p:grpSpPr>
          <a:xfrm rot="0">
            <a:off x="694944" y="6309360"/>
            <a:ext cx="10058400" cy="548640"/>
            <a:chOff x="0" y="0"/>
            <a:chExt cx="13411200" cy="731520"/>
          </a:xfrm>
        </p:grpSpPr>
        <p:sp>
          <p:nvSpPr>
            <p:cNvPr name="Freeform 13" id="13"/>
            <p:cNvSpPr/>
            <p:nvPr/>
          </p:nvSpPr>
          <p:spPr>
            <a:xfrm flipH="false" flipV="false" rot="0">
              <a:off x="0" y="0"/>
              <a:ext cx="13411200" cy="731520"/>
            </a:xfrm>
            <a:custGeom>
              <a:avLst/>
              <a:gdLst/>
              <a:ahLst/>
              <a:cxnLst/>
              <a:rect r="r" b="b" t="t" l="l"/>
              <a:pathLst>
                <a:path h="731520" w="13411200">
                  <a:moveTo>
                    <a:pt x="0" y="0"/>
                  </a:moveTo>
                  <a:lnTo>
                    <a:pt x="13411200" y="0"/>
                  </a:lnTo>
                  <a:lnTo>
                    <a:pt x="13411200" y="731520"/>
                  </a:lnTo>
                  <a:lnTo>
                    <a:pt x="0" y="731520"/>
                  </a:lnTo>
                  <a:close/>
                </a:path>
              </a:pathLst>
            </a:custGeom>
            <a:blipFill>
              <a:blip r:embed="rId3">
                <a:alphaModFix amt="0"/>
              </a:blip>
              <a:stretch>
                <a:fillRect l="0" t="-307225" r="0" b="-307225"/>
              </a:stretch>
            </a:blipFill>
          </p:spPr>
        </p:sp>
        <p:sp>
          <p:nvSpPr>
            <p:cNvPr name="TextBox 14" id="14"/>
            <p:cNvSpPr txBox="true"/>
            <p:nvPr/>
          </p:nvSpPr>
          <p:spPr>
            <a:xfrm>
              <a:off x="0" y="-47625"/>
              <a:ext cx="13411200" cy="77914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Model training pipeline</a:t>
              </a:r>
            </a:p>
          </p:txBody>
        </p:sp>
      </p:grpSp>
      <p:grpSp>
        <p:nvGrpSpPr>
          <p:cNvPr name="Group 15" id="15"/>
          <p:cNvGrpSpPr/>
          <p:nvPr/>
        </p:nvGrpSpPr>
        <p:grpSpPr>
          <a:xfrm rot="0">
            <a:off x="-103251" y="6979663"/>
            <a:ext cx="2609593" cy="1073401"/>
            <a:chOff x="0" y="0"/>
            <a:chExt cx="3479457" cy="1431201"/>
          </a:xfrm>
        </p:grpSpPr>
        <p:sp>
          <p:nvSpPr>
            <p:cNvPr name="Freeform 16" id="16"/>
            <p:cNvSpPr/>
            <p:nvPr/>
          </p:nvSpPr>
          <p:spPr>
            <a:xfrm flipH="false" flipV="false" rot="0">
              <a:off x="8509" y="8509"/>
              <a:ext cx="3462528" cy="1414272"/>
            </a:xfrm>
            <a:custGeom>
              <a:avLst/>
              <a:gdLst/>
              <a:ahLst/>
              <a:cxnLst/>
              <a:rect r="r" b="b" t="t" l="l"/>
              <a:pathLst>
                <a:path h="1414272" w="3462528">
                  <a:moveTo>
                    <a:pt x="0" y="0"/>
                  </a:moveTo>
                  <a:lnTo>
                    <a:pt x="3462528" y="0"/>
                  </a:lnTo>
                  <a:lnTo>
                    <a:pt x="3462528" y="1414272"/>
                  </a:lnTo>
                  <a:lnTo>
                    <a:pt x="0" y="1414272"/>
                  </a:lnTo>
                  <a:close/>
                </a:path>
              </a:pathLst>
            </a:custGeom>
            <a:solidFill>
              <a:srgbClr val="0D1F38"/>
            </a:solidFill>
          </p:spPr>
        </p:sp>
        <p:sp>
          <p:nvSpPr>
            <p:cNvPr name="Freeform 17" id="17"/>
            <p:cNvSpPr/>
            <p:nvPr/>
          </p:nvSpPr>
          <p:spPr>
            <a:xfrm flipH="false" flipV="false" rot="0">
              <a:off x="0" y="0"/>
              <a:ext cx="3479546" cy="1431290"/>
            </a:xfrm>
            <a:custGeom>
              <a:avLst/>
              <a:gdLst/>
              <a:ahLst/>
              <a:cxnLst/>
              <a:rect r="r" b="b" t="t" l="l"/>
              <a:pathLst>
                <a:path h="1431290" w="3479546">
                  <a:moveTo>
                    <a:pt x="8509" y="0"/>
                  </a:moveTo>
                  <a:lnTo>
                    <a:pt x="3471037" y="0"/>
                  </a:lnTo>
                  <a:cubicBezTo>
                    <a:pt x="3475736" y="0"/>
                    <a:pt x="3479546" y="3810"/>
                    <a:pt x="3479546" y="8509"/>
                  </a:cubicBezTo>
                  <a:lnTo>
                    <a:pt x="3479546" y="1422781"/>
                  </a:lnTo>
                  <a:cubicBezTo>
                    <a:pt x="3479546" y="1427480"/>
                    <a:pt x="3475736" y="1431290"/>
                    <a:pt x="3471037" y="1431290"/>
                  </a:cubicBezTo>
                  <a:lnTo>
                    <a:pt x="8509" y="1431290"/>
                  </a:lnTo>
                  <a:cubicBezTo>
                    <a:pt x="3810" y="1431290"/>
                    <a:pt x="0" y="1427480"/>
                    <a:pt x="0" y="1422781"/>
                  </a:cubicBezTo>
                  <a:lnTo>
                    <a:pt x="0" y="8509"/>
                  </a:lnTo>
                  <a:cubicBezTo>
                    <a:pt x="0" y="3810"/>
                    <a:pt x="3810" y="0"/>
                    <a:pt x="8509" y="0"/>
                  </a:cubicBezTo>
                  <a:moveTo>
                    <a:pt x="8509" y="16891"/>
                  </a:moveTo>
                  <a:lnTo>
                    <a:pt x="8509" y="8509"/>
                  </a:lnTo>
                  <a:lnTo>
                    <a:pt x="17018" y="8509"/>
                  </a:lnTo>
                  <a:lnTo>
                    <a:pt x="17018" y="1422781"/>
                  </a:lnTo>
                  <a:lnTo>
                    <a:pt x="8509" y="1422781"/>
                  </a:lnTo>
                  <a:lnTo>
                    <a:pt x="8509" y="1414272"/>
                  </a:lnTo>
                  <a:lnTo>
                    <a:pt x="3471037" y="1414272"/>
                  </a:lnTo>
                  <a:lnTo>
                    <a:pt x="3471037" y="1422781"/>
                  </a:lnTo>
                  <a:lnTo>
                    <a:pt x="3462528" y="1422781"/>
                  </a:lnTo>
                  <a:lnTo>
                    <a:pt x="3462528" y="8509"/>
                  </a:lnTo>
                  <a:lnTo>
                    <a:pt x="3471037" y="8509"/>
                  </a:lnTo>
                  <a:lnTo>
                    <a:pt x="3471037" y="17018"/>
                  </a:lnTo>
                  <a:lnTo>
                    <a:pt x="8509" y="17018"/>
                  </a:lnTo>
                  <a:close/>
                </a:path>
              </a:pathLst>
            </a:custGeom>
            <a:solidFill>
              <a:srgbClr val="0D9488"/>
            </a:solidFill>
          </p:spPr>
        </p:sp>
      </p:grpSp>
      <p:grpSp>
        <p:nvGrpSpPr>
          <p:cNvPr name="Group 18" id="18"/>
          <p:cNvGrpSpPr/>
          <p:nvPr/>
        </p:nvGrpSpPr>
        <p:grpSpPr>
          <a:xfrm rot="0">
            <a:off x="-96898" y="6986016"/>
            <a:ext cx="2596896" cy="1060704"/>
            <a:chOff x="0" y="0"/>
            <a:chExt cx="3462528" cy="1414272"/>
          </a:xfrm>
        </p:grpSpPr>
        <p:sp>
          <p:nvSpPr>
            <p:cNvPr name="Freeform 19" id="19"/>
            <p:cNvSpPr/>
            <p:nvPr/>
          </p:nvSpPr>
          <p:spPr>
            <a:xfrm flipH="false" flipV="false" rot="0">
              <a:off x="0" y="0"/>
              <a:ext cx="3462528" cy="1414272"/>
            </a:xfrm>
            <a:custGeom>
              <a:avLst/>
              <a:gdLst/>
              <a:ahLst/>
              <a:cxnLst/>
              <a:rect r="r" b="b" t="t" l="l"/>
              <a:pathLst>
                <a:path h="1414272" w="3462528">
                  <a:moveTo>
                    <a:pt x="0" y="0"/>
                  </a:moveTo>
                  <a:lnTo>
                    <a:pt x="3462528" y="0"/>
                  </a:lnTo>
                  <a:lnTo>
                    <a:pt x="3462528" y="1414272"/>
                  </a:lnTo>
                  <a:lnTo>
                    <a:pt x="0" y="1414272"/>
                  </a:lnTo>
                  <a:close/>
                </a:path>
              </a:pathLst>
            </a:custGeom>
            <a:blipFill>
              <a:blip r:embed="rId3">
                <a:alphaModFix amt="0"/>
              </a:blip>
              <a:stretch>
                <a:fillRect l="-2405" t="0" r="-2405" b="0"/>
              </a:stretch>
            </a:blipFill>
          </p:spPr>
        </p:sp>
        <p:sp>
          <p:nvSpPr>
            <p:cNvPr name="TextBox 20" id="20"/>
            <p:cNvSpPr txBox="true"/>
            <p:nvPr/>
          </p:nvSpPr>
          <p:spPr>
            <a:xfrm>
              <a:off x="0" y="-28575"/>
              <a:ext cx="3462528" cy="1442847"/>
            </a:xfrm>
            <a:prstGeom prst="rect">
              <a:avLst/>
            </a:prstGeom>
          </p:spPr>
          <p:txBody>
            <a:bodyPr anchor="ctr" rtlCol="false" tIns="0" lIns="0" bIns="0" rIns="0"/>
            <a:lstStyle/>
            <a:p>
              <a:pPr algn="ctr">
                <a:lnSpc>
                  <a:spcPts val="1920"/>
                </a:lnSpc>
              </a:pPr>
              <a:r>
                <a:rPr lang="en-US" sz="1600">
                  <a:solidFill>
                    <a:srgbClr val="FFFFFF"/>
                  </a:solidFill>
                  <a:latin typeface="Calibri (MS)"/>
                  <a:ea typeface="Calibri (MS)"/>
                  <a:cs typeface="Calibri (MS)"/>
                  <a:sym typeface="Calibri (MS)"/>
                </a:rPr>
                <a:t>Data split</a:t>
              </a:r>
            </a:p>
            <a:p>
              <a:pPr algn="ctr">
                <a:lnSpc>
                  <a:spcPts val="1920"/>
                </a:lnSpc>
              </a:pPr>
              <a:r>
                <a:rPr lang="en-US" sz="1600">
                  <a:solidFill>
                    <a:srgbClr val="FFFFFF"/>
                  </a:solidFill>
                  <a:latin typeface="Calibri (MS)"/>
                  <a:ea typeface="Calibri (MS)"/>
                  <a:cs typeface="Calibri (MS)"/>
                  <a:sym typeface="Calibri (MS)"/>
                </a:rPr>
                <a:t>80/20</a:t>
              </a:r>
            </a:p>
          </p:txBody>
        </p:sp>
      </p:grpSp>
      <p:grpSp>
        <p:nvGrpSpPr>
          <p:cNvPr name="Group 21" id="21"/>
          <p:cNvGrpSpPr/>
          <p:nvPr/>
        </p:nvGrpSpPr>
        <p:grpSpPr>
          <a:xfrm rot="0">
            <a:off x="2487301" y="7485383"/>
            <a:ext cx="354587" cy="25403"/>
            <a:chOff x="0" y="0"/>
            <a:chExt cx="472783" cy="33871"/>
          </a:xfrm>
        </p:grpSpPr>
        <p:sp>
          <p:nvSpPr>
            <p:cNvPr name="Freeform 22" id="22"/>
            <p:cNvSpPr/>
            <p:nvPr/>
          </p:nvSpPr>
          <p:spPr>
            <a:xfrm flipH="false" flipV="false" rot="0">
              <a:off x="16891" y="0"/>
              <a:ext cx="438912" cy="33909"/>
            </a:xfrm>
            <a:custGeom>
              <a:avLst/>
              <a:gdLst/>
              <a:ahLst/>
              <a:cxnLst/>
              <a:rect r="r" b="b" t="t" l="l"/>
              <a:pathLst>
                <a:path h="33909" w="438912">
                  <a:moveTo>
                    <a:pt x="0" y="0"/>
                  </a:moveTo>
                  <a:lnTo>
                    <a:pt x="438912" y="0"/>
                  </a:lnTo>
                  <a:lnTo>
                    <a:pt x="438912" y="33909"/>
                  </a:lnTo>
                  <a:lnTo>
                    <a:pt x="0" y="33909"/>
                  </a:lnTo>
                  <a:close/>
                </a:path>
              </a:pathLst>
            </a:custGeom>
            <a:solidFill>
              <a:srgbClr val="0D9488"/>
            </a:solidFill>
          </p:spPr>
        </p:sp>
      </p:grpSp>
      <p:grpSp>
        <p:nvGrpSpPr>
          <p:cNvPr name="Group 23" id="23"/>
          <p:cNvGrpSpPr/>
          <p:nvPr/>
        </p:nvGrpSpPr>
        <p:grpSpPr>
          <a:xfrm rot="0">
            <a:off x="2822829" y="6979663"/>
            <a:ext cx="2609593" cy="1073401"/>
            <a:chOff x="0" y="0"/>
            <a:chExt cx="3479457" cy="1431201"/>
          </a:xfrm>
        </p:grpSpPr>
        <p:sp>
          <p:nvSpPr>
            <p:cNvPr name="Freeform 24" id="24"/>
            <p:cNvSpPr/>
            <p:nvPr/>
          </p:nvSpPr>
          <p:spPr>
            <a:xfrm flipH="false" flipV="false" rot="0">
              <a:off x="8509" y="8509"/>
              <a:ext cx="3462528" cy="1414272"/>
            </a:xfrm>
            <a:custGeom>
              <a:avLst/>
              <a:gdLst/>
              <a:ahLst/>
              <a:cxnLst/>
              <a:rect r="r" b="b" t="t" l="l"/>
              <a:pathLst>
                <a:path h="1414272" w="3462528">
                  <a:moveTo>
                    <a:pt x="0" y="0"/>
                  </a:moveTo>
                  <a:lnTo>
                    <a:pt x="3462528" y="0"/>
                  </a:lnTo>
                  <a:lnTo>
                    <a:pt x="3462528" y="1414272"/>
                  </a:lnTo>
                  <a:lnTo>
                    <a:pt x="0" y="1414272"/>
                  </a:lnTo>
                  <a:close/>
                </a:path>
              </a:pathLst>
            </a:custGeom>
            <a:solidFill>
              <a:srgbClr val="0D1F38"/>
            </a:solidFill>
          </p:spPr>
        </p:sp>
        <p:sp>
          <p:nvSpPr>
            <p:cNvPr name="Freeform 25" id="25"/>
            <p:cNvSpPr/>
            <p:nvPr/>
          </p:nvSpPr>
          <p:spPr>
            <a:xfrm flipH="false" flipV="false" rot="0">
              <a:off x="0" y="0"/>
              <a:ext cx="3479546" cy="1431290"/>
            </a:xfrm>
            <a:custGeom>
              <a:avLst/>
              <a:gdLst/>
              <a:ahLst/>
              <a:cxnLst/>
              <a:rect r="r" b="b" t="t" l="l"/>
              <a:pathLst>
                <a:path h="1431290" w="3479546">
                  <a:moveTo>
                    <a:pt x="8509" y="0"/>
                  </a:moveTo>
                  <a:lnTo>
                    <a:pt x="3471037" y="0"/>
                  </a:lnTo>
                  <a:cubicBezTo>
                    <a:pt x="3475736" y="0"/>
                    <a:pt x="3479546" y="3810"/>
                    <a:pt x="3479546" y="8509"/>
                  </a:cubicBezTo>
                  <a:lnTo>
                    <a:pt x="3479546" y="1422781"/>
                  </a:lnTo>
                  <a:cubicBezTo>
                    <a:pt x="3479546" y="1427480"/>
                    <a:pt x="3475736" y="1431290"/>
                    <a:pt x="3471037" y="1431290"/>
                  </a:cubicBezTo>
                  <a:lnTo>
                    <a:pt x="8509" y="1431290"/>
                  </a:lnTo>
                  <a:cubicBezTo>
                    <a:pt x="3810" y="1431290"/>
                    <a:pt x="0" y="1427480"/>
                    <a:pt x="0" y="1422781"/>
                  </a:cubicBezTo>
                  <a:lnTo>
                    <a:pt x="0" y="8509"/>
                  </a:lnTo>
                  <a:cubicBezTo>
                    <a:pt x="0" y="3810"/>
                    <a:pt x="3810" y="0"/>
                    <a:pt x="8509" y="0"/>
                  </a:cubicBezTo>
                  <a:moveTo>
                    <a:pt x="8509" y="16891"/>
                  </a:moveTo>
                  <a:lnTo>
                    <a:pt x="8509" y="8509"/>
                  </a:lnTo>
                  <a:lnTo>
                    <a:pt x="17018" y="8509"/>
                  </a:lnTo>
                  <a:lnTo>
                    <a:pt x="17018" y="1422781"/>
                  </a:lnTo>
                  <a:lnTo>
                    <a:pt x="8509" y="1422781"/>
                  </a:lnTo>
                  <a:lnTo>
                    <a:pt x="8509" y="1414272"/>
                  </a:lnTo>
                  <a:lnTo>
                    <a:pt x="3471037" y="1414272"/>
                  </a:lnTo>
                  <a:lnTo>
                    <a:pt x="3471037" y="1422781"/>
                  </a:lnTo>
                  <a:lnTo>
                    <a:pt x="3462528" y="1422781"/>
                  </a:lnTo>
                  <a:lnTo>
                    <a:pt x="3462528" y="8509"/>
                  </a:lnTo>
                  <a:lnTo>
                    <a:pt x="3471037" y="8509"/>
                  </a:lnTo>
                  <a:lnTo>
                    <a:pt x="3471037" y="17018"/>
                  </a:lnTo>
                  <a:lnTo>
                    <a:pt x="8509" y="17018"/>
                  </a:lnTo>
                  <a:close/>
                </a:path>
              </a:pathLst>
            </a:custGeom>
            <a:solidFill>
              <a:srgbClr val="0D9488"/>
            </a:solidFill>
          </p:spPr>
        </p:sp>
      </p:grpSp>
      <p:grpSp>
        <p:nvGrpSpPr>
          <p:cNvPr name="Group 26" id="26"/>
          <p:cNvGrpSpPr/>
          <p:nvPr/>
        </p:nvGrpSpPr>
        <p:grpSpPr>
          <a:xfrm rot="0">
            <a:off x="2829182" y="6986016"/>
            <a:ext cx="2596896" cy="1060704"/>
            <a:chOff x="0" y="0"/>
            <a:chExt cx="3462528" cy="1414272"/>
          </a:xfrm>
        </p:grpSpPr>
        <p:sp>
          <p:nvSpPr>
            <p:cNvPr name="Freeform 27" id="27"/>
            <p:cNvSpPr/>
            <p:nvPr/>
          </p:nvSpPr>
          <p:spPr>
            <a:xfrm flipH="false" flipV="false" rot="0">
              <a:off x="0" y="0"/>
              <a:ext cx="3462528" cy="1414272"/>
            </a:xfrm>
            <a:custGeom>
              <a:avLst/>
              <a:gdLst/>
              <a:ahLst/>
              <a:cxnLst/>
              <a:rect r="r" b="b" t="t" l="l"/>
              <a:pathLst>
                <a:path h="1414272" w="3462528">
                  <a:moveTo>
                    <a:pt x="0" y="0"/>
                  </a:moveTo>
                  <a:lnTo>
                    <a:pt x="3462528" y="0"/>
                  </a:lnTo>
                  <a:lnTo>
                    <a:pt x="3462528" y="1414272"/>
                  </a:lnTo>
                  <a:lnTo>
                    <a:pt x="0" y="1414272"/>
                  </a:lnTo>
                  <a:close/>
                </a:path>
              </a:pathLst>
            </a:custGeom>
            <a:blipFill>
              <a:blip r:embed="rId3">
                <a:alphaModFix amt="0"/>
              </a:blip>
              <a:stretch>
                <a:fillRect l="-2405" t="0" r="-2405" b="0"/>
              </a:stretch>
            </a:blipFill>
          </p:spPr>
        </p:sp>
        <p:sp>
          <p:nvSpPr>
            <p:cNvPr name="TextBox 28" id="28"/>
            <p:cNvSpPr txBox="true"/>
            <p:nvPr/>
          </p:nvSpPr>
          <p:spPr>
            <a:xfrm>
              <a:off x="0" y="-28575"/>
              <a:ext cx="3462528" cy="1442847"/>
            </a:xfrm>
            <a:prstGeom prst="rect">
              <a:avLst/>
            </a:prstGeom>
          </p:spPr>
          <p:txBody>
            <a:bodyPr anchor="ctr" rtlCol="false" tIns="0" lIns="0" bIns="0" rIns="0"/>
            <a:lstStyle/>
            <a:p>
              <a:pPr algn="ctr">
                <a:lnSpc>
                  <a:spcPts val="1920"/>
                </a:lnSpc>
              </a:pPr>
              <a:r>
                <a:rPr lang="en-US" sz="1600">
                  <a:solidFill>
                    <a:srgbClr val="FFFFFF"/>
                  </a:solidFill>
                  <a:latin typeface="Calibri (MS)"/>
                  <a:ea typeface="Calibri (MS)"/>
                  <a:cs typeface="Calibri (MS)"/>
                  <a:sym typeface="Calibri (MS)"/>
                </a:rPr>
                <a:t>Feature</a:t>
              </a:r>
            </a:p>
            <a:p>
              <a:pPr algn="ctr">
                <a:lnSpc>
                  <a:spcPts val="1920"/>
                </a:lnSpc>
              </a:pPr>
              <a:r>
                <a:rPr lang="en-US" sz="1600">
                  <a:solidFill>
                    <a:srgbClr val="FFFFFF"/>
                  </a:solidFill>
                  <a:latin typeface="Calibri (MS)"/>
                  <a:ea typeface="Calibri (MS)"/>
                  <a:cs typeface="Calibri (MS)"/>
                  <a:sym typeface="Calibri (MS)"/>
                </a:rPr>
                <a:t>engineering</a:t>
              </a:r>
            </a:p>
          </p:txBody>
        </p:sp>
      </p:grpSp>
      <p:grpSp>
        <p:nvGrpSpPr>
          <p:cNvPr name="Group 29" id="29"/>
          <p:cNvGrpSpPr/>
          <p:nvPr/>
        </p:nvGrpSpPr>
        <p:grpSpPr>
          <a:xfrm rot="0">
            <a:off x="5413381" y="7485383"/>
            <a:ext cx="354587" cy="25403"/>
            <a:chOff x="0" y="0"/>
            <a:chExt cx="472783" cy="33871"/>
          </a:xfrm>
        </p:grpSpPr>
        <p:sp>
          <p:nvSpPr>
            <p:cNvPr name="Freeform 30" id="30"/>
            <p:cNvSpPr/>
            <p:nvPr/>
          </p:nvSpPr>
          <p:spPr>
            <a:xfrm flipH="false" flipV="false" rot="0">
              <a:off x="16891" y="0"/>
              <a:ext cx="438912" cy="33909"/>
            </a:xfrm>
            <a:custGeom>
              <a:avLst/>
              <a:gdLst/>
              <a:ahLst/>
              <a:cxnLst/>
              <a:rect r="r" b="b" t="t" l="l"/>
              <a:pathLst>
                <a:path h="33909" w="438912">
                  <a:moveTo>
                    <a:pt x="0" y="0"/>
                  </a:moveTo>
                  <a:lnTo>
                    <a:pt x="438912" y="0"/>
                  </a:lnTo>
                  <a:lnTo>
                    <a:pt x="438912" y="33909"/>
                  </a:lnTo>
                  <a:lnTo>
                    <a:pt x="0" y="33909"/>
                  </a:lnTo>
                  <a:close/>
                </a:path>
              </a:pathLst>
            </a:custGeom>
            <a:solidFill>
              <a:srgbClr val="0D9488"/>
            </a:solidFill>
          </p:spPr>
        </p:sp>
      </p:grpSp>
      <p:grpSp>
        <p:nvGrpSpPr>
          <p:cNvPr name="Group 31" id="31"/>
          <p:cNvGrpSpPr/>
          <p:nvPr/>
        </p:nvGrpSpPr>
        <p:grpSpPr>
          <a:xfrm rot="0">
            <a:off x="5748909" y="6979663"/>
            <a:ext cx="2609593" cy="1073401"/>
            <a:chOff x="0" y="0"/>
            <a:chExt cx="3479457" cy="1431201"/>
          </a:xfrm>
        </p:grpSpPr>
        <p:sp>
          <p:nvSpPr>
            <p:cNvPr name="Freeform 32" id="32"/>
            <p:cNvSpPr/>
            <p:nvPr/>
          </p:nvSpPr>
          <p:spPr>
            <a:xfrm flipH="false" flipV="false" rot="0">
              <a:off x="8509" y="8509"/>
              <a:ext cx="3462528" cy="1414272"/>
            </a:xfrm>
            <a:custGeom>
              <a:avLst/>
              <a:gdLst/>
              <a:ahLst/>
              <a:cxnLst/>
              <a:rect r="r" b="b" t="t" l="l"/>
              <a:pathLst>
                <a:path h="1414272" w="3462528">
                  <a:moveTo>
                    <a:pt x="0" y="0"/>
                  </a:moveTo>
                  <a:lnTo>
                    <a:pt x="3462528" y="0"/>
                  </a:lnTo>
                  <a:lnTo>
                    <a:pt x="3462528" y="1414272"/>
                  </a:lnTo>
                  <a:lnTo>
                    <a:pt x="0" y="1414272"/>
                  </a:lnTo>
                  <a:close/>
                </a:path>
              </a:pathLst>
            </a:custGeom>
            <a:solidFill>
              <a:srgbClr val="0D1F38"/>
            </a:solidFill>
          </p:spPr>
        </p:sp>
        <p:sp>
          <p:nvSpPr>
            <p:cNvPr name="Freeform 33" id="33"/>
            <p:cNvSpPr/>
            <p:nvPr/>
          </p:nvSpPr>
          <p:spPr>
            <a:xfrm flipH="false" flipV="false" rot="0">
              <a:off x="0" y="0"/>
              <a:ext cx="3479546" cy="1431290"/>
            </a:xfrm>
            <a:custGeom>
              <a:avLst/>
              <a:gdLst/>
              <a:ahLst/>
              <a:cxnLst/>
              <a:rect r="r" b="b" t="t" l="l"/>
              <a:pathLst>
                <a:path h="1431290" w="3479546">
                  <a:moveTo>
                    <a:pt x="8509" y="0"/>
                  </a:moveTo>
                  <a:lnTo>
                    <a:pt x="3471037" y="0"/>
                  </a:lnTo>
                  <a:cubicBezTo>
                    <a:pt x="3475736" y="0"/>
                    <a:pt x="3479546" y="3810"/>
                    <a:pt x="3479546" y="8509"/>
                  </a:cubicBezTo>
                  <a:lnTo>
                    <a:pt x="3479546" y="1422781"/>
                  </a:lnTo>
                  <a:cubicBezTo>
                    <a:pt x="3479546" y="1427480"/>
                    <a:pt x="3475736" y="1431290"/>
                    <a:pt x="3471037" y="1431290"/>
                  </a:cubicBezTo>
                  <a:lnTo>
                    <a:pt x="8509" y="1431290"/>
                  </a:lnTo>
                  <a:cubicBezTo>
                    <a:pt x="3810" y="1431290"/>
                    <a:pt x="0" y="1427480"/>
                    <a:pt x="0" y="1422781"/>
                  </a:cubicBezTo>
                  <a:lnTo>
                    <a:pt x="0" y="8509"/>
                  </a:lnTo>
                  <a:cubicBezTo>
                    <a:pt x="0" y="3810"/>
                    <a:pt x="3810" y="0"/>
                    <a:pt x="8509" y="0"/>
                  </a:cubicBezTo>
                  <a:moveTo>
                    <a:pt x="8509" y="16891"/>
                  </a:moveTo>
                  <a:lnTo>
                    <a:pt x="8509" y="8509"/>
                  </a:lnTo>
                  <a:lnTo>
                    <a:pt x="17018" y="8509"/>
                  </a:lnTo>
                  <a:lnTo>
                    <a:pt x="17018" y="1422781"/>
                  </a:lnTo>
                  <a:lnTo>
                    <a:pt x="8509" y="1422781"/>
                  </a:lnTo>
                  <a:lnTo>
                    <a:pt x="8509" y="1414272"/>
                  </a:lnTo>
                  <a:lnTo>
                    <a:pt x="3471037" y="1414272"/>
                  </a:lnTo>
                  <a:lnTo>
                    <a:pt x="3471037" y="1422781"/>
                  </a:lnTo>
                  <a:lnTo>
                    <a:pt x="3462528" y="1422781"/>
                  </a:lnTo>
                  <a:lnTo>
                    <a:pt x="3462528" y="8509"/>
                  </a:lnTo>
                  <a:lnTo>
                    <a:pt x="3471037" y="8509"/>
                  </a:lnTo>
                  <a:lnTo>
                    <a:pt x="3471037" y="17018"/>
                  </a:lnTo>
                  <a:lnTo>
                    <a:pt x="8509" y="17018"/>
                  </a:lnTo>
                  <a:close/>
                </a:path>
              </a:pathLst>
            </a:custGeom>
            <a:solidFill>
              <a:srgbClr val="0D9488"/>
            </a:solidFill>
          </p:spPr>
        </p:sp>
      </p:grpSp>
      <p:grpSp>
        <p:nvGrpSpPr>
          <p:cNvPr name="Group 34" id="34"/>
          <p:cNvGrpSpPr/>
          <p:nvPr/>
        </p:nvGrpSpPr>
        <p:grpSpPr>
          <a:xfrm rot="0">
            <a:off x="5755262" y="6986016"/>
            <a:ext cx="2596896" cy="1060704"/>
            <a:chOff x="0" y="0"/>
            <a:chExt cx="3462528" cy="1414272"/>
          </a:xfrm>
        </p:grpSpPr>
        <p:sp>
          <p:nvSpPr>
            <p:cNvPr name="Freeform 35" id="35"/>
            <p:cNvSpPr/>
            <p:nvPr/>
          </p:nvSpPr>
          <p:spPr>
            <a:xfrm flipH="false" flipV="false" rot="0">
              <a:off x="0" y="0"/>
              <a:ext cx="3462528" cy="1414272"/>
            </a:xfrm>
            <a:custGeom>
              <a:avLst/>
              <a:gdLst/>
              <a:ahLst/>
              <a:cxnLst/>
              <a:rect r="r" b="b" t="t" l="l"/>
              <a:pathLst>
                <a:path h="1414272" w="3462528">
                  <a:moveTo>
                    <a:pt x="0" y="0"/>
                  </a:moveTo>
                  <a:lnTo>
                    <a:pt x="3462528" y="0"/>
                  </a:lnTo>
                  <a:lnTo>
                    <a:pt x="3462528" y="1414272"/>
                  </a:lnTo>
                  <a:lnTo>
                    <a:pt x="0" y="1414272"/>
                  </a:lnTo>
                  <a:close/>
                </a:path>
              </a:pathLst>
            </a:custGeom>
            <a:blipFill>
              <a:blip r:embed="rId3">
                <a:alphaModFix amt="0"/>
              </a:blip>
              <a:stretch>
                <a:fillRect l="-2405" t="0" r="-2405" b="0"/>
              </a:stretch>
            </a:blipFill>
          </p:spPr>
        </p:sp>
        <p:sp>
          <p:nvSpPr>
            <p:cNvPr name="TextBox 36" id="36"/>
            <p:cNvSpPr txBox="true"/>
            <p:nvPr/>
          </p:nvSpPr>
          <p:spPr>
            <a:xfrm>
              <a:off x="0" y="-28575"/>
              <a:ext cx="3462528" cy="1442847"/>
            </a:xfrm>
            <a:prstGeom prst="rect">
              <a:avLst/>
            </a:prstGeom>
          </p:spPr>
          <p:txBody>
            <a:bodyPr anchor="ctr" rtlCol="false" tIns="0" lIns="0" bIns="0" rIns="0"/>
            <a:lstStyle/>
            <a:p>
              <a:pPr algn="ctr">
                <a:lnSpc>
                  <a:spcPts val="1920"/>
                </a:lnSpc>
              </a:pPr>
              <a:r>
                <a:rPr lang="en-US" sz="1600">
                  <a:solidFill>
                    <a:srgbClr val="FFFFFF"/>
                  </a:solidFill>
                  <a:latin typeface="Calibri (MS)"/>
                  <a:ea typeface="Calibri (MS)"/>
                  <a:cs typeface="Calibri (MS)"/>
                  <a:sym typeface="Calibri (MS)"/>
                </a:rPr>
                <a:t>Model</a:t>
              </a:r>
            </a:p>
            <a:p>
              <a:pPr algn="ctr">
                <a:lnSpc>
                  <a:spcPts val="1920"/>
                </a:lnSpc>
              </a:pPr>
              <a:r>
                <a:rPr lang="en-US" sz="1600">
                  <a:solidFill>
                    <a:srgbClr val="FFFFFF"/>
                  </a:solidFill>
                  <a:latin typeface="Calibri (MS)"/>
                  <a:ea typeface="Calibri (MS)"/>
                  <a:cs typeface="Calibri (MS)"/>
                  <a:sym typeface="Calibri (MS)"/>
                </a:rPr>
                <a:t>training</a:t>
              </a:r>
            </a:p>
          </p:txBody>
        </p:sp>
      </p:grpSp>
      <p:grpSp>
        <p:nvGrpSpPr>
          <p:cNvPr name="Group 37" id="37"/>
          <p:cNvGrpSpPr/>
          <p:nvPr/>
        </p:nvGrpSpPr>
        <p:grpSpPr>
          <a:xfrm rot="0">
            <a:off x="8339461" y="7485383"/>
            <a:ext cx="354587" cy="25403"/>
            <a:chOff x="0" y="0"/>
            <a:chExt cx="472783" cy="33871"/>
          </a:xfrm>
        </p:grpSpPr>
        <p:sp>
          <p:nvSpPr>
            <p:cNvPr name="Freeform 38" id="38"/>
            <p:cNvSpPr/>
            <p:nvPr/>
          </p:nvSpPr>
          <p:spPr>
            <a:xfrm flipH="false" flipV="false" rot="0">
              <a:off x="16891" y="0"/>
              <a:ext cx="438912" cy="33909"/>
            </a:xfrm>
            <a:custGeom>
              <a:avLst/>
              <a:gdLst/>
              <a:ahLst/>
              <a:cxnLst/>
              <a:rect r="r" b="b" t="t" l="l"/>
              <a:pathLst>
                <a:path h="33909" w="438912">
                  <a:moveTo>
                    <a:pt x="0" y="0"/>
                  </a:moveTo>
                  <a:lnTo>
                    <a:pt x="438912" y="0"/>
                  </a:lnTo>
                  <a:lnTo>
                    <a:pt x="438912" y="33909"/>
                  </a:lnTo>
                  <a:lnTo>
                    <a:pt x="0" y="33909"/>
                  </a:lnTo>
                  <a:close/>
                </a:path>
              </a:pathLst>
            </a:custGeom>
            <a:solidFill>
              <a:srgbClr val="0D9488"/>
            </a:solidFill>
          </p:spPr>
        </p:sp>
      </p:grpSp>
      <p:grpSp>
        <p:nvGrpSpPr>
          <p:cNvPr name="Group 39" id="39"/>
          <p:cNvGrpSpPr/>
          <p:nvPr/>
        </p:nvGrpSpPr>
        <p:grpSpPr>
          <a:xfrm rot="0">
            <a:off x="8674989" y="6979663"/>
            <a:ext cx="2609593" cy="1073401"/>
            <a:chOff x="0" y="0"/>
            <a:chExt cx="3479457" cy="1431201"/>
          </a:xfrm>
        </p:grpSpPr>
        <p:sp>
          <p:nvSpPr>
            <p:cNvPr name="Freeform 40" id="40"/>
            <p:cNvSpPr/>
            <p:nvPr/>
          </p:nvSpPr>
          <p:spPr>
            <a:xfrm flipH="false" flipV="false" rot="0">
              <a:off x="8509" y="8509"/>
              <a:ext cx="3462528" cy="1414272"/>
            </a:xfrm>
            <a:custGeom>
              <a:avLst/>
              <a:gdLst/>
              <a:ahLst/>
              <a:cxnLst/>
              <a:rect r="r" b="b" t="t" l="l"/>
              <a:pathLst>
                <a:path h="1414272" w="3462528">
                  <a:moveTo>
                    <a:pt x="0" y="0"/>
                  </a:moveTo>
                  <a:lnTo>
                    <a:pt x="3462528" y="0"/>
                  </a:lnTo>
                  <a:lnTo>
                    <a:pt x="3462528" y="1414272"/>
                  </a:lnTo>
                  <a:lnTo>
                    <a:pt x="0" y="1414272"/>
                  </a:lnTo>
                  <a:close/>
                </a:path>
              </a:pathLst>
            </a:custGeom>
            <a:solidFill>
              <a:srgbClr val="0D1F38"/>
            </a:solidFill>
          </p:spPr>
        </p:sp>
        <p:sp>
          <p:nvSpPr>
            <p:cNvPr name="Freeform 41" id="41"/>
            <p:cNvSpPr/>
            <p:nvPr/>
          </p:nvSpPr>
          <p:spPr>
            <a:xfrm flipH="false" flipV="false" rot="0">
              <a:off x="0" y="0"/>
              <a:ext cx="3479546" cy="1431290"/>
            </a:xfrm>
            <a:custGeom>
              <a:avLst/>
              <a:gdLst/>
              <a:ahLst/>
              <a:cxnLst/>
              <a:rect r="r" b="b" t="t" l="l"/>
              <a:pathLst>
                <a:path h="1431290" w="3479546">
                  <a:moveTo>
                    <a:pt x="8509" y="0"/>
                  </a:moveTo>
                  <a:lnTo>
                    <a:pt x="3471037" y="0"/>
                  </a:lnTo>
                  <a:cubicBezTo>
                    <a:pt x="3475736" y="0"/>
                    <a:pt x="3479546" y="3810"/>
                    <a:pt x="3479546" y="8509"/>
                  </a:cubicBezTo>
                  <a:lnTo>
                    <a:pt x="3479546" y="1422781"/>
                  </a:lnTo>
                  <a:cubicBezTo>
                    <a:pt x="3479546" y="1427480"/>
                    <a:pt x="3475736" y="1431290"/>
                    <a:pt x="3471037" y="1431290"/>
                  </a:cubicBezTo>
                  <a:lnTo>
                    <a:pt x="8509" y="1431290"/>
                  </a:lnTo>
                  <a:cubicBezTo>
                    <a:pt x="3810" y="1431290"/>
                    <a:pt x="0" y="1427480"/>
                    <a:pt x="0" y="1422781"/>
                  </a:cubicBezTo>
                  <a:lnTo>
                    <a:pt x="0" y="8509"/>
                  </a:lnTo>
                  <a:cubicBezTo>
                    <a:pt x="0" y="3810"/>
                    <a:pt x="3810" y="0"/>
                    <a:pt x="8509" y="0"/>
                  </a:cubicBezTo>
                  <a:moveTo>
                    <a:pt x="8509" y="16891"/>
                  </a:moveTo>
                  <a:lnTo>
                    <a:pt x="8509" y="8509"/>
                  </a:lnTo>
                  <a:lnTo>
                    <a:pt x="17018" y="8509"/>
                  </a:lnTo>
                  <a:lnTo>
                    <a:pt x="17018" y="1422781"/>
                  </a:lnTo>
                  <a:lnTo>
                    <a:pt x="8509" y="1422781"/>
                  </a:lnTo>
                  <a:lnTo>
                    <a:pt x="8509" y="1414272"/>
                  </a:lnTo>
                  <a:lnTo>
                    <a:pt x="3471037" y="1414272"/>
                  </a:lnTo>
                  <a:lnTo>
                    <a:pt x="3471037" y="1422781"/>
                  </a:lnTo>
                  <a:lnTo>
                    <a:pt x="3462528" y="1422781"/>
                  </a:lnTo>
                  <a:lnTo>
                    <a:pt x="3462528" y="8509"/>
                  </a:lnTo>
                  <a:lnTo>
                    <a:pt x="3471037" y="8509"/>
                  </a:lnTo>
                  <a:lnTo>
                    <a:pt x="3471037" y="17018"/>
                  </a:lnTo>
                  <a:lnTo>
                    <a:pt x="8509" y="17018"/>
                  </a:lnTo>
                  <a:close/>
                </a:path>
              </a:pathLst>
            </a:custGeom>
            <a:solidFill>
              <a:srgbClr val="0D9488"/>
            </a:solidFill>
          </p:spPr>
        </p:sp>
      </p:grpSp>
      <p:grpSp>
        <p:nvGrpSpPr>
          <p:cNvPr name="Group 42" id="42"/>
          <p:cNvGrpSpPr/>
          <p:nvPr/>
        </p:nvGrpSpPr>
        <p:grpSpPr>
          <a:xfrm rot="0">
            <a:off x="12002519" y="7485383"/>
            <a:ext cx="354587" cy="25403"/>
            <a:chOff x="0" y="0"/>
            <a:chExt cx="472783" cy="33871"/>
          </a:xfrm>
        </p:grpSpPr>
        <p:sp>
          <p:nvSpPr>
            <p:cNvPr name="Freeform 43" id="43"/>
            <p:cNvSpPr/>
            <p:nvPr/>
          </p:nvSpPr>
          <p:spPr>
            <a:xfrm flipH="false" flipV="false" rot="0">
              <a:off x="16891" y="0"/>
              <a:ext cx="438912" cy="33909"/>
            </a:xfrm>
            <a:custGeom>
              <a:avLst/>
              <a:gdLst/>
              <a:ahLst/>
              <a:cxnLst/>
              <a:rect r="r" b="b" t="t" l="l"/>
              <a:pathLst>
                <a:path h="33909" w="438912">
                  <a:moveTo>
                    <a:pt x="0" y="0"/>
                  </a:moveTo>
                  <a:lnTo>
                    <a:pt x="438912" y="0"/>
                  </a:lnTo>
                  <a:lnTo>
                    <a:pt x="438912" y="33909"/>
                  </a:lnTo>
                  <a:lnTo>
                    <a:pt x="0" y="33909"/>
                  </a:lnTo>
                  <a:close/>
                </a:path>
              </a:pathLst>
            </a:custGeom>
            <a:solidFill>
              <a:srgbClr val="0D9488"/>
            </a:solidFill>
          </p:spPr>
        </p:sp>
      </p:grpSp>
      <p:grpSp>
        <p:nvGrpSpPr>
          <p:cNvPr name="Group 44" id="44"/>
          <p:cNvGrpSpPr/>
          <p:nvPr/>
        </p:nvGrpSpPr>
        <p:grpSpPr>
          <a:xfrm rot="0">
            <a:off x="8681342" y="6986016"/>
            <a:ext cx="2269874" cy="1060704"/>
            <a:chOff x="0" y="0"/>
            <a:chExt cx="3026499" cy="1414272"/>
          </a:xfrm>
        </p:grpSpPr>
        <p:sp>
          <p:nvSpPr>
            <p:cNvPr name="Freeform 45" id="45"/>
            <p:cNvSpPr/>
            <p:nvPr/>
          </p:nvSpPr>
          <p:spPr>
            <a:xfrm flipH="false" flipV="false" rot="0">
              <a:off x="0" y="0"/>
              <a:ext cx="3026499" cy="1414272"/>
            </a:xfrm>
            <a:custGeom>
              <a:avLst/>
              <a:gdLst/>
              <a:ahLst/>
              <a:cxnLst/>
              <a:rect r="r" b="b" t="t" l="l"/>
              <a:pathLst>
                <a:path h="1414272" w="3026499">
                  <a:moveTo>
                    <a:pt x="0" y="0"/>
                  </a:moveTo>
                  <a:lnTo>
                    <a:pt x="3026499" y="0"/>
                  </a:lnTo>
                  <a:lnTo>
                    <a:pt x="3026499" y="1414272"/>
                  </a:lnTo>
                  <a:lnTo>
                    <a:pt x="0" y="1414272"/>
                  </a:lnTo>
                  <a:close/>
                </a:path>
              </a:pathLst>
            </a:custGeom>
            <a:blipFill>
              <a:blip r:embed="rId3">
                <a:alphaModFix amt="0"/>
              </a:blip>
              <a:stretch>
                <a:fillRect l="-2752" t="0" r="-17159" b="0"/>
              </a:stretch>
            </a:blipFill>
          </p:spPr>
        </p:sp>
        <p:sp>
          <p:nvSpPr>
            <p:cNvPr name="TextBox 46" id="46"/>
            <p:cNvSpPr txBox="true"/>
            <p:nvPr/>
          </p:nvSpPr>
          <p:spPr>
            <a:xfrm>
              <a:off x="0" y="-28575"/>
              <a:ext cx="3026499" cy="1442847"/>
            </a:xfrm>
            <a:prstGeom prst="rect">
              <a:avLst/>
            </a:prstGeom>
          </p:spPr>
          <p:txBody>
            <a:bodyPr anchor="ctr" rtlCol="false" tIns="0" lIns="0" bIns="0" rIns="0"/>
            <a:lstStyle/>
            <a:p>
              <a:pPr algn="ctr">
                <a:lnSpc>
                  <a:spcPts val="1920"/>
                </a:lnSpc>
              </a:pPr>
              <a:r>
                <a:rPr lang="en-US" sz="1600">
                  <a:solidFill>
                    <a:srgbClr val="FFFFFF"/>
                  </a:solidFill>
                  <a:latin typeface="Calibri (MS)"/>
                  <a:ea typeface="Calibri (MS)"/>
                  <a:cs typeface="Calibri (MS)"/>
                  <a:sym typeface="Calibri (MS)"/>
                </a:rPr>
                <a:t>Cross-</a:t>
              </a:r>
            </a:p>
            <a:p>
              <a:pPr algn="ctr">
                <a:lnSpc>
                  <a:spcPts val="1920"/>
                </a:lnSpc>
              </a:pPr>
              <a:r>
                <a:rPr lang="en-US" sz="1600">
                  <a:solidFill>
                    <a:srgbClr val="FFFFFF"/>
                  </a:solidFill>
                  <a:latin typeface="Calibri (MS)"/>
                  <a:ea typeface="Calibri (MS)"/>
                  <a:cs typeface="Calibri (MS)"/>
                  <a:sym typeface="Calibri (MS)"/>
                </a:rPr>
                <a:t>validation</a:t>
              </a:r>
            </a:p>
          </p:txBody>
        </p:sp>
      </p:grpSp>
      <p:grpSp>
        <p:nvGrpSpPr>
          <p:cNvPr name="Group 47" id="47"/>
          <p:cNvGrpSpPr/>
          <p:nvPr/>
        </p:nvGrpSpPr>
        <p:grpSpPr>
          <a:xfrm rot="0">
            <a:off x="12338047" y="6979663"/>
            <a:ext cx="2609593" cy="1073401"/>
            <a:chOff x="0" y="0"/>
            <a:chExt cx="3479457" cy="1431201"/>
          </a:xfrm>
        </p:grpSpPr>
        <p:sp>
          <p:nvSpPr>
            <p:cNvPr name="Freeform 48" id="48"/>
            <p:cNvSpPr/>
            <p:nvPr/>
          </p:nvSpPr>
          <p:spPr>
            <a:xfrm flipH="false" flipV="false" rot="0">
              <a:off x="8509" y="8509"/>
              <a:ext cx="3462528" cy="1414272"/>
            </a:xfrm>
            <a:custGeom>
              <a:avLst/>
              <a:gdLst/>
              <a:ahLst/>
              <a:cxnLst/>
              <a:rect r="r" b="b" t="t" l="l"/>
              <a:pathLst>
                <a:path h="1414272" w="3462528">
                  <a:moveTo>
                    <a:pt x="0" y="0"/>
                  </a:moveTo>
                  <a:lnTo>
                    <a:pt x="3462528" y="0"/>
                  </a:lnTo>
                  <a:lnTo>
                    <a:pt x="3462528" y="1414272"/>
                  </a:lnTo>
                  <a:lnTo>
                    <a:pt x="0" y="1414272"/>
                  </a:lnTo>
                  <a:close/>
                </a:path>
              </a:pathLst>
            </a:custGeom>
            <a:solidFill>
              <a:srgbClr val="0D1F38"/>
            </a:solidFill>
          </p:spPr>
        </p:sp>
        <p:sp>
          <p:nvSpPr>
            <p:cNvPr name="Freeform 49" id="49"/>
            <p:cNvSpPr/>
            <p:nvPr/>
          </p:nvSpPr>
          <p:spPr>
            <a:xfrm flipH="false" flipV="false" rot="0">
              <a:off x="0" y="0"/>
              <a:ext cx="3479546" cy="1431290"/>
            </a:xfrm>
            <a:custGeom>
              <a:avLst/>
              <a:gdLst/>
              <a:ahLst/>
              <a:cxnLst/>
              <a:rect r="r" b="b" t="t" l="l"/>
              <a:pathLst>
                <a:path h="1431290" w="3479546">
                  <a:moveTo>
                    <a:pt x="8509" y="0"/>
                  </a:moveTo>
                  <a:lnTo>
                    <a:pt x="3471037" y="0"/>
                  </a:lnTo>
                  <a:cubicBezTo>
                    <a:pt x="3475736" y="0"/>
                    <a:pt x="3479546" y="3810"/>
                    <a:pt x="3479546" y="8509"/>
                  </a:cubicBezTo>
                  <a:lnTo>
                    <a:pt x="3479546" y="1422781"/>
                  </a:lnTo>
                  <a:cubicBezTo>
                    <a:pt x="3479546" y="1427480"/>
                    <a:pt x="3475736" y="1431290"/>
                    <a:pt x="3471037" y="1431290"/>
                  </a:cubicBezTo>
                  <a:lnTo>
                    <a:pt x="8509" y="1431290"/>
                  </a:lnTo>
                  <a:cubicBezTo>
                    <a:pt x="3810" y="1431290"/>
                    <a:pt x="0" y="1427480"/>
                    <a:pt x="0" y="1422781"/>
                  </a:cubicBezTo>
                  <a:lnTo>
                    <a:pt x="0" y="8509"/>
                  </a:lnTo>
                  <a:cubicBezTo>
                    <a:pt x="0" y="3810"/>
                    <a:pt x="3810" y="0"/>
                    <a:pt x="8509" y="0"/>
                  </a:cubicBezTo>
                  <a:moveTo>
                    <a:pt x="8509" y="16891"/>
                  </a:moveTo>
                  <a:lnTo>
                    <a:pt x="8509" y="8509"/>
                  </a:lnTo>
                  <a:lnTo>
                    <a:pt x="17018" y="8509"/>
                  </a:lnTo>
                  <a:lnTo>
                    <a:pt x="17018" y="1422781"/>
                  </a:lnTo>
                  <a:lnTo>
                    <a:pt x="8509" y="1422781"/>
                  </a:lnTo>
                  <a:lnTo>
                    <a:pt x="8509" y="1414272"/>
                  </a:lnTo>
                  <a:lnTo>
                    <a:pt x="3471037" y="1414272"/>
                  </a:lnTo>
                  <a:lnTo>
                    <a:pt x="3471037" y="1422781"/>
                  </a:lnTo>
                  <a:lnTo>
                    <a:pt x="3462528" y="1422781"/>
                  </a:lnTo>
                  <a:lnTo>
                    <a:pt x="3462528" y="8509"/>
                  </a:lnTo>
                  <a:lnTo>
                    <a:pt x="3471037" y="8509"/>
                  </a:lnTo>
                  <a:lnTo>
                    <a:pt x="3471037" y="17018"/>
                  </a:lnTo>
                  <a:lnTo>
                    <a:pt x="8509" y="17018"/>
                  </a:lnTo>
                  <a:close/>
                </a:path>
              </a:pathLst>
            </a:custGeom>
            <a:solidFill>
              <a:srgbClr val="0D9488"/>
            </a:solidFill>
          </p:spPr>
        </p:sp>
      </p:grpSp>
      <p:grpSp>
        <p:nvGrpSpPr>
          <p:cNvPr name="Group 50" id="50"/>
          <p:cNvGrpSpPr/>
          <p:nvPr/>
        </p:nvGrpSpPr>
        <p:grpSpPr>
          <a:xfrm rot="0">
            <a:off x="12344400" y="6986016"/>
            <a:ext cx="2596896" cy="1060704"/>
            <a:chOff x="0" y="0"/>
            <a:chExt cx="3462528" cy="1414272"/>
          </a:xfrm>
        </p:grpSpPr>
        <p:sp>
          <p:nvSpPr>
            <p:cNvPr name="Freeform 51" id="51"/>
            <p:cNvSpPr/>
            <p:nvPr/>
          </p:nvSpPr>
          <p:spPr>
            <a:xfrm flipH="false" flipV="false" rot="0">
              <a:off x="0" y="0"/>
              <a:ext cx="3462528" cy="1414272"/>
            </a:xfrm>
            <a:custGeom>
              <a:avLst/>
              <a:gdLst/>
              <a:ahLst/>
              <a:cxnLst/>
              <a:rect r="r" b="b" t="t" l="l"/>
              <a:pathLst>
                <a:path h="1414272" w="3462528">
                  <a:moveTo>
                    <a:pt x="0" y="0"/>
                  </a:moveTo>
                  <a:lnTo>
                    <a:pt x="3462528" y="0"/>
                  </a:lnTo>
                  <a:lnTo>
                    <a:pt x="3462528" y="1414272"/>
                  </a:lnTo>
                  <a:lnTo>
                    <a:pt x="0" y="1414272"/>
                  </a:lnTo>
                  <a:close/>
                </a:path>
              </a:pathLst>
            </a:custGeom>
            <a:blipFill>
              <a:blip r:embed="rId3">
                <a:alphaModFix amt="0"/>
              </a:blip>
              <a:stretch>
                <a:fillRect l="-2405" t="0" r="-2405" b="0"/>
              </a:stretch>
            </a:blipFill>
          </p:spPr>
        </p:sp>
        <p:sp>
          <p:nvSpPr>
            <p:cNvPr name="TextBox 52" id="52"/>
            <p:cNvSpPr txBox="true"/>
            <p:nvPr/>
          </p:nvSpPr>
          <p:spPr>
            <a:xfrm>
              <a:off x="0" y="-28575"/>
              <a:ext cx="3462528" cy="1442847"/>
            </a:xfrm>
            <a:prstGeom prst="rect">
              <a:avLst/>
            </a:prstGeom>
          </p:spPr>
          <p:txBody>
            <a:bodyPr anchor="ctr" rtlCol="false" tIns="0" lIns="0" bIns="0" rIns="0"/>
            <a:lstStyle/>
            <a:p>
              <a:pPr algn="ctr">
                <a:lnSpc>
                  <a:spcPts val="1920"/>
                </a:lnSpc>
              </a:pPr>
              <a:r>
                <a:rPr lang="en-US" sz="1600">
                  <a:solidFill>
                    <a:srgbClr val="FFFFFF"/>
                  </a:solidFill>
                  <a:latin typeface="Calibri (MS)"/>
                  <a:ea typeface="Calibri (MS)"/>
                  <a:cs typeface="Calibri (MS)"/>
                  <a:sym typeface="Calibri (MS)"/>
                </a:rPr>
                <a:t>Hyperparameter</a:t>
              </a:r>
            </a:p>
            <a:p>
              <a:pPr algn="ctr">
                <a:lnSpc>
                  <a:spcPts val="1920"/>
                </a:lnSpc>
              </a:pPr>
              <a:r>
                <a:rPr lang="en-US" sz="1600">
                  <a:solidFill>
                    <a:srgbClr val="FFFFFF"/>
                  </a:solidFill>
                  <a:latin typeface="Calibri (MS)"/>
                  <a:ea typeface="Calibri (MS)"/>
                  <a:cs typeface="Calibri (MS)"/>
                  <a:sym typeface="Calibri (MS)"/>
                </a:rPr>
                <a:t>tuning</a:t>
              </a:r>
            </a:p>
          </p:txBody>
        </p:sp>
      </p:grpSp>
      <p:grpSp>
        <p:nvGrpSpPr>
          <p:cNvPr name="Group 53" id="53"/>
          <p:cNvGrpSpPr/>
          <p:nvPr/>
        </p:nvGrpSpPr>
        <p:grpSpPr>
          <a:xfrm rot="0">
            <a:off x="14928599" y="7485383"/>
            <a:ext cx="354587" cy="25403"/>
            <a:chOff x="0" y="0"/>
            <a:chExt cx="472783" cy="33871"/>
          </a:xfrm>
        </p:grpSpPr>
        <p:sp>
          <p:nvSpPr>
            <p:cNvPr name="Freeform 54" id="54"/>
            <p:cNvSpPr/>
            <p:nvPr/>
          </p:nvSpPr>
          <p:spPr>
            <a:xfrm flipH="false" flipV="false" rot="0">
              <a:off x="16891" y="0"/>
              <a:ext cx="438912" cy="33909"/>
            </a:xfrm>
            <a:custGeom>
              <a:avLst/>
              <a:gdLst/>
              <a:ahLst/>
              <a:cxnLst/>
              <a:rect r="r" b="b" t="t" l="l"/>
              <a:pathLst>
                <a:path h="33909" w="438912">
                  <a:moveTo>
                    <a:pt x="0" y="0"/>
                  </a:moveTo>
                  <a:lnTo>
                    <a:pt x="438912" y="0"/>
                  </a:lnTo>
                  <a:lnTo>
                    <a:pt x="438912" y="33909"/>
                  </a:lnTo>
                  <a:lnTo>
                    <a:pt x="0" y="33909"/>
                  </a:lnTo>
                  <a:close/>
                </a:path>
              </a:pathLst>
            </a:custGeom>
            <a:solidFill>
              <a:srgbClr val="0D9488"/>
            </a:solidFill>
          </p:spPr>
        </p:sp>
      </p:grpSp>
      <p:grpSp>
        <p:nvGrpSpPr>
          <p:cNvPr name="Group 55" id="55"/>
          <p:cNvGrpSpPr/>
          <p:nvPr/>
        </p:nvGrpSpPr>
        <p:grpSpPr>
          <a:xfrm rot="0">
            <a:off x="15264127" y="6979663"/>
            <a:ext cx="2609593" cy="1073401"/>
            <a:chOff x="0" y="0"/>
            <a:chExt cx="3479457" cy="1431201"/>
          </a:xfrm>
        </p:grpSpPr>
        <p:sp>
          <p:nvSpPr>
            <p:cNvPr name="Freeform 56" id="56"/>
            <p:cNvSpPr/>
            <p:nvPr/>
          </p:nvSpPr>
          <p:spPr>
            <a:xfrm flipH="false" flipV="false" rot="0">
              <a:off x="8509" y="8509"/>
              <a:ext cx="3462528" cy="1414272"/>
            </a:xfrm>
            <a:custGeom>
              <a:avLst/>
              <a:gdLst/>
              <a:ahLst/>
              <a:cxnLst/>
              <a:rect r="r" b="b" t="t" l="l"/>
              <a:pathLst>
                <a:path h="1414272" w="3462528">
                  <a:moveTo>
                    <a:pt x="0" y="0"/>
                  </a:moveTo>
                  <a:lnTo>
                    <a:pt x="3462528" y="0"/>
                  </a:lnTo>
                  <a:lnTo>
                    <a:pt x="3462528" y="1414272"/>
                  </a:lnTo>
                  <a:lnTo>
                    <a:pt x="0" y="1414272"/>
                  </a:lnTo>
                  <a:close/>
                </a:path>
              </a:pathLst>
            </a:custGeom>
            <a:solidFill>
              <a:srgbClr val="0D1F38"/>
            </a:solidFill>
          </p:spPr>
        </p:sp>
        <p:sp>
          <p:nvSpPr>
            <p:cNvPr name="Freeform 57" id="57"/>
            <p:cNvSpPr/>
            <p:nvPr/>
          </p:nvSpPr>
          <p:spPr>
            <a:xfrm flipH="false" flipV="false" rot="0">
              <a:off x="0" y="0"/>
              <a:ext cx="3479546" cy="1431290"/>
            </a:xfrm>
            <a:custGeom>
              <a:avLst/>
              <a:gdLst/>
              <a:ahLst/>
              <a:cxnLst/>
              <a:rect r="r" b="b" t="t" l="l"/>
              <a:pathLst>
                <a:path h="1431290" w="3479546">
                  <a:moveTo>
                    <a:pt x="8509" y="0"/>
                  </a:moveTo>
                  <a:lnTo>
                    <a:pt x="3471037" y="0"/>
                  </a:lnTo>
                  <a:cubicBezTo>
                    <a:pt x="3475736" y="0"/>
                    <a:pt x="3479546" y="3810"/>
                    <a:pt x="3479546" y="8509"/>
                  </a:cubicBezTo>
                  <a:lnTo>
                    <a:pt x="3479546" y="1422781"/>
                  </a:lnTo>
                  <a:cubicBezTo>
                    <a:pt x="3479546" y="1427480"/>
                    <a:pt x="3475736" y="1431290"/>
                    <a:pt x="3471037" y="1431290"/>
                  </a:cubicBezTo>
                  <a:lnTo>
                    <a:pt x="8509" y="1431290"/>
                  </a:lnTo>
                  <a:cubicBezTo>
                    <a:pt x="3810" y="1431290"/>
                    <a:pt x="0" y="1427480"/>
                    <a:pt x="0" y="1422781"/>
                  </a:cubicBezTo>
                  <a:lnTo>
                    <a:pt x="0" y="8509"/>
                  </a:lnTo>
                  <a:cubicBezTo>
                    <a:pt x="0" y="3810"/>
                    <a:pt x="3810" y="0"/>
                    <a:pt x="8509" y="0"/>
                  </a:cubicBezTo>
                  <a:moveTo>
                    <a:pt x="8509" y="16891"/>
                  </a:moveTo>
                  <a:lnTo>
                    <a:pt x="8509" y="8509"/>
                  </a:lnTo>
                  <a:lnTo>
                    <a:pt x="17018" y="8509"/>
                  </a:lnTo>
                  <a:lnTo>
                    <a:pt x="17018" y="1422781"/>
                  </a:lnTo>
                  <a:lnTo>
                    <a:pt x="8509" y="1422781"/>
                  </a:lnTo>
                  <a:lnTo>
                    <a:pt x="8509" y="1414272"/>
                  </a:lnTo>
                  <a:lnTo>
                    <a:pt x="3471037" y="1414272"/>
                  </a:lnTo>
                  <a:lnTo>
                    <a:pt x="3471037" y="1422781"/>
                  </a:lnTo>
                  <a:lnTo>
                    <a:pt x="3462528" y="1422781"/>
                  </a:lnTo>
                  <a:lnTo>
                    <a:pt x="3462528" y="8509"/>
                  </a:lnTo>
                  <a:lnTo>
                    <a:pt x="3471037" y="8509"/>
                  </a:lnTo>
                  <a:lnTo>
                    <a:pt x="3471037" y="17018"/>
                  </a:lnTo>
                  <a:lnTo>
                    <a:pt x="8509" y="17018"/>
                  </a:lnTo>
                  <a:close/>
                </a:path>
              </a:pathLst>
            </a:custGeom>
            <a:solidFill>
              <a:srgbClr val="0D9488"/>
            </a:solidFill>
          </p:spPr>
        </p:sp>
      </p:grpSp>
      <p:grpSp>
        <p:nvGrpSpPr>
          <p:cNvPr name="Group 58" id="58"/>
          <p:cNvGrpSpPr/>
          <p:nvPr/>
        </p:nvGrpSpPr>
        <p:grpSpPr>
          <a:xfrm rot="0">
            <a:off x="15270480" y="6986016"/>
            <a:ext cx="2596896" cy="1060704"/>
            <a:chOff x="0" y="0"/>
            <a:chExt cx="3462528" cy="1414272"/>
          </a:xfrm>
        </p:grpSpPr>
        <p:sp>
          <p:nvSpPr>
            <p:cNvPr name="Freeform 59" id="59"/>
            <p:cNvSpPr/>
            <p:nvPr/>
          </p:nvSpPr>
          <p:spPr>
            <a:xfrm flipH="false" flipV="false" rot="0">
              <a:off x="0" y="0"/>
              <a:ext cx="3462528" cy="1414272"/>
            </a:xfrm>
            <a:custGeom>
              <a:avLst/>
              <a:gdLst/>
              <a:ahLst/>
              <a:cxnLst/>
              <a:rect r="r" b="b" t="t" l="l"/>
              <a:pathLst>
                <a:path h="1414272" w="3462528">
                  <a:moveTo>
                    <a:pt x="0" y="0"/>
                  </a:moveTo>
                  <a:lnTo>
                    <a:pt x="3462528" y="0"/>
                  </a:lnTo>
                  <a:lnTo>
                    <a:pt x="3462528" y="1414272"/>
                  </a:lnTo>
                  <a:lnTo>
                    <a:pt x="0" y="1414272"/>
                  </a:lnTo>
                  <a:close/>
                </a:path>
              </a:pathLst>
            </a:custGeom>
            <a:blipFill>
              <a:blip r:embed="rId3">
                <a:alphaModFix amt="0"/>
              </a:blip>
              <a:stretch>
                <a:fillRect l="-2405" t="0" r="-2405" b="0"/>
              </a:stretch>
            </a:blipFill>
          </p:spPr>
        </p:sp>
        <p:sp>
          <p:nvSpPr>
            <p:cNvPr name="TextBox 60" id="60"/>
            <p:cNvSpPr txBox="true"/>
            <p:nvPr/>
          </p:nvSpPr>
          <p:spPr>
            <a:xfrm>
              <a:off x="0" y="-28575"/>
              <a:ext cx="3462528" cy="1442847"/>
            </a:xfrm>
            <a:prstGeom prst="rect">
              <a:avLst/>
            </a:prstGeom>
          </p:spPr>
          <p:txBody>
            <a:bodyPr anchor="ctr" rtlCol="false" tIns="0" lIns="0" bIns="0" rIns="0"/>
            <a:lstStyle/>
            <a:p>
              <a:pPr algn="ctr">
                <a:lnSpc>
                  <a:spcPts val="1920"/>
                </a:lnSpc>
              </a:pPr>
              <a:r>
                <a:rPr lang="en-US" sz="1600">
                  <a:solidFill>
                    <a:srgbClr val="FFFFFF"/>
                  </a:solidFill>
                  <a:latin typeface="Calibri (MS)"/>
                  <a:ea typeface="Calibri (MS)"/>
                  <a:cs typeface="Calibri (MS)"/>
                  <a:sym typeface="Calibri (MS)"/>
                </a:rPr>
                <a:t>Final model</a:t>
              </a:r>
            </a:p>
            <a:p>
              <a:pPr algn="ctr">
                <a:lnSpc>
                  <a:spcPts val="1920"/>
                </a:lnSpc>
              </a:pPr>
              <a:r>
                <a:rPr lang="en-US" sz="1600">
                  <a:solidFill>
                    <a:srgbClr val="FFFFFF"/>
                  </a:solidFill>
                  <a:latin typeface="Calibri (MS)"/>
                  <a:ea typeface="Calibri (MS)"/>
                  <a:cs typeface="Calibri (MS)"/>
                  <a:sym typeface="Calibri (MS)"/>
                </a:rPr>
                <a:t>+ deploy</a:t>
              </a:r>
            </a:p>
          </p:txBody>
        </p:sp>
      </p:grpSp>
      <p:grpSp>
        <p:nvGrpSpPr>
          <p:cNvPr name="Group 61" id="61"/>
          <p:cNvGrpSpPr/>
          <p:nvPr/>
        </p:nvGrpSpPr>
        <p:grpSpPr>
          <a:xfrm rot="0">
            <a:off x="11057887" y="1310383"/>
            <a:ext cx="6687817" cy="8242297"/>
            <a:chOff x="0" y="0"/>
            <a:chExt cx="8917089" cy="10989729"/>
          </a:xfrm>
        </p:grpSpPr>
        <p:sp>
          <p:nvSpPr>
            <p:cNvPr name="Freeform 62" id="62"/>
            <p:cNvSpPr/>
            <p:nvPr/>
          </p:nvSpPr>
          <p:spPr>
            <a:xfrm flipH="false" flipV="false" rot="0">
              <a:off x="8509" y="8509"/>
              <a:ext cx="8900160" cy="10972800"/>
            </a:xfrm>
            <a:custGeom>
              <a:avLst/>
              <a:gdLst/>
              <a:ahLst/>
              <a:cxnLst/>
              <a:rect r="r" b="b" t="t" l="l"/>
              <a:pathLst>
                <a:path h="10972800" w="8900160">
                  <a:moveTo>
                    <a:pt x="0" y="0"/>
                  </a:moveTo>
                  <a:lnTo>
                    <a:pt x="8900160" y="0"/>
                  </a:lnTo>
                  <a:lnTo>
                    <a:pt x="8900160" y="10972800"/>
                  </a:lnTo>
                  <a:lnTo>
                    <a:pt x="0" y="10972800"/>
                  </a:lnTo>
                  <a:close/>
                </a:path>
              </a:pathLst>
            </a:custGeom>
            <a:solidFill>
              <a:srgbClr val="0D1F38"/>
            </a:solidFill>
          </p:spPr>
        </p:sp>
        <p:sp>
          <p:nvSpPr>
            <p:cNvPr name="Freeform 63" id="63"/>
            <p:cNvSpPr/>
            <p:nvPr/>
          </p:nvSpPr>
          <p:spPr>
            <a:xfrm flipH="false" flipV="false" rot="0">
              <a:off x="0" y="0"/>
              <a:ext cx="8917178" cy="10989818"/>
            </a:xfrm>
            <a:custGeom>
              <a:avLst/>
              <a:gdLst/>
              <a:ahLst/>
              <a:cxnLst/>
              <a:rect r="r" b="b" t="t" l="l"/>
              <a:pathLst>
                <a:path h="10989818" w="8917178">
                  <a:moveTo>
                    <a:pt x="8509" y="0"/>
                  </a:moveTo>
                  <a:lnTo>
                    <a:pt x="8908669" y="0"/>
                  </a:lnTo>
                  <a:cubicBezTo>
                    <a:pt x="8913368" y="0"/>
                    <a:pt x="8917178" y="3810"/>
                    <a:pt x="8917178" y="8509"/>
                  </a:cubicBezTo>
                  <a:lnTo>
                    <a:pt x="8917178" y="10981309"/>
                  </a:lnTo>
                  <a:cubicBezTo>
                    <a:pt x="8917178" y="10986008"/>
                    <a:pt x="8913368" y="10989818"/>
                    <a:pt x="8908669" y="10989818"/>
                  </a:cubicBezTo>
                  <a:lnTo>
                    <a:pt x="8509" y="10989818"/>
                  </a:lnTo>
                  <a:cubicBezTo>
                    <a:pt x="3810" y="10989818"/>
                    <a:pt x="0" y="10986008"/>
                    <a:pt x="0" y="10981309"/>
                  </a:cubicBezTo>
                  <a:lnTo>
                    <a:pt x="0" y="8509"/>
                  </a:lnTo>
                  <a:cubicBezTo>
                    <a:pt x="0" y="3810"/>
                    <a:pt x="3810" y="0"/>
                    <a:pt x="8509" y="0"/>
                  </a:cubicBezTo>
                  <a:moveTo>
                    <a:pt x="8509" y="16891"/>
                  </a:moveTo>
                  <a:lnTo>
                    <a:pt x="8509" y="8509"/>
                  </a:lnTo>
                  <a:lnTo>
                    <a:pt x="17018" y="8509"/>
                  </a:lnTo>
                  <a:lnTo>
                    <a:pt x="17018" y="10981309"/>
                  </a:lnTo>
                  <a:lnTo>
                    <a:pt x="8509" y="10981309"/>
                  </a:lnTo>
                  <a:lnTo>
                    <a:pt x="8509" y="10972800"/>
                  </a:lnTo>
                  <a:lnTo>
                    <a:pt x="8908669" y="10972800"/>
                  </a:lnTo>
                  <a:lnTo>
                    <a:pt x="8908669" y="10981309"/>
                  </a:lnTo>
                  <a:lnTo>
                    <a:pt x="8900160" y="10981309"/>
                  </a:lnTo>
                  <a:lnTo>
                    <a:pt x="8900160" y="8509"/>
                  </a:lnTo>
                  <a:lnTo>
                    <a:pt x="8908669" y="8509"/>
                  </a:lnTo>
                  <a:lnTo>
                    <a:pt x="8908669" y="17018"/>
                  </a:lnTo>
                  <a:lnTo>
                    <a:pt x="8509" y="17018"/>
                  </a:lnTo>
                  <a:close/>
                </a:path>
              </a:pathLst>
            </a:custGeom>
            <a:solidFill>
              <a:srgbClr val="0D9488"/>
            </a:solidFill>
          </p:spPr>
        </p:sp>
      </p:grpSp>
      <p:grpSp>
        <p:nvGrpSpPr>
          <p:cNvPr name="Group 64" id="64"/>
          <p:cNvGrpSpPr/>
          <p:nvPr/>
        </p:nvGrpSpPr>
        <p:grpSpPr>
          <a:xfrm rot="0">
            <a:off x="11338560" y="1554480"/>
            <a:ext cx="6126480" cy="585216"/>
            <a:chOff x="0" y="0"/>
            <a:chExt cx="8168640" cy="780288"/>
          </a:xfrm>
        </p:grpSpPr>
        <p:sp>
          <p:nvSpPr>
            <p:cNvPr name="Freeform 65" id="65"/>
            <p:cNvSpPr/>
            <p:nvPr/>
          </p:nvSpPr>
          <p:spPr>
            <a:xfrm flipH="false" flipV="false" rot="0">
              <a:off x="0" y="0"/>
              <a:ext cx="8168640" cy="780288"/>
            </a:xfrm>
            <a:custGeom>
              <a:avLst/>
              <a:gdLst/>
              <a:ahLst/>
              <a:cxnLst/>
              <a:rect r="r" b="b" t="t" l="l"/>
              <a:pathLst>
                <a:path h="780288" w="8168640">
                  <a:moveTo>
                    <a:pt x="0" y="0"/>
                  </a:moveTo>
                  <a:lnTo>
                    <a:pt x="8168640" y="0"/>
                  </a:lnTo>
                  <a:lnTo>
                    <a:pt x="8168640" y="780288"/>
                  </a:lnTo>
                  <a:lnTo>
                    <a:pt x="0" y="780288"/>
                  </a:lnTo>
                  <a:close/>
                </a:path>
              </a:pathLst>
            </a:custGeom>
            <a:blipFill>
              <a:blip r:embed="rId3">
                <a:alphaModFix amt="0"/>
              </a:blip>
              <a:stretch>
                <a:fillRect l="0" t="-153983" r="0" b="-153984"/>
              </a:stretch>
            </a:blipFill>
          </p:spPr>
        </p:sp>
        <p:sp>
          <p:nvSpPr>
            <p:cNvPr name="TextBox 66" id="66"/>
            <p:cNvSpPr txBox="true"/>
            <p:nvPr/>
          </p:nvSpPr>
          <p:spPr>
            <a:xfrm>
              <a:off x="0" y="-47625"/>
              <a:ext cx="8168640" cy="827913"/>
            </a:xfrm>
            <a:prstGeom prst="rect">
              <a:avLst/>
            </a:prstGeom>
          </p:spPr>
          <p:txBody>
            <a:bodyPr anchor="ctr" rtlCol="false" tIns="0" lIns="0" bIns="0" rIns="0"/>
            <a:lstStyle/>
            <a:p>
              <a:pPr algn="l">
                <a:lnSpc>
                  <a:spcPts val="2640"/>
                </a:lnSpc>
              </a:pPr>
              <a:r>
                <a:rPr lang="en-US" sz="2200" b="true">
                  <a:solidFill>
                    <a:srgbClr val="14B8A6"/>
                  </a:solidFill>
                  <a:latin typeface="Calibri (MS) Bold"/>
                  <a:ea typeface="Calibri (MS) Bold"/>
                  <a:cs typeface="Calibri (MS) Bold"/>
                  <a:sym typeface="Calibri (MS) Bold"/>
                </a:rPr>
                <a:t>Explainability — SHAP</a:t>
              </a:r>
            </a:p>
          </p:txBody>
        </p:sp>
      </p:grpSp>
      <p:grpSp>
        <p:nvGrpSpPr>
          <p:cNvPr name="Group 67" id="67"/>
          <p:cNvGrpSpPr/>
          <p:nvPr/>
        </p:nvGrpSpPr>
        <p:grpSpPr>
          <a:xfrm rot="0">
            <a:off x="11338560" y="2231136"/>
            <a:ext cx="6126480" cy="1316736"/>
            <a:chOff x="0" y="0"/>
            <a:chExt cx="8168640" cy="1755648"/>
          </a:xfrm>
        </p:grpSpPr>
        <p:sp>
          <p:nvSpPr>
            <p:cNvPr name="Freeform 68" id="68"/>
            <p:cNvSpPr/>
            <p:nvPr/>
          </p:nvSpPr>
          <p:spPr>
            <a:xfrm flipH="false" flipV="false" rot="0">
              <a:off x="0" y="0"/>
              <a:ext cx="8168640" cy="1755648"/>
            </a:xfrm>
            <a:custGeom>
              <a:avLst/>
              <a:gdLst/>
              <a:ahLst/>
              <a:cxnLst/>
              <a:rect r="r" b="b" t="t" l="l"/>
              <a:pathLst>
                <a:path h="1755648" w="8168640">
                  <a:moveTo>
                    <a:pt x="0" y="0"/>
                  </a:moveTo>
                  <a:lnTo>
                    <a:pt x="8168640" y="0"/>
                  </a:lnTo>
                  <a:lnTo>
                    <a:pt x="8168640" y="1755648"/>
                  </a:lnTo>
                  <a:lnTo>
                    <a:pt x="0" y="1755648"/>
                  </a:lnTo>
                  <a:close/>
                </a:path>
              </a:pathLst>
            </a:custGeom>
            <a:blipFill>
              <a:blip r:embed="rId3">
                <a:alphaModFix amt="0"/>
              </a:blip>
              <a:stretch>
                <a:fillRect l="0" t="-40659" r="0" b="-40659"/>
              </a:stretch>
            </a:blipFill>
          </p:spPr>
        </p:sp>
        <p:sp>
          <p:nvSpPr>
            <p:cNvPr name="TextBox 69" id="69"/>
            <p:cNvSpPr txBox="true"/>
            <p:nvPr/>
          </p:nvSpPr>
          <p:spPr>
            <a:xfrm>
              <a:off x="0" y="-38100"/>
              <a:ext cx="8168640" cy="1793748"/>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SHAP (SHapley Additive exPlanations) shows doctors exactly which factors drove each prediction — making MediPATH's AI transparent and auditable.</a:t>
              </a:r>
            </a:p>
          </p:txBody>
        </p:sp>
      </p:grpSp>
      <p:grpSp>
        <p:nvGrpSpPr>
          <p:cNvPr name="Group 70" id="70"/>
          <p:cNvGrpSpPr/>
          <p:nvPr/>
        </p:nvGrpSpPr>
        <p:grpSpPr>
          <a:xfrm rot="0">
            <a:off x="11338560" y="3694176"/>
            <a:ext cx="6126480" cy="475488"/>
            <a:chOff x="0" y="0"/>
            <a:chExt cx="8168640" cy="633984"/>
          </a:xfrm>
        </p:grpSpPr>
        <p:sp>
          <p:nvSpPr>
            <p:cNvPr name="Freeform 71" id="71"/>
            <p:cNvSpPr/>
            <p:nvPr/>
          </p:nvSpPr>
          <p:spPr>
            <a:xfrm flipH="false" flipV="false" rot="0">
              <a:off x="0" y="0"/>
              <a:ext cx="8168640" cy="633984"/>
            </a:xfrm>
            <a:custGeom>
              <a:avLst/>
              <a:gdLst/>
              <a:ahLst/>
              <a:cxnLst/>
              <a:rect r="r" b="b" t="t" l="l"/>
              <a:pathLst>
                <a:path h="633984" w="8168640">
                  <a:moveTo>
                    <a:pt x="0" y="0"/>
                  </a:moveTo>
                  <a:lnTo>
                    <a:pt x="8168640" y="0"/>
                  </a:lnTo>
                  <a:lnTo>
                    <a:pt x="8168640" y="633984"/>
                  </a:lnTo>
                  <a:lnTo>
                    <a:pt x="0" y="633984"/>
                  </a:lnTo>
                  <a:close/>
                </a:path>
              </a:pathLst>
            </a:custGeom>
            <a:blipFill>
              <a:blip r:embed="rId3">
                <a:alphaModFix amt="0"/>
              </a:blip>
              <a:stretch>
                <a:fillRect l="0" t="-201057" r="0" b="-201057"/>
              </a:stretch>
            </a:blipFill>
          </p:spPr>
        </p:sp>
        <p:sp>
          <p:nvSpPr>
            <p:cNvPr name="TextBox 72" id="72"/>
            <p:cNvSpPr txBox="true"/>
            <p:nvPr/>
          </p:nvSpPr>
          <p:spPr>
            <a:xfrm>
              <a:off x="0" y="-38100"/>
              <a:ext cx="8168640" cy="672084"/>
            </a:xfrm>
            <a:prstGeom prst="rect">
              <a:avLst/>
            </a:prstGeom>
          </p:spPr>
          <p:txBody>
            <a:bodyPr anchor="ctr" rtlCol="false" tIns="0" lIns="0" bIns="0" rIns="0"/>
            <a:lstStyle/>
            <a:p>
              <a:pPr algn="l">
                <a:lnSpc>
                  <a:spcPts val="2039"/>
                </a:lnSpc>
              </a:pPr>
              <a:r>
                <a:rPr lang="en-US" sz="1700" i="true">
                  <a:solidFill>
                    <a:srgbClr val="94A3B8"/>
                  </a:solidFill>
                  <a:latin typeface="Calibri (MS) Italics"/>
                  <a:ea typeface="Calibri (MS) Italics"/>
                  <a:cs typeface="Calibri (MS) Italics"/>
                  <a:sym typeface="Calibri (MS) Italics"/>
                </a:rPr>
                <a:t>Sample SHAP output — Type 2 Diabetes prediction:</a:t>
              </a:r>
            </a:p>
          </p:txBody>
        </p:sp>
      </p:grpSp>
      <p:grpSp>
        <p:nvGrpSpPr>
          <p:cNvPr name="Group 73" id="73"/>
          <p:cNvGrpSpPr/>
          <p:nvPr/>
        </p:nvGrpSpPr>
        <p:grpSpPr>
          <a:xfrm rot="0">
            <a:off x="11338560" y="4297680"/>
            <a:ext cx="2926080" cy="548640"/>
            <a:chOff x="0" y="0"/>
            <a:chExt cx="3901440" cy="731520"/>
          </a:xfrm>
        </p:grpSpPr>
        <p:sp>
          <p:nvSpPr>
            <p:cNvPr name="Freeform 74" id="74"/>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75" id="75"/>
            <p:cNvSpPr txBox="true"/>
            <p:nvPr/>
          </p:nvSpPr>
          <p:spPr>
            <a:xfrm>
              <a:off x="0" y="-38100"/>
              <a:ext cx="3901440" cy="76962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Blood pressure</a:t>
              </a:r>
            </a:p>
          </p:txBody>
        </p:sp>
      </p:grpSp>
      <p:grpSp>
        <p:nvGrpSpPr>
          <p:cNvPr name="Group 76" id="76"/>
          <p:cNvGrpSpPr/>
          <p:nvPr/>
        </p:nvGrpSpPr>
        <p:grpSpPr>
          <a:xfrm rot="0">
            <a:off x="16459200" y="4297680"/>
            <a:ext cx="1097280" cy="548640"/>
            <a:chOff x="0" y="0"/>
            <a:chExt cx="1463040" cy="731520"/>
          </a:xfrm>
        </p:grpSpPr>
        <p:sp>
          <p:nvSpPr>
            <p:cNvPr name="Freeform 77" id="77"/>
            <p:cNvSpPr/>
            <p:nvPr/>
          </p:nvSpPr>
          <p:spPr>
            <a:xfrm flipH="false" flipV="false" rot="0">
              <a:off x="0" y="0"/>
              <a:ext cx="1463040" cy="731520"/>
            </a:xfrm>
            <a:custGeom>
              <a:avLst/>
              <a:gdLst/>
              <a:ahLst/>
              <a:cxnLst/>
              <a:rect r="r" b="b" t="t" l="l"/>
              <a:pathLst>
                <a:path h="731520" w="1463040">
                  <a:moveTo>
                    <a:pt x="0" y="0"/>
                  </a:moveTo>
                  <a:lnTo>
                    <a:pt x="1463040" y="0"/>
                  </a:lnTo>
                  <a:lnTo>
                    <a:pt x="1463040" y="731520"/>
                  </a:lnTo>
                  <a:lnTo>
                    <a:pt x="0" y="731520"/>
                  </a:lnTo>
                  <a:close/>
                </a:path>
              </a:pathLst>
            </a:custGeom>
            <a:blipFill>
              <a:blip r:embed="rId3">
                <a:alphaModFix amt="0"/>
              </a:blip>
              <a:stretch>
                <a:fillRect l="-14151" t="0" r="-14151" b="0"/>
              </a:stretch>
            </a:blipFill>
          </p:spPr>
        </p:sp>
        <p:sp>
          <p:nvSpPr>
            <p:cNvPr name="TextBox 78" id="78"/>
            <p:cNvSpPr txBox="true"/>
            <p:nvPr/>
          </p:nvSpPr>
          <p:spPr>
            <a:xfrm>
              <a:off x="0" y="-38100"/>
              <a:ext cx="1463040" cy="769620"/>
            </a:xfrm>
            <a:prstGeom prst="rect">
              <a:avLst/>
            </a:prstGeom>
          </p:spPr>
          <p:txBody>
            <a:bodyPr anchor="ctr" rtlCol="false" tIns="0" lIns="0" bIns="0" rIns="0"/>
            <a:lstStyle/>
            <a:p>
              <a:pPr algn="r">
                <a:lnSpc>
                  <a:spcPts val="2160"/>
                </a:lnSpc>
              </a:pPr>
              <a:r>
                <a:rPr lang="en-US" sz="1800" b="true">
                  <a:solidFill>
                    <a:srgbClr val="EF4444"/>
                  </a:solidFill>
                  <a:latin typeface="Calibri (MS) Bold"/>
                  <a:ea typeface="Calibri (MS) Bold"/>
                  <a:cs typeface="Calibri (MS) Bold"/>
                  <a:sym typeface="Calibri (MS) Bold"/>
                </a:rPr>
                <a:t>34%</a:t>
              </a:r>
            </a:p>
          </p:txBody>
        </p:sp>
      </p:grpSp>
      <p:grpSp>
        <p:nvGrpSpPr>
          <p:cNvPr name="Group 79" id="79"/>
          <p:cNvGrpSpPr/>
          <p:nvPr/>
        </p:nvGrpSpPr>
        <p:grpSpPr>
          <a:xfrm rot="0">
            <a:off x="13977623" y="4394711"/>
            <a:ext cx="2768603" cy="354587"/>
            <a:chOff x="0" y="0"/>
            <a:chExt cx="3691471" cy="472783"/>
          </a:xfrm>
        </p:grpSpPr>
        <p:sp>
          <p:nvSpPr>
            <p:cNvPr name="Freeform 80" id="80"/>
            <p:cNvSpPr/>
            <p:nvPr/>
          </p:nvSpPr>
          <p:spPr>
            <a:xfrm flipH="false" flipV="false" rot="0">
              <a:off x="16891" y="16891"/>
              <a:ext cx="3657600" cy="438912"/>
            </a:xfrm>
            <a:custGeom>
              <a:avLst/>
              <a:gdLst/>
              <a:ahLst/>
              <a:cxnLst/>
              <a:rect r="r" b="b" t="t" l="l"/>
              <a:pathLst>
                <a:path h="438912" w="3657600">
                  <a:moveTo>
                    <a:pt x="0" y="0"/>
                  </a:moveTo>
                  <a:lnTo>
                    <a:pt x="3657600" y="0"/>
                  </a:lnTo>
                  <a:lnTo>
                    <a:pt x="3657600" y="438912"/>
                  </a:lnTo>
                  <a:lnTo>
                    <a:pt x="0" y="438912"/>
                  </a:lnTo>
                  <a:close/>
                </a:path>
              </a:pathLst>
            </a:custGeom>
            <a:solidFill>
              <a:srgbClr val="0A1628"/>
            </a:solidFill>
          </p:spPr>
        </p:sp>
        <p:sp>
          <p:nvSpPr>
            <p:cNvPr name="Freeform 81" id="81"/>
            <p:cNvSpPr/>
            <p:nvPr/>
          </p:nvSpPr>
          <p:spPr>
            <a:xfrm flipH="false" flipV="false" rot="0">
              <a:off x="0" y="0"/>
              <a:ext cx="3691382" cy="472696"/>
            </a:xfrm>
            <a:custGeom>
              <a:avLst/>
              <a:gdLst/>
              <a:ahLst/>
              <a:cxnLst/>
              <a:rect r="r" b="b" t="t" l="l"/>
              <a:pathLst>
                <a:path h="472696" w="3691382">
                  <a:moveTo>
                    <a:pt x="16891" y="0"/>
                  </a:moveTo>
                  <a:lnTo>
                    <a:pt x="3674491" y="0"/>
                  </a:lnTo>
                  <a:cubicBezTo>
                    <a:pt x="3683889" y="0"/>
                    <a:pt x="3691382" y="7620"/>
                    <a:pt x="3691382" y="16891"/>
                  </a:cubicBezTo>
                  <a:lnTo>
                    <a:pt x="3691382" y="455803"/>
                  </a:lnTo>
                  <a:cubicBezTo>
                    <a:pt x="3691382" y="465201"/>
                    <a:pt x="3683762" y="472694"/>
                    <a:pt x="3674491"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3674491" y="438912"/>
                  </a:lnTo>
                  <a:lnTo>
                    <a:pt x="3674491" y="455803"/>
                  </a:lnTo>
                  <a:lnTo>
                    <a:pt x="3657600" y="455803"/>
                  </a:lnTo>
                  <a:lnTo>
                    <a:pt x="3657600" y="16891"/>
                  </a:lnTo>
                  <a:lnTo>
                    <a:pt x="3674491" y="16891"/>
                  </a:lnTo>
                  <a:lnTo>
                    <a:pt x="3674491" y="33909"/>
                  </a:lnTo>
                  <a:lnTo>
                    <a:pt x="16891" y="33909"/>
                  </a:lnTo>
                  <a:close/>
                </a:path>
              </a:pathLst>
            </a:custGeom>
            <a:solidFill>
              <a:srgbClr val="1E3A5F"/>
            </a:solidFill>
          </p:spPr>
        </p:sp>
      </p:grpSp>
      <p:grpSp>
        <p:nvGrpSpPr>
          <p:cNvPr name="Group 82" id="82"/>
          <p:cNvGrpSpPr/>
          <p:nvPr/>
        </p:nvGrpSpPr>
        <p:grpSpPr>
          <a:xfrm rot="0">
            <a:off x="13977623" y="4394711"/>
            <a:ext cx="2357123" cy="354587"/>
            <a:chOff x="0" y="0"/>
            <a:chExt cx="3142831" cy="472783"/>
          </a:xfrm>
        </p:grpSpPr>
        <p:sp>
          <p:nvSpPr>
            <p:cNvPr name="Freeform 83" id="83"/>
            <p:cNvSpPr/>
            <p:nvPr/>
          </p:nvSpPr>
          <p:spPr>
            <a:xfrm flipH="false" flipV="false" rot="0">
              <a:off x="16891" y="16891"/>
              <a:ext cx="3108960" cy="438912"/>
            </a:xfrm>
            <a:custGeom>
              <a:avLst/>
              <a:gdLst/>
              <a:ahLst/>
              <a:cxnLst/>
              <a:rect r="r" b="b" t="t" l="l"/>
              <a:pathLst>
                <a:path h="438912" w="3108960">
                  <a:moveTo>
                    <a:pt x="0" y="0"/>
                  </a:moveTo>
                  <a:lnTo>
                    <a:pt x="3108960" y="0"/>
                  </a:lnTo>
                  <a:lnTo>
                    <a:pt x="3108960" y="438912"/>
                  </a:lnTo>
                  <a:lnTo>
                    <a:pt x="0" y="438912"/>
                  </a:lnTo>
                  <a:close/>
                </a:path>
              </a:pathLst>
            </a:custGeom>
            <a:solidFill>
              <a:srgbClr val="EF4444">
                <a:alpha val="63922"/>
              </a:srgbClr>
            </a:solidFill>
          </p:spPr>
        </p:sp>
        <p:sp>
          <p:nvSpPr>
            <p:cNvPr name="Freeform 84" id="84"/>
            <p:cNvSpPr/>
            <p:nvPr/>
          </p:nvSpPr>
          <p:spPr>
            <a:xfrm flipH="false" flipV="false" rot="0">
              <a:off x="0" y="0"/>
              <a:ext cx="3142742" cy="472696"/>
            </a:xfrm>
            <a:custGeom>
              <a:avLst/>
              <a:gdLst/>
              <a:ahLst/>
              <a:cxnLst/>
              <a:rect r="r" b="b" t="t" l="l"/>
              <a:pathLst>
                <a:path h="472696" w="3142742">
                  <a:moveTo>
                    <a:pt x="16891" y="0"/>
                  </a:moveTo>
                  <a:lnTo>
                    <a:pt x="3125851" y="0"/>
                  </a:lnTo>
                  <a:cubicBezTo>
                    <a:pt x="3135249" y="0"/>
                    <a:pt x="3142742" y="7620"/>
                    <a:pt x="3142742" y="16891"/>
                  </a:cubicBezTo>
                  <a:lnTo>
                    <a:pt x="3142742" y="455803"/>
                  </a:lnTo>
                  <a:cubicBezTo>
                    <a:pt x="3142742" y="465201"/>
                    <a:pt x="3135122" y="472694"/>
                    <a:pt x="3125851"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3125851" y="438912"/>
                  </a:lnTo>
                  <a:lnTo>
                    <a:pt x="3125851" y="455803"/>
                  </a:lnTo>
                  <a:lnTo>
                    <a:pt x="3108960" y="455803"/>
                  </a:lnTo>
                  <a:lnTo>
                    <a:pt x="3108960" y="16891"/>
                  </a:lnTo>
                  <a:lnTo>
                    <a:pt x="3125851" y="16891"/>
                  </a:lnTo>
                  <a:lnTo>
                    <a:pt x="3125851" y="33909"/>
                  </a:lnTo>
                  <a:lnTo>
                    <a:pt x="16891" y="33909"/>
                  </a:lnTo>
                  <a:close/>
                </a:path>
              </a:pathLst>
            </a:custGeom>
            <a:solidFill>
              <a:srgbClr val="EF4444">
                <a:alpha val="63922"/>
              </a:srgbClr>
            </a:solidFill>
          </p:spPr>
        </p:sp>
      </p:grpSp>
      <p:grpSp>
        <p:nvGrpSpPr>
          <p:cNvPr name="Group 85" id="85"/>
          <p:cNvGrpSpPr/>
          <p:nvPr/>
        </p:nvGrpSpPr>
        <p:grpSpPr>
          <a:xfrm rot="0">
            <a:off x="11338560" y="5248656"/>
            <a:ext cx="2926080" cy="548640"/>
            <a:chOff x="0" y="0"/>
            <a:chExt cx="3901440" cy="731520"/>
          </a:xfrm>
        </p:grpSpPr>
        <p:sp>
          <p:nvSpPr>
            <p:cNvPr name="Freeform 86" id="8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87" id="87"/>
            <p:cNvSpPr txBox="true"/>
            <p:nvPr/>
          </p:nvSpPr>
          <p:spPr>
            <a:xfrm>
              <a:off x="0" y="-38100"/>
              <a:ext cx="3901440" cy="76962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Glucose trend</a:t>
              </a:r>
            </a:p>
          </p:txBody>
        </p:sp>
      </p:grpSp>
      <p:grpSp>
        <p:nvGrpSpPr>
          <p:cNvPr name="Group 88" id="88"/>
          <p:cNvGrpSpPr/>
          <p:nvPr/>
        </p:nvGrpSpPr>
        <p:grpSpPr>
          <a:xfrm rot="0">
            <a:off x="16459200" y="5248656"/>
            <a:ext cx="1097280" cy="548640"/>
            <a:chOff x="0" y="0"/>
            <a:chExt cx="1463040" cy="731520"/>
          </a:xfrm>
        </p:grpSpPr>
        <p:sp>
          <p:nvSpPr>
            <p:cNvPr name="Freeform 89" id="89"/>
            <p:cNvSpPr/>
            <p:nvPr/>
          </p:nvSpPr>
          <p:spPr>
            <a:xfrm flipH="false" flipV="false" rot="0">
              <a:off x="0" y="0"/>
              <a:ext cx="1463040" cy="731520"/>
            </a:xfrm>
            <a:custGeom>
              <a:avLst/>
              <a:gdLst/>
              <a:ahLst/>
              <a:cxnLst/>
              <a:rect r="r" b="b" t="t" l="l"/>
              <a:pathLst>
                <a:path h="731520" w="1463040">
                  <a:moveTo>
                    <a:pt x="0" y="0"/>
                  </a:moveTo>
                  <a:lnTo>
                    <a:pt x="1463040" y="0"/>
                  </a:lnTo>
                  <a:lnTo>
                    <a:pt x="1463040" y="731520"/>
                  </a:lnTo>
                  <a:lnTo>
                    <a:pt x="0" y="731520"/>
                  </a:lnTo>
                  <a:close/>
                </a:path>
              </a:pathLst>
            </a:custGeom>
            <a:blipFill>
              <a:blip r:embed="rId3">
                <a:alphaModFix amt="0"/>
              </a:blip>
              <a:stretch>
                <a:fillRect l="-14151" t="0" r="-14151" b="0"/>
              </a:stretch>
            </a:blipFill>
          </p:spPr>
        </p:sp>
        <p:sp>
          <p:nvSpPr>
            <p:cNvPr name="TextBox 90" id="90"/>
            <p:cNvSpPr txBox="true"/>
            <p:nvPr/>
          </p:nvSpPr>
          <p:spPr>
            <a:xfrm>
              <a:off x="0" y="-38100"/>
              <a:ext cx="1463040" cy="769620"/>
            </a:xfrm>
            <a:prstGeom prst="rect">
              <a:avLst/>
            </a:prstGeom>
          </p:spPr>
          <p:txBody>
            <a:bodyPr anchor="ctr" rtlCol="false" tIns="0" lIns="0" bIns="0" rIns="0"/>
            <a:lstStyle/>
            <a:p>
              <a:pPr algn="r">
                <a:lnSpc>
                  <a:spcPts val="2160"/>
                </a:lnSpc>
              </a:pPr>
              <a:r>
                <a:rPr lang="en-US" sz="1800" b="true">
                  <a:solidFill>
                    <a:srgbClr val="F59E0B"/>
                  </a:solidFill>
                  <a:latin typeface="Calibri (MS) Bold"/>
                  <a:ea typeface="Calibri (MS) Bold"/>
                  <a:cs typeface="Calibri (MS) Bold"/>
                  <a:sym typeface="Calibri (MS) Bold"/>
                </a:rPr>
                <a:t>28%</a:t>
              </a:r>
            </a:p>
          </p:txBody>
        </p:sp>
      </p:grpSp>
      <p:grpSp>
        <p:nvGrpSpPr>
          <p:cNvPr name="Group 91" id="91"/>
          <p:cNvGrpSpPr/>
          <p:nvPr/>
        </p:nvGrpSpPr>
        <p:grpSpPr>
          <a:xfrm rot="0">
            <a:off x="13977623" y="5345687"/>
            <a:ext cx="2768603" cy="354587"/>
            <a:chOff x="0" y="0"/>
            <a:chExt cx="3691471" cy="472783"/>
          </a:xfrm>
        </p:grpSpPr>
        <p:sp>
          <p:nvSpPr>
            <p:cNvPr name="Freeform 92" id="92"/>
            <p:cNvSpPr/>
            <p:nvPr/>
          </p:nvSpPr>
          <p:spPr>
            <a:xfrm flipH="false" flipV="false" rot="0">
              <a:off x="16891" y="16891"/>
              <a:ext cx="3657600" cy="438912"/>
            </a:xfrm>
            <a:custGeom>
              <a:avLst/>
              <a:gdLst/>
              <a:ahLst/>
              <a:cxnLst/>
              <a:rect r="r" b="b" t="t" l="l"/>
              <a:pathLst>
                <a:path h="438912" w="3657600">
                  <a:moveTo>
                    <a:pt x="0" y="0"/>
                  </a:moveTo>
                  <a:lnTo>
                    <a:pt x="3657600" y="0"/>
                  </a:lnTo>
                  <a:lnTo>
                    <a:pt x="3657600" y="438912"/>
                  </a:lnTo>
                  <a:lnTo>
                    <a:pt x="0" y="438912"/>
                  </a:lnTo>
                  <a:close/>
                </a:path>
              </a:pathLst>
            </a:custGeom>
            <a:solidFill>
              <a:srgbClr val="0A1628"/>
            </a:solidFill>
          </p:spPr>
        </p:sp>
        <p:sp>
          <p:nvSpPr>
            <p:cNvPr name="Freeform 93" id="93"/>
            <p:cNvSpPr/>
            <p:nvPr/>
          </p:nvSpPr>
          <p:spPr>
            <a:xfrm flipH="false" flipV="false" rot="0">
              <a:off x="0" y="0"/>
              <a:ext cx="3691382" cy="472696"/>
            </a:xfrm>
            <a:custGeom>
              <a:avLst/>
              <a:gdLst/>
              <a:ahLst/>
              <a:cxnLst/>
              <a:rect r="r" b="b" t="t" l="l"/>
              <a:pathLst>
                <a:path h="472696" w="3691382">
                  <a:moveTo>
                    <a:pt x="16891" y="0"/>
                  </a:moveTo>
                  <a:lnTo>
                    <a:pt x="3674491" y="0"/>
                  </a:lnTo>
                  <a:cubicBezTo>
                    <a:pt x="3683889" y="0"/>
                    <a:pt x="3691382" y="7620"/>
                    <a:pt x="3691382" y="16891"/>
                  </a:cubicBezTo>
                  <a:lnTo>
                    <a:pt x="3691382" y="455803"/>
                  </a:lnTo>
                  <a:cubicBezTo>
                    <a:pt x="3691382" y="465201"/>
                    <a:pt x="3683762" y="472694"/>
                    <a:pt x="3674491"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3674491" y="438912"/>
                  </a:lnTo>
                  <a:lnTo>
                    <a:pt x="3674491" y="455803"/>
                  </a:lnTo>
                  <a:lnTo>
                    <a:pt x="3657600" y="455803"/>
                  </a:lnTo>
                  <a:lnTo>
                    <a:pt x="3657600" y="16891"/>
                  </a:lnTo>
                  <a:lnTo>
                    <a:pt x="3674491" y="16891"/>
                  </a:lnTo>
                  <a:lnTo>
                    <a:pt x="3674491" y="33909"/>
                  </a:lnTo>
                  <a:lnTo>
                    <a:pt x="16891" y="33909"/>
                  </a:lnTo>
                  <a:close/>
                </a:path>
              </a:pathLst>
            </a:custGeom>
            <a:solidFill>
              <a:srgbClr val="1E3A5F"/>
            </a:solidFill>
          </p:spPr>
        </p:sp>
      </p:grpSp>
      <p:grpSp>
        <p:nvGrpSpPr>
          <p:cNvPr name="Group 94" id="94"/>
          <p:cNvGrpSpPr/>
          <p:nvPr/>
        </p:nvGrpSpPr>
        <p:grpSpPr>
          <a:xfrm rot="0">
            <a:off x="13977623" y="5345687"/>
            <a:ext cx="1945643" cy="354587"/>
            <a:chOff x="0" y="0"/>
            <a:chExt cx="2594191" cy="472783"/>
          </a:xfrm>
        </p:grpSpPr>
        <p:sp>
          <p:nvSpPr>
            <p:cNvPr name="Freeform 95" id="95"/>
            <p:cNvSpPr/>
            <p:nvPr/>
          </p:nvSpPr>
          <p:spPr>
            <a:xfrm flipH="false" flipV="false" rot="0">
              <a:off x="16891" y="16891"/>
              <a:ext cx="2560320" cy="438912"/>
            </a:xfrm>
            <a:custGeom>
              <a:avLst/>
              <a:gdLst/>
              <a:ahLst/>
              <a:cxnLst/>
              <a:rect r="r" b="b" t="t" l="l"/>
              <a:pathLst>
                <a:path h="438912" w="2560320">
                  <a:moveTo>
                    <a:pt x="0" y="0"/>
                  </a:moveTo>
                  <a:lnTo>
                    <a:pt x="2560320" y="0"/>
                  </a:lnTo>
                  <a:lnTo>
                    <a:pt x="2560320" y="438912"/>
                  </a:lnTo>
                  <a:lnTo>
                    <a:pt x="0" y="438912"/>
                  </a:lnTo>
                  <a:close/>
                </a:path>
              </a:pathLst>
            </a:custGeom>
            <a:solidFill>
              <a:srgbClr val="F59E0B">
                <a:alpha val="63922"/>
              </a:srgbClr>
            </a:solidFill>
          </p:spPr>
        </p:sp>
        <p:sp>
          <p:nvSpPr>
            <p:cNvPr name="Freeform 96" id="96"/>
            <p:cNvSpPr/>
            <p:nvPr/>
          </p:nvSpPr>
          <p:spPr>
            <a:xfrm flipH="false" flipV="false" rot="0">
              <a:off x="0" y="0"/>
              <a:ext cx="2594102" cy="472696"/>
            </a:xfrm>
            <a:custGeom>
              <a:avLst/>
              <a:gdLst/>
              <a:ahLst/>
              <a:cxnLst/>
              <a:rect r="r" b="b" t="t" l="l"/>
              <a:pathLst>
                <a:path h="472696" w="2594102">
                  <a:moveTo>
                    <a:pt x="16891" y="0"/>
                  </a:moveTo>
                  <a:lnTo>
                    <a:pt x="2577211" y="0"/>
                  </a:lnTo>
                  <a:cubicBezTo>
                    <a:pt x="2586609" y="0"/>
                    <a:pt x="2594102" y="7620"/>
                    <a:pt x="2594102" y="16891"/>
                  </a:cubicBezTo>
                  <a:lnTo>
                    <a:pt x="2594102" y="455803"/>
                  </a:lnTo>
                  <a:cubicBezTo>
                    <a:pt x="2594102" y="465201"/>
                    <a:pt x="2586482" y="472694"/>
                    <a:pt x="2577211"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2577211" y="438912"/>
                  </a:lnTo>
                  <a:lnTo>
                    <a:pt x="2577211" y="455803"/>
                  </a:lnTo>
                  <a:lnTo>
                    <a:pt x="2560320" y="455803"/>
                  </a:lnTo>
                  <a:lnTo>
                    <a:pt x="2560320" y="16891"/>
                  </a:lnTo>
                  <a:lnTo>
                    <a:pt x="2577211" y="16891"/>
                  </a:lnTo>
                  <a:lnTo>
                    <a:pt x="2577211" y="33909"/>
                  </a:lnTo>
                  <a:lnTo>
                    <a:pt x="16891" y="33909"/>
                  </a:lnTo>
                  <a:close/>
                </a:path>
              </a:pathLst>
            </a:custGeom>
            <a:solidFill>
              <a:srgbClr val="F59E0B">
                <a:alpha val="63922"/>
              </a:srgbClr>
            </a:solidFill>
          </p:spPr>
        </p:sp>
      </p:grpSp>
      <p:grpSp>
        <p:nvGrpSpPr>
          <p:cNvPr name="Group 97" id="97"/>
          <p:cNvGrpSpPr/>
          <p:nvPr/>
        </p:nvGrpSpPr>
        <p:grpSpPr>
          <a:xfrm rot="0">
            <a:off x="11338560" y="6199632"/>
            <a:ext cx="2926080" cy="548640"/>
            <a:chOff x="0" y="0"/>
            <a:chExt cx="3901440" cy="731520"/>
          </a:xfrm>
        </p:grpSpPr>
        <p:sp>
          <p:nvSpPr>
            <p:cNvPr name="Freeform 98" id="98"/>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99" id="99"/>
            <p:cNvSpPr txBox="true"/>
            <p:nvPr/>
          </p:nvSpPr>
          <p:spPr>
            <a:xfrm>
              <a:off x="0" y="-38100"/>
              <a:ext cx="3901440" cy="76962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Family history</a:t>
              </a:r>
            </a:p>
          </p:txBody>
        </p:sp>
      </p:grpSp>
      <p:grpSp>
        <p:nvGrpSpPr>
          <p:cNvPr name="Group 100" id="100"/>
          <p:cNvGrpSpPr/>
          <p:nvPr/>
        </p:nvGrpSpPr>
        <p:grpSpPr>
          <a:xfrm rot="0">
            <a:off x="16459200" y="6199632"/>
            <a:ext cx="1097280" cy="548640"/>
            <a:chOff x="0" y="0"/>
            <a:chExt cx="1463040" cy="731520"/>
          </a:xfrm>
        </p:grpSpPr>
        <p:sp>
          <p:nvSpPr>
            <p:cNvPr name="Freeform 101" id="101"/>
            <p:cNvSpPr/>
            <p:nvPr/>
          </p:nvSpPr>
          <p:spPr>
            <a:xfrm flipH="false" flipV="false" rot="0">
              <a:off x="0" y="0"/>
              <a:ext cx="1463040" cy="731520"/>
            </a:xfrm>
            <a:custGeom>
              <a:avLst/>
              <a:gdLst/>
              <a:ahLst/>
              <a:cxnLst/>
              <a:rect r="r" b="b" t="t" l="l"/>
              <a:pathLst>
                <a:path h="731520" w="1463040">
                  <a:moveTo>
                    <a:pt x="0" y="0"/>
                  </a:moveTo>
                  <a:lnTo>
                    <a:pt x="1463040" y="0"/>
                  </a:lnTo>
                  <a:lnTo>
                    <a:pt x="1463040" y="731520"/>
                  </a:lnTo>
                  <a:lnTo>
                    <a:pt x="0" y="731520"/>
                  </a:lnTo>
                  <a:close/>
                </a:path>
              </a:pathLst>
            </a:custGeom>
            <a:blipFill>
              <a:blip r:embed="rId3">
                <a:alphaModFix amt="0"/>
              </a:blip>
              <a:stretch>
                <a:fillRect l="-14151" t="0" r="-14151" b="0"/>
              </a:stretch>
            </a:blipFill>
          </p:spPr>
        </p:sp>
        <p:sp>
          <p:nvSpPr>
            <p:cNvPr name="TextBox 102" id="102"/>
            <p:cNvSpPr txBox="true"/>
            <p:nvPr/>
          </p:nvSpPr>
          <p:spPr>
            <a:xfrm>
              <a:off x="0" y="-38100"/>
              <a:ext cx="1463040" cy="769620"/>
            </a:xfrm>
            <a:prstGeom prst="rect">
              <a:avLst/>
            </a:prstGeom>
          </p:spPr>
          <p:txBody>
            <a:bodyPr anchor="ctr" rtlCol="false" tIns="0" lIns="0" bIns="0" rIns="0"/>
            <a:lstStyle/>
            <a:p>
              <a:pPr algn="r">
                <a:lnSpc>
                  <a:spcPts val="2160"/>
                </a:lnSpc>
              </a:pPr>
              <a:r>
                <a:rPr lang="en-US" sz="1800" b="true">
                  <a:solidFill>
                    <a:srgbClr val="8B5CF6"/>
                  </a:solidFill>
                  <a:latin typeface="Calibri (MS) Bold"/>
                  <a:ea typeface="Calibri (MS) Bold"/>
                  <a:cs typeface="Calibri (MS) Bold"/>
                  <a:sym typeface="Calibri (MS) Bold"/>
                </a:rPr>
                <a:t>21%</a:t>
              </a:r>
            </a:p>
          </p:txBody>
        </p:sp>
      </p:grpSp>
      <p:grpSp>
        <p:nvGrpSpPr>
          <p:cNvPr name="Group 103" id="103"/>
          <p:cNvGrpSpPr/>
          <p:nvPr/>
        </p:nvGrpSpPr>
        <p:grpSpPr>
          <a:xfrm rot="0">
            <a:off x="13977623" y="6296663"/>
            <a:ext cx="2768603" cy="354587"/>
            <a:chOff x="0" y="0"/>
            <a:chExt cx="3691471" cy="472783"/>
          </a:xfrm>
        </p:grpSpPr>
        <p:sp>
          <p:nvSpPr>
            <p:cNvPr name="Freeform 104" id="104"/>
            <p:cNvSpPr/>
            <p:nvPr/>
          </p:nvSpPr>
          <p:spPr>
            <a:xfrm flipH="false" flipV="false" rot="0">
              <a:off x="16891" y="16891"/>
              <a:ext cx="3657600" cy="438912"/>
            </a:xfrm>
            <a:custGeom>
              <a:avLst/>
              <a:gdLst/>
              <a:ahLst/>
              <a:cxnLst/>
              <a:rect r="r" b="b" t="t" l="l"/>
              <a:pathLst>
                <a:path h="438912" w="3657600">
                  <a:moveTo>
                    <a:pt x="0" y="0"/>
                  </a:moveTo>
                  <a:lnTo>
                    <a:pt x="3657600" y="0"/>
                  </a:lnTo>
                  <a:lnTo>
                    <a:pt x="3657600" y="438912"/>
                  </a:lnTo>
                  <a:lnTo>
                    <a:pt x="0" y="438912"/>
                  </a:lnTo>
                  <a:close/>
                </a:path>
              </a:pathLst>
            </a:custGeom>
            <a:solidFill>
              <a:srgbClr val="0A1628"/>
            </a:solidFill>
          </p:spPr>
        </p:sp>
        <p:sp>
          <p:nvSpPr>
            <p:cNvPr name="Freeform 105" id="105"/>
            <p:cNvSpPr/>
            <p:nvPr/>
          </p:nvSpPr>
          <p:spPr>
            <a:xfrm flipH="false" flipV="false" rot="0">
              <a:off x="0" y="0"/>
              <a:ext cx="3691382" cy="472696"/>
            </a:xfrm>
            <a:custGeom>
              <a:avLst/>
              <a:gdLst/>
              <a:ahLst/>
              <a:cxnLst/>
              <a:rect r="r" b="b" t="t" l="l"/>
              <a:pathLst>
                <a:path h="472696" w="3691382">
                  <a:moveTo>
                    <a:pt x="16891" y="0"/>
                  </a:moveTo>
                  <a:lnTo>
                    <a:pt x="3674491" y="0"/>
                  </a:lnTo>
                  <a:cubicBezTo>
                    <a:pt x="3683889" y="0"/>
                    <a:pt x="3691382" y="7620"/>
                    <a:pt x="3691382" y="16891"/>
                  </a:cubicBezTo>
                  <a:lnTo>
                    <a:pt x="3691382" y="455803"/>
                  </a:lnTo>
                  <a:cubicBezTo>
                    <a:pt x="3691382" y="465201"/>
                    <a:pt x="3683762" y="472694"/>
                    <a:pt x="3674491"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3674491" y="438912"/>
                  </a:lnTo>
                  <a:lnTo>
                    <a:pt x="3674491" y="455803"/>
                  </a:lnTo>
                  <a:lnTo>
                    <a:pt x="3657600" y="455803"/>
                  </a:lnTo>
                  <a:lnTo>
                    <a:pt x="3657600" y="16891"/>
                  </a:lnTo>
                  <a:lnTo>
                    <a:pt x="3674491" y="16891"/>
                  </a:lnTo>
                  <a:lnTo>
                    <a:pt x="3674491" y="33909"/>
                  </a:lnTo>
                  <a:lnTo>
                    <a:pt x="16891" y="33909"/>
                  </a:lnTo>
                  <a:close/>
                </a:path>
              </a:pathLst>
            </a:custGeom>
            <a:solidFill>
              <a:srgbClr val="1E3A5F"/>
            </a:solidFill>
          </p:spPr>
        </p:sp>
      </p:grpSp>
      <p:grpSp>
        <p:nvGrpSpPr>
          <p:cNvPr name="Group 106" id="106"/>
          <p:cNvGrpSpPr/>
          <p:nvPr/>
        </p:nvGrpSpPr>
        <p:grpSpPr>
          <a:xfrm rot="0">
            <a:off x="13977623" y="6296663"/>
            <a:ext cx="1465583" cy="354587"/>
            <a:chOff x="0" y="0"/>
            <a:chExt cx="1954111" cy="472783"/>
          </a:xfrm>
        </p:grpSpPr>
        <p:sp>
          <p:nvSpPr>
            <p:cNvPr name="Freeform 107" id="107"/>
            <p:cNvSpPr/>
            <p:nvPr/>
          </p:nvSpPr>
          <p:spPr>
            <a:xfrm flipH="false" flipV="false" rot="0">
              <a:off x="16891" y="16891"/>
              <a:ext cx="1920240" cy="438912"/>
            </a:xfrm>
            <a:custGeom>
              <a:avLst/>
              <a:gdLst/>
              <a:ahLst/>
              <a:cxnLst/>
              <a:rect r="r" b="b" t="t" l="l"/>
              <a:pathLst>
                <a:path h="438912" w="1920240">
                  <a:moveTo>
                    <a:pt x="0" y="0"/>
                  </a:moveTo>
                  <a:lnTo>
                    <a:pt x="1920240" y="0"/>
                  </a:lnTo>
                  <a:lnTo>
                    <a:pt x="1920240" y="438912"/>
                  </a:lnTo>
                  <a:lnTo>
                    <a:pt x="0" y="438912"/>
                  </a:lnTo>
                  <a:close/>
                </a:path>
              </a:pathLst>
            </a:custGeom>
            <a:solidFill>
              <a:srgbClr val="8B5CF6">
                <a:alpha val="63922"/>
              </a:srgbClr>
            </a:solidFill>
          </p:spPr>
        </p:sp>
        <p:sp>
          <p:nvSpPr>
            <p:cNvPr name="Freeform 108" id="108"/>
            <p:cNvSpPr/>
            <p:nvPr/>
          </p:nvSpPr>
          <p:spPr>
            <a:xfrm flipH="false" flipV="false" rot="0">
              <a:off x="0" y="0"/>
              <a:ext cx="1954022" cy="472696"/>
            </a:xfrm>
            <a:custGeom>
              <a:avLst/>
              <a:gdLst/>
              <a:ahLst/>
              <a:cxnLst/>
              <a:rect r="r" b="b" t="t" l="l"/>
              <a:pathLst>
                <a:path h="472696" w="1954022">
                  <a:moveTo>
                    <a:pt x="16891" y="0"/>
                  </a:moveTo>
                  <a:lnTo>
                    <a:pt x="1937131" y="0"/>
                  </a:lnTo>
                  <a:cubicBezTo>
                    <a:pt x="1946529" y="0"/>
                    <a:pt x="1954022" y="7620"/>
                    <a:pt x="1954022" y="16891"/>
                  </a:cubicBezTo>
                  <a:lnTo>
                    <a:pt x="1954022" y="455803"/>
                  </a:lnTo>
                  <a:cubicBezTo>
                    <a:pt x="1954022" y="465201"/>
                    <a:pt x="1946402" y="472694"/>
                    <a:pt x="1937131"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1937131" y="438912"/>
                  </a:lnTo>
                  <a:lnTo>
                    <a:pt x="1937131" y="455803"/>
                  </a:lnTo>
                  <a:lnTo>
                    <a:pt x="1920240" y="455803"/>
                  </a:lnTo>
                  <a:lnTo>
                    <a:pt x="1920240" y="16891"/>
                  </a:lnTo>
                  <a:lnTo>
                    <a:pt x="1937131" y="16891"/>
                  </a:lnTo>
                  <a:lnTo>
                    <a:pt x="1937131" y="33909"/>
                  </a:lnTo>
                  <a:lnTo>
                    <a:pt x="16891" y="33909"/>
                  </a:lnTo>
                  <a:close/>
                </a:path>
              </a:pathLst>
            </a:custGeom>
            <a:solidFill>
              <a:srgbClr val="8B5CF6">
                <a:alpha val="63922"/>
              </a:srgbClr>
            </a:solidFill>
          </p:spPr>
        </p:sp>
      </p:grpSp>
      <p:grpSp>
        <p:nvGrpSpPr>
          <p:cNvPr name="Group 109" id="109"/>
          <p:cNvGrpSpPr/>
          <p:nvPr/>
        </p:nvGrpSpPr>
        <p:grpSpPr>
          <a:xfrm rot="0">
            <a:off x="11338560" y="7150608"/>
            <a:ext cx="2926080" cy="548640"/>
            <a:chOff x="0" y="0"/>
            <a:chExt cx="3901440" cy="731520"/>
          </a:xfrm>
        </p:grpSpPr>
        <p:sp>
          <p:nvSpPr>
            <p:cNvPr name="Freeform 110" id="110"/>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111" id="111"/>
            <p:cNvSpPr txBox="true"/>
            <p:nvPr/>
          </p:nvSpPr>
          <p:spPr>
            <a:xfrm>
              <a:off x="0" y="-38100"/>
              <a:ext cx="3901440" cy="76962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BMI</a:t>
              </a:r>
            </a:p>
          </p:txBody>
        </p:sp>
      </p:grpSp>
      <p:grpSp>
        <p:nvGrpSpPr>
          <p:cNvPr name="Group 112" id="112"/>
          <p:cNvGrpSpPr/>
          <p:nvPr/>
        </p:nvGrpSpPr>
        <p:grpSpPr>
          <a:xfrm rot="0">
            <a:off x="16459200" y="7150608"/>
            <a:ext cx="1097280" cy="548640"/>
            <a:chOff x="0" y="0"/>
            <a:chExt cx="1463040" cy="731520"/>
          </a:xfrm>
        </p:grpSpPr>
        <p:sp>
          <p:nvSpPr>
            <p:cNvPr name="Freeform 113" id="113"/>
            <p:cNvSpPr/>
            <p:nvPr/>
          </p:nvSpPr>
          <p:spPr>
            <a:xfrm flipH="false" flipV="false" rot="0">
              <a:off x="0" y="0"/>
              <a:ext cx="1463040" cy="731520"/>
            </a:xfrm>
            <a:custGeom>
              <a:avLst/>
              <a:gdLst/>
              <a:ahLst/>
              <a:cxnLst/>
              <a:rect r="r" b="b" t="t" l="l"/>
              <a:pathLst>
                <a:path h="731520" w="1463040">
                  <a:moveTo>
                    <a:pt x="0" y="0"/>
                  </a:moveTo>
                  <a:lnTo>
                    <a:pt x="1463040" y="0"/>
                  </a:lnTo>
                  <a:lnTo>
                    <a:pt x="1463040" y="731520"/>
                  </a:lnTo>
                  <a:lnTo>
                    <a:pt x="0" y="731520"/>
                  </a:lnTo>
                  <a:close/>
                </a:path>
              </a:pathLst>
            </a:custGeom>
            <a:blipFill>
              <a:blip r:embed="rId3">
                <a:alphaModFix amt="0"/>
              </a:blip>
              <a:stretch>
                <a:fillRect l="-14151" t="0" r="-14151" b="0"/>
              </a:stretch>
            </a:blipFill>
          </p:spPr>
        </p:sp>
        <p:sp>
          <p:nvSpPr>
            <p:cNvPr name="TextBox 114" id="114"/>
            <p:cNvSpPr txBox="true"/>
            <p:nvPr/>
          </p:nvSpPr>
          <p:spPr>
            <a:xfrm>
              <a:off x="0" y="-38100"/>
              <a:ext cx="1463040" cy="769620"/>
            </a:xfrm>
            <a:prstGeom prst="rect">
              <a:avLst/>
            </a:prstGeom>
          </p:spPr>
          <p:txBody>
            <a:bodyPr anchor="ctr" rtlCol="false" tIns="0" lIns="0" bIns="0" rIns="0"/>
            <a:lstStyle/>
            <a:p>
              <a:pPr algn="r">
                <a:lnSpc>
                  <a:spcPts val="2160"/>
                </a:lnSpc>
              </a:pPr>
              <a:r>
                <a:rPr lang="en-US" sz="1800" b="true">
                  <a:solidFill>
                    <a:srgbClr val="0D9488"/>
                  </a:solidFill>
                  <a:latin typeface="Calibri (MS) Bold"/>
                  <a:ea typeface="Calibri (MS) Bold"/>
                  <a:cs typeface="Calibri (MS) Bold"/>
                  <a:sym typeface="Calibri (MS) Bold"/>
                </a:rPr>
                <a:t>17%</a:t>
              </a:r>
            </a:p>
          </p:txBody>
        </p:sp>
      </p:grpSp>
      <p:grpSp>
        <p:nvGrpSpPr>
          <p:cNvPr name="Group 115" id="115"/>
          <p:cNvGrpSpPr/>
          <p:nvPr/>
        </p:nvGrpSpPr>
        <p:grpSpPr>
          <a:xfrm rot="0">
            <a:off x="13977623" y="7247639"/>
            <a:ext cx="2768603" cy="354587"/>
            <a:chOff x="0" y="0"/>
            <a:chExt cx="3691471" cy="472783"/>
          </a:xfrm>
        </p:grpSpPr>
        <p:sp>
          <p:nvSpPr>
            <p:cNvPr name="Freeform 116" id="116"/>
            <p:cNvSpPr/>
            <p:nvPr/>
          </p:nvSpPr>
          <p:spPr>
            <a:xfrm flipH="false" flipV="false" rot="0">
              <a:off x="16891" y="16891"/>
              <a:ext cx="3657600" cy="438912"/>
            </a:xfrm>
            <a:custGeom>
              <a:avLst/>
              <a:gdLst/>
              <a:ahLst/>
              <a:cxnLst/>
              <a:rect r="r" b="b" t="t" l="l"/>
              <a:pathLst>
                <a:path h="438912" w="3657600">
                  <a:moveTo>
                    <a:pt x="0" y="0"/>
                  </a:moveTo>
                  <a:lnTo>
                    <a:pt x="3657600" y="0"/>
                  </a:lnTo>
                  <a:lnTo>
                    <a:pt x="3657600" y="438912"/>
                  </a:lnTo>
                  <a:lnTo>
                    <a:pt x="0" y="438912"/>
                  </a:lnTo>
                  <a:close/>
                </a:path>
              </a:pathLst>
            </a:custGeom>
            <a:solidFill>
              <a:srgbClr val="0A1628"/>
            </a:solidFill>
          </p:spPr>
        </p:sp>
        <p:sp>
          <p:nvSpPr>
            <p:cNvPr name="Freeform 117" id="117"/>
            <p:cNvSpPr/>
            <p:nvPr/>
          </p:nvSpPr>
          <p:spPr>
            <a:xfrm flipH="false" flipV="false" rot="0">
              <a:off x="0" y="0"/>
              <a:ext cx="3691382" cy="472696"/>
            </a:xfrm>
            <a:custGeom>
              <a:avLst/>
              <a:gdLst/>
              <a:ahLst/>
              <a:cxnLst/>
              <a:rect r="r" b="b" t="t" l="l"/>
              <a:pathLst>
                <a:path h="472696" w="3691382">
                  <a:moveTo>
                    <a:pt x="16891" y="0"/>
                  </a:moveTo>
                  <a:lnTo>
                    <a:pt x="3674491" y="0"/>
                  </a:lnTo>
                  <a:cubicBezTo>
                    <a:pt x="3683889" y="0"/>
                    <a:pt x="3691382" y="7620"/>
                    <a:pt x="3691382" y="16891"/>
                  </a:cubicBezTo>
                  <a:lnTo>
                    <a:pt x="3691382" y="455803"/>
                  </a:lnTo>
                  <a:cubicBezTo>
                    <a:pt x="3691382" y="465201"/>
                    <a:pt x="3683762" y="472694"/>
                    <a:pt x="3674491"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3674491" y="438912"/>
                  </a:lnTo>
                  <a:lnTo>
                    <a:pt x="3674491" y="455803"/>
                  </a:lnTo>
                  <a:lnTo>
                    <a:pt x="3657600" y="455803"/>
                  </a:lnTo>
                  <a:lnTo>
                    <a:pt x="3657600" y="16891"/>
                  </a:lnTo>
                  <a:lnTo>
                    <a:pt x="3674491" y="16891"/>
                  </a:lnTo>
                  <a:lnTo>
                    <a:pt x="3674491" y="33909"/>
                  </a:lnTo>
                  <a:lnTo>
                    <a:pt x="16891" y="33909"/>
                  </a:lnTo>
                  <a:close/>
                </a:path>
              </a:pathLst>
            </a:custGeom>
            <a:solidFill>
              <a:srgbClr val="1E3A5F"/>
            </a:solidFill>
          </p:spPr>
        </p:sp>
      </p:grpSp>
      <p:grpSp>
        <p:nvGrpSpPr>
          <p:cNvPr name="Group 118" id="118"/>
          <p:cNvGrpSpPr/>
          <p:nvPr/>
        </p:nvGrpSpPr>
        <p:grpSpPr>
          <a:xfrm rot="0">
            <a:off x="13977623" y="7247639"/>
            <a:ext cx="1191263" cy="354587"/>
            <a:chOff x="0" y="0"/>
            <a:chExt cx="1588351" cy="472783"/>
          </a:xfrm>
        </p:grpSpPr>
        <p:sp>
          <p:nvSpPr>
            <p:cNvPr name="Freeform 119" id="119"/>
            <p:cNvSpPr/>
            <p:nvPr/>
          </p:nvSpPr>
          <p:spPr>
            <a:xfrm flipH="false" flipV="false" rot="0">
              <a:off x="16891" y="16891"/>
              <a:ext cx="1554480" cy="438912"/>
            </a:xfrm>
            <a:custGeom>
              <a:avLst/>
              <a:gdLst/>
              <a:ahLst/>
              <a:cxnLst/>
              <a:rect r="r" b="b" t="t" l="l"/>
              <a:pathLst>
                <a:path h="438912" w="1554480">
                  <a:moveTo>
                    <a:pt x="0" y="0"/>
                  </a:moveTo>
                  <a:lnTo>
                    <a:pt x="1554480" y="0"/>
                  </a:lnTo>
                  <a:lnTo>
                    <a:pt x="1554480" y="438912"/>
                  </a:lnTo>
                  <a:lnTo>
                    <a:pt x="0" y="438912"/>
                  </a:lnTo>
                  <a:close/>
                </a:path>
              </a:pathLst>
            </a:custGeom>
            <a:solidFill>
              <a:srgbClr val="0D9488">
                <a:alpha val="63922"/>
              </a:srgbClr>
            </a:solidFill>
          </p:spPr>
        </p:sp>
        <p:sp>
          <p:nvSpPr>
            <p:cNvPr name="Freeform 120" id="120"/>
            <p:cNvSpPr/>
            <p:nvPr/>
          </p:nvSpPr>
          <p:spPr>
            <a:xfrm flipH="false" flipV="false" rot="0">
              <a:off x="0" y="0"/>
              <a:ext cx="1588262" cy="472696"/>
            </a:xfrm>
            <a:custGeom>
              <a:avLst/>
              <a:gdLst/>
              <a:ahLst/>
              <a:cxnLst/>
              <a:rect r="r" b="b" t="t" l="l"/>
              <a:pathLst>
                <a:path h="472696" w="1588262">
                  <a:moveTo>
                    <a:pt x="16891" y="0"/>
                  </a:moveTo>
                  <a:lnTo>
                    <a:pt x="1571371" y="0"/>
                  </a:lnTo>
                  <a:cubicBezTo>
                    <a:pt x="1580769" y="0"/>
                    <a:pt x="1588262" y="7620"/>
                    <a:pt x="1588262" y="16891"/>
                  </a:cubicBezTo>
                  <a:lnTo>
                    <a:pt x="1588262" y="455803"/>
                  </a:lnTo>
                  <a:cubicBezTo>
                    <a:pt x="1588262" y="465201"/>
                    <a:pt x="1580642" y="472694"/>
                    <a:pt x="1571371"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1571371" y="438912"/>
                  </a:lnTo>
                  <a:lnTo>
                    <a:pt x="1571371" y="455803"/>
                  </a:lnTo>
                  <a:lnTo>
                    <a:pt x="1554480" y="455803"/>
                  </a:lnTo>
                  <a:lnTo>
                    <a:pt x="1554480" y="16891"/>
                  </a:lnTo>
                  <a:lnTo>
                    <a:pt x="1571371" y="16891"/>
                  </a:lnTo>
                  <a:lnTo>
                    <a:pt x="1571371" y="33909"/>
                  </a:lnTo>
                  <a:lnTo>
                    <a:pt x="16891" y="33909"/>
                  </a:lnTo>
                  <a:close/>
                </a:path>
              </a:pathLst>
            </a:custGeom>
            <a:solidFill>
              <a:srgbClr val="0D9488">
                <a:alpha val="63922"/>
              </a:srgbClr>
            </a:solidFill>
          </p:spPr>
        </p:sp>
      </p:grpSp>
      <p:grpSp>
        <p:nvGrpSpPr>
          <p:cNvPr name="Group 121" id="121"/>
          <p:cNvGrpSpPr/>
          <p:nvPr/>
        </p:nvGrpSpPr>
        <p:grpSpPr>
          <a:xfrm rot="0">
            <a:off x="11332207" y="8223247"/>
            <a:ext cx="6139177" cy="1018537"/>
            <a:chOff x="0" y="0"/>
            <a:chExt cx="8185569" cy="1358049"/>
          </a:xfrm>
        </p:grpSpPr>
        <p:sp>
          <p:nvSpPr>
            <p:cNvPr name="Freeform 122" id="122"/>
            <p:cNvSpPr/>
            <p:nvPr/>
          </p:nvSpPr>
          <p:spPr>
            <a:xfrm flipH="false" flipV="false" rot="0">
              <a:off x="8509" y="8509"/>
              <a:ext cx="8168640" cy="1341120"/>
            </a:xfrm>
            <a:custGeom>
              <a:avLst/>
              <a:gdLst/>
              <a:ahLst/>
              <a:cxnLst/>
              <a:rect r="r" b="b" t="t" l="l"/>
              <a:pathLst>
                <a:path h="1341120" w="8168640">
                  <a:moveTo>
                    <a:pt x="0" y="0"/>
                  </a:moveTo>
                  <a:lnTo>
                    <a:pt x="8168640" y="0"/>
                  </a:lnTo>
                  <a:lnTo>
                    <a:pt x="8168640" y="1341120"/>
                  </a:lnTo>
                  <a:lnTo>
                    <a:pt x="0" y="1341120"/>
                  </a:lnTo>
                  <a:close/>
                </a:path>
              </a:pathLst>
            </a:custGeom>
            <a:solidFill>
              <a:srgbClr val="CCFBF1"/>
            </a:solidFill>
          </p:spPr>
        </p:sp>
        <p:sp>
          <p:nvSpPr>
            <p:cNvPr name="Freeform 123" id="123"/>
            <p:cNvSpPr/>
            <p:nvPr/>
          </p:nvSpPr>
          <p:spPr>
            <a:xfrm flipH="false" flipV="false" rot="0">
              <a:off x="0" y="0"/>
              <a:ext cx="8185658" cy="1358138"/>
            </a:xfrm>
            <a:custGeom>
              <a:avLst/>
              <a:gdLst/>
              <a:ahLst/>
              <a:cxnLst/>
              <a:rect r="r" b="b" t="t" l="l"/>
              <a:pathLst>
                <a:path h="1358138" w="8185658">
                  <a:moveTo>
                    <a:pt x="8509" y="0"/>
                  </a:moveTo>
                  <a:lnTo>
                    <a:pt x="8177149" y="0"/>
                  </a:lnTo>
                  <a:cubicBezTo>
                    <a:pt x="8181848" y="0"/>
                    <a:pt x="8185658" y="3810"/>
                    <a:pt x="8185658" y="8509"/>
                  </a:cubicBezTo>
                  <a:lnTo>
                    <a:pt x="8185658" y="1349629"/>
                  </a:lnTo>
                  <a:cubicBezTo>
                    <a:pt x="8185658" y="1354328"/>
                    <a:pt x="8181848" y="1358138"/>
                    <a:pt x="8177149" y="1358138"/>
                  </a:cubicBezTo>
                  <a:lnTo>
                    <a:pt x="8509" y="1358138"/>
                  </a:lnTo>
                  <a:cubicBezTo>
                    <a:pt x="3810" y="1358138"/>
                    <a:pt x="0" y="1354328"/>
                    <a:pt x="0" y="1349629"/>
                  </a:cubicBezTo>
                  <a:lnTo>
                    <a:pt x="0" y="8509"/>
                  </a:lnTo>
                  <a:cubicBezTo>
                    <a:pt x="0" y="3810"/>
                    <a:pt x="3810" y="0"/>
                    <a:pt x="8509" y="0"/>
                  </a:cubicBezTo>
                  <a:moveTo>
                    <a:pt x="8509" y="16891"/>
                  </a:moveTo>
                  <a:lnTo>
                    <a:pt x="8509" y="8509"/>
                  </a:lnTo>
                  <a:lnTo>
                    <a:pt x="17018" y="8509"/>
                  </a:lnTo>
                  <a:lnTo>
                    <a:pt x="17018" y="1349629"/>
                  </a:lnTo>
                  <a:lnTo>
                    <a:pt x="8509" y="1349629"/>
                  </a:lnTo>
                  <a:lnTo>
                    <a:pt x="8509" y="1341120"/>
                  </a:lnTo>
                  <a:lnTo>
                    <a:pt x="8177149" y="1341120"/>
                  </a:lnTo>
                  <a:lnTo>
                    <a:pt x="8177149" y="1349629"/>
                  </a:lnTo>
                  <a:lnTo>
                    <a:pt x="8168640" y="1349629"/>
                  </a:lnTo>
                  <a:lnTo>
                    <a:pt x="8168640" y="8509"/>
                  </a:lnTo>
                  <a:lnTo>
                    <a:pt x="8177149" y="8509"/>
                  </a:lnTo>
                  <a:lnTo>
                    <a:pt x="8177149" y="17018"/>
                  </a:lnTo>
                  <a:lnTo>
                    <a:pt x="8509" y="17018"/>
                  </a:lnTo>
                  <a:close/>
                </a:path>
              </a:pathLst>
            </a:custGeom>
            <a:solidFill>
              <a:srgbClr val="0D9488"/>
            </a:solidFill>
          </p:spPr>
        </p:sp>
      </p:grpSp>
      <p:grpSp>
        <p:nvGrpSpPr>
          <p:cNvPr name="Group 124" id="124"/>
          <p:cNvGrpSpPr/>
          <p:nvPr/>
        </p:nvGrpSpPr>
        <p:grpSpPr>
          <a:xfrm rot="0">
            <a:off x="11521440" y="8284464"/>
            <a:ext cx="5760720" cy="896112"/>
            <a:chOff x="0" y="0"/>
            <a:chExt cx="7680960" cy="1194816"/>
          </a:xfrm>
        </p:grpSpPr>
        <p:sp>
          <p:nvSpPr>
            <p:cNvPr name="Freeform 125" id="125"/>
            <p:cNvSpPr/>
            <p:nvPr/>
          </p:nvSpPr>
          <p:spPr>
            <a:xfrm flipH="false" flipV="false" rot="0">
              <a:off x="0" y="0"/>
              <a:ext cx="7680960" cy="1194816"/>
            </a:xfrm>
            <a:custGeom>
              <a:avLst/>
              <a:gdLst/>
              <a:ahLst/>
              <a:cxnLst/>
              <a:rect r="r" b="b" t="t" l="l"/>
              <a:pathLst>
                <a:path h="1194816" w="7680960">
                  <a:moveTo>
                    <a:pt x="0" y="0"/>
                  </a:moveTo>
                  <a:lnTo>
                    <a:pt x="7680960" y="0"/>
                  </a:lnTo>
                  <a:lnTo>
                    <a:pt x="7680960" y="1194816"/>
                  </a:lnTo>
                  <a:lnTo>
                    <a:pt x="0" y="1194816"/>
                  </a:lnTo>
                  <a:close/>
                </a:path>
              </a:pathLst>
            </a:custGeom>
            <a:blipFill>
              <a:blip r:embed="rId3">
                <a:alphaModFix amt="0"/>
              </a:blip>
              <a:stretch>
                <a:fillRect l="0" t="-75260" r="0" b="-75260"/>
              </a:stretch>
            </a:blipFill>
          </p:spPr>
        </p:sp>
        <p:sp>
          <p:nvSpPr>
            <p:cNvPr name="TextBox 126" id="126"/>
            <p:cNvSpPr txBox="true"/>
            <p:nvPr/>
          </p:nvSpPr>
          <p:spPr>
            <a:xfrm>
              <a:off x="0" y="-38100"/>
              <a:ext cx="7680960" cy="1232916"/>
            </a:xfrm>
            <a:prstGeom prst="rect">
              <a:avLst/>
            </a:prstGeom>
          </p:spPr>
          <p:txBody>
            <a:bodyPr anchor="ctr" rtlCol="false" tIns="0" lIns="0" bIns="0" rIns="0"/>
            <a:lstStyle/>
            <a:p>
              <a:pPr algn="l">
                <a:lnSpc>
                  <a:spcPts val="2039"/>
                </a:lnSpc>
              </a:pPr>
              <a:r>
                <a:rPr lang="en-US" sz="1700" i="true">
                  <a:solidFill>
                    <a:srgbClr val="0F766E"/>
                  </a:solidFill>
                  <a:latin typeface="Calibri (MS) Italics"/>
                  <a:ea typeface="Calibri (MS) Italics"/>
                  <a:cs typeface="Calibri (MS) Italics"/>
                  <a:sym typeface="Calibri (MS) Italics"/>
                </a:rPr>
                <a:t>Every prediction includes a 'Why' explanation — building clinical trust in every recommendation.</a:t>
              </a:r>
            </a:p>
          </p:txBody>
        </p:sp>
      </p:grpSp>
      <p:grpSp>
        <p:nvGrpSpPr>
          <p:cNvPr name="Group 127" id="127"/>
          <p:cNvGrpSpPr/>
          <p:nvPr/>
        </p:nvGrpSpPr>
        <p:grpSpPr>
          <a:xfrm rot="0">
            <a:off x="-12697" y="9588503"/>
            <a:ext cx="18313403" cy="711203"/>
            <a:chOff x="0" y="0"/>
            <a:chExt cx="24417871" cy="948271"/>
          </a:xfrm>
        </p:grpSpPr>
        <p:sp>
          <p:nvSpPr>
            <p:cNvPr name="Freeform 128" id="128"/>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129" id="129"/>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130" id="130"/>
          <p:cNvGrpSpPr/>
          <p:nvPr/>
        </p:nvGrpSpPr>
        <p:grpSpPr>
          <a:xfrm rot="0">
            <a:off x="731520" y="9637776"/>
            <a:ext cx="16824960" cy="585216"/>
            <a:chOff x="0" y="0"/>
            <a:chExt cx="22433280" cy="780288"/>
          </a:xfrm>
        </p:grpSpPr>
        <p:sp>
          <p:nvSpPr>
            <p:cNvPr name="Freeform 131" id="131"/>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132" id="132"/>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A162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A162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14B8A6"/>
                  </a:solidFill>
                  <a:latin typeface="Calibri (MS) Bold"/>
                  <a:ea typeface="Calibri (MS) Bold"/>
                  <a:cs typeface="Calibri (MS) Bold"/>
                  <a:sym typeface="Calibri (MS) Bold"/>
                </a:rPr>
                <a:t>SAMPLE SYSTEM OUTPUT</a:t>
              </a:r>
            </a:p>
          </p:txBody>
        </p:sp>
      </p:grpSp>
      <p:grpSp>
        <p:nvGrpSpPr>
          <p:cNvPr name="Group 8" id="8"/>
          <p:cNvGrpSpPr/>
          <p:nvPr/>
        </p:nvGrpSpPr>
        <p:grpSpPr>
          <a:xfrm rot="0">
            <a:off x="535943" y="1358903"/>
            <a:ext cx="5694683" cy="8474459"/>
            <a:chOff x="0" y="0"/>
            <a:chExt cx="7592911" cy="11299279"/>
          </a:xfrm>
        </p:grpSpPr>
        <p:sp>
          <p:nvSpPr>
            <p:cNvPr name="Freeform 9" id="9"/>
            <p:cNvSpPr/>
            <p:nvPr/>
          </p:nvSpPr>
          <p:spPr>
            <a:xfrm flipH="false" flipV="false" rot="0">
              <a:off x="16891" y="16891"/>
              <a:ext cx="7559040" cy="11265408"/>
            </a:xfrm>
            <a:custGeom>
              <a:avLst/>
              <a:gdLst/>
              <a:ahLst/>
              <a:cxnLst/>
              <a:rect r="r" b="b" t="t" l="l"/>
              <a:pathLst>
                <a:path h="11265408" w="7559040">
                  <a:moveTo>
                    <a:pt x="0" y="0"/>
                  </a:moveTo>
                  <a:lnTo>
                    <a:pt x="7559040" y="0"/>
                  </a:lnTo>
                  <a:lnTo>
                    <a:pt x="7559040" y="11265408"/>
                  </a:lnTo>
                  <a:lnTo>
                    <a:pt x="0" y="11265408"/>
                  </a:lnTo>
                  <a:close/>
                </a:path>
              </a:pathLst>
            </a:custGeom>
            <a:solidFill>
              <a:srgbClr val="0A1628"/>
            </a:solidFill>
          </p:spPr>
        </p:sp>
        <p:sp>
          <p:nvSpPr>
            <p:cNvPr name="Freeform 10" id="10"/>
            <p:cNvSpPr/>
            <p:nvPr/>
          </p:nvSpPr>
          <p:spPr>
            <a:xfrm flipH="false" flipV="false" rot="0">
              <a:off x="0" y="0"/>
              <a:ext cx="7592822" cy="11299190"/>
            </a:xfrm>
            <a:custGeom>
              <a:avLst/>
              <a:gdLst/>
              <a:ahLst/>
              <a:cxnLst/>
              <a:rect r="r" b="b" t="t" l="l"/>
              <a:pathLst>
                <a:path h="11299190" w="7592822">
                  <a:moveTo>
                    <a:pt x="16891" y="0"/>
                  </a:moveTo>
                  <a:lnTo>
                    <a:pt x="7575931" y="0"/>
                  </a:lnTo>
                  <a:cubicBezTo>
                    <a:pt x="7585329" y="0"/>
                    <a:pt x="7592822" y="7620"/>
                    <a:pt x="7592822" y="16891"/>
                  </a:cubicBezTo>
                  <a:lnTo>
                    <a:pt x="7592822" y="11282299"/>
                  </a:lnTo>
                  <a:cubicBezTo>
                    <a:pt x="7592822" y="11291697"/>
                    <a:pt x="7585202" y="11299190"/>
                    <a:pt x="7575931" y="11299190"/>
                  </a:cubicBezTo>
                  <a:lnTo>
                    <a:pt x="16891" y="11299190"/>
                  </a:lnTo>
                  <a:cubicBezTo>
                    <a:pt x="7493" y="11299190"/>
                    <a:pt x="0" y="11291570"/>
                    <a:pt x="0" y="11282299"/>
                  </a:cubicBezTo>
                  <a:lnTo>
                    <a:pt x="0" y="16891"/>
                  </a:lnTo>
                  <a:cubicBezTo>
                    <a:pt x="0" y="7620"/>
                    <a:pt x="7620" y="0"/>
                    <a:pt x="16891" y="0"/>
                  </a:cubicBezTo>
                  <a:moveTo>
                    <a:pt x="16891" y="33909"/>
                  </a:moveTo>
                  <a:lnTo>
                    <a:pt x="16891" y="16891"/>
                  </a:lnTo>
                  <a:lnTo>
                    <a:pt x="33909" y="16891"/>
                  </a:lnTo>
                  <a:lnTo>
                    <a:pt x="33909" y="11282299"/>
                  </a:lnTo>
                  <a:lnTo>
                    <a:pt x="16891" y="11282299"/>
                  </a:lnTo>
                  <a:lnTo>
                    <a:pt x="16891" y="11265408"/>
                  </a:lnTo>
                  <a:lnTo>
                    <a:pt x="7575931" y="11265408"/>
                  </a:lnTo>
                  <a:lnTo>
                    <a:pt x="7575931" y="11282299"/>
                  </a:lnTo>
                  <a:lnTo>
                    <a:pt x="7559040" y="11282299"/>
                  </a:lnTo>
                  <a:lnTo>
                    <a:pt x="7559040" y="16891"/>
                  </a:lnTo>
                  <a:lnTo>
                    <a:pt x="7575931" y="16891"/>
                  </a:lnTo>
                  <a:lnTo>
                    <a:pt x="7575931" y="33909"/>
                  </a:lnTo>
                  <a:lnTo>
                    <a:pt x="16891" y="33909"/>
                  </a:lnTo>
                  <a:close/>
                </a:path>
              </a:pathLst>
            </a:custGeom>
            <a:solidFill>
              <a:srgbClr val="0A1628"/>
            </a:solidFill>
          </p:spPr>
        </p:sp>
      </p:grpSp>
      <p:grpSp>
        <p:nvGrpSpPr>
          <p:cNvPr name="Group 11" id="11"/>
          <p:cNvGrpSpPr/>
          <p:nvPr/>
        </p:nvGrpSpPr>
        <p:grpSpPr>
          <a:xfrm rot="0">
            <a:off x="768096" y="1609344"/>
            <a:ext cx="5230368" cy="512064"/>
            <a:chOff x="0" y="0"/>
            <a:chExt cx="6973824" cy="682752"/>
          </a:xfrm>
        </p:grpSpPr>
        <p:sp>
          <p:nvSpPr>
            <p:cNvPr name="Freeform 12" id="12"/>
            <p:cNvSpPr/>
            <p:nvPr/>
          </p:nvSpPr>
          <p:spPr>
            <a:xfrm flipH="false" flipV="false" rot="0">
              <a:off x="0" y="0"/>
              <a:ext cx="6973824" cy="682752"/>
            </a:xfrm>
            <a:custGeom>
              <a:avLst/>
              <a:gdLst/>
              <a:ahLst/>
              <a:cxnLst/>
              <a:rect r="r" b="b" t="t" l="l"/>
              <a:pathLst>
                <a:path h="682752" w="6973824">
                  <a:moveTo>
                    <a:pt x="0" y="0"/>
                  </a:moveTo>
                  <a:lnTo>
                    <a:pt x="6973824" y="0"/>
                  </a:lnTo>
                  <a:lnTo>
                    <a:pt x="6973824" y="682752"/>
                  </a:lnTo>
                  <a:lnTo>
                    <a:pt x="0" y="682752"/>
                  </a:lnTo>
                  <a:close/>
                </a:path>
              </a:pathLst>
            </a:custGeom>
            <a:blipFill>
              <a:blip r:embed="rId3">
                <a:alphaModFix amt="0"/>
              </a:blip>
              <a:stretch>
                <a:fillRect l="0" t="-149025" r="0" b="-149025"/>
              </a:stretch>
            </a:blipFill>
          </p:spPr>
        </p:sp>
        <p:sp>
          <p:nvSpPr>
            <p:cNvPr name="TextBox 13" id="13"/>
            <p:cNvSpPr txBox="true"/>
            <p:nvPr/>
          </p:nvSpPr>
          <p:spPr>
            <a:xfrm>
              <a:off x="0" y="-28575"/>
              <a:ext cx="6973824" cy="711327"/>
            </a:xfrm>
            <a:prstGeom prst="rect">
              <a:avLst/>
            </a:prstGeom>
          </p:spPr>
          <p:txBody>
            <a:bodyPr anchor="ctr" rtlCol="false" tIns="0" lIns="0" bIns="0" rIns="0"/>
            <a:lstStyle/>
            <a:p>
              <a:pPr algn="l">
                <a:lnSpc>
                  <a:spcPts val="1920"/>
                </a:lnSpc>
              </a:pPr>
              <a:r>
                <a:rPr lang="en-US" b="true" sz="1600" spc="400">
                  <a:solidFill>
                    <a:srgbClr val="0D9488"/>
                  </a:solidFill>
                  <a:latin typeface="Calibri (MS) Bold"/>
                  <a:ea typeface="Calibri (MS) Bold"/>
                  <a:cs typeface="Calibri (MS) Bold"/>
                  <a:sym typeface="Calibri (MS) Bold"/>
                </a:rPr>
                <a:t>PATIENT PROFILE</a:t>
              </a:r>
            </a:p>
          </p:txBody>
        </p:sp>
      </p:grpSp>
      <p:grpSp>
        <p:nvGrpSpPr>
          <p:cNvPr name="Group 14" id="14"/>
          <p:cNvGrpSpPr/>
          <p:nvPr/>
        </p:nvGrpSpPr>
        <p:grpSpPr>
          <a:xfrm rot="0">
            <a:off x="804672" y="2304288"/>
            <a:ext cx="2011680" cy="640080"/>
            <a:chOff x="0" y="0"/>
            <a:chExt cx="2682240" cy="853440"/>
          </a:xfrm>
        </p:grpSpPr>
        <p:sp>
          <p:nvSpPr>
            <p:cNvPr name="Freeform 15" id="15"/>
            <p:cNvSpPr/>
            <p:nvPr/>
          </p:nvSpPr>
          <p:spPr>
            <a:xfrm flipH="false" flipV="false" rot="0">
              <a:off x="0" y="0"/>
              <a:ext cx="2682240" cy="853440"/>
            </a:xfrm>
            <a:custGeom>
              <a:avLst/>
              <a:gdLst/>
              <a:ahLst/>
              <a:cxnLst/>
              <a:rect r="r" b="b" t="t" l="l"/>
              <a:pathLst>
                <a:path h="853440" w="2682240">
                  <a:moveTo>
                    <a:pt x="0" y="0"/>
                  </a:moveTo>
                  <a:lnTo>
                    <a:pt x="2682240" y="0"/>
                  </a:lnTo>
                  <a:lnTo>
                    <a:pt x="2682240" y="853440"/>
                  </a:lnTo>
                  <a:lnTo>
                    <a:pt x="0" y="853440"/>
                  </a:lnTo>
                  <a:close/>
                </a:path>
              </a:pathLst>
            </a:custGeom>
            <a:blipFill>
              <a:blip r:embed="rId3">
                <a:alphaModFix amt="0"/>
              </a:blip>
              <a:stretch>
                <a:fillRect l="0" t="-11238" r="0" b="-11238"/>
              </a:stretch>
            </a:blipFill>
          </p:spPr>
        </p:sp>
        <p:sp>
          <p:nvSpPr>
            <p:cNvPr name="TextBox 16" id="16"/>
            <p:cNvSpPr txBox="true"/>
            <p:nvPr/>
          </p:nvSpPr>
          <p:spPr>
            <a:xfrm>
              <a:off x="0" y="-38100"/>
              <a:ext cx="2682240" cy="89154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ID</a:t>
              </a:r>
            </a:p>
          </p:txBody>
        </p:sp>
      </p:grpSp>
      <p:grpSp>
        <p:nvGrpSpPr>
          <p:cNvPr name="Group 17" id="17"/>
          <p:cNvGrpSpPr/>
          <p:nvPr/>
        </p:nvGrpSpPr>
        <p:grpSpPr>
          <a:xfrm rot="0">
            <a:off x="2889504" y="2304288"/>
            <a:ext cx="3108960" cy="640080"/>
            <a:chOff x="0" y="0"/>
            <a:chExt cx="4145280" cy="853440"/>
          </a:xfrm>
        </p:grpSpPr>
        <p:sp>
          <p:nvSpPr>
            <p:cNvPr name="Freeform 18" id="18"/>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3">
                <a:alphaModFix amt="0"/>
              </a:blip>
              <a:stretch>
                <a:fillRect l="0" t="-44641" r="0" b="-44641"/>
              </a:stretch>
            </a:blipFill>
          </p:spPr>
        </p:sp>
        <p:sp>
          <p:nvSpPr>
            <p:cNvPr name="TextBox 19" id="19"/>
            <p:cNvSpPr txBox="true"/>
            <p:nvPr/>
          </p:nvSpPr>
          <p:spPr>
            <a:xfrm>
              <a:off x="0" y="-38100"/>
              <a:ext cx="4145280" cy="891540"/>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P-2024-0847</a:t>
              </a:r>
            </a:p>
          </p:txBody>
        </p:sp>
      </p:grpSp>
      <p:grpSp>
        <p:nvGrpSpPr>
          <p:cNvPr name="Group 20" id="20"/>
          <p:cNvGrpSpPr/>
          <p:nvPr/>
        </p:nvGrpSpPr>
        <p:grpSpPr>
          <a:xfrm rot="0">
            <a:off x="804672" y="3072384"/>
            <a:ext cx="2011680" cy="640080"/>
            <a:chOff x="0" y="0"/>
            <a:chExt cx="2682240" cy="853440"/>
          </a:xfrm>
        </p:grpSpPr>
        <p:sp>
          <p:nvSpPr>
            <p:cNvPr name="Freeform 21" id="21"/>
            <p:cNvSpPr/>
            <p:nvPr/>
          </p:nvSpPr>
          <p:spPr>
            <a:xfrm flipH="false" flipV="false" rot="0">
              <a:off x="0" y="0"/>
              <a:ext cx="2682240" cy="853440"/>
            </a:xfrm>
            <a:custGeom>
              <a:avLst/>
              <a:gdLst/>
              <a:ahLst/>
              <a:cxnLst/>
              <a:rect r="r" b="b" t="t" l="l"/>
              <a:pathLst>
                <a:path h="853440" w="2682240">
                  <a:moveTo>
                    <a:pt x="0" y="0"/>
                  </a:moveTo>
                  <a:lnTo>
                    <a:pt x="2682240" y="0"/>
                  </a:lnTo>
                  <a:lnTo>
                    <a:pt x="2682240" y="853440"/>
                  </a:lnTo>
                  <a:lnTo>
                    <a:pt x="0" y="853440"/>
                  </a:lnTo>
                  <a:close/>
                </a:path>
              </a:pathLst>
            </a:custGeom>
            <a:blipFill>
              <a:blip r:embed="rId3">
                <a:alphaModFix amt="0"/>
              </a:blip>
              <a:stretch>
                <a:fillRect l="0" t="-11238" r="0" b="-11238"/>
              </a:stretch>
            </a:blipFill>
          </p:spPr>
        </p:sp>
        <p:sp>
          <p:nvSpPr>
            <p:cNvPr name="TextBox 22" id="22"/>
            <p:cNvSpPr txBox="true"/>
            <p:nvPr/>
          </p:nvSpPr>
          <p:spPr>
            <a:xfrm>
              <a:off x="0" y="-38100"/>
              <a:ext cx="2682240" cy="89154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Age</a:t>
              </a:r>
            </a:p>
          </p:txBody>
        </p:sp>
      </p:grpSp>
      <p:grpSp>
        <p:nvGrpSpPr>
          <p:cNvPr name="Group 23" id="23"/>
          <p:cNvGrpSpPr/>
          <p:nvPr/>
        </p:nvGrpSpPr>
        <p:grpSpPr>
          <a:xfrm rot="0">
            <a:off x="2889504" y="3072384"/>
            <a:ext cx="3108960" cy="640080"/>
            <a:chOff x="0" y="0"/>
            <a:chExt cx="4145280" cy="853440"/>
          </a:xfrm>
        </p:grpSpPr>
        <p:sp>
          <p:nvSpPr>
            <p:cNvPr name="Freeform 24" id="24"/>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3">
                <a:alphaModFix amt="0"/>
              </a:blip>
              <a:stretch>
                <a:fillRect l="0" t="-44641" r="0" b="-44641"/>
              </a:stretch>
            </a:blipFill>
          </p:spPr>
        </p:sp>
        <p:sp>
          <p:nvSpPr>
            <p:cNvPr name="TextBox 25" id="25"/>
            <p:cNvSpPr txBox="true"/>
            <p:nvPr/>
          </p:nvSpPr>
          <p:spPr>
            <a:xfrm>
              <a:off x="0" y="-38100"/>
              <a:ext cx="4145280" cy="891540"/>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54 years</a:t>
              </a:r>
            </a:p>
          </p:txBody>
        </p:sp>
      </p:grpSp>
      <p:grpSp>
        <p:nvGrpSpPr>
          <p:cNvPr name="Group 26" id="26"/>
          <p:cNvGrpSpPr/>
          <p:nvPr/>
        </p:nvGrpSpPr>
        <p:grpSpPr>
          <a:xfrm rot="0">
            <a:off x="804672" y="3840480"/>
            <a:ext cx="2011680" cy="640080"/>
            <a:chOff x="0" y="0"/>
            <a:chExt cx="2682240" cy="853440"/>
          </a:xfrm>
        </p:grpSpPr>
        <p:sp>
          <p:nvSpPr>
            <p:cNvPr name="Freeform 27" id="27"/>
            <p:cNvSpPr/>
            <p:nvPr/>
          </p:nvSpPr>
          <p:spPr>
            <a:xfrm flipH="false" flipV="false" rot="0">
              <a:off x="0" y="0"/>
              <a:ext cx="2682240" cy="853440"/>
            </a:xfrm>
            <a:custGeom>
              <a:avLst/>
              <a:gdLst/>
              <a:ahLst/>
              <a:cxnLst/>
              <a:rect r="r" b="b" t="t" l="l"/>
              <a:pathLst>
                <a:path h="853440" w="2682240">
                  <a:moveTo>
                    <a:pt x="0" y="0"/>
                  </a:moveTo>
                  <a:lnTo>
                    <a:pt x="2682240" y="0"/>
                  </a:lnTo>
                  <a:lnTo>
                    <a:pt x="2682240" y="853440"/>
                  </a:lnTo>
                  <a:lnTo>
                    <a:pt x="0" y="853440"/>
                  </a:lnTo>
                  <a:close/>
                </a:path>
              </a:pathLst>
            </a:custGeom>
            <a:blipFill>
              <a:blip r:embed="rId3">
                <a:alphaModFix amt="0"/>
              </a:blip>
              <a:stretch>
                <a:fillRect l="0" t="-11238" r="0" b="-11238"/>
              </a:stretch>
            </a:blipFill>
          </p:spPr>
        </p:sp>
        <p:sp>
          <p:nvSpPr>
            <p:cNvPr name="TextBox 28" id="28"/>
            <p:cNvSpPr txBox="true"/>
            <p:nvPr/>
          </p:nvSpPr>
          <p:spPr>
            <a:xfrm>
              <a:off x="0" y="-38100"/>
              <a:ext cx="2682240" cy="89154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Gender</a:t>
              </a:r>
            </a:p>
          </p:txBody>
        </p:sp>
      </p:grpSp>
      <p:grpSp>
        <p:nvGrpSpPr>
          <p:cNvPr name="Group 29" id="29"/>
          <p:cNvGrpSpPr/>
          <p:nvPr/>
        </p:nvGrpSpPr>
        <p:grpSpPr>
          <a:xfrm rot="0">
            <a:off x="2889504" y="3840480"/>
            <a:ext cx="3108960" cy="640080"/>
            <a:chOff x="0" y="0"/>
            <a:chExt cx="4145280" cy="853440"/>
          </a:xfrm>
        </p:grpSpPr>
        <p:sp>
          <p:nvSpPr>
            <p:cNvPr name="Freeform 30" id="30"/>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3">
                <a:alphaModFix amt="0"/>
              </a:blip>
              <a:stretch>
                <a:fillRect l="0" t="-44641" r="0" b="-44641"/>
              </a:stretch>
            </a:blipFill>
          </p:spPr>
        </p:sp>
        <p:sp>
          <p:nvSpPr>
            <p:cNvPr name="TextBox 31" id="31"/>
            <p:cNvSpPr txBox="true"/>
            <p:nvPr/>
          </p:nvSpPr>
          <p:spPr>
            <a:xfrm>
              <a:off x="0" y="-38100"/>
              <a:ext cx="4145280" cy="891540"/>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Male</a:t>
              </a:r>
            </a:p>
          </p:txBody>
        </p:sp>
      </p:grpSp>
      <p:grpSp>
        <p:nvGrpSpPr>
          <p:cNvPr name="Group 32" id="32"/>
          <p:cNvGrpSpPr/>
          <p:nvPr/>
        </p:nvGrpSpPr>
        <p:grpSpPr>
          <a:xfrm rot="0">
            <a:off x="804672" y="4608576"/>
            <a:ext cx="2011680" cy="640080"/>
            <a:chOff x="0" y="0"/>
            <a:chExt cx="2682240" cy="853440"/>
          </a:xfrm>
        </p:grpSpPr>
        <p:sp>
          <p:nvSpPr>
            <p:cNvPr name="Freeform 33" id="33"/>
            <p:cNvSpPr/>
            <p:nvPr/>
          </p:nvSpPr>
          <p:spPr>
            <a:xfrm flipH="false" flipV="false" rot="0">
              <a:off x="0" y="0"/>
              <a:ext cx="2682240" cy="853440"/>
            </a:xfrm>
            <a:custGeom>
              <a:avLst/>
              <a:gdLst/>
              <a:ahLst/>
              <a:cxnLst/>
              <a:rect r="r" b="b" t="t" l="l"/>
              <a:pathLst>
                <a:path h="853440" w="2682240">
                  <a:moveTo>
                    <a:pt x="0" y="0"/>
                  </a:moveTo>
                  <a:lnTo>
                    <a:pt x="2682240" y="0"/>
                  </a:lnTo>
                  <a:lnTo>
                    <a:pt x="2682240" y="853440"/>
                  </a:lnTo>
                  <a:lnTo>
                    <a:pt x="0" y="853440"/>
                  </a:lnTo>
                  <a:close/>
                </a:path>
              </a:pathLst>
            </a:custGeom>
            <a:blipFill>
              <a:blip r:embed="rId3">
                <a:alphaModFix amt="0"/>
              </a:blip>
              <a:stretch>
                <a:fillRect l="0" t="-11238" r="0" b="-11238"/>
              </a:stretch>
            </a:blipFill>
          </p:spPr>
        </p:sp>
        <p:sp>
          <p:nvSpPr>
            <p:cNvPr name="TextBox 34" id="34"/>
            <p:cNvSpPr txBox="true"/>
            <p:nvPr/>
          </p:nvSpPr>
          <p:spPr>
            <a:xfrm>
              <a:off x="0" y="-38100"/>
              <a:ext cx="2682240" cy="89154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BMI</a:t>
              </a:r>
            </a:p>
          </p:txBody>
        </p:sp>
      </p:grpSp>
      <p:grpSp>
        <p:nvGrpSpPr>
          <p:cNvPr name="Group 35" id="35"/>
          <p:cNvGrpSpPr/>
          <p:nvPr/>
        </p:nvGrpSpPr>
        <p:grpSpPr>
          <a:xfrm rot="0">
            <a:off x="2889504" y="4608576"/>
            <a:ext cx="3108960" cy="640080"/>
            <a:chOff x="0" y="0"/>
            <a:chExt cx="4145280" cy="853440"/>
          </a:xfrm>
        </p:grpSpPr>
        <p:sp>
          <p:nvSpPr>
            <p:cNvPr name="Freeform 36" id="36"/>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3">
                <a:alphaModFix amt="0"/>
              </a:blip>
              <a:stretch>
                <a:fillRect l="0" t="-44641" r="0" b="-44641"/>
              </a:stretch>
            </a:blipFill>
          </p:spPr>
        </p:sp>
        <p:sp>
          <p:nvSpPr>
            <p:cNvPr name="TextBox 37" id="37"/>
            <p:cNvSpPr txBox="true"/>
            <p:nvPr/>
          </p:nvSpPr>
          <p:spPr>
            <a:xfrm>
              <a:off x="0" y="-38100"/>
              <a:ext cx="4145280" cy="891540"/>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28.3 (Overweight)</a:t>
              </a:r>
            </a:p>
          </p:txBody>
        </p:sp>
      </p:grpSp>
      <p:grpSp>
        <p:nvGrpSpPr>
          <p:cNvPr name="Group 38" id="38"/>
          <p:cNvGrpSpPr/>
          <p:nvPr/>
        </p:nvGrpSpPr>
        <p:grpSpPr>
          <a:xfrm rot="0">
            <a:off x="804672" y="5376672"/>
            <a:ext cx="2011680" cy="640080"/>
            <a:chOff x="0" y="0"/>
            <a:chExt cx="2682240" cy="853440"/>
          </a:xfrm>
        </p:grpSpPr>
        <p:sp>
          <p:nvSpPr>
            <p:cNvPr name="Freeform 39" id="39"/>
            <p:cNvSpPr/>
            <p:nvPr/>
          </p:nvSpPr>
          <p:spPr>
            <a:xfrm flipH="false" flipV="false" rot="0">
              <a:off x="0" y="0"/>
              <a:ext cx="2682240" cy="853440"/>
            </a:xfrm>
            <a:custGeom>
              <a:avLst/>
              <a:gdLst/>
              <a:ahLst/>
              <a:cxnLst/>
              <a:rect r="r" b="b" t="t" l="l"/>
              <a:pathLst>
                <a:path h="853440" w="2682240">
                  <a:moveTo>
                    <a:pt x="0" y="0"/>
                  </a:moveTo>
                  <a:lnTo>
                    <a:pt x="2682240" y="0"/>
                  </a:lnTo>
                  <a:lnTo>
                    <a:pt x="2682240" y="853440"/>
                  </a:lnTo>
                  <a:lnTo>
                    <a:pt x="0" y="853440"/>
                  </a:lnTo>
                  <a:close/>
                </a:path>
              </a:pathLst>
            </a:custGeom>
            <a:blipFill>
              <a:blip r:embed="rId3">
                <a:alphaModFix amt="0"/>
              </a:blip>
              <a:stretch>
                <a:fillRect l="0" t="-11238" r="0" b="-11238"/>
              </a:stretch>
            </a:blipFill>
          </p:spPr>
        </p:sp>
        <p:sp>
          <p:nvSpPr>
            <p:cNvPr name="TextBox 40" id="40"/>
            <p:cNvSpPr txBox="true"/>
            <p:nvPr/>
          </p:nvSpPr>
          <p:spPr>
            <a:xfrm>
              <a:off x="0" y="-38100"/>
              <a:ext cx="2682240" cy="89154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BP</a:t>
              </a:r>
            </a:p>
          </p:txBody>
        </p:sp>
      </p:grpSp>
      <p:grpSp>
        <p:nvGrpSpPr>
          <p:cNvPr name="Group 41" id="41"/>
          <p:cNvGrpSpPr/>
          <p:nvPr/>
        </p:nvGrpSpPr>
        <p:grpSpPr>
          <a:xfrm rot="0">
            <a:off x="2889504" y="5376672"/>
            <a:ext cx="3108960" cy="640080"/>
            <a:chOff x="0" y="0"/>
            <a:chExt cx="4145280" cy="853440"/>
          </a:xfrm>
        </p:grpSpPr>
        <p:sp>
          <p:nvSpPr>
            <p:cNvPr name="Freeform 42" id="42"/>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3">
                <a:alphaModFix amt="0"/>
              </a:blip>
              <a:stretch>
                <a:fillRect l="0" t="-44641" r="0" b="-44641"/>
              </a:stretch>
            </a:blipFill>
          </p:spPr>
        </p:sp>
        <p:sp>
          <p:nvSpPr>
            <p:cNvPr name="TextBox 43" id="43"/>
            <p:cNvSpPr txBox="true"/>
            <p:nvPr/>
          </p:nvSpPr>
          <p:spPr>
            <a:xfrm>
              <a:off x="0" y="-38100"/>
              <a:ext cx="4145280" cy="891540"/>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138/88 mmHg</a:t>
              </a:r>
            </a:p>
          </p:txBody>
        </p:sp>
      </p:grpSp>
      <p:grpSp>
        <p:nvGrpSpPr>
          <p:cNvPr name="Group 44" id="44"/>
          <p:cNvGrpSpPr/>
          <p:nvPr/>
        </p:nvGrpSpPr>
        <p:grpSpPr>
          <a:xfrm rot="0">
            <a:off x="804672" y="6144768"/>
            <a:ext cx="2011680" cy="640080"/>
            <a:chOff x="0" y="0"/>
            <a:chExt cx="2682240" cy="853440"/>
          </a:xfrm>
        </p:grpSpPr>
        <p:sp>
          <p:nvSpPr>
            <p:cNvPr name="Freeform 45" id="45"/>
            <p:cNvSpPr/>
            <p:nvPr/>
          </p:nvSpPr>
          <p:spPr>
            <a:xfrm flipH="false" flipV="false" rot="0">
              <a:off x="0" y="0"/>
              <a:ext cx="2682240" cy="853440"/>
            </a:xfrm>
            <a:custGeom>
              <a:avLst/>
              <a:gdLst/>
              <a:ahLst/>
              <a:cxnLst/>
              <a:rect r="r" b="b" t="t" l="l"/>
              <a:pathLst>
                <a:path h="853440" w="2682240">
                  <a:moveTo>
                    <a:pt x="0" y="0"/>
                  </a:moveTo>
                  <a:lnTo>
                    <a:pt x="2682240" y="0"/>
                  </a:lnTo>
                  <a:lnTo>
                    <a:pt x="2682240" y="853440"/>
                  </a:lnTo>
                  <a:lnTo>
                    <a:pt x="0" y="853440"/>
                  </a:lnTo>
                  <a:close/>
                </a:path>
              </a:pathLst>
            </a:custGeom>
            <a:blipFill>
              <a:blip r:embed="rId3">
                <a:alphaModFix amt="0"/>
              </a:blip>
              <a:stretch>
                <a:fillRect l="0" t="-11238" r="0" b="-11238"/>
              </a:stretch>
            </a:blipFill>
          </p:spPr>
        </p:sp>
        <p:sp>
          <p:nvSpPr>
            <p:cNvPr name="TextBox 46" id="46"/>
            <p:cNvSpPr txBox="true"/>
            <p:nvPr/>
          </p:nvSpPr>
          <p:spPr>
            <a:xfrm>
              <a:off x="0" y="-38100"/>
              <a:ext cx="2682240" cy="89154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Glucose</a:t>
              </a:r>
            </a:p>
          </p:txBody>
        </p:sp>
      </p:grpSp>
      <p:grpSp>
        <p:nvGrpSpPr>
          <p:cNvPr name="Group 47" id="47"/>
          <p:cNvGrpSpPr/>
          <p:nvPr/>
        </p:nvGrpSpPr>
        <p:grpSpPr>
          <a:xfrm rot="0">
            <a:off x="2889504" y="6144768"/>
            <a:ext cx="3108960" cy="640080"/>
            <a:chOff x="0" y="0"/>
            <a:chExt cx="4145280" cy="853440"/>
          </a:xfrm>
        </p:grpSpPr>
        <p:sp>
          <p:nvSpPr>
            <p:cNvPr name="Freeform 48" id="48"/>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3">
                <a:alphaModFix amt="0"/>
              </a:blip>
              <a:stretch>
                <a:fillRect l="0" t="-44641" r="0" b="-44641"/>
              </a:stretch>
            </a:blipFill>
          </p:spPr>
        </p:sp>
        <p:sp>
          <p:nvSpPr>
            <p:cNvPr name="TextBox 49" id="49"/>
            <p:cNvSpPr txBox="true"/>
            <p:nvPr/>
          </p:nvSpPr>
          <p:spPr>
            <a:xfrm>
              <a:off x="0" y="-38100"/>
              <a:ext cx="4145280" cy="891540"/>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110 mg/dL</a:t>
              </a:r>
            </a:p>
          </p:txBody>
        </p:sp>
      </p:grpSp>
      <p:grpSp>
        <p:nvGrpSpPr>
          <p:cNvPr name="Group 50" id="50"/>
          <p:cNvGrpSpPr/>
          <p:nvPr/>
        </p:nvGrpSpPr>
        <p:grpSpPr>
          <a:xfrm rot="0">
            <a:off x="804672" y="6912864"/>
            <a:ext cx="2011680" cy="640080"/>
            <a:chOff x="0" y="0"/>
            <a:chExt cx="2682240" cy="853440"/>
          </a:xfrm>
        </p:grpSpPr>
        <p:sp>
          <p:nvSpPr>
            <p:cNvPr name="Freeform 51" id="51"/>
            <p:cNvSpPr/>
            <p:nvPr/>
          </p:nvSpPr>
          <p:spPr>
            <a:xfrm flipH="false" flipV="false" rot="0">
              <a:off x="0" y="0"/>
              <a:ext cx="2682240" cy="853440"/>
            </a:xfrm>
            <a:custGeom>
              <a:avLst/>
              <a:gdLst/>
              <a:ahLst/>
              <a:cxnLst/>
              <a:rect r="r" b="b" t="t" l="l"/>
              <a:pathLst>
                <a:path h="853440" w="2682240">
                  <a:moveTo>
                    <a:pt x="0" y="0"/>
                  </a:moveTo>
                  <a:lnTo>
                    <a:pt x="2682240" y="0"/>
                  </a:lnTo>
                  <a:lnTo>
                    <a:pt x="2682240" y="853440"/>
                  </a:lnTo>
                  <a:lnTo>
                    <a:pt x="0" y="853440"/>
                  </a:lnTo>
                  <a:close/>
                </a:path>
              </a:pathLst>
            </a:custGeom>
            <a:blipFill>
              <a:blip r:embed="rId3">
                <a:alphaModFix amt="0"/>
              </a:blip>
              <a:stretch>
                <a:fillRect l="0" t="-11238" r="0" b="-11238"/>
              </a:stretch>
            </a:blipFill>
          </p:spPr>
        </p:sp>
        <p:sp>
          <p:nvSpPr>
            <p:cNvPr name="TextBox 52" id="52"/>
            <p:cNvSpPr txBox="true"/>
            <p:nvPr/>
          </p:nvSpPr>
          <p:spPr>
            <a:xfrm>
              <a:off x="0" y="-38100"/>
              <a:ext cx="2682240" cy="89154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Cholesterol</a:t>
              </a:r>
            </a:p>
          </p:txBody>
        </p:sp>
      </p:grpSp>
      <p:grpSp>
        <p:nvGrpSpPr>
          <p:cNvPr name="Group 53" id="53"/>
          <p:cNvGrpSpPr/>
          <p:nvPr/>
        </p:nvGrpSpPr>
        <p:grpSpPr>
          <a:xfrm rot="0">
            <a:off x="2889504" y="6912864"/>
            <a:ext cx="3108960" cy="640080"/>
            <a:chOff x="0" y="0"/>
            <a:chExt cx="4145280" cy="853440"/>
          </a:xfrm>
        </p:grpSpPr>
        <p:sp>
          <p:nvSpPr>
            <p:cNvPr name="Freeform 54" id="54"/>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3">
                <a:alphaModFix amt="0"/>
              </a:blip>
              <a:stretch>
                <a:fillRect l="0" t="-44641" r="0" b="-44641"/>
              </a:stretch>
            </a:blipFill>
          </p:spPr>
        </p:sp>
        <p:sp>
          <p:nvSpPr>
            <p:cNvPr name="TextBox 55" id="55"/>
            <p:cNvSpPr txBox="true"/>
            <p:nvPr/>
          </p:nvSpPr>
          <p:spPr>
            <a:xfrm>
              <a:off x="0" y="-38100"/>
              <a:ext cx="4145280" cy="891540"/>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210 mg/dL</a:t>
              </a:r>
            </a:p>
          </p:txBody>
        </p:sp>
      </p:grpSp>
      <p:grpSp>
        <p:nvGrpSpPr>
          <p:cNvPr name="Group 56" id="56"/>
          <p:cNvGrpSpPr/>
          <p:nvPr/>
        </p:nvGrpSpPr>
        <p:grpSpPr>
          <a:xfrm rot="0">
            <a:off x="804672" y="7680960"/>
            <a:ext cx="2011680" cy="640080"/>
            <a:chOff x="0" y="0"/>
            <a:chExt cx="2682240" cy="853440"/>
          </a:xfrm>
        </p:grpSpPr>
        <p:sp>
          <p:nvSpPr>
            <p:cNvPr name="Freeform 57" id="57"/>
            <p:cNvSpPr/>
            <p:nvPr/>
          </p:nvSpPr>
          <p:spPr>
            <a:xfrm flipH="false" flipV="false" rot="0">
              <a:off x="0" y="0"/>
              <a:ext cx="2682240" cy="853440"/>
            </a:xfrm>
            <a:custGeom>
              <a:avLst/>
              <a:gdLst/>
              <a:ahLst/>
              <a:cxnLst/>
              <a:rect r="r" b="b" t="t" l="l"/>
              <a:pathLst>
                <a:path h="853440" w="2682240">
                  <a:moveTo>
                    <a:pt x="0" y="0"/>
                  </a:moveTo>
                  <a:lnTo>
                    <a:pt x="2682240" y="0"/>
                  </a:lnTo>
                  <a:lnTo>
                    <a:pt x="2682240" y="853440"/>
                  </a:lnTo>
                  <a:lnTo>
                    <a:pt x="0" y="853440"/>
                  </a:lnTo>
                  <a:close/>
                </a:path>
              </a:pathLst>
            </a:custGeom>
            <a:blipFill>
              <a:blip r:embed="rId3">
                <a:alphaModFix amt="0"/>
              </a:blip>
              <a:stretch>
                <a:fillRect l="0" t="-11238" r="0" b="-11238"/>
              </a:stretch>
            </a:blipFill>
          </p:spPr>
        </p:sp>
        <p:sp>
          <p:nvSpPr>
            <p:cNvPr name="TextBox 58" id="58"/>
            <p:cNvSpPr txBox="true"/>
            <p:nvPr/>
          </p:nvSpPr>
          <p:spPr>
            <a:xfrm>
              <a:off x="0" y="-38100"/>
              <a:ext cx="2682240" cy="89154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Past condition</a:t>
              </a:r>
            </a:p>
          </p:txBody>
        </p:sp>
      </p:grpSp>
      <p:grpSp>
        <p:nvGrpSpPr>
          <p:cNvPr name="Group 59" id="59"/>
          <p:cNvGrpSpPr/>
          <p:nvPr/>
        </p:nvGrpSpPr>
        <p:grpSpPr>
          <a:xfrm rot="0">
            <a:off x="2889504" y="7680960"/>
            <a:ext cx="3108960" cy="640080"/>
            <a:chOff x="0" y="0"/>
            <a:chExt cx="4145280" cy="853440"/>
          </a:xfrm>
        </p:grpSpPr>
        <p:sp>
          <p:nvSpPr>
            <p:cNvPr name="Freeform 60" id="60"/>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3">
                <a:alphaModFix amt="0"/>
              </a:blip>
              <a:stretch>
                <a:fillRect l="0" t="-44641" r="0" b="-44641"/>
              </a:stretch>
            </a:blipFill>
          </p:spPr>
        </p:sp>
        <p:sp>
          <p:nvSpPr>
            <p:cNvPr name="TextBox 61" id="61"/>
            <p:cNvSpPr txBox="true"/>
            <p:nvPr/>
          </p:nvSpPr>
          <p:spPr>
            <a:xfrm>
              <a:off x="0" y="-38100"/>
              <a:ext cx="4145280" cy="891540"/>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Hypertension (2019)</a:t>
              </a:r>
            </a:p>
          </p:txBody>
        </p:sp>
      </p:grpSp>
      <p:grpSp>
        <p:nvGrpSpPr>
          <p:cNvPr name="Group 62" id="62"/>
          <p:cNvGrpSpPr/>
          <p:nvPr/>
        </p:nvGrpSpPr>
        <p:grpSpPr>
          <a:xfrm rot="0">
            <a:off x="6570983" y="1358903"/>
            <a:ext cx="11181083" cy="8474459"/>
            <a:chOff x="0" y="0"/>
            <a:chExt cx="14908111" cy="11299279"/>
          </a:xfrm>
        </p:grpSpPr>
        <p:sp>
          <p:nvSpPr>
            <p:cNvPr name="Freeform 63" id="63"/>
            <p:cNvSpPr/>
            <p:nvPr/>
          </p:nvSpPr>
          <p:spPr>
            <a:xfrm flipH="false" flipV="false" rot="0">
              <a:off x="16891" y="16891"/>
              <a:ext cx="14874239" cy="11265408"/>
            </a:xfrm>
            <a:custGeom>
              <a:avLst/>
              <a:gdLst/>
              <a:ahLst/>
              <a:cxnLst/>
              <a:rect r="r" b="b" t="t" l="l"/>
              <a:pathLst>
                <a:path h="11265408" w="14874239">
                  <a:moveTo>
                    <a:pt x="0" y="0"/>
                  </a:moveTo>
                  <a:lnTo>
                    <a:pt x="14874239" y="0"/>
                  </a:lnTo>
                  <a:lnTo>
                    <a:pt x="14874239" y="11265408"/>
                  </a:lnTo>
                  <a:lnTo>
                    <a:pt x="0" y="11265408"/>
                  </a:lnTo>
                  <a:close/>
                </a:path>
              </a:pathLst>
            </a:custGeom>
            <a:solidFill>
              <a:srgbClr val="FFFFFF"/>
            </a:solidFill>
          </p:spPr>
        </p:sp>
        <p:sp>
          <p:nvSpPr>
            <p:cNvPr name="Freeform 64" id="64"/>
            <p:cNvSpPr/>
            <p:nvPr/>
          </p:nvSpPr>
          <p:spPr>
            <a:xfrm flipH="false" flipV="false" rot="0">
              <a:off x="0" y="0"/>
              <a:ext cx="14908022" cy="11299190"/>
            </a:xfrm>
            <a:custGeom>
              <a:avLst/>
              <a:gdLst/>
              <a:ahLst/>
              <a:cxnLst/>
              <a:rect r="r" b="b" t="t" l="l"/>
              <a:pathLst>
                <a:path h="11299190" w="14908022">
                  <a:moveTo>
                    <a:pt x="16891" y="0"/>
                  </a:moveTo>
                  <a:lnTo>
                    <a:pt x="14891130" y="0"/>
                  </a:lnTo>
                  <a:cubicBezTo>
                    <a:pt x="14900529" y="0"/>
                    <a:pt x="14908022" y="7620"/>
                    <a:pt x="14908022" y="16891"/>
                  </a:cubicBezTo>
                  <a:lnTo>
                    <a:pt x="14908022" y="11282299"/>
                  </a:lnTo>
                  <a:cubicBezTo>
                    <a:pt x="14908022" y="11291697"/>
                    <a:pt x="14900402" y="11299190"/>
                    <a:pt x="14891130" y="11299190"/>
                  </a:cubicBezTo>
                  <a:lnTo>
                    <a:pt x="16891" y="11299190"/>
                  </a:lnTo>
                  <a:cubicBezTo>
                    <a:pt x="7493" y="11299190"/>
                    <a:pt x="0" y="11291570"/>
                    <a:pt x="0" y="11282299"/>
                  </a:cubicBezTo>
                  <a:lnTo>
                    <a:pt x="0" y="16891"/>
                  </a:lnTo>
                  <a:cubicBezTo>
                    <a:pt x="0" y="7620"/>
                    <a:pt x="7620" y="0"/>
                    <a:pt x="16891" y="0"/>
                  </a:cubicBezTo>
                  <a:moveTo>
                    <a:pt x="16891" y="33909"/>
                  </a:moveTo>
                  <a:lnTo>
                    <a:pt x="16891" y="16891"/>
                  </a:lnTo>
                  <a:lnTo>
                    <a:pt x="33909" y="16891"/>
                  </a:lnTo>
                  <a:lnTo>
                    <a:pt x="33909" y="11282299"/>
                  </a:lnTo>
                  <a:lnTo>
                    <a:pt x="16891" y="11282299"/>
                  </a:lnTo>
                  <a:lnTo>
                    <a:pt x="16891" y="11265408"/>
                  </a:lnTo>
                  <a:lnTo>
                    <a:pt x="14891130" y="11265408"/>
                  </a:lnTo>
                  <a:lnTo>
                    <a:pt x="14891130" y="11282299"/>
                  </a:lnTo>
                  <a:lnTo>
                    <a:pt x="14874239" y="11282299"/>
                  </a:lnTo>
                  <a:lnTo>
                    <a:pt x="14874239" y="16891"/>
                  </a:lnTo>
                  <a:lnTo>
                    <a:pt x="14891130" y="16891"/>
                  </a:lnTo>
                  <a:lnTo>
                    <a:pt x="14891130" y="33909"/>
                  </a:lnTo>
                  <a:lnTo>
                    <a:pt x="16891" y="33909"/>
                  </a:lnTo>
                  <a:close/>
                </a:path>
              </a:pathLst>
            </a:custGeom>
            <a:solidFill>
              <a:srgbClr val="E2E8F0"/>
            </a:solidFill>
          </p:spPr>
        </p:sp>
      </p:grpSp>
      <p:grpSp>
        <p:nvGrpSpPr>
          <p:cNvPr name="Group 65" id="65"/>
          <p:cNvGrpSpPr/>
          <p:nvPr/>
        </p:nvGrpSpPr>
        <p:grpSpPr>
          <a:xfrm rot="0">
            <a:off x="6858000" y="1609344"/>
            <a:ext cx="10607040" cy="512064"/>
            <a:chOff x="0" y="0"/>
            <a:chExt cx="14142720" cy="682752"/>
          </a:xfrm>
        </p:grpSpPr>
        <p:sp>
          <p:nvSpPr>
            <p:cNvPr name="Freeform 66" id="66"/>
            <p:cNvSpPr/>
            <p:nvPr/>
          </p:nvSpPr>
          <p:spPr>
            <a:xfrm flipH="false" flipV="false" rot="0">
              <a:off x="0" y="0"/>
              <a:ext cx="14142720" cy="682752"/>
            </a:xfrm>
            <a:custGeom>
              <a:avLst/>
              <a:gdLst/>
              <a:ahLst/>
              <a:cxnLst/>
              <a:rect r="r" b="b" t="t" l="l"/>
              <a:pathLst>
                <a:path h="682752" w="14142720">
                  <a:moveTo>
                    <a:pt x="0" y="0"/>
                  </a:moveTo>
                  <a:lnTo>
                    <a:pt x="14142720" y="0"/>
                  </a:lnTo>
                  <a:lnTo>
                    <a:pt x="14142720" y="682752"/>
                  </a:lnTo>
                  <a:lnTo>
                    <a:pt x="0" y="682752"/>
                  </a:lnTo>
                  <a:close/>
                </a:path>
              </a:pathLst>
            </a:custGeom>
            <a:blipFill>
              <a:blip r:embed="rId3">
                <a:alphaModFix amt="0"/>
              </a:blip>
              <a:stretch>
                <a:fillRect l="0" t="-353618" r="0" b="-353618"/>
              </a:stretch>
            </a:blipFill>
          </p:spPr>
        </p:sp>
        <p:sp>
          <p:nvSpPr>
            <p:cNvPr name="TextBox 67" id="67"/>
            <p:cNvSpPr txBox="true"/>
            <p:nvPr/>
          </p:nvSpPr>
          <p:spPr>
            <a:xfrm>
              <a:off x="0" y="-28575"/>
              <a:ext cx="14142720" cy="711327"/>
            </a:xfrm>
            <a:prstGeom prst="rect">
              <a:avLst/>
            </a:prstGeom>
          </p:spPr>
          <p:txBody>
            <a:bodyPr anchor="ctr" rtlCol="false" tIns="0" lIns="0" bIns="0" rIns="0"/>
            <a:lstStyle/>
            <a:p>
              <a:pPr algn="l">
                <a:lnSpc>
                  <a:spcPts val="1920"/>
                </a:lnSpc>
              </a:pPr>
              <a:r>
                <a:rPr lang="en-US" b="true" sz="1600" spc="400">
                  <a:solidFill>
                    <a:srgbClr val="0D9488"/>
                  </a:solidFill>
                  <a:latin typeface="Calibri (MS) Bold"/>
                  <a:ea typeface="Calibri (MS) Bold"/>
                  <a:cs typeface="Calibri (MS) Bold"/>
                  <a:sym typeface="Calibri (MS) Bold"/>
                </a:rPr>
                <a:t>AI PREDICTION OUTPUT</a:t>
              </a:r>
            </a:p>
          </p:txBody>
        </p:sp>
      </p:grpSp>
      <p:grpSp>
        <p:nvGrpSpPr>
          <p:cNvPr name="Group 68" id="68"/>
          <p:cNvGrpSpPr/>
          <p:nvPr/>
        </p:nvGrpSpPr>
        <p:grpSpPr>
          <a:xfrm rot="0">
            <a:off x="6858000" y="2340864"/>
            <a:ext cx="7680960" cy="548640"/>
            <a:chOff x="0" y="0"/>
            <a:chExt cx="10241280" cy="731520"/>
          </a:xfrm>
        </p:grpSpPr>
        <p:sp>
          <p:nvSpPr>
            <p:cNvPr name="Freeform 69" id="69"/>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70" id="70"/>
            <p:cNvSpPr txBox="true"/>
            <p:nvPr/>
          </p:nvSpPr>
          <p:spPr>
            <a:xfrm>
              <a:off x="0" y="-38100"/>
              <a:ext cx="10241280" cy="769620"/>
            </a:xfrm>
            <a:prstGeom prst="rect">
              <a:avLst/>
            </a:prstGeom>
          </p:spPr>
          <p:txBody>
            <a:bodyPr anchor="ctr" rtlCol="false" tIns="0" lIns="0" bIns="0" rIns="0"/>
            <a:lstStyle/>
            <a:p>
              <a:pPr algn="l">
                <a:lnSpc>
                  <a:spcPts val="2400"/>
                </a:lnSpc>
              </a:pPr>
              <a:r>
                <a:rPr lang="en-US" sz="2000" b="true">
                  <a:solidFill>
                    <a:srgbClr val="0F172A"/>
                  </a:solidFill>
                  <a:latin typeface="Calibri (MS) Bold"/>
                  <a:ea typeface="Calibri (MS) Bold"/>
                  <a:cs typeface="Calibri (MS) Bold"/>
                  <a:sym typeface="Calibri (MS) Bold"/>
                </a:rPr>
                <a:t>Type 2 Diabetes</a:t>
              </a:r>
            </a:p>
          </p:txBody>
        </p:sp>
      </p:grpSp>
      <p:grpSp>
        <p:nvGrpSpPr>
          <p:cNvPr name="Group 71" id="71"/>
          <p:cNvGrpSpPr/>
          <p:nvPr/>
        </p:nvGrpSpPr>
        <p:grpSpPr>
          <a:xfrm rot="0">
            <a:off x="15636240" y="2340864"/>
            <a:ext cx="1920240" cy="548640"/>
            <a:chOff x="0" y="0"/>
            <a:chExt cx="2560320" cy="731520"/>
          </a:xfrm>
        </p:grpSpPr>
        <p:sp>
          <p:nvSpPr>
            <p:cNvPr name="Freeform 72" id="72"/>
            <p:cNvSpPr/>
            <p:nvPr/>
          </p:nvSpPr>
          <p:spPr>
            <a:xfrm flipH="false" flipV="false" rot="0">
              <a:off x="0" y="0"/>
              <a:ext cx="2560320" cy="731520"/>
            </a:xfrm>
            <a:custGeom>
              <a:avLst/>
              <a:gdLst/>
              <a:ahLst/>
              <a:cxnLst/>
              <a:rect r="r" b="b" t="t" l="l"/>
              <a:pathLst>
                <a:path h="731520" w="2560320">
                  <a:moveTo>
                    <a:pt x="0" y="0"/>
                  </a:moveTo>
                  <a:lnTo>
                    <a:pt x="2560320" y="0"/>
                  </a:lnTo>
                  <a:lnTo>
                    <a:pt x="2560320" y="731520"/>
                  </a:lnTo>
                  <a:lnTo>
                    <a:pt x="0" y="731520"/>
                  </a:lnTo>
                  <a:close/>
                </a:path>
              </a:pathLst>
            </a:custGeom>
            <a:blipFill>
              <a:blip r:embed="rId3">
                <a:alphaModFix amt="0"/>
              </a:blip>
              <a:stretch>
                <a:fillRect l="0" t="-18197" r="0" b="-18197"/>
              </a:stretch>
            </a:blipFill>
          </p:spPr>
        </p:sp>
        <p:sp>
          <p:nvSpPr>
            <p:cNvPr name="TextBox 73" id="73"/>
            <p:cNvSpPr txBox="true"/>
            <p:nvPr/>
          </p:nvSpPr>
          <p:spPr>
            <a:xfrm>
              <a:off x="0" y="-38100"/>
              <a:ext cx="2560320" cy="769620"/>
            </a:xfrm>
            <a:prstGeom prst="rect">
              <a:avLst/>
            </a:prstGeom>
          </p:spPr>
          <p:txBody>
            <a:bodyPr anchor="ctr" rtlCol="false" tIns="0" lIns="0" bIns="0" rIns="0"/>
            <a:lstStyle/>
            <a:p>
              <a:pPr algn="r">
                <a:lnSpc>
                  <a:spcPts val="2400"/>
                </a:lnSpc>
              </a:pPr>
              <a:r>
                <a:rPr lang="en-US" sz="2000" b="true">
                  <a:solidFill>
                    <a:srgbClr val="EF4444"/>
                  </a:solidFill>
                  <a:latin typeface="Calibri (MS) Bold"/>
                  <a:ea typeface="Calibri (MS) Bold"/>
                  <a:cs typeface="Calibri (MS) Bold"/>
                  <a:sym typeface="Calibri (MS) Bold"/>
                </a:rPr>
                <a:t>73% risk</a:t>
              </a:r>
            </a:p>
          </p:txBody>
        </p:sp>
      </p:grpSp>
      <p:grpSp>
        <p:nvGrpSpPr>
          <p:cNvPr name="Group 74" id="74"/>
          <p:cNvGrpSpPr/>
          <p:nvPr/>
        </p:nvGrpSpPr>
        <p:grpSpPr>
          <a:xfrm rot="0">
            <a:off x="6845303" y="2949959"/>
            <a:ext cx="10632443" cy="391163"/>
            <a:chOff x="0" y="0"/>
            <a:chExt cx="14176591" cy="521551"/>
          </a:xfrm>
        </p:grpSpPr>
        <p:sp>
          <p:nvSpPr>
            <p:cNvPr name="Freeform 75" id="75"/>
            <p:cNvSpPr/>
            <p:nvPr/>
          </p:nvSpPr>
          <p:spPr>
            <a:xfrm flipH="false" flipV="false" rot="0">
              <a:off x="16891" y="16891"/>
              <a:ext cx="14142719" cy="487680"/>
            </a:xfrm>
            <a:custGeom>
              <a:avLst/>
              <a:gdLst/>
              <a:ahLst/>
              <a:cxnLst/>
              <a:rect r="r" b="b" t="t" l="l"/>
              <a:pathLst>
                <a:path h="487680" w="14142719">
                  <a:moveTo>
                    <a:pt x="0" y="0"/>
                  </a:moveTo>
                  <a:lnTo>
                    <a:pt x="14142719" y="0"/>
                  </a:lnTo>
                  <a:lnTo>
                    <a:pt x="14142719" y="487680"/>
                  </a:lnTo>
                  <a:lnTo>
                    <a:pt x="0" y="487680"/>
                  </a:lnTo>
                  <a:close/>
                </a:path>
              </a:pathLst>
            </a:custGeom>
            <a:solidFill>
              <a:srgbClr val="F1F5F9"/>
            </a:solidFill>
          </p:spPr>
        </p:sp>
        <p:sp>
          <p:nvSpPr>
            <p:cNvPr name="Freeform 76" id="76"/>
            <p:cNvSpPr/>
            <p:nvPr/>
          </p:nvSpPr>
          <p:spPr>
            <a:xfrm flipH="false" flipV="false" rot="0">
              <a:off x="0" y="0"/>
              <a:ext cx="14176502" cy="521464"/>
            </a:xfrm>
            <a:custGeom>
              <a:avLst/>
              <a:gdLst/>
              <a:ahLst/>
              <a:cxnLst/>
              <a:rect r="r" b="b" t="t" l="l"/>
              <a:pathLst>
                <a:path h="521464" w="14176502">
                  <a:moveTo>
                    <a:pt x="16891" y="0"/>
                  </a:moveTo>
                  <a:lnTo>
                    <a:pt x="14159610" y="0"/>
                  </a:lnTo>
                  <a:cubicBezTo>
                    <a:pt x="14169008" y="0"/>
                    <a:pt x="14176502" y="7620"/>
                    <a:pt x="14176502" y="16891"/>
                  </a:cubicBezTo>
                  <a:lnTo>
                    <a:pt x="14176502" y="504571"/>
                  </a:lnTo>
                  <a:cubicBezTo>
                    <a:pt x="14176502" y="513969"/>
                    <a:pt x="14168882" y="521462"/>
                    <a:pt x="14159610"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14159610" y="487680"/>
                  </a:lnTo>
                  <a:lnTo>
                    <a:pt x="14159610" y="504571"/>
                  </a:lnTo>
                  <a:lnTo>
                    <a:pt x="14142720" y="504571"/>
                  </a:lnTo>
                  <a:lnTo>
                    <a:pt x="14142720" y="16891"/>
                  </a:lnTo>
                  <a:lnTo>
                    <a:pt x="14159610" y="16891"/>
                  </a:lnTo>
                  <a:lnTo>
                    <a:pt x="14159610" y="33909"/>
                  </a:lnTo>
                  <a:lnTo>
                    <a:pt x="16891" y="33909"/>
                  </a:lnTo>
                  <a:close/>
                </a:path>
              </a:pathLst>
            </a:custGeom>
            <a:solidFill>
              <a:srgbClr val="E2E8F0"/>
            </a:solidFill>
          </p:spPr>
        </p:sp>
      </p:grpSp>
      <p:grpSp>
        <p:nvGrpSpPr>
          <p:cNvPr name="Group 77" id="77"/>
          <p:cNvGrpSpPr/>
          <p:nvPr/>
        </p:nvGrpSpPr>
        <p:grpSpPr>
          <a:xfrm rot="0">
            <a:off x="6845303" y="2949959"/>
            <a:ext cx="7797803" cy="391163"/>
            <a:chOff x="0" y="0"/>
            <a:chExt cx="10397071" cy="521551"/>
          </a:xfrm>
        </p:grpSpPr>
        <p:sp>
          <p:nvSpPr>
            <p:cNvPr name="Freeform 78" id="78"/>
            <p:cNvSpPr/>
            <p:nvPr/>
          </p:nvSpPr>
          <p:spPr>
            <a:xfrm flipH="false" flipV="false" rot="0">
              <a:off x="16891" y="16891"/>
              <a:ext cx="10363200" cy="487680"/>
            </a:xfrm>
            <a:custGeom>
              <a:avLst/>
              <a:gdLst/>
              <a:ahLst/>
              <a:cxnLst/>
              <a:rect r="r" b="b" t="t" l="l"/>
              <a:pathLst>
                <a:path h="487680" w="10363200">
                  <a:moveTo>
                    <a:pt x="0" y="0"/>
                  </a:moveTo>
                  <a:lnTo>
                    <a:pt x="10363200" y="0"/>
                  </a:lnTo>
                  <a:lnTo>
                    <a:pt x="10363200" y="487680"/>
                  </a:lnTo>
                  <a:lnTo>
                    <a:pt x="0" y="487680"/>
                  </a:lnTo>
                  <a:close/>
                </a:path>
              </a:pathLst>
            </a:custGeom>
            <a:solidFill>
              <a:srgbClr val="EF4444">
                <a:alpha val="63922"/>
              </a:srgbClr>
            </a:solidFill>
          </p:spPr>
        </p:sp>
        <p:sp>
          <p:nvSpPr>
            <p:cNvPr name="Freeform 79" id="79"/>
            <p:cNvSpPr/>
            <p:nvPr/>
          </p:nvSpPr>
          <p:spPr>
            <a:xfrm flipH="false" flipV="false" rot="0">
              <a:off x="0" y="0"/>
              <a:ext cx="10396982" cy="521464"/>
            </a:xfrm>
            <a:custGeom>
              <a:avLst/>
              <a:gdLst/>
              <a:ahLst/>
              <a:cxnLst/>
              <a:rect r="r" b="b" t="t" l="l"/>
              <a:pathLst>
                <a:path h="521464" w="10396982">
                  <a:moveTo>
                    <a:pt x="16891" y="0"/>
                  </a:moveTo>
                  <a:lnTo>
                    <a:pt x="10380091" y="0"/>
                  </a:lnTo>
                  <a:cubicBezTo>
                    <a:pt x="10389489" y="0"/>
                    <a:pt x="10396982" y="7620"/>
                    <a:pt x="10396982" y="16891"/>
                  </a:cubicBezTo>
                  <a:lnTo>
                    <a:pt x="10396982" y="504571"/>
                  </a:lnTo>
                  <a:cubicBezTo>
                    <a:pt x="10396982" y="513969"/>
                    <a:pt x="10389362" y="521462"/>
                    <a:pt x="10380091"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10380091" y="487680"/>
                  </a:lnTo>
                  <a:lnTo>
                    <a:pt x="10380091" y="504571"/>
                  </a:lnTo>
                  <a:lnTo>
                    <a:pt x="10363200" y="504571"/>
                  </a:lnTo>
                  <a:lnTo>
                    <a:pt x="10363200" y="16891"/>
                  </a:lnTo>
                  <a:lnTo>
                    <a:pt x="10380091" y="16891"/>
                  </a:lnTo>
                  <a:lnTo>
                    <a:pt x="10380091" y="33909"/>
                  </a:lnTo>
                  <a:lnTo>
                    <a:pt x="16891" y="33909"/>
                  </a:lnTo>
                  <a:close/>
                </a:path>
              </a:pathLst>
            </a:custGeom>
            <a:solidFill>
              <a:srgbClr val="EF4444">
                <a:alpha val="63922"/>
              </a:srgbClr>
            </a:solidFill>
          </p:spPr>
        </p:sp>
      </p:grpSp>
      <p:grpSp>
        <p:nvGrpSpPr>
          <p:cNvPr name="Group 80" id="80"/>
          <p:cNvGrpSpPr/>
          <p:nvPr/>
        </p:nvGrpSpPr>
        <p:grpSpPr>
          <a:xfrm rot="0">
            <a:off x="6858000" y="3840480"/>
            <a:ext cx="7680960" cy="548640"/>
            <a:chOff x="0" y="0"/>
            <a:chExt cx="10241280" cy="731520"/>
          </a:xfrm>
        </p:grpSpPr>
        <p:sp>
          <p:nvSpPr>
            <p:cNvPr name="Freeform 81" id="81"/>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82" id="82"/>
            <p:cNvSpPr txBox="true"/>
            <p:nvPr/>
          </p:nvSpPr>
          <p:spPr>
            <a:xfrm>
              <a:off x="0" y="-38100"/>
              <a:ext cx="10241280" cy="769620"/>
            </a:xfrm>
            <a:prstGeom prst="rect">
              <a:avLst/>
            </a:prstGeom>
          </p:spPr>
          <p:txBody>
            <a:bodyPr anchor="ctr" rtlCol="false" tIns="0" lIns="0" bIns="0" rIns="0"/>
            <a:lstStyle/>
            <a:p>
              <a:pPr algn="l">
                <a:lnSpc>
                  <a:spcPts val="2400"/>
                </a:lnSpc>
              </a:pPr>
              <a:r>
                <a:rPr lang="en-US" sz="2000" b="true">
                  <a:solidFill>
                    <a:srgbClr val="0F172A"/>
                  </a:solidFill>
                  <a:latin typeface="Calibri (MS) Bold"/>
                  <a:ea typeface="Calibri (MS) Bold"/>
                  <a:cs typeface="Calibri (MS) Bold"/>
                  <a:sym typeface="Calibri (MS) Bold"/>
                </a:rPr>
                <a:t>Coronary Artery Disease</a:t>
              </a:r>
            </a:p>
          </p:txBody>
        </p:sp>
      </p:grpSp>
      <p:grpSp>
        <p:nvGrpSpPr>
          <p:cNvPr name="Group 83" id="83"/>
          <p:cNvGrpSpPr/>
          <p:nvPr/>
        </p:nvGrpSpPr>
        <p:grpSpPr>
          <a:xfrm rot="0">
            <a:off x="15636240" y="3840480"/>
            <a:ext cx="1920240" cy="548640"/>
            <a:chOff x="0" y="0"/>
            <a:chExt cx="2560320" cy="731520"/>
          </a:xfrm>
        </p:grpSpPr>
        <p:sp>
          <p:nvSpPr>
            <p:cNvPr name="Freeform 84" id="84"/>
            <p:cNvSpPr/>
            <p:nvPr/>
          </p:nvSpPr>
          <p:spPr>
            <a:xfrm flipH="false" flipV="false" rot="0">
              <a:off x="0" y="0"/>
              <a:ext cx="2560320" cy="731520"/>
            </a:xfrm>
            <a:custGeom>
              <a:avLst/>
              <a:gdLst/>
              <a:ahLst/>
              <a:cxnLst/>
              <a:rect r="r" b="b" t="t" l="l"/>
              <a:pathLst>
                <a:path h="731520" w="2560320">
                  <a:moveTo>
                    <a:pt x="0" y="0"/>
                  </a:moveTo>
                  <a:lnTo>
                    <a:pt x="2560320" y="0"/>
                  </a:lnTo>
                  <a:lnTo>
                    <a:pt x="2560320" y="731520"/>
                  </a:lnTo>
                  <a:lnTo>
                    <a:pt x="0" y="731520"/>
                  </a:lnTo>
                  <a:close/>
                </a:path>
              </a:pathLst>
            </a:custGeom>
            <a:blipFill>
              <a:blip r:embed="rId3">
                <a:alphaModFix amt="0"/>
              </a:blip>
              <a:stretch>
                <a:fillRect l="0" t="-18197" r="0" b="-18197"/>
              </a:stretch>
            </a:blipFill>
          </p:spPr>
        </p:sp>
        <p:sp>
          <p:nvSpPr>
            <p:cNvPr name="TextBox 85" id="85"/>
            <p:cNvSpPr txBox="true"/>
            <p:nvPr/>
          </p:nvSpPr>
          <p:spPr>
            <a:xfrm>
              <a:off x="0" y="-38100"/>
              <a:ext cx="2560320" cy="769620"/>
            </a:xfrm>
            <a:prstGeom prst="rect">
              <a:avLst/>
            </a:prstGeom>
          </p:spPr>
          <p:txBody>
            <a:bodyPr anchor="ctr" rtlCol="false" tIns="0" lIns="0" bIns="0" rIns="0"/>
            <a:lstStyle/>
            <a:p>
              <a:pPr algn="r">
                <a:lnSpc>
                  <a:spcPts val="2400"/>
                </a:lnSpc>
              </a:pPr>
              <a:r>
                <a:rPr lang="en-US" sz="2000" b="true">
                  <a:solidFill>
                    <a:srgbClr val="F59E0B"/>
                  </a:solidFill>
                  <a:latin typeface="Calibri (MS) Bold"/>
                  <a:ea typeface="Calibri (MS) Bold"/>
                  <a:cs typeface="Calibri (MS) Bold"/>
                  <a:sym typeface="Calibri (MS) Bold"/>
                </a:rPr>
                <a:t>58% risk</a:t>
              </a:r>
            </a:p>
          </p:txBody>
        </p:sp>
      </p:grpSp>
      <p:grpSp>
        <p:nvGrpSpPr>
          <p:cNvPr name="Group 86" id="86"/>
          <p:cNvGrpSpPr/>
          <p:nvPr/>
        </p:nvGrpSpPr>
        <p:grpSpPr>
          <a:xfrm rot="0">
            <a:off x="6845303" y="4449575"/>
            <a:ext cx="10632443" cy="391163"/>
            <a:chOff x="0" y="0"/>
            <a:chExt cx="14176591" cy="521551"/>
          </a:xfrm>
        </p:grpSpPr>
        <p:sp>
          <p:nvSpPr>
            <p:cNvPr name="Freeform 87" id="87"/>
            <p:cNvSpPr/>
            <p:nvPr/>
          </p:nvSpPr>
          <p:spPr>
            <a:xfrm flipH="false" flipV="false" rot="0">
              <a:off x="16891" y="16891"/>
              <a:ext cx="14142719" cy="487680"/>
            </a:xfrm>
            <a:custGeom>
              <a:avLst/>
              <a:gdLst/>
              <a:ahLst/>
              <a:cxnLst/>
              <a:rect r="r" b="b" t="t" l="l"/>
              <a:pathLst>
                <a:path h="487680" w="14142719">
                  <a:moveTo>
                    <a:pt x="0" y="0"/>
                  </a:moveTo>
                  <a:lnTo>
                    <a:pt x="14142719" y="0"/>
                  </a:lnTo>
                  <a:lnTo>
                    <a:pt x="14142719" y="487680"/>
                  </a:lnTo>
                  <a:lnTo>
                    <a:pt x="0" y="487680"/>
                  </a:lnTo>
                  <a:close/>
                </a:path>
              </a:pathLst>
            </a:custGeom>
            <a:solidFill>
              <a:srgbClr val="F1F5F9"/>
            </a:solidFill>
          </p:spPr>
        </p:sp>
        <p:sp>
          <p:nvSpPr>
            <p:cNvPr name="Freeform 88" id="88"/>
            <p:cNvSpPr/>
            <p:nvPr/>
          </p:nvSpPr>
          <p:spPr>
            <a:xfrm flipH="false" flipV="false" rot="0">
              <a:off x="0" y="0"/>
              <a:ext cx="14176502" cy="521464"/>
            </a:xfrm>
            <a:custGeom>
              <a:avLst/>
              <a:gdLst/>
              <a:ahLst/>
              <a:cxnLst/>
              <a:rect r="r" b="b" t="t" l="l"/>
              <a:pathLst>
                <a:path h="521464" w="14176502">
                  <a:moveTo>
                    <a:pt x="16891" y="0"/>
                  </a:moveTo>
                  <a:lnTo>
                    <a:pt x="14159610" y="0"/>
                  </a:lnTo>
                  <a:cubicBezTo>
                    <a:pt x="14169008" y="0"/>
                    <a:pt x="14176502" y="7620"/>
                    <a:pt x="14176502" y="16891"/>
                  </a:cubicBezTo>
                  <a:lnTo>
                    <a:pt x="14176502" y="504571"/>
                  </a:lnTo>
                  <a:cubicBezTo>
                    <a:pt x="14176502" y="513969"/>
                    <a:pt x="14168882" y="521462"/>
                    <a:pt x="14159610"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14159610" y="487680"/>
                  </a:lnTo>
                  <a:lnTo>
                    <a:pt x="14159610" y="504571"/>
                  </a:lnTo>
                  <a:lnTo>
                    <a:pt x="14142720" y="504571"/>
                  </a:lnTo>
                  <a:lnTo>
                    <a:pt x="14142720" y="16891"/>
                  </a:lnTo>
                  <a:lnTo>
                    <a:pt x="14159610" y="16891"/>
                  </a:lnTo>
                  <a:lnTo>
                    <a:pt x="14159610" y="33909"/>
                  </a:lnTo>
                  <a:lnTo>
                    <a:pt x="16891" y="33909"/>
                  </a:lnTo>
                  <a:close/>
                </a:path>
              </a:pathLst>
            </a:custGeom>
            <a:solidFill>
              <a:srgbClr val="E2E8F0"/>
            </a:solidFill>
          </p:spPr>
        </p:sp>
      </p:grpSp>
      <p:grpSp>
        <p:nvGrpSpPr>
          <p:cNvPr name="Group 89" id="89"/>
          <p:cNvGrpSpPr/>
          <p:nvPr/>
        </p:nvGrpSpPr>
        <p:grpSpPr>
          <a:xfrm rot="0">
            <a:off x="6845303" y="4449575"/>
            <a:ext cx="6206747" cy="391163"/>
            <a:chOff x="0" y="0"/>
            <a:chExt cx="8275663" cy="521551"/>
          </a:xfrm>
        </p:grpSpPr>
        <p:sp>
          <p:nvSpPr>
            <p:cNvPr name="Freeform 90" id="90"/>
            <p:cNvSpPr/>
            <p:nvPr/>
          </p:nvSpPr>
          <p:spPr>
            <a:xfrm flipH="false" flipV="false" rot="0">
              <a:off x="16891" y="16891"/>
              <a:ext cx="8241792" cy="487680"/>
            </a:xfrm>
            <a:custGeom>
              <a:avLst/>
              <a:gdLst/>
              <a:ahLst/>
              <a:cxnLst/>
              <a:rect r="r" b="b" t="t" l="l"/>
              <a:pathLst>
                <a:path h="487680" w="8241792">
                  <a:moveTo>
                    <a:pt x="0" y="0"/>
                  </a:moveTo>
                  <a:lnTo>
                    <a:pt x="8241792" y="0"/>
                  </a:lnTo>
                  <a:lnTo>
                    <a:pt x="8241792" y="487680"/>
                  </a:lnTo>
                  <a:lnTo>
                    <a:pt x="0" y="487680"/>
                  </a:lnTo>
                  <a:close/>
                </a:path>
              </a:pathLst>
            </a:custGeom>
            <a:solidFill>
              <a:srgbClr val="F59E0B">
                <a:alpha val="63922"/>
              </a:srgbClr>
            </a:solidFill>
          </p:spPr>
        </p:sp>
        <p:sp>
          <p:nvSpPr>
            <p:cNvPr name="Freeform 91" id="91"/>
            <p:cNvSpPr/>
            <p:nvPr/>
          </p:nvSpPr>
          <p:spPr>
            <a:xfrm flipH="false" flipV="false" rot="0">
              <a:off x="0" y="0"/>
              <a:ext cx="8275574" cy="521464"/>
            </a:xfrm>
            <a:custGeom>
              <a:avLst/>
              <a:gdLst/>
              <a:ahLst/>
              <a:cxnLst/>
              <a:rect r="r" b="b" t="t" l="l"/>
              <a:pathLst>
                <a:path h="521464" w="8275574">
                  <a:moveTo>
                    <a:pt x="16891" y="0"/>
                  </a:moveTo>
                  <a:lnTo>
                    <a:pt x="8258683" y="0"/>
                  </a:lnTo>
                  <a:cubicBezTo>
                    <a:pt x="8268081" y="0"/>
                    <a:pt x="8275574" y="7620"/>
                    <a:pt x="8275574" y="16891"/>
                  </a:cubicBezTo>
                  <a:lnTo>
                    <a:pt x="8275574" y="504571"/>
                  </a:lnTo>
                  <a:cubicBezTo>
                    <a:pt x="8275574" y="513969"/>
                    <a:pt x="8267953" y="521462"/>
                    <a:pt x="8258683"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8258683" y="487680"/>
                  </a:lnTo>
                  <a:lnTo>
                    <a:pt x="8258683" y="504571"/>
                  </a:lnTo>
                  <a:lnTo>
                    <a:pt x="8241792" y="504571"/>
                  </a:lnTo>
                  <a:lnTo>
                    <a:pt x="8241792" y="16891"/>
                  </a:lnTo>
                  <a:lnTo>
                    <a:pt x="8258683" y="16891"/>
                  </a:lnTo>
                  <a:lnTo>
                    <a:pt x="8258683" y="33909"/>
                  </a:lnTo>
                  <a:lnTo>
                    <a:pt x="16891" y="33909"/>
                  </a:lnTo>
                  <a:close/>
                </a:path>
              </a:pathLst>
            </a:custGeom>
            <a:solidFill>
              <a:srgbClr val="F59E0B">
                <a:alpha val="63922"/>
              </a:srgbClr>
            </a:solidFill>
          </p:spPr>
        </p:sp>
      </p:grpSp>
      <p:grpSp>
        <p:nvGrpSpPr>
          <p:cNvPr name="Group 92" id="92"/>
          <p:cNvGrpSpPr/>
          <p:nvPr/>
        </p:nvGrpSpPr>
        <p:grpSpPr>
          <a:xfrm rot="0">
            <a:off x="6858000" y="5340096"/>
            <a:ext cx="7680960" cy="548640"/>
            <a:chOff x="0" y="0"/>
            <a:chExt cx="10241280" cy="731520"/>
          </a:xfrm>
        </p:grpSpPr>
        <p:sp>
          <p:nvSpPr>
            <p:cNvPr name="Freeform 93" id="93"/>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94" id="94"/>
            <p:cNvSpPr txBox="true"/>
            <p:nvPr/>
          </p:nvSpPr>
          <p:spPr>
            <a:xfrm>
              <a:off x="0" y="-38100"/>
              <a:ext cx="10241280" cy="769620"/>
            </a:xfrm>
            <a:prstGeom prst="rect">
              <a:avLst/>
            </a:prstGeom>
          </p:spPr>
          <p:txBody>
            <a:bodyPr anchor="ctr" rtlCol="false" tIns="0" lIns="0" bIns="0" rIns="0"/>
            <a:lstStyle/>
            <a:p>
              <a:pPr algn="l">
                <a:lnSpc>
                  <a:spcPts val="2400"/>
                </a:lnSpc>
              </a:pPr>
              <a:r>
                <a:rPr lang="en-US" sz="2000" b="true">
                  <a:solidFill>
                    <a:srgbClr val="0F172A"/>
                  </a:solidFill>
                  <a:latin typeface="Calibri (MS) Bold"/>
                  <a:ea typeface="Calibri (MS) Bold"/>
                  <a:cs typeface="Calibri (MS) Bold"/>
                  <a:sym typeface="Calibri (MS) Bold"/>
                </a:rPr>
                <a:t>Kidney Disease (Stage 1)</a:t>
              </a:r>
            </a:p>
          </p:txBody>
        </p:sp>
      </p:grpSp>
      <p:grpSp>
        <p:nvGrpSpPr>
          <p:cNvPr name="Group 95" id="95"/>
          <p:cNvGrpSpPr/>
          <p:nvPr/>
        </p:nvGrpSpPr>
        <p:grpSpPr>
          <a:xfrm rot="0">
            <a:off x="15636240" y="5340096"/>
            <a:ext cx="1920240" cy="548640"/>
            <a:chOff x="0" y="0"/>
            <a:chExt cx="2560320" cy="731520"/>
          </a:xfrm>
        </p:grpSpPr>
        <p:sp>
          <p:nvSpPr>
            <p:cNvPr name="Freeform 96" id="96"/>
            <p:cNvSpPr/>
            <p:nvPr/>
          </p:nvSpPr>
          <p:spPr>
            <a:xfrm flipH="false" flipV="false" rot="0">
              <a:off x="0" y="0"/>
              <a:ext cx="2560320" cy="731520"/>
            </a:xfrm>
            <a:custGeom>
              <a:avLst/>
              <a:gdLst/>
              <a:ahLst/>
              <a:cxnLst/>
              <a:rect r="r" b="b" t="t" l="l"/>
              <a:pathLst>
                <a:path h="731520" w="2560320">
                  <a:moveTo>
                    <a:pt x="0" y="0"/>
                  </a:moveTo>
                  <a:lnTo>
                    <a:pt x="2560320" y="0"/>
                  </a:lnTo>
                  <a:lnTo>
                    <a:pt x="2560320" y="731520"/>
                  </a:lnTo>
                  <a:lnTo>
                    <a:pt x="0" y="731520"/>
                  </a:lnTo>
                  <a:close/>
                </a:path>
              </a:pathLst>
            </a:custGeom>
            <a:blipFill>
              <a:blip r:embed="rId3">
                <a:alphaModFix amt="0"/>
              </a:blip>
              <a:stretch>
                <a:fillRect l="0" t="-18197" r="0" b="-18197"/>
              </a:stretch>
            </a:blipFill>
          </p:spPr>
        </p:sp>
        <p:sp>
          <p:nvSpPr>
            <p:cNvPr name="TextBox 97" id="97"/>
            <p:cNvSpPr txBox="true"/>
            <p:nvPr/>
          </p:nvSpPr>
          <p:spPr>
            <a:xfrm>
              <a:off x="0" y="-38100"/>
              <a:ext cx="2560320" cy="769620"/>
            </a:xfrm>
            <a:prstGeom prst="rect">
              <a:avLst/>
            </a:prstGeom>
          </p:spPr>
          <p:txBody>
            <a:bodyPr anchor="ctr" rtlCol="false" tIns="0" lIns="0" bIns="0" rIns="0"/>
            <a:lstStyle/>
            <a:p>
              <a:pPr algn="r">
                <a:lnSpc>
                  <a:spcPts val="2400"/>
                </a:lnSpc>
              </a:pPr>
              <a:r>
                <a:rPr lang="en-US" sz="2000" b="true">
                  <a:solidFill>
                    <a:srgbClr val="8B5CF6"/>
                  </a:solidFill>
                  <a:latin typeface="Calibri (MS) Bold"/>
                  <a:ea typeface="Calibri (MS) Bold"/>
                  <a:cs typeface="Calibri (MS) Bold"/>
                  <a:sym typeface="Calibri (MS) Bold"/>
                </a:rPr>
                <a:t>41% risk</a:t>
              </a:r>
            </a:p>
          </p:txBody>
        </p:sp>
      </p:grpSp>
      <p:grpSp>
        <p:nvGrpSpPr>
          <p:cNvPr name="Group 98" id="98"/>
          <p:cNvGrpSpPr/>
          <p:nvPr/>
        </p:nvGrpSpPr>
        <p:grpSpPr>
          <a:xfrm rot="0">
            <a:off x="6845303" y="5949191"/>
            <a:ext cx="10632443" cy="391163"/>
            <a:chOff x="0" y="0"/>
            <a:chExt cx="14176591" cy="521551"/>
          </a:xfrm>
        </p:grpSpPr>
        <p:sp>
          <p:nvSpPr>
            <p:cNvPr name="Freeform 99" id="99"/>
            <p:cNvSpPr/>
            <p:nvPr/>
          </p:nvSpPr>
          <p:spPr>
            <a:xfrm flipH="false" flipV="false" rot="0">
              <a:off x="16891" y="16891"/>
              <a:ext cx="14142719" cy="487680"/>
            </a:xfrm>
            <a:custGeom>
              <a:avLst/>
              <a:gdLst/>
              <a:ahLst/>
              <a:cxnLst/>
              <a:rect r="r" b="b" t="t" l="l"/>
              <a:pathLst>
                <a:path h="487680" w="14142719">
                  <a:moveTo>
                    <a:pt x="0" y="0"/>
                  </a:moveTo>
                  <a:lnTo>
                    <a:pt x="14142719" y="0"/>
                  </a:lnTo>
                  <a:lnTo>
                    <a:pt x="14142719" y="487680"/>
                  </a:lnTo>
                  <a:lnTo>
                    <a:pt x="0" y="487680"/>
                  </a:lnTo>
                  <a:close/>
                </a:path>
              </a:pathLst>
            </a:custGeom>
            <a:solidFill>
              <a:srgbClr val="F1F5F9"/>
            </a:solidFill>
          </p:spPr>
        </p:sp>
        <p:sp>
          <p:nvSpPr>
            <p:cNvPr name="Freeform 100" id="100"/>
            <p:cNvSpPr/>
            <p:nvPr/>
          </p:nvSpPr>
          <p:spPr>
            <a:xfrm flipH="false" flipV="false" rot="0">
              <a:off x="0" y="0"/>
              <a:ext cx="14176502" cy="521464"/>
            </a:xfrm>
            <a:custGeom>
              <a:avLst/>
              <a:gdLst/>
              <a:ahLst/>
              <a:cxnLst/>
              <a:rect r="r" b="b" t="t" l="l"/>
              <a:pathLst>
                <a:path h="521464" w="14176502">
                  <a:moveTo>
                    <a:pt x="16891" y="0"/>
                  </a:moveTo>
                  <a:lnTo>
                    <a:pt x="14159610" y="0"/>
                  </a:lnTo>
                  <a:cubicBezTo>
                    <a:pt x="14169008" y="0"/>
                    <a:pt x="14176502" y="7620"/>
                    <a:pt x="14176502" y="16891"/>
                  </a:cubicBezTo>
                  <a:lnTo>
                    <a:pt x="14176502" y="504571"/>
                  </a:lnTo>
                  <a:cubicBezTo>
                    <a:pt x="14176502" y="513969"/>
                    <a:pt x="14168882" y="521462"/>
                    <a:pt x="14159610"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14159610" y="487680"/>
                  </a:lnTo>
                  <a:lnTo>
                    <a:pt x="14159610" y="504571"/>
                  </a:lnTo>
                  <a:lnTo>
                    <a:pt x="14142720" y="504571"/>
                  </a:lnTo>
                  <a:lnTo>
                    <a:pt x="14142720" y="16891"/>
                  </a:lnTo>
                  <a:lnTo>
                    <a:pt x="14159610" y="16891"/>
                  </a:lnTo>
                  <a:lnTo>
                    <a:pt x="14159610" y="33909"/>
                  </a:lnTo>
                  <a:lnTo>
                    <a:pt x="16891" y="33909"/>
                  </a:lnTo>
                  <a:close/>
                </a:path>
              </a:pathLst>
            </a:custGeom>
            <a:solidFill>
              <a:srgbClr val="E2E8F0"/>
            </a:solidFill>
          </p:spPr>
        </p:sp>
      </p:grpSp>
      <p:grpSp>
        <p:nvGrpSpPr>
          <p:cNvPr name="Group 101" id="101"/>
          <p:cNvGrpSpPr/>
          <p:nvPr/>
        </p:nvGrpSpPr>
        <p:grpSpPr>
          <a:xfrm rot="0">
            <a:off x="6845303" y="5949191"/>
            <a:ext cx="4377947" cy="391163"/>
            <a:chOff x="0" y="0"/>
            <a:chExt cx="5837263" cy="521551"/>
          </a:xfrm>
        </p:grpSpPr>
        <p:sp>
          <p:nvSpPr>
            <p:cNvPr name="Freeform 102" id="102"/>
            <p:cNvSpPr/>
            <p:nvPr/>
          </p:nvSpPr>
          <p:spPr>
            <a:xfrm flipH="false" flipV="false" rot="0">
              <a:off x="16891" y="16891"/>
              <a:ext cx="5803392" cy="487680"/>
            </a:xfrm>
            <a:custGeom>
              <a:avLst/>
              <a:gdLst/>
              <a:ahLst/>
              <a:cxnLst/>
              <a:rect r="r" b="b" t="t" l="l"/>
              <a:pathLst>
                <a:path h="487680" w="5803392">
                  <a:moveTo>
                    <a:pt x="0" y="0"/>
                  </a:moveTo>
                  <a:lnTo>
                    <a:pt x="5803392" y="0"/>
                  </a:lnTo>
                  <a:lnTo>
                    <a:pt x="5803392" y="487680"/>
                  </a:lnTo>
                  <a:lnTo>
                    <a:pt x="0" y="487680"/>
                  </a:lnTo>
                  <a:close/>
                </a:path>
              </a:pathLst>
            </a:custGeom>
            <a:solidFill>
              <a:srgbClr val="8B5CF6">
                <a:alpha val="63922"/>
              </a:srgbClr>
            </a:solidFill>
          </p:spPr>
        </p:sp>
        <p:sp>
          <p:nvSpPr>
            <p:cNvPr name="Freeform 103" id="103"/>
            <p:cNvSpPr/>
            <p:nvPr/>
          </p:nvSpPr>
          <p:spPr>
            <a:xfrm flipH="false" flipV="false" rot="0">
              <a:off x="0" y="0"/>
              <a:ext cx="5837174" cy="521464"/>
            </a:xfrm>
            <a:custGeom>
              <a:avLst/>
              <a:gdLst/>
              <a:ahLst/>
              <a:cxnLst/>
              <a:rect r="r" b="b" t="t" l="l"/>
              <a:pathLst>
                <a:path h="521464" w="5837174">
                  <a:moveTo>
                    <a:pt x="16891" y="0"/>
                  </a:moveTo>
                  <a:lnTo>
                    <a:pt x="5820283" y="0"/>
                  </a:lnTo>
                  <a:cubicBezTo>
                    <a:pt x="5829681" y="0"/>
                    <a:pt x="5837174" y="7620"/>
                    <a:pt x="5837174" y="16891"/>
                  </a:cubicBezTo>
                  <a:lnTo>
                    <a:pt x="5837174" y="504571"/>
                  </a:lnTo>
                  <a:cubicBezTo>
                    <a:pt x="5837174" y="513969"/>
                    <a:pt x="5829554" y="521462"/>
                    <a:pt x="5820283"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5820283" y="487680"/>
                  </a:lnTo>
                  <a:lnTo>
                    <a:pt x="5820283" y="504571"/>
                  </a:lnTo>
                  <a:lnTo>
                    <a:pt x="5803392" y="504571"/>
                  </a:lnTo>
                  <a:lnTo>
                    <a:pt x="5803392" y="16891"/>
                  </a:lnTo>
                  <a:lnTo>
                    <a:pt x="5820283" y="16891"/>
                  </a:lnTo>
                  <a:lnTo>
                    <a:pt x="5820283" y="33909"/>
                  </a:lnTo>
                  <a:lnTo>
                    <a:pt x="16891" y="33909"/>
                  </a:lnTo>
                  <a:close/>
                </a:path>
              </a:pathLst>
            </a:custGeom>
            <a:solidFill>
              <a:srgbClr val="8B5CF6">
                <a:alpha val="63922"/>
              </a:srgbClr>
            </a:solidFill>
          </p:spPr>
        </p:sp>
      </p:grpSp>
      <p:grpSp>
        <p:nvGrpSpPr>
          <p:cNvPr name="Group 104" id="104"/>
          <p:cNvGrpSpPr/>
          <p:nvPr/>
        </p:nvGrpSpPr>
        <p:grpSpPr>
          <a:xfrm rot="0">
            <a:off x="6858000" y="6839712"/>
            <a:ext cx="7680960" cy="548640"/>
            <a:chOff x="0" y="0"/>
            <a:chExt cx="10241280" cy="731520"/>
          </a:xfrm>
        </p:grpSpPr>
        <p:sp>
          <p:nvSpPr>
            <p:cNvPr name="Freeform 105" id="105"/>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106" id="106"/>
            <p:cNvSpPr txBox="true"/>
            <p:nvPr/>
          </p:nvSpPr>
          <p:spPr>
            <a:xfrm>
              <a:off x="0" y="-38100"/>
              <a:ext cx="10241280" cy="769620"/>
            </a:xfrm>
            <a:prstGeom prst="rect">
              <a:avLst/>
            </a:prstGeom>
          </p:spPr>
          <p:txBody>
            <a:bodyPr anchor="ctr" rtlCol="false" tIns="0" lIns="0" bIns="0" rIns="0"/>
            <a:lstStyle/>
            <a:p>
              <a:pPr algn="l">
                <a:lnSpc>
                  <a:spcPts val="2400"/>
                </a:lnSpc>
              </a:pPr>
              <a:r>
                <a:rPr lang="en-US" sz="2000" b="true">
                  <a:solidFill>
                    <a:srgbClr val="0F172A"/>
                  </a:solidFill>
                  <a:latin typeface="Calibri (MS) Bold"/>
                  <a:ea typeface="Calibri (MS) Bold"/>
                  <a:cs typeface="Calibri (MS) Bold"/>
                  <a:sym typeface="Calibri (MS) Bold"/>
                </a:rPr>
                <a:t>Stroke (5-year horizon)</a:t>
              </a:r>
            </a:p>
          </p:txBody>
        </p:sp>
      </p:grpSp>
      <p:grpSp>
        <p:nvGrpSpPr>
          <p:cNvPr name="Group 107" id="107"/>
          <p:cNvGrpSpPr/>
          <p:nvPr/>
        </p:nvGrpSpPr>
        <p:grpSpPr>
          <a:xfrm rot="0">
            <a:off x="15636240" y="6839712"/>
            <a:ext cx="1920240" cy="548640"/>
            <a:chOff x="0" y="0"/>
            <a:chExt cx="2560320" cy="731520"/>
          </a:xfrm>
        </p:grpSpPr>
        <p:sp>
          <p:nvSpPr>
            <p:cNvPr name="Freeform 108" id="108"/>
            <p:cNvSpPr/>
            <p:nvPr/>
          </p:nvSpPr>
          <p:spPr>
            <a:xfrm flipH="false" flipV="false" rot="0">
              <a:off x="0" y="0"/>
              <a:ext cx="2560320" cy="731520"/>
            </a:xfrm>
            <a:custGeom>
              <a:avLst/>
              <a:gdLst/>
              <a:ahLst/>
              <a:cxnLst/>
              <a:rect r="r" b="b" t="t" l="l"/>
              <a:pathLst>
                <a:path h="731520" w="2560320">
                  <a:moveTo>
                    <a:pt x="0" y="0"/>
                  </a:moveTo>
                  <a:lnTo>
                    <a:pt x="2560320" y="0"/>
                  </a:lnTo>
                  <a:lnTo>
                    <a:pt x="2560320" y="731520"/>
                  </a:lnTo>
                  <a:lnTo>
                    <a:pt x="0" y="731520"/>
                  </a:lnTo>
                  <a:close/>
                </a:path>
              </a:pathLst>
            </a:custGeom>
            <a:blipFill>
              <a:blip r:embed="rId3">
                <a:alphaModFix amt="0"/>
              </a:blip>
              <a:stretch>
                <a:fillRect l="0" t="-18197" r="0" b="-18197"/>
              </a:stretch>
            </a:blipFill>
          </p:spPr>
        </p:sp>
        <p:sp>
          <p:nvSpPr>
            <p:cNvPr name="TextBox 109" id="109"/>
            <p:cNvSpPr txBox="true"/>
            <p:nvPr/>
          </p:nvSpPr>
          <p:spPr>
            <a:xfrm>
              <a:off x="0" y="-38100"/>
              <a:ext cx="2560320" cy="769620"/>
            </a:xfrm>
            <a:prstGeom prst="rect">
              <a:avLst/>
            </a:prstGeom>
          </p:spPr>
          <p:txBody>
            <a:bodyPr anchor="ctr" rtlCol="false" tIns="0" lIns="0" bIns="0" rIns="0"/>
            <a:lstStyle/>
            <a:p>
              <a:pPr algn="r">
                <a:lnSpc>
                  <a:spcPts val="2400"/>
                </a:lnSpc>
              </a:pPr>
              <a:r>
                <a:rPr lang="en-US" sz="2000" b="true">
                  <a:solidFill>
                    <a:srgbClr val="64748B"/>
                  </a:solidFill>
                  <a:latin typeface="Calibri (MS) Bold"/>
                  <a:ea typeface="Calibri (MS) Bold"/>
                  <a:cs typeface="Calibri (MS) Bold"/>
                  <a:sym typeface="Calibri (MS) Bold"/>
                </a:rPr>
                <a:t>29% risk</a:t>
              </a:r>
            </a:p>
          </p:txBody>
        </p:sp>
      </p:grpSp>
      <p:grpSp>
        <p:nvGrpSpPr>
          <p:cNvPr name="Group 110" id="110"/>
          <p:cNvGrpSpPr/>
          <p:nvPr/>
        </p:nvGrpSpPr>
        <p:grpSpPr>
          <a:xfrm rot="0">
            <a:off x="6845303" y="7448807"/>
            <a:ext cx="10632443" cy="391163"/>
            <a:chOff x="0" y="0"/>
            <a:chExt cx="14176591" cy="521551"/>
          </a:xfrm>
        </p:grpSpPr>
        <p:sp>
          <p:nvSpPr>
            <p:cNvPr name="Freeform 111" id="111"/>
            <p:cNvSpPr/>
            <p:nvPr/>
          </p:nvSpPr>
          <p:spPr>
            <a:xfrm flipH="false" flipV="false" rot="0">
              <a:off x="16891" y="16891"/>
              <a:ext cx="14142719" cy="487680"/>
            </a:xfrm>
            <a:custGeom>
              <a:avLst/>
              <a:gdLst/>
              <a:ahLst/>
              <a:cxnLst/>
              <a:rect r="r" b="b" t="t" l="l"/>
              <a:pathLst>
                <a:path h="487680" w="14142719">
                  <a:moveTo>
                    <a:pt x="0" y="0"/>
                  </a:moveTo>
                  <a:lnTo>
                    <a:pt x="14142719" y="0"/>
                  </a:lnTo>
                  <a:lnTo>
                    <a:pt x="14142719" y="487680"/>
                  </a:lnTo>
                  <a:lnTo>
                    <a:pt x="0" y="487680"/>
                  </a:lnTo>
                  <a:close/>
                </a:path>
              </a:pathLst>
            </a:custGeom>
            <a:solidFill>
              <a:srgbClr val="F1F5F9"/>
            </a:solidFill>
          </p:spPr>
        </p:sp>
        <p:sp>
          <p:nvSpPr>
            <p:cNvPr name="Freeform 112" id="112"/>
            <p:cNvSpPr/>
            <p:nvPr/>
          </p:nvSpPr>
          <p:spPr>
            <a:xfrm flipH="false" flipV="false" rot="0">
              <a:off x="0" y="0"/>
              <a:ext cx="14176502" cy="521464"/>
            </a:xfrm>
            <a:custGeom>
              <a:avLst/>
              <a:gdLst/>
              <a:ahLst/>
              <a:cxnLst/>
              <a:rect r="r" b="b" t="t" l="l"/>
              <a:pathLst>
                <a:path h="521464" w="14176502">
                  <a:moveTo>
                    <a:pt x="16891" y="0"/>
                  </a:moveTo>
                  <a:lnTo>
                    <a:pt x="14159610" y="0"/>
                  </a:lnTo>
                  <a:cubicBezTo>
                    <a:pt x="14169008" y="0"/>
                    <a:pt x="14176502" y="7620"/>
                    <a:pt x="14176502" y="16891"/>
                  </a:cubicBezTo>
                  <a:lnTo>
                    <a:pt x="14176502" y="504571"/>
                  </a:lnTo>
                  <a:cubicBezTo>
                    <a:pt x="14176502" y="513969"/>
                    <a:pt x="14168882" y="521462"/>
                    <a:pt x="14159610"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14159610" y="487680"/>
                  </a:lnTo>
                  <a:lnTo>
                    <a:pt x="14159610" y="504571"/>
                  </a:lnTo>
                  <a:lnTo>
                    <a:pt x="14142720" y="504571"/>
                  </a:lnTo>
                  <a:lnTo>
                    <a:pt x="14142720" y="16891"/>
                  </a:lnTo>
                  <a:lnTo>
                    <a:pt x="14159610" y="16891"/>
                  </a:lnTo>
                  <a:lnTo>
                    <a:pt x="14159610" y="33909"/>
                  </a:lnTo>
                  <a:lnTo>
                    <a:pt x="16891" y="33909"/>
                  </a:lnTo>
                  <a:close/>
                </a:path>
              </a:pathLst>
            </a:custGeom>
            <a:solidFill>
              <a:srgbClr val="E2E8F0"/>
            </a:solidFill>
          </p:spPr>
        </p:sp>
      </p:grpSp>
      <p:grpSp>
        <p:nvGrpSpPr>
          <p:cNvPr name="Group 113" id="113"/>
          <p:cNvGrpSpPr/>
          <p:nvPr/>
        </p:nvGrpSpPr>
        <p:grpSpPr>
          <a:xfrm rot="0">
            <a:off x="6845303" y="7448807"/>
            <a:ext cx="3116075" cy="391163"/>
            <a:chOff x="0" y="0"/>
            <a:chExt cx="4154767" cy="521551"/>
          </a:xfrm>
        </p:grpSpPr>
        <p:sp>
          <p:nvSpPr>
            <p:cNvPr name="Freeform 114" id="114"/>
            <p:cNvSpPr/>
            <p:nvPr/>
          </p:nvSpPr>
          <p:spPr>
            <a:xfrm flipH="false" flipV="false" rot="0">
              <a:off x="16891" y="16891"/>
              <a:ext cx="4120896" cy="487680"/>
            </a:xfrm>
            <a:custGeom>
              <a:avLst/>
              <a:gdLst/>
              <a:ahLst/>
              <a:cxnLst/>
              <a:rect r="r" b="b" t="t" l="l"/>
              <a:pathLst>
                <a:path h="487680" w="4120896">
                  <a:moveTo>
                    <a:pt x="0" y="0"/>
                  </a:moveTo>
                  <a:lnTo>
                    <a:pt x="4120896" y="0"/>
                  </a:lnTo>
                  <a:lnTo>
                    <a:pt x="4120896" y="487680"/>
                  </a:lnTo>
                  <a:lnTo>
                    <a:pt x="0" y="487680"/>
                  </a:lnTo>
                  <a:close/>
                </a:path>
              </a:pathLst>
            </a:custGeom>
            <a:solidFill>
              <a:srgbClr val="64748B">
                <a:alpha val="63922"/>
              </a:srgbClr>
            </a:solidFill>
          </p:spPr>
        </p:sp>
        <p:sp>
          <p:nvSpPr>
            <p:cNvPr name="Freeform 115" id="115"/>
            <p:cNvSpPr/>
            <p:nvPr/>
          </p:nvSpPr>
          <p:spPr>
            <a:xfrm flipH="false" flipV="false" rot="0">
              <a:off x="0" y="0"/>
              <a:ext cx="4154678" cy="521464"/>
            </a:xfrm>
            <a:custGeom>
              <a:avLst/>
              <a:gdLst/>
              <a:ahLst/>
              <a:cxnLst/>
              <a:rect r="r" b="b" t="t" l="l"/>
              <a:pathLst>
                <a:path h="521464" w="4154678">
                  <a:moveTo>
                    <a:pt x="16891" y="0"/>
                  </a:moveTo>
                  <a:lnTo>
                    <a:pt x="4137787" y="0"/>
                  </a:lnTo>
                  <a:cubicBezTo>
                    <a:pt x="4147185" y="0"/>
                    <a:pt x="4154678" y="7620"/>
                    <a:pt x="4154678" y="16891"/>
                  </a:cubicBezTo>
                  <a:lnTo>
                    <a:pt x="4154678" y="504571"/>
                  </a:lnTo>
                  <a:cubicBezTo>
                    <a:pt x="4154678" y="513969"/>
                    <a:pt x="4147058" y="521462"/>
                    <a:pt x="4137787" y="521462"/>
                  </a:cubicBezTo>
                  <a:lnTo>
                    <a:pt x="16891" y="521462"/>
                  </a:lnTo>
                  <a:cubicBezTo>
                    <a:pt x="7620" y="521589"/>
                    <a:pt x="0" y="513969"/>
                    <a:pt x="0" y="504571"/>
                  </a:cubicBezTo>
                  <a:lnTo>
                    <a:pt x="0" y="16891"/>
                  </a:lnTo>
                  <a:cubicBezTo>
                    <a:pt x="0" y="7620"/>
                    <a:pt x="7620" y="0"/>
                    <a:pt x="16891" y="0"/>
                  </a:cubicBezTo>
                  <a:moveTo>
                    <a:pt x="16891" y="33909"/>
                  </a:moveTo>
                  <a:lnTo>
                    <a:pt x="16891" y="16891"/>
                  </a:lnTo>
                  <a:lnTo>
                    <a:pt x="33909" y="16891"/>
                  </a:lnTo>
                  <a:lnTo>
                    <a:pt x="33909" y="504571"/>
                  </a:lnTo>
                  <a:lnTo>
                    <a:pt x="16891" y="504571"/>
                  </a:lnTo>
                  <a:lnTo>
                    <a:pt x="16891" y="487680"/>
                  </a:lnTo>
                  <a:lnTo>
                    <a:pt x="4137787" y="487680"/>
                  </a:lnTo>
                  <a:lnTo>
                    <a:pt x="4137787" y="504571"/>
                  </a:lnTo>
                  <a:lnTo>
                    <a:pt x="4120896" y="504571"/>
                  </a:lnTo>
                  <a:lnTo>
                    <a:pt x="4120896" y="16891"/>
                  </a:lnTo>
                  <a:lnTo>
                    <a:pt x="4137787" y="16891"/>
                  </a:lnTo>
                  <a:lnTo>
                    <a:pt x="4137787" y="33909"/>
                  </a:lnTo>
                  <a:lnTo>
                    <a:pt x="16891" y="33909"/>
                  </a:lnTo>
                  <a:close/>
                </a:path>
              </a:pathLst>
            </a:custGeom>
            <a:solidFill>
              <a:srgbClr val="64748B">
                <a:alpha val="63922"/>
              </a:srgbClr>
            </a:solidFill>
          </p:spPr>
        </p:sp>
      </p:grpSp>
      <p:grpSp>
        <p:nvGrpSpPr>
          <p:cNvPr name="Group 116" id="116"/>
          <p:cNvGrpSpPr/>
          <p:nvPr/>
        </p:nvGrpSpPr>
        <p:grpSpPr>
          <a:xfrm rot="0">
            <a:off x="6851647" y="8406127"/>
            <a:ext cx="10619737" cy="817369"/>
            <a:chOff x="0" y="0"/>
            <a:chExt cx="14159649" cy="1089825"/>
          </a:xfrm>
        </p:grpSpPr>
        <p:sp>
          <p:nvSpPr>
            <p:cNvPr name="Freeform 117" id="117"/>
            <p:cNvSpPr/>
            <p:nvPr/>
          </p:nvSpPr>
          <p:spPr>
            <a:xfrm flipH="false" flipV="false" rot="0">
              <a:off x="8509" y="8509"/>
              <a:ext cx="14142720" cy="1072896"/>
            </a:xfrm>
            <a:custGeom>
              <a:avLst/>
              <a:gdLst/>
              <a:ahLst/>
              <a:cxnLst/>
              <a:rect r="r" b="b" t="t" l="l"/>
              <a:pathLst>
                <a:path h="1072896" w="14142720">
                  <a:moveTo>
                    <a:pt x="0" y="0"/>
                  </a:moveTo>
                  <a:lnTo>
                    <a:pt x="14142720" y="0"/>
                  </a:lnTo>
                  <a:lnTo>
                    <a:pt x="14142720" y="1072896"/>
                  </a:lnTo>
                  <a:lnTo>
                    <a:pt x="0" y="1072896"/>
                  </a:lnTo>
                  <a:close/>
                </a:path>
              </a:pathLst>
            </a:custGeom>
            <a:solidFill>
              <a:srgbClr val="CCFBF1"/>
            </a:solidFill>
          </p:spPr>
        </p:sp>
        <p:sp>
          <p:nvSpPr>
            <p:cNvPr name="Freeform 118" id="118"/>
            <p:cNvSpPr/>
            <p:nvPr/>
          </p:nvSpPr>
          <p:spPr>
            <a:xfrm flipH="false" flipV="false" rot="0">
              <a:off x="0" y="0"/>
              <a:ext cx="14159737" cy="1089914"/>
            </a:xfrm>
            <a:custGeom>
              <a:avLst/>
              <a:gdLst/>
              <a:ahLst/>
              <a:cxnLst/>
              <a:rect r="r" b="b" t="t" l="l"/>
              <a:pathLst>
                <a:path h="1089914" w="14159737">
                  <a:moveTo>
                    <a:pt x="8509" y="0"/>
                  </a:moveTo>
                  <a:lnTo>
                    <a:pt x="14151229" y="0"/>
                  </a:lnTo>
                  <a:cubicBezTo>
                    <a:pt x="14155928" y="0"/>
                    <a:pt x="14159737" y="3810"/>
                    <a:pt x="14159737" y="8509"/>
                  </a:cubicBezTo>
                  <a:lnTo>
                    <a:pt x="14159737" y="1081405"/>
                  </a:lnTo>
                  <a:cubicBezTo>
                    <a:pt x="14159737" y="1086104"/>
                    <a:pt x="14155928" y="1089914"/>
                    <a:pt x="14151229" y="1089914"/>
                  </a:cubicBezTo>
                  <a:lnTo>
                    <a:pt x="8509" y="1089914"/>
                  </a:lnTo>
                  <a:cubicBezTo>
                    <a:pt x="3810" y="1089914"/>
                    <a:pt x="0" y="1086104"/>
                    <a:pt x="0" y="1081405"/>
                  </a:cubicBezTo>
                  <a:lnTo>
                    <a:pt x="0" y="8509"/>
                  </a:lnTo>
                  <a:cubicBezTo>
                    <a:pt x="0" y="3810"/>
                    <a:pt x="3810" y="0"/>
                    <a:pt x="8509" y="0"/>
                  </a:cubicBezTo>
                  <a:moveTo>
                    <a:pt x="8509" y="16891"/>
                  </a:moveTo>
                  <a:lnTo>
                    <a:pt x="8509" y="8509"/>
                  </a:lnTo>
                  <a:lnTo>
                    <a:pt x="17018" y="8509"/>
                  </a:lnTo>
                  <a:lnTo>
                    <a:pt x="17018" y="1081405"/>
                  </a:lnTo>
                  <a:lnTo>
                    <a:pt x="8509" y="1081405"/>
                  </a:lnTo>
                  <a:lnTo>
                    <a:pt x="8509" y="1072896"/>
                  </a:lnTo>
                  <a:lnTo>
                    <a:pt x="14151229" y="1072896"/>
                  </a:lnTo>
                  <a:lnTo>
                    <a:pt x="14151229" y="1081405"/>
                  </a:lnTo>
                  <a:lnTo>
                    <a:pt x="14142720" y="1081405"/>
                  </a:lnTo>
                  <a:lnTo>
                    <a:pt x="14142720" y="8509"/>
                  </a:lnTo>
                  <a:lnTo>
                    <a:pt x="14151229" y="8509"/>
                  </a:lnTo>
                  <a:lnTo>
                    <a:pt x="14151229" y="17018"/>
                  </a:lnTo>
                  <a:lnTo>
                    <a:pt x="8509" y="17018"/>
                  </a:lnTo>
                  <a:close/>
                </a:path>
              </a:pathLst>
            </a:custGeom>
            <a:solidFill>
              <a:srgbClr val="0D9488"/>
            </a:solidFill>
          </p:spPr>
        </p:sp>
      </p:grpSp>
      <p:grpSp>
        <p:nvGrpSpPr>
          <p:cNvPr name="Group 119" id="119"/>
          <p:cNvGrpSpPr/>
          <p:nvPr/>
        </p:nvGrpSpPr>
        <p:grpSpPr>
          <a:xfrm rot="0">
            <a:off x="7040880" y="8449056"/>
            <a:ext cx="10241280" cy="731520"/>
            <a:chOff x="0" y="0"/>
            <a:chExt cx="13655040" cy="975360"/>
          </a:xfrm>
        </p:grpSpPr>
        <p:sp>
          <p:nvSpPr>
            <p:cNvPr name="Freeform 120" id="120"/>
            <p:cNvSpPr/>
            <p:nvPr/>
          </p:nvSpPr>
          <p:spPr>
            <a:xfrm flipH="false" flipV="false" rot="0">
              <a:off x="0" y="0"/>
              <a:ext cx="13655039" cy="975360"/>
            </a:xfrm>
            <a:custGeom>
              <a:avLst/>
              <a:gdLst/>
              <a:ahLst/>
              <a:cxnLst/>
              <a:rect r="r" b="b" t="t" l="l"/>
              <a:pathLst>
                <a:path h="975360" w="13655039">
                  <a:moveTo>
                    <a:pt x="0" y="0"/>
                  </a:moveTo>
                  <a:lnTo>
                    <a:pt x="13655039" y="0"/>
                  </a:lnTo>
                  <a:lnTo>
                    <a:pt x="13655039" y="975360"/>
                  </a:lnTo>
                  <a:lnTo>
                    <a:pt x="0" y="975360"/>
                  </a:lnTo>
                  <a:close/>
                </a:path>
              </a:pathLst>
            </a:custGeom>
            <a:blipFill>
              <a:blip r:embed="rId3">
                <a:alphaModFix amt="0"/>
              </a:blip>
              <a:stretch>
                <a:fillRect l="0" t="-222790" r="0" b="-222790"/>
              </a:stretch>
            </a:blipFill>
          </p:spPr>
        </p:sp>
        <p:sp>
          <p:nvSpPr>
            <p:cNvPr name="TextBox 121" id="121"/>
            <p:cNvSpPr txBox="true"/>
            <p:nvPr/>
          </p:nvSpPr>
          <p:spPr>
            <a:xfrm>
              <a:off x="0" y="-38100"/>
              <a:ext cx="13655040" cy="1013460"/>
            </a:xfrm>
            <a:prstGeom prst="rect">
              <a:avLst/>
            </a:prstGeom>
          </p:spPr>
          <p:txBody>
            <a:bodyPr anchor="ctr" rtlCol="false" tIns="0" lIns="0" bIns="0" rIns="0"/>
            <a:lstStyle/>
            <a:p>
              <a:pPr algn="l">
                <a:lnSpc>
                  <a:spcPts val="2160"/>
                </a:lnSpc>
              </a:pPr>
              <a:r>
                <a:rPr lang="en-US" sz="1800" i="true">
                  <a:solidFill>
                    <a:srgbClr val="0F766E"/>
                  </a:solidFill>
                  <a:latin typeface="Calibri (MS) Italics"/>
                  <a:ea typeface="Calibri (MS) Italics"/>
                  <a:cs typeface="Calibri (MS) Italics"/>
                  <a:sym typeface="Calibri (MS) Italics"/>
                </a:rPr>
                <a:t>Why? Top drivers: Blood pressure (34%)  ·  Glucose trend (28%)  ·  Family history (21%)  ·  BMI (17%)</a:t>
              </a:r>
            </a:p>
          </p:txBody>
        </p:sp>
      </p:grpSp>
      <p:grpSp>
        <p:nvGrpSpPr>
          <p:cNvPr name="Group 122" id="122"/>
          <p:cNvGrpSpPr/>
          <p:nvPr/>
        </p:nvGrpSpPr>
        <p:grpSpPr>
          <a:xfrm rot="0">
            <a:off x="548640" y="9692640"/>
            <a:ext cx="17190720" cy="475488"/>
            <a:chOff x="0" y="0"/>
            <a:chExt cx="22920960" cy="633984"/>
          </a:xfrm>
        </p:grpSpPr>
        <p:sp>
          <p:nvSpPr>
            <p:cNvPr name="Freeform 123" id="123"/>
            <p:cNvSpPr/>
            <p:nvPr/>
          </p:nvSpPr>
          <p:spPr>
            <a:xfrm flipH="false" flipV="false" rot="0">
              <a:off x="0" y="0"/>
              <a:ext cx="22920961" cy="633984"/>
            </a:xfrm>
            <a:custGeom>
              <a:avLst/>
              <a:gdLst/>
              <a:ahLst/>
              <a:cxnLst/>
              <a:rect r="r" b="b" t="t" l="l"/>
              <a:pathLst>
                <a:path h="633984" w="22920961">
                  <a:moveTo>
                    <a:pt x="0" y="0"/>
                  </a:moveTo>
                  <a:lnTo>
                    <a:pt x="22920961" y="0"/>
                  </a:lnTo>
                  <a:lnTo>
                    <a:pt x="22920961" y="633984"/>
                  </a:lnTo>
                  <a:lnTo>
                    <a:pt x="0" y="633984"/>
                  </a:lnTo>
                  <a:close/>
                </a:path>
              </a:pathLst>
            </a:custGeom>
            <a:blipFill>
              <a:blip r:embed="rId3">
                <a:alphaModFix amt="0"/>
              </a:blip>
              <a:stretch>
                <a:fillRect l="0" t="-654459" r="0" b="-654459"/>
              </a:stretch>
            </a:blipFill>
          </p:spPr>
        </p:sp>
        <p:sp>
          <p:nvSpPr>
            <p:cNvPr name="TextBox 124" id="124"/>
            <p:cNvSpPr txBox="true"/>
            <p:nvPr/>
          </p:nvSpPr>
          <p:spPr>
            <a:xfrm>
              <a:off x="0" y="-38100"/>
              <a:ext cx="22920960" cy="672084"/>
            </a:xfrm>
            <a:prstGeom prst="rect">
              <a:avLst/>
            </a:prstGeom>
          </p:spPr>
          <p:txBody>
            <a:bodyPr anchor="ctr" rtlCol="false" tIns="0" lIns="0" bIns="0" rIns="0"/>
            <a:lstStyle/>
            <a:p>
              <a:pPr algn="ctr">
                <a:lnSpc>
                  <a:spcPts val="2160"/>
                </a:lnSpc>
              </a:pPr>
              <a:r>
                <a:rPr lang="en-US" sz="1800" i="true">
                  <a:solidFill>
                    <a:srgbClr val="64748B"/>
                  </a:solidFill>
                  <a:latin typeface="Calibri (MS) Italics"/>
                  <a:ea typeface="Calibri (MS) Italics"/>
                  <a:cs typeface="Calibri (MS) Italics"/>
                  <a:sym typeface="Calibri (MS) Italics"/>
                </a:rPr>
                <a:t>Recommended: Dietary review  ·  HbA1c test  ·  3-month follow-up  ·  Cardio screening</a:t>
              </a:r>
            </a:p>
          </p:txBody>
        </p:sp>
      </p:grpSp>
      <p:grpSp>
        <p:nvGrpSpPr>
          <p:cNvPr name="Group 125" id="125"/>
          <p:cNvGrpSpPr/>
          <p:nvPr/>
        </p:nvGrpSpPr>
        <p:grpSpPr>
          <a:xfrm rot="0">
            <a:off x="-12697" y="9588503"/>
            <a:ext cx="18313403" cy="711203"/>
            <a:chOff x="0" y="0"/>
            <a:chExt cx="24417871" cy="948271"/>
          </a:xfrm>
        </p:grpSpPr>
        <p:sp>
          <p:nvSpPr>
            <p:cNvPr name="Freeform 126" id="126"/>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127" id="127"/>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128" id="128"/>
          <p:cNvGrpSpPr/>
          <p:nvPr/>
        </p:nvGrpSpPr>
        <p:grpSpPr>
          <a:xfrm rot="0">
            <a:off x="731520" y="9637776"/>
            <a:ext cx="16824960" cy="585216"/>
            <a:chOff x="0" y="0"/>
            <a:chExt cx="22433280" cy="780288"/>
          </a:xfrm>
        </p:grpSpPr>
        <p:sp>
          <p:nvSpPr>
            <p:cNvPr name="Freeform 129" id="129"/>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130" id="130"/>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D948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D948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FFFFFF"/>
                  </a:solidFill>
                  <a:latin typeface="Calibri (MS) Bold"/>
                  <a:ea typeface="Calibri (MS) Bold"/>
                  <a:cs typeface="Calibri (MS) Bold"/>
                  <a:sym typeface="Calibri (MS) Bold"/>
                </a:rPr>
                <a:t>ADVANTAGES</a:t>
              </a:r>
            </a:p>
          </p:txBody>
        </p:sp>
      </p:grpSp>
      <p:grpSp>
        <p:nvGrpSpPr>
          <p:cNvPr name="Group 8" id="8"/>
          <p:cNvGrpSpPr/>
          <p:nvPr/>
        </p:nvGrpSpPr>
        <p:grpSpPr>
          <a:xfrm rot="0">
            <a:off x="542287" y="1365247"/>
            <a:ext cx="3999481" cy="3889753"/>
            <a:chOff x="0" y="0"/>
            <a:chExt cx="5332641" cy="5186337"/>
          </a:xfrm>
        </p:grpSpPr>
        <p:sp>
          <p:nvSpPr>
            <p:cNvPr name="Freeform 9" id="9"/>
            <p:cNvSpPr/>
            <p:nvPr/>
          </p:nvSpPr>
          <p:spPr>
            <a:xfrm flipH="false" flipV="false" rot="0">
              <a:off x="8509" y="8509"/>
              <a:ext cx="5315712" cy="5169408"/>
            </a:xfrm>
            <a:custGeom>
              <a:avLst/>
              <a:gdLst/>
              <a:ahLst/>
              <a:cxnLst/>
              <a:rect r="r" b="b" t="t" l="l"/>
              <a:pathLst>
                <a:path h="5169408" w="5315712">
                  <a:moveTo>
                    <a:pt x="0" y="0"/>
                  </a:moveTo>
                  <a:lnTo>
                    <a:pt x="5315712" y="0"/>
                  </a:lnTo>
                  <a:lnTo>
                    <a:pt x="5315712" y="5169408"/>
                  </a:lnTo>
                  <a:lnTo>
                    <a:pt x="0" y="5169408"/>
                  </a:lnTo>
                  <a:close/>
                </a:path>
              </a:pathLst>
            </a:custGeom>
            <a:solidFill>
              <a:srgbClr val="0D1F38"/>
            </a:solidFill>
          </p:spPr>
        </p:sp>
        <p:sp>
          <p:nvSpPr>
            <p:cNvPr name="Freeform 10" id="10"/>
            <p:cNvSpPr/>
            <p:nvPr/>
          </p:nvSpPr>
          <p:spPr>
            <a:xfrm flipH="false" flipV="false" rot="0">
              <a:off x="0" y="0"/>
              <a:ext cx="5332730" cy="5186426"/>
            </a:xfrm>
            <a:custGeom>
              <a:avLst/>
              <a:gdLst/>
              <a:ahLst/>
              <a:cxnLst/>
              <a:rect r="r" b="b" t="t" l="l"/>
              <a:pathLst>
                <a:path h="5186426" w="5332730">
                  <a:moveTo>
                    <a:pt x="8509" y="0"/>
                  </a:moveTo>
                  <a:lnTo>
                    <a:pt x="5324221" y="0"/>
                  </a:lnTo>
                  <a:cubicBezTo>
                    <a:pt x="5328920" y="0"/>
                    <a:pt x="5332730" y="3810"/>
                    <a:pt x="5332730" y="8509"/>
                  </a:cubicBezTo>
                  <a:lnTo>
                    <a:pt x="5332730" y="5177917"/>
                  </a:lnTo>
                  <a:cubicBezTo>
                    <a:pt x="5332730" y="5182616"/>
                    <a:pt x="5328920" y="5186426"/>
                    <a:pt x="5324221" y="5186426"/>
                  </a:cubicBezTo>
                  <a:lnTo>
                    <a:pt x="8509" y="5186426"/>
                  </a:lnTo>
                  <a:cubicBezTo>
                    <a:pt x="3810" y="5186426"/>
                    <a:pt x="0" y="5182616"/>
                    <a:pt x="0" y="5177917"/>
                  </a:cubicBezTo>
                  <a:lnTo>
                    <a:pt x="0" y="8509"/>
                  </a:lnTo>
                  <a:cubicBezTo>
                    <a:pt x="0" y="3810"/>
                    <a:pt x="3810" y="0"/>
                    <a:pt x="8509" y="0"/>
                  </a:cubicBezTo>
                  <a:moveTo>
                    <a:pt x="8509" y="16891"/>
                  </a:moveTo>
                  <a:lnTo>
                    <a:pt x="8509" y="8509"/>
                  </a:lnTo>
                  <a:lnTo>
                    <a:pt x="17018" y="8509"/>
                  </a:lnTo>
                  <a:lnTo>
                    <a:pt x="17018" y="5177917"/>
                  </a:lnTo>
                  <a:lnTo>
                    <a:pt x="8509" y="5177917"/>
                  </a:lnTo>
                  <a:lnTo>
                    <a:pt x="8509" y="5169408"/>
                  </a:lnTo>
                  <a:lnTo>
                    <a:pt x="5324221" y="5169408"/>
                  </a:lnTo>
                  <a:lnTo>
                    <a:pt x="5324221" y="5177917"/>
                  </a:lnTo>
                  <a:lnTo>
                    <a:pt x="5315712" y="5177917"/>
                  </a:lnTo>
                  <a:lnTo>
                    <a:pt x="5315712" y="8509"/>
                  </a:lnTo>
                  <a:lnTo>
                    <a:pt x="5324221" y="8509"/>
                  </a:lnTo>
                  <a:lnTo>
                    <a:pt x="5324221" y="17018"/>
                  </a:lnTo>
                  <a:lnTo>
                    <a:pt x="8509" y="17018"/>
                  </a:lnTo>
                  <a:close/>
                </a:path>
              </a:pathLst>
            </a:custGeom>
            <a:solidFill>
              <a:srgbClr val="0D9488"/>
            </a:solidFill>
          </p:spPr>
        </p:sp>
      </p:grpSp>
      <p:grpSp>
        <p:nvGrpSpPr>
          <p:cNvPr name="Group 11" id="11"/>
          <p:cNvGrpSpPr/>
          <p:nvPr/>
        </p:nvGrpSpPr>
        <p:grpSpPr>
          <a:xfrm rot="0">
            <a:off x="535943" y="1358903"/>
            <a:ext cx="4012187" cy="171707"/>
            <a:chOff x="0" y="0"/>
            <a:chExt cx="5349583" cy="228943"/>
          </a:xfrm>
        </p:grpSpPr>
        <p:sp>
          <p:nvSpPr>
            <p:cNvPr name="Freeform 12" id="12"/>
            <p:cNvSpPr/>
            <p:nvPr/>
          </p:nvSpPr>
          <p:spPr>
            <a:xfrm flipH="false" flipV="false" rot="0">
              <a:off x="16891" y="16891"/>
              <a:ext cx="5315712" cy="195072"/>
            </a:xfrm>
            <a:custGeom>
              <a:avLst/>
              <a:gdLst/>
              <a:ahLst/>
              <a:cxnLst/>
              <a:rect r="r" b="b" t="t" l="l"/>
              <a:pathLst>
                <a:path h="195072" w="5315712">
                  <a:moveTo>
                    <a:pt x="0" y="0"/>
                  </a:moveTo>
                  <a:lnTo>
                    <a:pt x="5315712" y="0"/>
                  </a:lnTo>
                  <a:lnTo>
                    <a:pt x="5315712" y="195072"/>
                  </a:lnTo>
                  <a:lnTo>
                    <a:pt x="0" y="195072"/>
                  </a:lnTo>
                  <a:close/>
                </a:path>
              </a:pathLst>
            </a:custGeom>
            <a:solidFill>
              <a:srgbClr val="0D9488"/>
            </a:solidFill>
          </p:spPr>
        </p:sp>
        <p:sp>
          <p:nvSpPr>
            <p:cNvPr name="Freeform 13" id="13"/>
            <p:cNvSpPr/>
            <p:nvPr/>
          </p:nvSpPr>
          <p:spPr>
            <a:xfrm flipH="false" flipV="false" rot="0">
              <a:off x="0" y="0"/>
              <a:ext cx="5349494" cy="228856"/>
            </a:xfrm>
            <a:custGeom>
              <a:avLst/>
              <a:gdLst/>
              <a:ahLst/>
              <a:cxnLst/>
              <a:rect r="r" b="b" t="t" l="l"/>
              <a:pathLst>
                <a:path h="228856" w="5349494">
                  <a:moveTo>
                    <a:pt x="16891" y="0"/>
                  </a:moveTo>
                  <a:lnTo>
                    <a:pt x="5332603" y="0"/>
                  </a:lnTo>
                  <a:cubicBezTo>
                    <a:pt x="5342001" y="0"/>
                    <a:pt x="5349494" y="7620"/>
                    <a:pt x="5349494" y="16891"/>
                  </a:cubicBezTo>
                  <a:lnTo>
                    <a:pt x="5349494" y="211963"/>
                  </a:lnTo>
                  <a:cubicBezTo>
                    <a:pt x="5349494" y="221361"/>
                    <a:pt x="5341874" y="228854"/>
                    <a:pt x="533260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5332603" y="195072"/>
                  </a:lnTo>
                  <a:lnTo>
                    <a:pt x="5332603" y="211963"/>
                  </a:lnTo>
                  <a:lnTo>
                    <a:pt x="5315712" y="211963"/>
                  </a:lnTo>
                  <a:lnTo>
                    <a:pt x="5315712" y="16891"/>
                  </a:lnTo>
                  <a:lnTo>
                    <a:pt x="5332603" y="16891"/>
                  </a:lnTo>
                  <a:lnTo>
                    <a:pt x="5332603" y="33909"/>
                  </a:lnTo>
                  <a:lnTo>
                    <a:pt x="16891" y="33909"/>
                  </a:lnTo>
                  <a:close/>
                </a:path>
              </a:pathLst>
            </a:custGeom>
            <a:solidFill>
              <a:srgbClr val="0D9488"/>
            </a:solidFill>
          </p:spPr>
        </p:sp>
      </p:grpSp>
      <p:grpSp>
        <p:nvGrpSpPr>
          <p:cNvPr name="Group 14" id="14"/>
          <p:cNvGrpSpPr/>
          <p:nvPr/>
        </p:nvGrpSpPr>
        <p:grpSpPr>
          <a:xfrm rot="0">
            <a:off x="731520" y="1627632"/>
            <a:ext cx="3621024" cy="694944"/>
            <a:chOff x="0" y="0"/>
            <a:chExt cx="4828032" cy="926592"/>
          </a:xfrm>
        </p:grpSpPr>
        <p:sp>
          <p:nvSpPr>
            <p:cNvPr name="Freeform 15" id="15"/>
            <p:cNvSpPr/>
            <p:nvPr/>
          </p:nvSpPr>
          <p:spPr>
            <a:xfrm flipH="false" flipV="false" rot="0">
              <a:off x="0" y="0"/>
              <a:ext cx="4828032" cy="926592"/>
            </a:xfrm>
            <a:custGeom>
              <a:avLst/>
              <a:gdLst/>
              <a:ahLst/>
              <a:cxnLst/>
              <a:rect r="r" b="b" t="t" l="l"/>
              <a:pathLst>
                <a:path h="926592" w="4828032">
                  <a:moveTo>
                    <a:pt x="0" y="0"/>
                  </a:moveTo>
                  <a:lnTo>
                    <a:pt x="4828032" y="0"/>
                  </a:lnTo>
                  <a:lnTo>
                    <a:pt x="4828032" y="926592"/>
                  </a:lnTo>
                  <a:lnTo>
                    <a:pt x="0" y="926592"/>
                  </a:lnTo>
                  <a:close/>
                </a:path>
              </a:pathLst>
            </a:custGeom>
            <a:blipFill>
              <a:blip r:embed="rId3">
                <a:alphaModFix amt="0"/>
              </a:blip>
              <a:stretch>
                <a:fillRect l="0" t="-51527" r="0" b="-51527"/>
              </a:stretch>
            </a:blipFill>
          </p:spPr>
        </p:sp>
        <p:sp>
          <p:nvSpPr>
            <p:cNvPr name="TextBox 16" id="16"/>
            <p:cNvSpPr txBox="true"/>
            <p:nvPr/>
          </p:nvSpPr>
          <p:spPr>
            <a:xfrm>
              <a:off x="0" y="-38100"/>
              <a:ext cx="4828032" cy="964692"/>
            </a:xfrm>
            <a:prstGeom prst="rect">
              <a:avLst/>
            </a:prstGeom>
          </p:spPr>
          <p:txBody>
            <a:bodyPr anchor="ctr" rtlCol="false" tIns="0" lIns="0" bIns="0" rIns="0"/>
            <a:lstStyle/>
            <a:p>
              <a:pPr algn="l">
                <a:lnSpc>
                  <a:spcPts val="2400"/>
                </a:lnSpc>
              </a:pPr>
              <a:r>
                <a:rPr lang="en-US" sz="2000" b="true">
                  <a:solidFill>
                    <a:srgbClr val="0D9488"/>
                  </a:solidFill>
                  <a:latin typeface="Calibri (MS) Bold"/>
                  <a:ea typeface="Calibri (MS) Bold"/>
                  <a:cs typeface="Calibri (MS) Bold"/>
                  <a:sym typeface="Calibri (MS) Bold"/>
                </a:rPr>
                <a:t>Early disease detection</a:t>
              </a:r>
            </a:p>
          </p:txBody>
        </p:sp>
      </p:grpSp>
      <p:grpSp>
        <p:nvGrpSpPr>
          <p:cNvPr name="Group 17" id="17"/>
          <p:cNvGrpSpPr/>
          <p:nvPr/>
        </p:nvGrpSpPr>
        <p:grpSpPr>
          <a:xfrm rot="0">
            <a:off x="731520" y="2395728"/>
            <a:ext cx="3621024" cy="2596896"/>
            <a:chOff x="0" y="0"/>
            <a:chExt cx="4828032" cy="3462528"/>
          </a:xfrm>
        </p:grpSpPr>
        <p:sp>
          <p:nvSpPr>
            <p:cNvPr name="Freeform 18" id="18"/>
            <p:cNvSpPr/>
            <p:nvPr/>
          </p:nvSpPr>
          <p:spPr>
            <a:xfrm flipH="false" flipV="false" rot="0">
              <a:off x="0" y="0"/>
              <a:ext cx="4828032" cy="3462528"/>
            </a:xfrm>
            <a:custGeom>
              <a:avLst/>
              <a:gdLst/>
              <a:ahLst/>
              <a:cxnLst/>
              <a:rect r="r" b="b" t="t" l="l"/>
              <a:pathLst>
                <a:path h="3462528" w="4828032">
                  <a:moveTo>
                    <a:pt x="0" y="0"/>
                  </a:moveTo>
                  <a:lnTo>
                    <a:pt x="4828032" y="0"/>
                  </a:lnTo>
                  <a:lnTo>
                    <a:pt x="4828032" y="3462528"/>
                  </a:lnTo>
                  <a:lnTo>
                    <a:pt x="0" y="3462528"/>
                  </a:lnTo>
                  <a:close/>
                </a:path>
              </a:pathLst>
            </a:custGeom>
            <a:blipFill>
              <a:blip r:embed="rId3">
                <a:alphaModFix amt="0"/>
              </a:blip>
              <a:stretch>
                <a:fillRect l="-42015" t="0" r="-42015" b="0"/>
              </a:stretch>
            </a:blipFill>
          </p:spPr>
        </p:sp>
        <p:sp>
          <p:nvSpPr>
            <p:cNvPr name="TextBox 19" id="19"/>
            <p:cNvSpPr txBox="true"/>
            <p:nvPr/>
          </p:nvSpPr>
          <p:spPr>
            <a:xfrm>
              <a:off x="0" y="-38100"/>
              <a:ext cx="4828032" cy="3500628"/>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Identifies disease risk months or years before symptoms appear — enabling timely intervention while outcomes are still reversible.</a:t>
              </a:r>
            </a:p>
          </p:txBody>
        </p:sp>
      </p:grpSp>
      <p:grpSp>
        <p:nvGrpSpPr>
          <p:cNvPr name="Group 20" id="20"/>
          <p:cNvGrpSpPr/>
          <p:nvPr/>
        </p:nvGrpSpPr>
        <p:grpSpPr>
          <a:xfrm rot="0">
            <a:off x="4894831" y="1365247"/>
            <a:ext cx="3999481" cy="3889753"/>
            <a:chOff x="0" y="0"/>
            <a:chExt cx="5332641" cy="5186337"/>
          </a:xfrm>
        </p:grpSpPr>
        <p:sp>
          <p:nvSpPr>
            <p:cNvPr name="Freeform 21" id="21"/>
            <p:cNvSpPr/>
            <p:nvPr/>
          </p:nvSpPr>
          <p:spPr>
            <a:xfrm flipH="false" flipV="false" rot="0">
              <a:off x="8509" y="8509"/>
              <a:ext cx="5315712" cy="5169408"/>
            </a:xfrm>
            <a:custGeom>
              <a:avLst/>
              <a:gdLst/>
              <a:ahLst/>
              <a:cxnLst/>
              <a:rect r="r" b="b" t="t" l="l"/>
              <a:pathLst>
                <a:path h="5169408" w="5315712">
                  <a:moveTo>
                    <a:pt x="0" y="0"/>
                  </a:moveTo>
                  <a:lnTo>
                    <a:pt x="5315712" y="0"/>
                  </a:lnTo>
                  <a:lnTo>
                    <a:pt x="5315712" y="5169408"/>
                  </a:lnTo>
                  <a:lnTo>
                    <a:pt x="0" y="5169408"/>
                  </a:lnTo>
                  <a:close/>
                </a:path>
              </a:pathLst>
            </a:custGeom>
            <a:solidFill>
              <a:srgbClr val="0D1F38"/>
            </a:solidFill>
          </p:spPr>
        </p:sp>
        <p:sp>
          <p:nvSpPr>
            <p:cNvPr name="Freeform 22" id="22"/>
            <p:cNvSpPr/>
            <p:nvPr/>
          </p:nvSpPr>
          <p:spPr>
            <a:xfrm flipH="false" flipV="false" rot="0">
              <a:off x="0" y="0"/>
              <a:ext cx="5332730" cy="5186426"/>
            </a:xfrm>
            <a:custGeom>
              <a:avLst/>
              <a:gdLst/>
              <a:ahLst/>
              <a:cxnLst/>
              <a:rect r="r" b="b" t="t" l="l"/>
              <a:pathLst>
                <a:path h="5186426" w="5332730">
                  <a:moveTo>
                    <a:pt x="8509" y="0"/>
                  </a:moveTo>
                  <a:lnTo>
                    <a:pt x="5324221" y="0"/>
                  </a:lnTo>
                  <a:cubicBezTo>
                    <a:pt x="5328920" y="0"/>
                    <a:pt x="5332730" y="3810"/>
                    <a:pt x="5332730" y="8509"/>
                  </a:cubicBezTo>
                  <a:lnTo>
                    <a:pt x="5332730" y="5177917"/>
                  </a:lnTo>
                  <a:cubicBezTo>
                    <a:pt x="5332730" y="5182616"/>
                    <a:pt x="5328920" y="5186426"/>
                    <a:pt x="5324221" y="5186426"/>
                  </a:cubicBezTo>
                  <a:lnTo>
                    <a:pt x="8509" y="5186426"/>
                  </a:lnTo>
                  <a:cubicBezTo>
                    <a:pt x="3810" y="5186426"/>
                    <a:pt x="0" y="5182616"/>
                    <a:pt x="0" y="5177917"/>
                  </a:cubicBezTo>
                  <a:lnTo>
                    <a:pt x="0" y="8509"/>
                  </a:lnTo>
                  <a:cubicBezTo>
                    <a:pt x="0" y="3810"/>
                    <a:pt x="3810" y="0"/>
                    <a:pt x="8509" y="0"/>
                  </a:cubicBezTo>
                  <a:moveTo>
                    <a:pt x="8509" y="16891"/>
                  </a:moveTo>
                  <a:lnTo>
                    <a:pt x="8509" y="8509"/>
                  </a:lnTo>
                  <a:lnTo>
                    <a:pt x="17018" y="8509"/>
                  </a:lnTo>
                  <a:lnTo>
                    <a:pt x="17018" y="5177917"/>
                  </a:lnTo>
                  <a:lnTo>
                    <a:pt x="8509" y="5177917"/>
                  </a:lnTo>
                  <a:lnTo>
                    <a:pt x="8509" y="5169408"/>
                  </a:lnTo>
                  <a:lnTo>
                    <a:pt x="5324221" y="5169408"/>
                  </a:lnTo>
                  <a:lnTo>
                    <a:pt x="5324221" y="5177917"/>
                  </a:lnTo>
                  <a:lnTo>
                    <a:pt x="5315712" y="5177917"/>
                  </a:lnTo>
                  <a:lnTo>
                    <a:pt x="5315712" y="8509"/>
                  </a:lnTo>
                  <a:lnTo>
                    <a:pt x="5324221" y="8509"/>
                  </a:lnTo>
                  <a:lnTo>
                    <a:pt x="5324221" y="17018"/>
                  </a:lnTo>
                  <a:lnTo>
                    <a:pt x="8509" y="17018"/>
                  </a:lnTo>
                  <a:close/>
                </a:path>
              </a:pathLst>
            </a:custGeom>
            <a:solidFill>
              <a:srgbClr val="10B981"/>
            </a:solidFill>
          </p:spPr>
        </p:sp>
      </p:grpSp>
      <p:grpSp>
        <p:nvGrpSpPr>
          <p:cNvPr name="Group 23" id="23"/>
          <p:cNvGrpSpPr/>
          <p:nvPr/>
        </p:nvGrpSpPr>
        <p:grpSpPr>
          <a:xfrm rot="0">
            <a:off x="4888487" y="1358903"/>
            <a:ext cx="4012187" cy="171707"/>
            <a:chOff x="0" y="0"/>
            <a:chExt cx="5349583" cy="228943"/>
          </a:xfrm>
        </p:grpSpPr>
        <p:sp>
          <p:nvSpPr>
            <p:cNvPr name="Freeform 24" id="24"/>
            <p:cNvSpPr/>
            <p:nvPr/>
          </p:nvSpPr>
          <p:spPr>
            <a:xfrm flipH="false" flipV="false" rot="0">
              <a:off x="16891" y="16891"/>
              <a:ext cx="5315712" cy="195072"/>
            </a:xfrm>
            <a:custGeom>
              <a:avLst/>
              <a:gdLst/>
              <a:ahLst/>
              <a:cxnLst/>
              <a:rect r="r" b="b" t="t" l="l"/>
              <a:pathLst>
                <a:path h="195072" w="5315712">
                  <a:moveTo>
                    <a:pt x="0" y="0"/>
                  </a:moveTo>
                  <a:lnTo>
                    <a:pt x="5315712" y="0"/>
                  </a:lnTo>
                  <a:lnTo>
                    <a:pt x="5315712" y="195072"/>
                  </a:lnTo>
                  <a:lnTo>
                    <a:pt x="0" y="195072"/>
                  </a:lnTo>
                  <a:close/>
                </a:path>
              </a:pathLst>
            </a:custGeom>
            <a:solidFill>
              <a:srgbClr val="10B981"/>
            </a:solidFill>
          </p:spPr>
        </p:sp>
        <p:sp>
          <p:nvSpPr>
            <p:cNvPr name="Freeform 25" id="25"/>
            <p:cNvSpPr/>
            <p:nvPr/>
          </p:nvSpPr>
          <p:spPr>
            <a:xfrm flipH="false" flipV="false" rot="0">
              <a:off x="0" y="0"/>
              <a:ext cx="5349494" cy="228856"/>
            </a:xfrm>
            <a:custGeom>
              <a:avLst/>
              <a:gdLst/>
              <a:ahLst/>
              <a:cxnLst/>
              <a:rect r="r" b="b" t="t" l="l"/>
              <a:pathLst>
                <a:path h="228856" w="5349494">
                  <a:moveTo>
                    <a:pt x="16891" y="0"/>
                  </a:moveTo>
                  <a:lnTo>
                    <a:pt x="5332603" y="0"/>
                  </a:lnTo>
                  <a:cubicBezTo>
                    <a:pt x="5342001" y="0"/>
                    <a:pt x="5349494" y="7620"/>
                    <a:pt x="5349494" y="16891"/>
                  </a:cubicBezTo>
                  <a:lnTo>
                    <a:pt x="5349494" y="211963"/>
                  </a:lnTo>
                  <a:cubicBezTo>
                    <a:pt x="5349494" y="221361"/>
                    <a:pt x="5341874" y="228854"/>
                    <a:pt x="533260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5332603" y="195072"/>
                  </a:lnTo>
                  <a:lnTo>
                    <a:pt x="5332603" y="211963"/>
                  </a:lnTo>
                  <a:lnTo>
                    <a:pt x="5315712" y="211963"/>
                  </a:lnTo>
                  <a:lnTo>
                    <a:pt x="5315712" y="16891"/>
                  </a:lnTo>
                  <a:lnTo>
                    <a:pt x="5332603" y="16891"/>
                  </a:lnTo>
                  <a:lnTo>
                    <a:pt x="5332603" y="33909"/>
                  </a:lnTo>
                  <a:lnTo>
                    <a:pt x="16891" y="33909"/>
                  </a:lnTo>
                  <a:close/>
                </a:path>
              </a:pathLst>
            </a:custGeom>
            <a:solidFill>
              <a:srgbClr val="10B981"/>
            </a:solidFill>
          </p:spPr>
        </p:sp>
      </p:grpSp>
      <p:grpSp>
        <p:nvGrpSpPr>
          <p:cNvPr name="Group 26" id="26"/>
          <p:cNvGrpSpPr/>
          <p:nvPr/>
        </p:nvGrpSpPr>
        <p:grpSpPr>
          <a:xfrm rot="0">
            <a:off x="5084064" y="1627632"/>
            <a:ext cx="3621024" cy="694944"/>
            <a:chOff x="0" y="0"/>
            <a:chExt cx="4828032" cy="926592"/>
          </a:xfrm>
        </p:grpSpPr>
        <p:sp>
          <p:nvSpPr>
            <p:cNvPr name="Freeform 27" id="27"/>
            <p:cNvSpPr/>
            <p:nvPr/>
          </p:nvSpPr>
          <p:spPr>
            <a:xfrm flipH="false" flipV="false" rot="0">
              <a:off x="0" y="0"/>
              <a:ext cx="4828032" cy="926592"/>
            </a:xfrm>
            <a:custGeom>
              <a:avLst/>
              <a:gdLst/>
              <a:ahLst/>
              <a:cxnLst/>
              <a:rect r="r" b="b" t="t" l="l"/>
              <a:pathLst>
                <a:path h="926592" w="4828032">
                  <a:moveTo>
                    <a:pt x="0" y="0"/>
                  </a:moveTo>
                  <a:lnTo>
                    <a:pt x="4828032" y="0"/>
                  </a:lnTo>
                  <a:lnTo>
                    <a:pt x="4828032" y="926592"/>
                  </a:lnTo>
                  <a:lnTo>
                    <a:pt x="0" y="926592"/>
                  </a:lnTo>
                  <a:close/>
                </a:path>
              </a:pathLst>
            </a:custGeom>
            <a:blipFill>
              <a:blip r:embed="rId3">
                <a:alphaModFix amt="0"/>
              </a:blip>
              <a:stretch>
                <a:fillRect l="0" t="-51527" r="0" b="-51527"/>
              </a:stretch>
            </a:blipFill>
          </p:spPr>
        </p:sp>
        <p:sp>
          <p:nvSpPr>
            <p:cNvPr name="TextBox 28" id="28"/>
            <p:cNvSpPr txBox="true"/>
            <p:nvPr/>
          </p:nvSpPr>
          <p:spPr>
            <a:xfrm>
              <a:off x="0" y="-38100"/>
              <a:ext cx="4828032" cy="964692"/>
            </a:xfrm>
            <a:prstGeom prst="rect">
              <a:avLst/>
            </a:prstGeom>
          </p:spPr>
          <p:txBody>
            <a:bodyPr anchor="ctr" rtlCol="false" tIns="0" lIns="0" bIns="0" rIns="0"/>
            <a:lstStyle/>
            <a:p>
              <a:pPr algn="l">
                <a:lnSpc>
                  <a:spcPts val="2400"/>
                </a:lnSpc>
              </a:pPr>
              <a:r>
                <a:rPr lang="en-US" sz="2000" b="true">
                  <a:solidFill>
                    <a:srgbClr val="10B981"/>
                  </a:solidFill>
                  <a:latin typeface="Calibri (MS) Bold"/>
                  <a:ea typeface="Calibri (MS) Bold"/>
                  <a:cs typeface="Calibri (MS) Bold"/>
                  <a:sym typeface="Calibri (MS) Bold"/>
                </a:rPr>
                <a:t>Reduced healthcare costs</a:t>
              </a:r>
            </a:p>
          </p:txBody>
        </p:sp>
      </p:grpSp>
      <p:grpSp>
        <p:nvGrpSpPr>
          <p:cNvPr name="Group 29" id="29"/>
          <p:cNvGrpSpPr/>
          <p:nvPr/>
        </p:nvGrpSpPr>
        <p:grpSpPr>
          <a:xfrm rot="0">
            <a:off x="5084064" y="2395728"/>
            <a:ext cx="3621024" cy="2596896"/>
            <a:chOff x="0" y="0"/>
            <a:chExt cx="4828032" cy="3462528"/>
          </a:xfrm>
        </p:grpSpPr>
        <p:sp>
          <p:nvSpPr>
            <p:cNvPr name="Freeform 30" id="30"/>
            <p:cNvSpPr/>
            <p:nvPr/>
          </p:nvSpPr>
          <p:spPr>
            <a:xfrm flipH="false" flipV="false" rot="0">
              <a:off x="0" y="0"/>
              <a:ext cx="4828032" cy="3462528"/>
            </a:xfrm>
            <a:custGeom>
              <a:avLst/>
              <a:gdLst/>
              <a:ahLst/>
              <a:cxnLst/>
              <a:rect r="r" b="b" t="t" l="l"/>
              <a:pathLst>
                <a:path h="3462528" w="4828032">
                  <a:moveTo>
                    <a:pt x="0" y="0"/>
                  </a:moveTo>
                  <a:lnTo>
                    <a:pt x="4828032" y="0"/>
                  </a:lnTo>
                  <a:lnTo>
                    <a:pt x="4828032" y="3462528"/>
                  </a:lnTo>
                  <a:lnTo>
                    <a:pt x="0" y="3462528"/>
                  </a:lnTo>
                  <a:close/>
                </a:path>
              </a:pathLst>
            </a:custGeom>
            <a:blipFill>
              <a:blip r:embed="rId3">
                <a:alphaModFix amt="0"/>
              </a:blip>
              <a:stretch>
                <a:fillRect l="-42015" t="0" r="-42015" b="0"/>
              </a:stretch>
            </a:blipFill>
          </p:spPr>
        </p:sp>
        <p:sp>
          <p:nvSpPr>
            <p:cNvPr name="TextBox 31" id="31"/>
            <p:cNvSpPr txBox="true"/>
            <p:nvPr/>
          </p:nvSpPr>
          <p:spPr>
            <a:xfrm>
              <a:off x="0" y="-38100"/>
              <a:ext cx="4828032" cy="3500628"/>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Prevention is far cheaper than treatment. Every avoided hospitalisation directly reduces the financial burden on patients and health systems.</a:t>
              </a:r>
            </a:p>
          </p:txBody>
        </p:sp>
      </p:grpSp>
      <p:grpSp>
        <p:nvGrpSpPr>
          <p:cNvPr name="Group 32" id="32"/>
          <p:cNvGrpSpPr/>
          <p:nvPr/>
        </p:nvGrpSpPr>
        <p:grpSpPr>
          <a:xfrm rot="0">
            <a:off x="9247375" y="1365247"/>
            <a:ext cx="3999481" cy="3889753"/>
            <a:chOff x="0" y="0"/>
            <a:chExt cx="5332641" cy="5186337"/>
          </a:xfrm>
        </p:grpSpPr>
        <p:sp>
          <p:nvSpPr>
            <p:cNvPr name="Freeform 33" id="33"/>
            <p:cNvSpPr/>
            <p:nvPr/>
          </p:nvSpPr>
          <p:spPr>
            <a:xfrm flipH="false" flipV="false" rot="0">
              <a:off x="8509" y="8509"/>
              <a:ext cx="5315712" cy="5169408"/>
            </a:xfrm>
            <a:custGeom>
              <a:avLst/>
              <a:gdLst/>
              <a:ahLst/>
              <a:cxnLst/>
              <a:rect r="r" b="b" t="t" l="l"/>
              <a:pathLst>
                <a:path h="5169408" w="5315712">
                  <a:moveTo>
                    <a:pt x="0" y="0"/>
                  </a:moveTo>
                  <a:lnTo>
                    <a:pt x="5315712" y="0"/>
                  </a:lnTo>
                  <a:lnTo>
                    <a:pt x="5315712" y="5169408"/>
                  </a:lnTo>
                  <a:lnTo>
                    <a:pt x="0" y="5169408"/>
                  </a:lnTo>
                  <a:close/>
                </a:path>
              </a:pathLst>
            </a:custGeom>
            <a:solidFill>
              <a:srgbClr val="0D1F38"/>
            </a:solidFill>
          </p:spPr>
        </p:sp>
        <p:sp>
          <p:nvSpPr>
            <p:cNvPr name="Freeform 34" id="34"/>
            <p:cNvSpPr/>
            <p:nvPr/>
          </p:nvSpPr>
          <p:spPr>
            <a:xfrm flipH="false" flipV="false" rot="0">
              <a:off x="0" y="0"/>
              <a:ext cx="5332730" cy="5186426"/>
            </a:xfrm>
            <a:custGeom>
              <a:avLst/>
              <a:gdLst/>
              <a:ahLst/>
              <a:cxnLst/>
              <a:rect r="r" b="b" t="t" l="l"/>
              <a:pathLst>
                <a:path h="5186426" w="5332730">
                  <a:moveTo>
                    <a:pt x="8509" y="0"/>
                  </a:moveTo>
                  <a:lnTo>
                    <a:pt x="5324221" y="0"/>
                  </a:lnTo>
                  <a:cubicBezTo>
                    <a:pt x="5328920" y="0"/>
                    <a:pt x="5332730" y="3810"/>
                    <a:pt x="5332730" y="8509"/>
                  </a:cubicBezTo>
                  <a:lnTo>
                    <a:pt x="5332730" y="5177917"/>
                  </a:lnTo>
                  <a:cubicBezTo>
                    <a:pt x="5332730" y="5182616"/>
                    <a:pt x="5328920" y="5186426"/>
                    <a:pt x="5324221" y="5186426"/>
                  </a:cubicBezTo>
                  <a:lnTo>
                    <a:pt x="8509" y="5186426"/>
                  </a:lnTo>
                  <a:cubicBezTo>
                    <a:pt x="3810" y="5186426"/>
                    <a:pt x="0" y="5182616"/>
                    <a:pt x="0" y="5177917"/>
                  </a:cubicBezTo>
                  <a:lnTo>
                    <a:pt x="0" y="8509"/>
                  </a:lnTo>
                  <a:cubicBezTo>
                    <a:pt x="0" y="3810"/>
                    <a:pt x="3810" y="0"/>
                    <a:pt x="8509" y="0"/>
                  </a:cubicBezTo>
                  <a:moveTo>
                    <a:pt x="8509" y="16891"/>
                  </a:moveTo>
                  <a:lnTo>
                    <a:pt x="8509" y="8509"/>
                  </a:lnTo>
                  <a:lnTo>
                    <a:pt x="17018" y="8509"/>
                  </a:lnTo>
                  <a:lnTo>
                    <a:pt x="17018" y="5177917"/>
                  </a:lnTo>
                  <a:lnTo>
                    <a:pt x="8509" y="5177917"/>
                  </a:lnTo>
                  <a:lnTo>
                    <a:pt x="8509" y="5169408"/>
                  </a:lnTo>
                  <a:lnTo>
                    <a:pt x="5324221" y="5169408"/>
                  </a:lnTo>
                  <a:lnTo>
                    <a:pt x="5324221" y="5177917"/>
                  </a:lnTo>
                  <a:lnTo>
                    <a:pt x="5315712" y="5177917"/>
                  </a:lnTo>
                  <a:lnTo>
                    <a:pt x="5315712" y="8509"/>
                  </a:lnTo>
                  <a:lnTo>
                    <a:pt x="5324221" y="8509"/>
                  </a:lnTo>
                  <a:lnTo>
                    <a:pt x="5324221" y="17018"/>
                  </a:lnTo>
                  <a:lnTo>
                    <a:pt x="8509" y="17018"/>
                  </a:lnTo>
                  <a:close/>
                </a:path>
              </a:pathLst>
            </a:custGeom>
            <a:solidFill>
              <a:srgbClr val="8B5CF6"/>
            </a:solidFill>
          </p:spPr>
        </p:sp>
      </p:grpSp>
      <p:grpSp>
        <p:nvGrpSpPr>
          <p:cNvPr name="Group 35" id="35"/>
          <p:cNvGrpSpPr/>
          <p:nvPr/>
        </p:nvGrpSpPr>
        <p:grpSpPr>
          <a:xfrm rot="0">
            <a:off x="9241031" y="1358903"/>
            <a:ext cx="4012187" cy="171707"/>
            <a:chOff x="0" y="0"/>
            <a:chExt cx="5349583" cy="228943"/>
          </a:xfrm>
        </p:grpSpPr>
        <p:sp>
          <p:nvSpPr>
            <p:cNvPr name="Freeform 36" id="36"/>
            <p:cNvSpPr/>
            <p:nvPr/>
          </p:nvSpPr>
          <p:spPr>
            <a:xfrm flipH="false" flipV="false" rot="0">
              <a:off x="16891" y="16891"/>
              <a:ext cx="5315712" cy="195072"/>
            </a:xfrm>
            <a:custGeom>
              <a:avLst/>
              <a:gdLst/>
              <a:ahLst/>
              <a:cxnLst/>
              <a:rect r="r" b="b" t="t" l="l"/>
              <a:pathLst>
                <a:path h="195072" w="5315712">
                  <a:moveTo>
                    <a:pt x="0" y="0"/>
                  </a:moveTo>
                  <a:lnTo>
                    <a:pt x="5315712" y="0"/>
                  </a:lnTo>
                  <a:lnTo>
                    <a:pt x="5315712" y="195072"/>
                  </a:lnTo>
                  <a:lnTo>
                    <a:pt x="0" y="195072"/>
                  </a:lnTo>
                  <a:close/>
                </a:path>
              </a:pathLst>
            </a:custGeom>
            <a:solidFill>
              <a:srgbClr val="8B5CF6"/>
            </a:solidFill>
          </p:spPr>
        </p:sp>
        <p:sp>
          <p:nvSpPr>
            <p:cNvPr name="Freeform 37" id="37"/>
            <p:cNvSpPr/>
            <p:nvPr/>
          </p:nvSpPr>
          <p:spPr>
            <a:xfrm flipH="false" flipV="false" rot="0">
              <a:off x="0" y="0"/>
              <a:ext cx="5349494" cy="228856"/>
            </a:xfrm>
            <a:custGeom>
              <a:avLst/>
              <a:gdLst/>
              <a:ahLst/>
              <a:cxnLst/>
              <a:rect r="r" b="b" t="t" l="l"/>
              <a:pathLst>
                <a:path h="228856" w="5349494">
                  <a:moveTo>
                    <a:pt x="16891" y="0"/>
                  </a:moveTo>
                  <a:lnTo>
                    <a:pt x="5332603" y="0"/>
                  </a:lnTo>
                  <a:cubicBezTo>
                    <a:pt x="5342001" y="0"/>
                    <a:pt x="5349494" y="7620"/>
                    <a:pt x="5349494" y="16891"/>
                  </a:cubicBezTo>
                  <a:lnTo>
                    <a:pt x="5349494" y="211963"/>
                  </a:lnTo>
                  <a:cubicBezTo>
                    <a:pt x="5349494" y="221361"/>
                    <a:pt x="5341874" y="228854"/>
                    <a:pt x="533260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5332603" y="195072"/>
                  </a:lnTo>
                  <a:lnTo>
                    <a:pt x="5332603" y="211963"/>
                  </a:lnTo>
                  <a:lnTo>
                    <a:pt x="5315712" y="211963"/>
                  </a:lnTo>
                  <a:lnTo>
                    <a:pt x="5315712" y="16891"/>
                  </a:lnTo>
                  <a:lnTo>
                    <a:pt x="5332603" y="16891"/>
                  </a:lnTo>
                  <a:lnTo>
                    <a:pt x="5332603" y="33909"/>
                  </a:lnTo>
                  <a:lnTo>
                    <a:pt x="16891" y="33909"/>
                  </a:lnTo>
                  <a:close/>
                </a:path>
              </a:pathLst>
            </a:custGeom>
            <a:solidFill>
              <a:srgbClr val="8B5CF6"/>
            </a:solidFill>
          </p:spPr>
        </p:sp>
      </p:grpSp>
      <p:grpSp>
        <p:nvGrpSpPr>
          <p:cNvPr name="Group 38" id="38"/>
          <p:cNvGrpSpPr/>
          <p:nvPr/>
        </p:nvGrpSpPr>
        <p:grpSpPr>
          <a:xfrm rot="0">
            <a:off x="9436608" y="1627632"/>
            <a:ext cx="3621024" cy="694944"/>
            <a:chOff x="0" y="0"/>
            <a:chExt cx="4828032" cy="926592"/>
          </a:xfrm>
        </p:grpSpPr>
        <p:sp>
          <p:nvSpPr>
            <p:cNvPr name="Freeform 39" id="39"/>
            <p:cNvSpPr/>
            <p:nvPr/>
          </p:nvSpPr>
          <p:spPr>
            <a:xfrm flipH="false" flipV="false" rot="0">
              <a:off x="0" y="0"/>
              <a:ext cx="4828032" cy="926592"/>
            </a:xfrm>
            <a:custGeom>
              <a:avLst/>
              <a:gdLst/>
              <a:ahLst/>
              <a:cxnLst/>
              <a:rect r="r" b="b" t="t" l="l"/>
              <a:pathLst>
                <a:path h="926592" w="4828032">
                  <a:moveTo>
                    <a:pt x="0" y="0"/>
                  </a:moveTo>
                  <a:lnTo>
                    <a:pt x="4828032" y="0"/>
                  </a:lnTo>
                  <a:lnTo>
                    <a:pt x="4828032" y="926592"/>
                  </a:lnTo>
                  <a:lnTo>
                    <a:pt x="0" y="926592"/>
                  </a:lnTo>
                  <a:close/>
                </a:path>
              </a:pathLst>
            </a:custGeom>
            <a:blipFill>
              <a:blip r:embed="rId3">
                <a:alphaModFix amt="0"/>
              </a:blip>
              <a:stretch>
                <a:fillRect l="0" t="-51527" r="0" b="-51527"/>
              </a:stretch>
            </a:blipFill>
          </p:spPr>
        </p:sp>
        <p:sp>
          <p:nvSpPr>
            <p:cNvPr name="TextBox 40" id="40"/>
            <p:cNvSpPr txBox="true"/>
            <p:nvPr/>
          </p:nvSpPr>
          <p:spPr>
            <a:xfrm>
              <a:off x="0" y="-38100"/>
              <a:ext cx="4828032" cy="964692"/>
            </a:xfrm>
            <a:prstGeom prst="rect">
              <a:avLst/>
            </a:prstGeom>
          </p:spPr>
          <p:txBody>
            <a:bodyPr anchor="ctr" rtlCol="false" tIns="0" lIns="0" bIns="0" rIns="0"/>
            <a:lstStyle/>
            <a:p>
              <a:pPr algn="l">
                <a:lnSpc>
                  <a:spcPts val="2400"/>
                </a:lnSpc>
              </a:pPr>
              <a:r>
                <a:rPr lang="en-US" sz="2000" b="true">
                  <a:solidFill>
                    <a:srgbClr val="8B5CF6"/>
                  </a:solidFill>
                  <a:latin typeface="Calibri (MS) Bold"/>
                  <a:ea typeface="Calibri (MS) Bold"/>
                  <a:cs typeface="Calibri (MS) Bold"/>
                  <a:sym typeface="Calibri (MS) Bold"/>
                </a:rPr>
                <a:t>Personalised medicine</a:t>
              </a:r>
            </a:p>
          </p:txBody>
        </p:sp>
      </p:grpSp>
      <p:grpSp>
        <p:nvGrpSpPr>
          <p:cNvPr name="Group 41" id="41"/>
          <p:cNvGrpSpPr/>
          <p:nvPr/>
        </p:nvGrpSpPr>
        <p:grpSpPr>
          <a:xfrm rot="0">
            <a:off x="9436608" y="2395728"/>
            <a:ext cx="3621024" cy="2596896"/>
            <a:chOff x="0" y="0"/>
            <a:chExt cx="4828032" cy="3462528"/>
          </a:xfrm>
        </p:grpSpPr>
        <p:sp>
          <p:nvSpPr>
            <p:cNvPr name="Freeform 42" id="42"/>
            <p:cNvSpPr/>
            <p:nvPr/>
          </p:nvSpPr>
          <p:spPr>
            <a:xfrm flipH="false" flipV="false" rot="0">
              <a:off x="0" y="0"/>
              <a:ext cx="4828032" cy="3462528"/>
            </a:xfrm>
            <a:custGeom>
              <a:avLst/>
              <a:gdLst/>
              <a:ahLst/>
              <a:cxnLst/>
              <a:rect r="r" b="b" t="t" l="l"/>
              <a:pathLst>
                <a:path h="3462528" w="4828032">
                  <a:moveTo>
                    <a:pt x="0" y="0"/>
                  </a:moveTo>
                  <a:lnTo>
                    <a:pt x="4828032" y="0"/>
                  </a:lnTo>
                  <a:lnTo>
                    <a:pt x="4828032" y="3462528"/>
                  </a:lnTo>
                  <a:lnTo>
                    <a:pt x="0" y="3462528"/>
                  </a:lnTo>
                  <a:close/>
                </a:path>
              </a:pathLst>
            </a:custGeom>
            <a:blipFill>
              <a:blip r:embed="rId3">
                <a:alphaModFix amt="0"/>
              </a:blip>
              <a:stretch>
                <a:fillRect l="-42015" t="0" r="-42015" b="0"/>
              </a:stretch>
            </a:blipFill>
          </p:spPr>
        </p:sp>
        <p:sp>
          <p:nvSpPr>
            <p:cNvPr name="TextBox 43" id="43"/>
            <p:cNvSpPr txBox="true"/>
            <p:nvPr/>
          </p:nvSpPr>
          <p:spPr>
            <a:xfrm>
              <a:off x="0" y="-38100"/>
              <a:ext cx="4828032" cy="3500628"/>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Each patient receives unique predictions based on their own specific medical history — not generalised population averages.</a:t>
              </a:r>
            </a:p>
          </p:txBody>
        </p:sp>
      </p:grpSp>
      <p:grpSp>
        <p:nvGrpSpPr>
          <p:cNvPr name="Group 44" id="44"/>
          <p:cNvGrpSpPr/>
          <p:nvPr/>
        </p:nvGrpSpPr>
        <p:grpSpPr>
          <a:xfrm rot="0">
            <a:off x="13599919" y="1365247"/>
            <a:ext cx="3999481" cy="3889753"/>
            <a:chOff x="0" y="0"/>
            <a:chExt cx="5332641" cy="5186337"/>
          </a:xfrm>
        </p:grpSpPr>
        <p:sp>
          <p:nvSpPr>
            <p:cNvPr name="Freeform 45" id="45"/>
            <p:cNvSpPr/>
            <p:nvPr/>
          </p:nvSpPr>
          <p:spPr>
            <a:xfrm flipH="false" flipV="false" rot="0">
              <a:off x="8509" y="8509"/>
              <a:ext cx="5315712" cy="5169408"/>
            </a:xfrm>
            <a:custGeom>
              <a:avLst/>
              <a:gdLst/>
              <a:ahLst/>
              <a:cxnLst/>
              <a:rect r="r" b="b" t="t" l="l"/>
              <a:pathLst>
                <a:path h="5169408" w="5315712">
                  <a:moveTo>
                    <a:pt x="0" y="0"/>
                  </a:moveTo>
                  <a:lnTo>
                    <a:pt x="5315712" y="0"/>
                  </a:lnTo>
                  <a:lnTo>
                    <a:pt x="5315712" y="5169408"/>
                  </a:lnTo>
                  <a:lnTo>
                    <a:pt x="0" y="5169408"/>
                  </a:lnTo>
                  <a:close/>
                </a:path>
              </a:pathLst>
            </a:custGeom>
            <a:solidFill>
              <a:srgbClr val="0D1F38"/>
            </a:solidFill>
          </p:spPr>
        </p:sp>
        <p:sp>
          <p:nvSpPr>
            <p:cNvPr name="Freeform 46" id="46"/>
            <p:cNvSpPr/>
            <p:nvPr/>
          </p:nvSpPr>
          <p:spPr>
            <a:xfrm flipH="false" flipV="false" rot="0">
              <a:off x="0" y="0"/>
              <a:ext cx="5332730" cy="5186426"/>
            </a:xfrm>
            <a:custGeom>
              <a:avLst/>
              <a:gdLst/>
              <a:ahLst/>
              <a:cxnLst/>
              <a:rect r="r" b="b" t="t" l="l"/>
              <a:pathLst>
                <a:path h="5186426" w="5332730">
                  <a:moveTo>
                    <a:pt x="8509" y="0"/>
                  </a:moveTo>
                  <a:lnTo>
                    <a:pt x="5324221" y="0"/>
                  </a:lnTo>
                  <a:cubicBezTo>
                    <a:pt x="5328920" y="0"/>
                    <a:pt x="5332730" y="3810"/>
                    <a:pt x="5332730" y="8509"/>
                  </a:cubicBezTo>
                  <a:lnTo>
                    <a:pt x="5332730" y="5177917"/>
                  </a:lnTo>
                  <a:cubicBezTo>
                    <a:pt x="5332730" y="5182616"/>
                    <a:pt x="5328920" y="5186426"/>
                    <a:pt x="5324221" y="5186426"/>
                  </a:cubicBezTo>
                  <a:lnTo>
                    <a:pt x="8509" y="5186426"/>
                  </a:lnTo>
                  <a:cubicBezTo>
                    <a:pt x="3810" y="5186426"/>
                    <a:pt x="0" y="5182616"/>
                    <a:pt x="0" y="5177917"/>
                  </a:cubicBezTo>
                  <a:lnTo>
                    <a:pt x="0" y="8509"/>
                  </a:lnTo>
                  <a:cubicBezTo>
                    <a:pt x="0" y="3810"/>
                    <a:pt x="3810" y="0"/>
                    <a:pt x="8509" y="0"/>
                  </a:cubicBezTo>
                  <a:moveTo>
                    <a:pt x="8509" y="16891"/>
                  </a:moveTo>
                  <a:lnTo>
                    <a:pt x="8509" y="8509"/>
                  </a:lnTo>
                  <a:lnTo>
                    <a:pt x="17018" y="8509"/>
                  </a:lnTo>
                  <a:lnTo>
                    <a:pt x="17018" y="5177917"/>
                  </a:lnTo>
                  <a:lnTo>
                    <a:pt x="8509" y="5177917"/>
                  </a:lnTo>
                  <a:lnTo>
                    <a:pt x="8509" y="5169408"/>
                  </a:lnTo>
                  <a:lnTo>
                    <a:pt x="5324221" y="5169408"/>
                  </a:lnTo>
                  <a:lnTo>
                    <a:pt x="5324221" y="5177917"/>
                  </a:lnTo>
                  <a:lnTo>
                    <a:pt x="5315712" y="5177917"/>
                  </a:lnTo>
                  <a:lnTo>
                    <a:pt x="5315712" y="8509"/>
                  </a:lnTo>
                  <a:lnTo>
                    <a:pt x="5324221" y="8509"/>
                  </a:lnTo>
                  <a:lnTo>
                    <a:pt x="5324221" y="17018"/>
                  </a:lnTo>
                  <a:lnTo>
                    <a:pt x="8509" y="17018"/>
                  </a:lnTo>
                  <a:close/>
                </a:path>
              </a:pathLst>
            </a:custGeom>
            <a:solidFill>
              <a:srgbClr val="F59E0B"/>
            </a:solidFill>
          </p:spPr>
        </p:sp>
      </p:grpSp>
      <p:grpSp>
        <p:nvGrpSpPr>
          <p:cNvPr name="Group 47" id="47"/>
          <p:cNvGrpSpPr/>
          <p:nvPr/>
        </p:nvGrpSpPr>
        <p:grpSpPr>
          <a:xfrm rot="0">
            <a:off x="13593575" y="1358903"/>
            <a:ext cx="4012187" cy="171707"/>
            <a:chOff x="0" y="0"/>
            <a:chExt cx="5349583" cy="228943"/>
          </a:xfrm>
        </p:grpSpPr>
        <p:sp>
          <p:nvSpPr>
            <p:cNvPr name="Freeform 48" id="48"/>
            <p:cNvSpPr/>
            <p:nvPr/>
          </p:nvSpPr>
          <p:spPr>
            <a:xfrm flipH="false" flipV="false" rot="0">
              <a:off x="16891" y="16891"/>
              <a:ext cx="5315712" cy="195072"/>
            </a:xfrm>
            <a:custGeom>
              <a:avLst/>
              <a:gdLst/>
              <a:ahLst/>
              <a:cxnLst/>
              <a:rect r="r" b="b" t="t" l="l"/>
              <a:pathLst>
                <a:path h="195072" w="5315712">
                  <a:moveTo>
                    <a:pt x="0" y="0"/>
                  </a:moveTo>
                  <a:lnTo>
                    <a:pt x="5315712" y="0"/>
                  </a:lnTo>
                  <a:lnTo>
                    <a:pt x="5315712" y="195072"/>
                  </a:lnTo>
                  <a:lnTo>
                    <a:pt x="0" y="195072"/>
                  </a:lnTo>
                  <a:close/>
                </a:path>
              </a:pathLst>
            </a:custGeom>
            <a:solidFill>
              <a:srgbClr val="F59E0B"/>
            </a:solidFill>
          </p:spPr>
        </p:sp>
        <p:sp>
          <p:nvSpPr>
            <p:cNvPr name="Freeform 49" id="49"/>
            <p:cNvSpPr/>
            <p:nvPr/>
          </p:nvSpPr>
          <p:spPr>
            <a:xfrm flipH="false" flipV="false" rot="0">
              <a:off x="0" y="0"/>
              <a:ext cx="5349494" cy="228856"/>
            </a:xfrm>
            <a:custGeom>
              <a:avLst/>
              <a:gdLst/>
              <a:ahLst/>
              <a:cxnLst/>
              <a:rect r="r" b="b" t="t" l="l"/>
              <a:pathLst>
                <a:path h="228856" w="5349494">
                  <a:moveTo>
                    <a:pt x="16891" y="0"/>
                  </a:moveTo>
                  <a:lnTo>
                    <a:pt x="5332603" y="0"/>
                  </a:lnTo>
                  <a:cubicBezTo>
                    <a:pt x="5342001" y="0"/>
                    <a:pt x="5349494" y="7620"/>
                    <a:pt x="5349494" y="16891"/>
                  </a:cubicBezTo>
                  <a:lnTo>
                    <a:pt x="5349494" y="211963"/>
                  </a:lnTo>
                  <a:cubicBezTo>
                    <a:pt x="5349494" y="221361"/>
                    <a:pt x="5341874" y="228854"/>
                    <a:pt x="533260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5332603" y="195072"/>
                  </a:lnTo>
                  <a:lnTo>
                    <a:pt x="5332603" y="211963"/>
                  </a:lnTo>
                  <a:lnTo>
                    <a:pt x="5315712" y="211963"/>
                  </a:lnTo>
                  <a:lnTo>
                    <a:pt x="5315712" y="16891"/>
                  </a:lnTo>
                  <a:lnTo>
                    <a:pt x="5332603" y="16891"/>
                  </a:lnTo>
                  <a:lnTo>
                    <a:pt x="5332603" y="33909"/>
                  </a:lnTo>
                  <a:lnTo>
                    <a:pt x="16891" y="33909"/>
                  </a:lnTo>
                  <a:close/>
                </a:path>
              </a:pathLst>
            </a:custGeom>
            <a:solidFill>
              <a:srgbClr val="F59E0B"/>
            </a:solidFill>
          </p:spPr>
        </p:sp>
      </p:grpSp>
      <p:grpSp>
        <p:nvGrpSpPr>
          <p:cNvPr name="Group 50" id="50"/>
          <p:cNvGrpSpPr/>
          <p:nvPr/>
        </p:nvGrpSpPr>
        <p:grpSpPr>
          <a:xfrm rot="0">
            <a:off x="13789152" y="1627632"/>
            <a:ext cx="3621024" cy="694944"/>
            <a:chOff x="0" y="0"/>
            <a:chExt cx="4828032" cy="926592"/>
          </a:xfrm>
        </p:grpSpPr>
        <p:sp>
          <p:nvSpPr>
            <p:cNvPr name="Freeform 51" id="51"/>
            <p:cNvSpPr/>
            <p:nvPr/>
          </p:nvSpPr>
          <p:spPr>
            <a:xfrm flipH="false" flipV="false" rot="0">
              <a:off x="0" y="0"/>
              <a:ext cx="4828032" cy="926592"/>
            </a:xfrm>
            <a:custGeom>
              <a:avLst/>
              <a:gdLst/>
              <a:ahLst/>
              <a:cxnLst/>
              <a:rect r="r" b="b" t="t" l="l"/>
              <a:pathLst>
                <a:path h="926592" w="4828032">
                  <a:moveTo>
                    <a:pt x="0" y="0"/>
                  </a:moveTo>
                  <a:lnTo>
                    <a:pt x="4828032" y="0"/>
                  </a:lnTo>
                  <a:lnTo>
                    <a:pt x="4828032" y="926592"/>
                  </a:lnTo>
                  <a:lnTo>
                    <a:pt x="0" y="926592"/>
                  </a:lnTo>
                  <a:close/>
                </a:path>
              </a:pathLst>
            </a:custGeom>
            <a:blipFill>
              <a:blip r:embed="rId3">
                <a:alphaModFix amt="0"/>
              </a:blip>
              <a:stretch>
                <a:fillRect l="0" t="-51527" r="0" b="-51527"/>
              </a:stretch>
            </a:blipFill>
          </p:spPr>
        </p:sp>
        <p:sp>
          <p:nvSpPr>
            <p:cNvPr name="TextBox 52" id="52"/>
            <p:cNvSpPr txBox="true"/>
            <p:nvPr/>
          </p:nvSpPr>
          <p:spPr>
            <a:xfrm>
              <a:off x="0" y="-38100"/>
              <a:ext cx="4828032" cy="964692"/>
            </a:xfrm>
            <a:prstGeom prst="rect">
              <a:avLst/>
            </a:prstGeom>
          </p:spPr>
          <p:txBody>
            <a:bodyPr anchor="ctr" rtlCol="false" tIns="0" lIns="0" bIns="0" rIns="0"/>
            <a:lstStyle/>
            <a:p>
              <a:pPr algn="l">
                <a:lnSpc>
                  <a:spcPts val="2400"/>
                </a:lnSpc>
              </a:pPr>
              <a:r>
                <a:rPr lang="en-US" sz="2000" b="true">
                  <a:solidFill>
                    <a:srgbClr val="F59E0B"/>
                  </a:solidFill>
                  <a:latin typeface="Calibri (MS) Bold"/>
                  <a:ea typeface="Calibri (MS) Bold"/>
                  <a:cs typeface="Calibri (MS) Bold"/>
                  <a:sym typeface="Calibri (MS) Bold"/>
                </a:rPr>
                <a:t>Data-driven decisions</a:t>
              </a:r>
            </a:p>
          </p:txBody>
        </p:sp>
      </p:grpSp>
      <p:grpSp>
        <p:nvGrpSpPr>
          <p:cNvPr name="Group 53" id="53"/>
          <p:cNvGrpSpPr/>
          <p:nvPr/>
        </p:nvGrpSpPr>
        <p:grpSpPr>
          <a:xfrm rot="0">
            <a:off x="13789152" y="2395728"/>
            <a:ext cx="3621024" cy="2596896"/>
            <a:chOff x="0" y="0"/>
            <a:chExt cx="4828032" cy="3462528"/>
          </a:xfrm>
        </p:grpSpPr>
        <p:sp>
          <p:nvSpPr>
            <p:cNvPr name="Freeform 54" id="54"/>
            <p:cNvSpPr/>
            <p:nvPr/>
          </p:nvSpPr>
          <p:spPr>
            <a:xfrm flipH="false" flipV="false" rot="0">
              <a:off x="0" y="0"/>
              <a:ext cx="4828032" cy="3462528"/>
            </a:xfrm>
            <a:custGeom>
              <a:avLst/>
              <a:gdLst/>
              <a:ahLst/>
              <a:cxnLst/>
              <a:rect r="r" b="b" t="t" l="l"/>
              <a:pathLst>
                <a:path h="3462528" w="4828032">
                  <a:moveTo>
                    <a:pt x="0" y="0"/>
                  </a:moveTo>
                  <a:lnTo>
                    <a:pt x="4828032" y="0"/>
                  </a:lnTo>
                  <a:lnTo>
                    <a:pt x="4828032" y="3462528"/>
                  </a:lnTo>
                  <a:lnTo>
                    <a:pt x="0" y="3462528"/>
                  </a:lnTo>
                  <a:close/>
                </a:path>
              </a:pathLst>
            </a:custGeom>
            <a:blipFill>
              <a:blip r:embed="rId3">
                <a:alphaModFix amt="0"/>
              </a:blip>
              <a:stretch>
                <a:fillRect l="-42015" t="0" r="-42015" b="0"/>
              </a:stretch>
            </a:blipFill>
          </p:spPr>
        </p:sp>
        <p:sp>
          <p:nvSpPr>
            <p:cNvPr name="TextBox 55" id="55"/>
            <p:cNvSpPr txBox="true"/>
            <p:nvPr/>
          </p:nvSpPr>
          <p:spPr>
            <a:xfrm>
              <a:off x="0" y="-38100"/>
              <a:ext cx="4828032" cy="3500628"/>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Doctors receive evidence-based risk scores backed by pattern analysis across thousands of cases — reducing diagnostic guesswork.</a:t>
              </a:r>
            </a:p>
          </p:txBody>
        </p:sp>
      </p:grpSp>
      <p:grpSp>
        <p:nvGrpSpPr>
          <p:cNvPr name="Group 56" id="56"/>
          <p:cNvGrpSpPr/>
          <p:nvPr/>
        </p:nvGrpSpPr>
        <p:grpSpPr>
          <a:xfrm rot="0">
            <a:off x="542287" y="5571487"/>
            <a:ext cx="3999481" cy="3889753"/>
            <a:chOff x="0" y="0"/>
            <a:chExt cx="5332641" cy="5186337"/>
          </a:xfrm>
        </p:grpSpPr>
        <p:sp>
          <p:nvSpPr>
            <p:cNvPr name="Freeform 57" id="57"/>
            <p:cNvSpPr/>
            <p:nvPr/>
          </p:nvSpPr>
          <p:spPr>
            <a:xfrm flipH="false" flipV="false" rot="0">
              <a:off x="8509" y="8509"/>
              <a:ext cx="5315712" cy="5169408"/>
            </a:xfrm>
            <a:custGeom>
              <a:avLst/>
              <a:gdLst/>
              <a:ahLst/>
              <a:cxnLst/>
              <a:rect r="r" b="b" t="t" l="l"/>
              <a:pathLst>
                <a:path h="5169408" w="5315712">
                  <a:moveTo>
                    <a:pt x="0" y="0"/>
                  </a:moveTo>
                  <a:lnTo>
                    <a:pt x="5315712" y="0"/>
                  </a:lnTo>
                  <a:lnTo>
                    <a:pt x="5315712" y="5169408"/>
                  </a:lnTo>
                  <a:lnTo>
                    <a:pt x="0" y="5169408"/>
                  </a:lnTo>
                  <a:close/>
                </a:path>
              </a:pathLst>
            </a:custGeom>
            <a:solidFill>
              <a:srgbClr val="0D1F38"/>
            </a:solidFill>
          </p:spPr>
        </p:sp>
        <p:sp>
          <p:nvSpPr>
            <p:cNvPr name="Freeform 58" id="58"/>
            <p:cNvSpPr/>
            <p:nvPr/>
          </p:nvSpPr>
          <p:spPr>
            <a:xfrm flipH="false" flipV="false" rot="0">
              <a:off x="0" y="0"/>
              <a:ext cx="5332730" cy="5186426"/>
            </a:xfrm>
            <a:custGeom>
              <a:avLst/>
              <a:gdLst/>
              <a:ahLst/>
              <a:cxnLst/>
              <a:rect r="r" b="b" t="t" l="l"/>
              <a:pathLst>
                <a:path h="5186426" w="5332730">
                  <a:moveTo>
                    <a:pt x="8509" y="0"/>
                  </a:moveTo>
                  <a:lnTo>
                    <a:pt x="5324221" y="0"/>
                  </a:lnTo>
                  <a:cubicBezTo>
                    <a:pt x="5328920" y="0"/>
                    <a:pt x="5332730" y="3810"/>
                    <a:pt x="5332730" y="8509"/>
                  </a:cubicBezTo>
                  <a:lnTo>
                    <a:pt x="5332730" y="5177917"/>
                  </a:lnTo>
                  <a:cubicBezTo>
                    <a:pt x="5332730" y="5182616"/>
                    <a:pt x="5328920" y="5186426"/>
                    <a:pt x="5324221" y="5186426"/>
                  </a:cubicBezTo>
                  <a:lnTo>
                    <a:pt x="8509" y="5186426"/>
                  </a:lnTo>
                  <a:cubicBezTo>
                    <a:pt x="3810" y="5186426"/>
                    <a:pt x="0" y="5182616"/>
                    <a:pt x="0" y="5177917"/>
                  </a:cubicBezTo>
                  <a:lnTo>
                    <a:pt x="0" y="8509"/>
                  </a:lnTo>
                  <a:cubicBezTo>
                    <a:pt x="0" y="3810"/>
                    <a:pt x="3810" y="0"/>
                    <a:pt x="8509" y="0"/>
                  </a:cubicBezTo>
                  <a:moveTo>
                    <a:pt x="8509" y="16891"/>
                  </a:moveTo>
                  <a:lnTo>
                    <a:pt x="8509" y="8509"/>
                  </a:lnTo>
                  <a:lnTo>
                    <a:pt x="17018" y="8509"/>
                  </a:lnTo>
                  <a:lnTo>
                    <a:pt x="17018" y="5177917"/>
                  </a:lnTo>
                  <a:lnTo>
                    <a:pt x="8509" y="5177917"/>
                  </a:lnTo>
                  <a:lnTo>
                    <a:pt x="8509" y="5169408"/>
                  </a:lnTo>
                  <a:lnTo>
                    <a:pt x="5324221" y="5169408"/>
                  </a:lnTo>
                  <a:lnTo>
                    <a:pt x="5324221" y="5177917"/>
                  </a:lnTo>
                  <a:lnTo>
                    <a:pt x="5315712" y="5177917"/>
                  </a:lnTo>
                  <a:lnTo>
                    <a:pt x="5315712" y="8509"/>
                  </a:lnTo>
                  <a:lnTo>
                    <a:pt x="5324221" y="8509"/>
                  </a:lnTo>
                  <a:lnTo>
                    <a:pt x="5324221" y="17018"/>
                  </a:lnTo>
                  <a:lnTo>
                    <a:pt x="8509" y="17018"/>
                  </a:lnTo>
                  <a:close/>
                </a:path>
              </a:pathLst>
            </a:custGeom>
            <a:solidFill>
              <a:srgbClr val="EF4444"/>
            </a:solidFill>
          </p:spPr>
        </p:sp>
      </p:grpSp>
      <p:grpSp>
        <p:nvGrpSpPr>
          <p:cNvPr name="Group 59" id="59"/>
          <p:cNvGrpSpPr/>
          <p:nvPr/>
        </p:nvGrpSpPr>
        <p:grpSpPr>
          <a:xfrm rot="0">
            <a:off x="535943" y="5565143"/>
            <a:ext cx="4012187" cy="171707"/>
            <a:chOff x="0" y="0"/>
            <a:chExt cx="5349583" cy="228943"/>
          </a:xfrm>
        </p:grpSpPr>
        <p:sp>
          <p:nvSpPr>
            <p:cNvPr name="Freeform 60" id="60"/>
            <p:cNvSpPr/>
            <p:nvPr/>
          </p:nvSpPr>
          <p:spPr>
            <a:xfrm flipH="false" flipV="false" rot="0">
              <a:off x="16891" y="16891"/>
              <a:ext cx="5315712" cy="195072"/>
            </a:xfrm>
            <a:custGeom>
              <a:avLst/>
              <a:gdLst/>
              <a:ahLst/>
              <a:cxnLst/>
              <a:rect r="r" b="b" t="t" l="l"/>
              <a:pathLst>
                <a:path h="195072" w="5315712">
                  <a:moveTo>
                    <a:pt x="0" y="0"/>
                  </a:moveTo>
                  <a:lnTo>
                    <a:pt x="5315712" y="0"/>
                  </a:lnTo>
                  <a:lnTo>
                    <a:pt x="5315712" y="195072"/>
                  </a:lnTo>
                  <a:lnTo>
                    <a:pt x="0" y="195072"/>
                  </a:lnTo>
                  <a:close/>
                </a:path>
              </a:pathLst>
            </a:custGeom>
            <a:solidFill>
              <a:srgbClr val="EF4444"/>
            </a:solidFill>
          </p:spPr>
        </p:sp>
        <p:sp>
          <p:nvSpPr>
            <p:cNvPr name="Freeform 61" id="61"/>
            <p:cNvSpPr/>
            <p:nvPr/>
          </p:nvSpPr>
          <p:spPr>
            <a:xfrm flipH="false" flipV="false" rot="0">
              <a:off x="0" y="0"/>
              <a:ext cx="5349494" cy="228856"/>
            </a:xfrm>
            <a:custGeom>
              <a:avLst/>
              <a:gdLst/>
              <a:ahLst/>
              <a:cxnLst/>
              <a:rect r="r" b="b" t="t" l="l"/>
              <a:pathLst>
                <a:path h="228856" w="5349494">
                  <a:moveTo>
                    <a:pt x="16891" y="0"/>
                  </a:moveTo>
                  <a:lnTo>
                    <a:pt x="5332603" y="0"/>
                  </a:lnTo>
                  <a:cubicBezTo>
                    <a:pt x="5342001" y="0"/>
                    <a:pt x="5349494" y="7620"/>
                    <a:pt x="5349494" y="16891"/>
                  </a:cubicBezTo>
                  <a:lnTo>
                    <a:pt x="5349494" y="211963"/>
                  </a:lnTo>
                  <a:cubicBezTo>
                    <a:pt x="5349494" y="221361"/>
                    <a:pt x="5341874" y="228854"/>
                    <a:pt x="533260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5332603" y="195072"/>
                  </a:lnTo>
                  <a:lnTo>
                    <a:pt x="5332603" y="211963"/>
                  </a:lnTo>
                  <a:lnTo>
                    <a:pt x="5315712" y="211963"/>
                  </a:lnTo>
                  <a:lnTo>
                    <a:pt x="5315712" y="16891"/>
                  </a:lnTo>
                  <a:lnTo>
                    <a:pt x="5332603" y="16891"/>
                  </a:lnTo>
                  <a:lnTo>
                    <a:pt x="5332603" y="33909"/>
                  </a:lnTo>
                  <a:lnTo>
                    <a:pt x="16891" y="33909"/>
                  </a:lnTo>
                  <a:close/>
                </a:path>
              </a:pathLst>
            </a:custGeom>
            <a:solidFill>
              <a:srgbClr val="EF4444"/>
            </a:solidFill>
          </p:spPr>
        </p:sp>
      </p:grpSp>
      <p:grpSp>
        <p:nvGrpSpPr>
          <p:cNvPr name="Group 62" id="62"/>
          <p:cNvGrpSpPr/>
          <p:nvPr/>
        </p:nvGrpSpPr>
        <p:grpSpPr>
          <a:xfrm rot="0">
            <a:off x="731520" y="5833872"/>
            <a:ext cx="3621024" cy="694944"/>
            <a:chOff x="0" y="0"/>
            <a:chExt cx="4828032" cy="926592"/>
          </a:xfrm>
        </p:grpSpPr>
        <p:sp>
          <p:nvSpPr>
            <p:cNvPr name="Freeform 63" id="63"/>
            <p:cNvSpPr/>
            <p:nvPr/>
          </p:nvSpPr>
          <p:spPr>
            <a:xfrm flipH="false" flipV="false" rot="0">
              <a:off x="0" y="0"/>
              <a:ext cx="4828032" cy="926592"/>
            </a:xfrm>
            <a:custGeom>
              <a:avLst/>
              <a:gdLst/>
              <a:ahLst/>
              <a:cxnLst/>
              <a:rect r="r" b="b" t="t" l="l"/>
              <a:pathLst>
                <a:path h="926592" w="4828032">
                  <a:moveTo>
                    <a:pt x="0" y="0"/>
                  </a:moveTo>
                  <a:lnTo>
                    <a:pt x="4828032" y="0"/>
                  </a:lnTo>
                  <a:lnTo>
                    <a:pt x="4828032" y="926592"/>
                  </a:lnTo>
                  <a:lnTo>
                    <a:pt x="0" y="926592"/>
                  </a:lnTo>
                  <a:close/>
                </a:path>
              </a:pathLst>
            </a:custGeom>
            <a:blipFill>
              <a:blip r:embed="rId3">
                <a:alphaModFix amt="0"/>
              </a:blip>
              <a:stretch>
                <a:fillRect l="0" t="-51527" r="0" b="-51527"/>
              </a:stretch>
            </a:blipFill>
          </p:spPr>
        </p:sp>
        <p:sp>
          <p:nvSpPr>
            <p:cNvPr name="TextBox 64" id="64"/>
            <p:cNvSpPr txBox="true"/>
            <p:nvPr/>
          </p:nvSpPr>
          <p:spPr>
            <a:xfrm>
              <a:off x="0" y="-38100"/>
              <a:ext cx="4828032" cy="964692"/>
            </a:xfrm>
            <a:prstGeom prst="rect">
              <a:avLst/>
            </a:prstGeom>
          </p:spPr>
          <p:txBody>
            <a:bodyPr anchor="ctr" rtlCol="false" tIns="0" lIns="0" bIns="0" rIns="0"/>
            <a:lstStyle/>
            <a:p>
              <a:pPr algn="l">
                <a:lnSpc>
                  <a:spcPts val="2400"/>
                </a:lnSpc>
              </a:pPr>
              <a:r>
                <a:rPr lang="en-US" sz="2000" b="true">
                  <a:solidFill>
                    <a:srgbClr val="EF4444"/>
                  </a:solidFill>
                  <a:latin typeface="Calibri (MS) Bold"/>
                  <a:ea typeface="Calibri (MS) Bold"/>
                  <a:cs typeface="Calibri (MS) Bold"/>
                  <a:sym typeface="Calibri (MS) Bold"/>
                </a:rPr>
                <a:t>Real-time risk updates</a:t>
              </a:r>
            </a:p>
          </p:txBody>
        </p:sp>
      </p:grpSp>
      <p:grpSp>
        <p:nvGrpSpPr>
          <p:cNvPr name="Group 65" id="65"/>
          <p:cNvGrpSpPr/>
          <p:nvPr/>
        </p:nvGrpSpPr>
        <p:grpSpPr>
          <a:xfrm rot="0">
            <a:off x="731520" y="6601968"/>
            <a:ext cx="3621024" cy="2596896"/>
            <a:chOff x="0" y="0"/>
            <a:chExt cx="4828032" cy="3462528"/>
          </a:xfrm>
        </p:grpSpPr>
        <p:sp>
          <p:nvSpPr>
            <p:cNvPr name="Freeform 66" id="66"/>
            <p:cNvSpPr/>
            <p:nvPr/>
          </p:nvSpPr>
          <p:spPr>
            <a:xfrm flipH="false" flipV="false" rot="0">
              <a:off x="0" y="0"/>
              <a:ext cx="4828032" cy="3462528"/>
            </a:xfrm>
            <a:custGeom>
              <a:avLst/>
              <a:gdLst/>
              <a:ahLst/>
              <a:cxnLst/>
              <a:rect r="r" b="b" t="t" l="l"/>
              <a:pathLst>
                <a:path h="3462528" w="4828032">
                  <a:moveTo>
                    <a:pt x="0" y="0"/>
                  </a:moveTo>
                  <a:lnTo>
                    <a:pt x="4828032" y="0"/>
                  </a:lnTo>
                  <a:lnTo>
                    <a:pt x="4828032" y="3462528"/>
                  </a:lnTo>
                  <a:lnTo>
                    <a:pt x="0" y="3462528"/>
                  </a:lnTo>
                  <a:close/>
                </a:path>
              </a:pathLst>
            </a:custGeom>
            <a:blipFill>
              <a:blip r:embed="rId3">
                <a:alphaModFix amt="0"/>
              </a:blip>
              <a:stretch>
                <a:fillRect l="-42015" t="0" r="-42015" b="0"/>
              </a:stretch>
            </a:blipFill>
          </p:spPr>
        </p:sp>
        <p:sp>
          <p:nvSpPr>
            <p:cNvPr name="TextBox 67" id="67"/>
            <p:cNvSpPr txBox="true"/>
            <p:nvPr/>
          </p:nvSpPr>
          <p:spPr>
            <a:xfrm>
              <a:off x="0" y="-38100"/>
              <a:ext cx="4828032" cy="3500628"/>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Risk scores update continuously as new patient data is added. Every clinical visit makes the prediction more accurate.</a:t>
              </a:r>
            </a:p>
          </p:txBody>
        </p:sp>
      </p:grpSp>
      <p:grpSp>
        <p:nvGrpSpPr>
          <p:cNvPr name="Group 68" id="68"/>
          <p:cNvGrpSpPr/>
          <p:nvPr/>
        </p:nvGrpSpPr>
        <p:grpSpPr>
          <a:xfrm rot="0">
            <a:off x="4894831" y="5571487"/>
            <a:ext cx="3999481" cy="3889753"/>
            <a:chOff x="0" y="0"/>
            <a:chExt cx="5332641" cy="5186337"/>
          </a:xfrm>
        </p:grpSpPr>
        <p:sp>
          <p:nvSpPr>
            <p:cNvPr name="Freeform 69" id="69"/>
            <p:cNvSpPr/>
            <p:nvPr/>
          </p:nvSpPr>
          <p:spPr>
            <a:xfrm flipH="false" flipV="false" rot="0">
              <a:off x="8509" y="8509"/>
              <a:ext cx="5315712" cy="5169408"/>
            </a:xfrm>
            <a:custGeom>
              <a:avLst/>
              <a:gdLst/>
              <a:ahLst/>
              <a:cxnLst/>
              <a:rect r="r" b="b" t="t" l="l"/>
              <a:pathLst>
                <a:path h="5169408" w="5315712">
                  <a:moveTo>
                    <a:pt x="0" y="0"/>
                  </a:moveTo>
                  <a:lnTo>
                    <a:pt x="5315712" y="0"/>
                  </a:lnTo>
                  <a:lnTo>
                    <a:pt x="5315712" y="5169408"/>
                  </a:lnTo>
                  <a:lnTo>
                    <a:pt x="0" y="5169408"/>
                  </a:lnTo>
                  <a:close/>
                </a:path>
              </a:pathLst>
            </a:custGeom>
            <a:solidFill>
              <a:srgbClr val="0D1F38"/>
            </a:solidFill>
          </p:spPr>
        </p:sp>
        <p:sp>
          <p:nvSpPr>
            <p:cNvPr name="Freeform 70" id="70"/>
            <p:cNvSpPr/>
            <p:nvPr/>
          </p:nvSpPr>
          <p:spPr>
            <a:xfrm flipH="false" flipV="false" rot="0">
              <a:off x="0" y="0"/>
              <a:ext cx="5332730" cy="5186426"/>
            </a:xfrm>
            <a:custGeom>
              <a:avLst/>
              <a:gdLst/>
              <a:ahLst/>
              <a:cxnLst/>
              <a:rect r="r" b="b" t="t" l="l"/>
              <a:pathLst>
                <a:path h="5186426" w="5332730">
                  <a:moveTo>
                    <a:pt x="8509" y="0"/>
                  </a:moveTo>
                  <a:lnTo>
                    <a:pt x="5324221" y="0"/>
                  </a:lnTo>
                  <a:cubicBezTo>
                    <a:pt x="5328920" y="0"/>
                    <a:pt x="5332730" y="3810"/>
                    <a:pt x="5332730" y="8509"/>
                  </a:cubicBezTo>
                  <a:lnTo>
                    <a:pt x="5332730" y="5177917"/>
                  </a:lnTo>
                  <a:cubicBezTo>
                    <a:pt x="5332730" y="5182616"/>
                    <a:pt x="5328920" y="5186426"/>
                    <a:pt x="5324221" y="5186426"/>
                  </a:cubicBezTo>
                  <a:lnTo>
                    <a:pt x="8509" y="5186426"/>
                  </a:lnTo>
                  <a:cubicBezTo>
                    <a:pt x="3810" y="5186426"/>
                    <a:pt x="0" y="5182616"/>
                    <a:pt x="0" y="5177917"/>
                  </a:cubicBezTo>
                  <a:lnTo>
                    <a:pt x="0" y="8509"/>
                  </a:lnTo>
                  <a:cubicBezTo>
                    <a:pt x="0" y="3810"/>
                    <a:pt x="3810" y="0"/>
                    <a:pt x="8509" y="0"/>
                  </a:cubicBezTo>
                  <a:moveTo>
                    <a:pt x="8509" y="16891"/>
                  </a:moveTo>
                  <a:lnTo>
                    <a:pt x="8509" y="8509"/>
                  </a:lnTo>
                  <a:lnTo>
                    <a:pt x="17018" y="8509"/>
                  </a:lnTo>
                  <a:lnTo>
                    <a:pt x="17018" y="5177917"/>
                  </a:lnTo>
                  <a:lnTo>
                    <a:pt x="8509" y="5177917"/>
                  </a:lnTo>
                  <a:lnTo>
                    <a:pt x="8509" y="5169408"/>
                  </a:lnTo>
                  <a:lnTo>
                    <a:pt x="5324221" y="5169408"/>
                  </a:lnTo>
                  <a:lnTo>
                    <a:pt x="5324221" y="5177917"/>
                  </a:lnTo>
                  <a:lnTo>
                    <a:pt x="5315712" y="5177917"/>
                  </a:lnTo>
                  <a:lnTo>
                    <a:pt x="5315712" y="8509"/>
                  </a:lnTo>
                  <a:lnTo>
                    <a:pt x="5324221" y="8509"/>
                  </a:lnTo>
                  <a:lnTo>
                    <a:pt x="5324221" y="17018"/>
                  </a:lnTo>
                  <a:lnTo>
                    <a:pt x="8509" y="17018"/>
                  </a:lnTo>
                  <a:close/>
                </a:path>
              </a:pathLst>
            </a:custGeom>
            <a:solidFill>
              <a:srgbClr val="14B8A6"/>
            </a:solidFill>
          </p:spPr>
        </p:sp>
      </p:grpSp>
      <p:grpSp>
        <p:nvGrpSpPr>
          <p:cNvPr name="Group 71" id="71"/>
          <p:cNvGrpSpPr/>
          <p:nvPr/>
        </p:nvGrpSpPr>
        <p:grpSpPr>
          <a:xfrm rot="0">
            <a:off x="4888487" y="5565143"/>
            <a:ext cx="4012187" cy="171707"/>
            <a:chOff x="0" y="0"/>
            <a:chExt cx="5349583" cy="228943"/>
          </a:xfrm>
        </p:grpSpPr>
        <p:sp>
          <p:nvSpPr>
            <p:cNvPr name="Freeform 72" id="72"/>
            <p:cNvSpPr/>
            <p:nvPr/>
          </p:nvSpPr>
          <p:spPr>
            <a:xfrm flipH="false" flipV="false" rot="0">
              <a:off x="16891" y="16891"/>
              <a:ext cx="5315712" cy="195072"/>
            </a:xfrm>
            <a:custGeom>
              <a:avLst/>
              <a:gdLst/>
              <a:ahLst/>
              <a:cxnLst/>
              <a:rect r="r" b="b" t="t" l="l"/>
              <a:pathLst>
                <a:path h="195072" w="5315712">
                  <a:moveTo>
                    <a:pt x="0" y="0"/>
                  </a:moveTo>
                  <a:lnTo>
                    <a:pt x="5315712" y="0"/>
                  </a:lnTo>
                  <a:lnTo>
                    <a:pt x="5315712" y="195072"/>
                  </a:lnTo>
                  <a:lnTo>
                    <a:pt x="0" y="195072"/>
                  </a:lnTo>
                  <a:close/>
                </a:path>
              </a:pathLst>
            </a:custGeom>
            <a:solidFill>
              <a:srgbClr val="14B8A6"/>
            </a:solidFill>
          </p:spPr>
        </p:sp>
        <p:sp>
          <p:nvSpPr>
            <p:cNvPr name="Freeform 73" id="73"/>
            <p:cNvSpPr/>
            <p:nvPr/>
          </p:nvSpPr>
          <p:spPr>
            <a:xfrm flipH="false" flipV="false" rot="0">
              <a:off x="0" y="0"/>
              <a:ext cx="5349494" cy="228856"/>
            </a:xfrm>
            <a:custGeom>
              <a:avLst/>
              <a:gdLst/>
              <a:ahLst/>
              <a:cxnLst/>
              <a:rect r="r" b="b" t="t" l="l"/>
              <a:pathLst>
                <a:path h="228856" w="5349494">
                  <a:moveTo>
                    <a:pt x="16891" y="0"/>
                  </a:moveTo>
                  <a:lnTo>
                    <a:pt x="5332603" y="0"/>
                  </a:lnTo>
                  <a:cubicBezTo>
                    <a:pt x="5342001" y="0"/>
                    <a:pt x="5349494" y="7620"/>
                    <a:pt x="5349494" y="16891"/>
                  </a:cubicBezTo>
                  <a:lnTo>
                    <a:pt x="5349494" y="211963"/>
                  </a:lnTo>
                  <a:cubicBezTo>
                    <a:pt x="5349494" y="221361"/>
                    <a:pt x="5341874" y="228854"/>
                    <a:pt x="533260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5332603" y="195072"/>
                  </a:lnTo>
                  <a:lnTo>
                    <a:pt x="5332603" y="211963"/>
                  </a:lnTo>
                  <a:lnTo>
                    <a:pt x="5315712" y="211963"/>
                  </a:lnTo>
                  <a:lnTo>
                    <a:pt x="5315712" y="16891"/>
                  </a:lnTo>
                  <a:lnTo>
                    <a:pt x="5332603" y="16891"/>
                  </a:lnTo>
                  <a:lnTo>
                    <a:pt x="5332603" y="33909"/>
                  </a:lnTo>
                  <a:lnTo>
                    <a:pt x="16891" y="33909"/>
                  </a:lnTo>
                  <a:close/>
                </a:path>
              </a:pathLst>
            </a:custGeom>
            <a:solidFill>
              <a:srgbClr val="14B8A6"/>
            </a:solidFill>
          </p:spPr>
        </p:sp>
      </p:grpSp>
      <p:grpSp>
        <p:nvGrpSpPr>
          <p:cNvPr name="Group 74" id="74"/>
          <p:cNvGrpSpPr/>
          <p:nvPr/>
        </p:nvGrpSpPr>
        <p:grpSpPr>
          <a:xfrm rot="0">
            <a:off x="5084064" y="5833872"/>
            <a:ext cx="3621024" cy="694944"/>
            <a:chOff x="0" y="0"/>
            <a:chExt cx="4828032" cy="926592"/>
          </a:xfrm>
        </p:grpSpPr>
        <p:sp>
          <p:nvSpPr>
            <p:cNvPr name="Freeform 75" id="75"/>
            <p:cNvSpPr/>
            <p:nvPr/>
          </p:nvSpPr>
          <p:spPr>
            <a:xfrm flipH="false" flipV="false" rot="0">
              <a:off x="0" y="0"/>
              <a:ext cx="4828032" cy="926592"/>
            </a:xfrm>
            <a:custGeom>
              <a:avLst/>
              <a:gdLst/>
              <a:ahLst/>
              <a:cxnLst/>
              <a:rect r="r" b="b" t="t" l="l"/>
              <a:pathLst>
                <a:path h="926592" w="4828032">
                  <a:moveTo>
                    <a:pt x="0" y="0"/>
                  </a:moveTo>
                  <a:lnTo>
                    <a:pt x="4828032" y="0"/>
                  </a:lnTo>
                  <a:lnTo>
                    <a:pt x="4828032" y="926592"/>
                  </a:lnTo>
                  <a:lnTo>
                    <a:pt x="0" y="926592"/>
                  </a:lnTo>
                  <a:close/>
                </a:path>
              </a:pathLst>
            </a:custGeom>
            <a:blipFill>
              <a:blip r:embed="rId3">
                <a:alphaModFix amt="0"/>
              </a:blip>
              <a:stretch>
                <a:fillRect l="0" t="-51527" r="0" b="-51527"/>
              </a:stretch>
            </a:blipFill>
          </p:spPr>
        </p:sp>
        <p:sp>
          <p:nvSpPr>
            <p:cNvPr name="TextBox 76" id="76"/>
            <p:cNvSpPr txBox="true"/>
            <p:nvPr/>
          </p:nvSpPr>
          <p:spPr>
            <a:xfrm>
              <a:off x="0" y="-38100"/>
              <a:ext cx="4828032" cy="964692"/>
            </a:xfrm>
            <a:prstGeom prst="rect">
              <a:avLst/>
            </a:prstGeom>
          </p:spPr>
          <p:txBody>
            <a:bodyPr anchor="ctr" rtlCol="false" tIns="0" lIns="0" bIns="0" rIns="0"/>
            <a:lstStyle/>
            <a:p>
              <a:pPr algn="l">
                <a:lnSpc>
                  <a:spcPts val="2400"/>
                </a:lnSpc>
              </a:pPr>
              <a:r>
                <a:rPr lang="en-US" sz="2000" b="true">
                  <a:solidFill>
                    <a:srgbClr val="14B8A6"/>
                  </a:solidFill>
                  <a:latin typeface="Calibri (MS) Bold"/>
                  <a:ea typeface="Calibri (MS) Bold"/>
                  <a:cs typeface="Calibri (MS) Bold"/>
                  <a:sym typeface="Calibri (MS) Bold"/>
                </a:rPr>
                <a:t>EHR integration ready</a:t>
              </a:r>
            </a:p>
          </p:txBody>
        </p:sp>
      </p:grpSp>
      <p:grpSp>
        <p:nvGrpSpPr>
          <p:cNvPr name="Group 77" id="77"/>
          <p:cNvGrpSpPr/>
          <p:nvPr/>
        </p:nvGrpSpPr>
        <p:grpSpPr>
          <a:xfrm rot="0">
            <a:off x="5084064" y="6601968"/>
            <a:ext cx="3621024" cy="2596896"/>
            <a:chOff x="0" y="0"/>
            <a:chExt cx="4828032" cy="3462528"/>
          </a:xfrm>
        </p:grpSpPr>
        <p:sp>
          <p:nvSpPr>
            <p:cNvPr name="Freeform 78" id="78"/>
            <p:cNvSpPr/>
            <p:nvPr/>
          </p:nvSpPr>
          <p:spPr>
            <a:xfrm flipH="false" flipV="false" rot="0">
              <a:off x="0" y="0"/>
              <a:ext cx="4828032" cy="3462528"/>
            </a:xfrm>
            <a:custGeom>
              <a:avLst/>
              <a:gdLst/>
              <a:ahLst/>
              <a:cxnLst/>
              <a:rect r="r" b="b" t="t" l="l"/>
              <a:pathLst>
                <a:path h="3462528" w="4828032">
                  <a:moveTo>
                    <a:pt x="0" y="0"/>
                  </a:moveTo>
                  <a:lnTo>
                    <a:pt x="4828032" y="0"/>
                  </a:lnTo>
                  <a:lnTo>
                    <a:pt x="4828032" y="3462528"/>
                  </a:lnTo>
                  <a:lnTo>
                    <a:pt x="0" y="3462528"/>
                  </a:lnTo>
                  <a:close/>
                </a:path>
              </a:pathLst>
            </a:custGeom>
            <a:blipFill>
              <a:blip r:embed="rId3">
                <a:alphaModFix amt="0"/>
              </a:blip>
              <a:stretch>
                <a:fillRect l="-42015" t="0" r="-42015" b="0"/>
              </a:stretch>
            </a:blipFill>
          </p:spPr>
        </p:sp>
        <p:sp>
          <p:nvSpPr>
            <p:cNvPr name="TextBox 79" id="79"/>
            <p:cNvSpPr txBox="true"/>
            <p:nvPr/>
          </p:nvSpPr>
          <p:spPr>
            <a:xfrm>
              <a:off x="0" y="-38100"/>
              <a:ext cx="4828032" cy="3500628"/>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Designed to connect with existing hospital information systems with minimal workflow disruption — no need to replace current infrastructure.</a:t>
              </a:r>
            </a:p>
          </p:txBody>
        </p:sp>
      </p:grpSp>
      <p:grpSp>
        <p:nvGrpSpPr>
          <p:cNvPr name="Group 80" id="80"/>
          <p:cNvGrpSpPr/>
          <p:nvPr/>
        </p:nvGrpSpPr>
        <p:grpSpPr>
          <a:xfrm rot="0">
            <a:off x="9247375" y="5571487"/>
            <a:ext cx="3999481" cy="3889753"/>
            <a:chOff x="0" y="0"/>
            <a:chExt cx="5332641" cy="5186337"/>
          </a:xfrm>
        </p:grpSpPr>
        <p:sp>
          <p:nvSpPr>
            <p:cNvPr name="Freeform 81" id="81"/>
            <p:cNvSpPr/>
            <p:nvPr/>
          </p:nvSpPr>
          <p:spPr>
            <a:xfrm flipH="false" flipV="false" rot="0">
              <a:off x="8509" y="8509"/>
              <a:ext cx="5315712" cy="5169408"/>
            </a:xfrm>
            <a:custGeom>
              <a:avLst/>
              <a:gdLst/>
              <a:ahLst/>
              <a:cxnLst/>
              <a:rect r="r" b="b" t="t" l="l"/>
              <a:pathLst>
                <a:path h="5169408" w="5315712">
                  <a:moveTo>
                    <a:pt x="0" y="0"/>
                  </a:moveTo>
                  <a:lnTo>
                    <a:pt x="5315712" y="0"/>
                  </a:lnTo>
                  <a:lnTo>
                    <a:pt x="5315712" y="5169408"/>
                  </a:lnTo>
                  <a:lnTo>
                    <a:pt x="0" y="5169408"/>
                  </a:lnTo>
                  <a:close/>
                </a:path>
              </a:pathLst>
            </a:custGeom>
            <a:solidFill>
              <a:srgbClr val="0D1F38"/>
            </a:solidFill>
          </p:spPr>
        </p:sp>
        <p:sp>
          <p:nvSpPr>
            <p:cNvPr name="Freeform 82" id="82"/>
            <p:cNvSpPr/>
            <p:nvPr/>
          </p:nvSpPr>
          <p:spPr>
            <a:xfrm flipH="false" flipV="false" rot="0">
              <a:off x="0" y="0"/>
              <a:ext cx="5332730" cy="5186426"/>
            </a:xfrm>
            <a:custGeom>
              <a:avLst/>
              <a:gdLst/>
              <a:ahLst/>
              <a:cxnLst/>
              <a:rect r="r" b="b" t="t" l="l"/>
              <a:pathLst>
                <a:path h="5186426" w="5332730">
                  <a:moveTo>
                    <a:pt x="8509" y="0"/>
                  </a:moveTo>
                  <a:lnTo>
                    <a:pt x="5324221" y="0"/>
                  </a:lnTo>
                  <a:cubicBezTo>
                    <a:pt x="5328920" y="0"/>
                    <a:pt x="5332730" y="3810"/>
                    <a:pt x="5332730" y="8509"/>
                  </a:cubicBezTo>
                  <a:lnTo>
                    <a:pt x="5332730" y="5177917"/>
                  </a:lnTo>
                  <a:cubicBezTo>
                    <a:pt x="5332730" y="5182616"/>
                    <a:pt x="5328920" y="5186426"/>
                    <a:pt x="5324221" y="5186426"/>
                  </a:cubicBezTo>
                  <a:lnTo>
                    <a:pt x="8509" y="5186426"/>
                  </a:lnTo>
                  <a:cubicBezTo>
                    <a:pt x="3810" y="5186426"/>
                    <a:pt x="0" y="5182616"/>
                    <a:pt x="0" y="5177917"/>
                  </a:cubicBezTo>
                  <a:lnTo>
                    <a:pt x="0" y="8509"/>
                  </a:lnTo>
                  <a:cubicBezTo>
                    <a:pt x="0" y="3810"/>
                    <a:pt x="3810" y="0"/>
                    <a:pt x="8509" y="0"/>
                  </a:cubicBezTo>
                  <a:moveTo>
                    <a:pt x="8509" y="16891"/>
                  </a:moveTo>
                  <a:lnTo>
                    <a:pt x="8509" y="8509"/>
                  </a:lnTo>
                  <a:lnTo>
                    <a:pt x="17018" y="8509"/>
                  </a:lnTo>
                  <a:lnTo>
                    <a:pt x="17018" y="5177917"/>
                  </a:lnTo>
                  <a:lnTo>
                    <a:pt x="8509" y="5177917"/>
                  </a:lnTo>
                  <a:lnTo>
                    <a:pt x="8509" y="5169408"/>
                  </a:lnTo>
                  <a:lnTo>
                    <a:pt x="5324221" y="5169408"/>
                  </a:lnTo>
                  <a:lnTo>
                    <a:pt x="5324221" y="5177917"/>
                  </a:lnTo>
                  <a:lnTo>
                    <a:pt x="5315712" y="5177917"/>
                  </a:lnTo>
                  <a:lnTo>
                    <a:pt x="5315712" y="8509"/>
                  </a:lnTo>
                  <a:lnTo>
                    <a:pt x="5324221" y="8509"/>
                  </a:lnTo>
                  <a:lnTo>
                    <a:pt x="5324221" y="17018"/>
                  </a:lnTo>
                  <a:lnTo>
                    <a:pt x="8509" y="17018"/>
                  </a:lnTo>
                  <a:close/>
                </a:path>
              </a:pathLst>
            </a:custGeom>
            <a:solidFill>
              <a:srgbClr val="F59E0B"/>
            </a:solidFill>
          </p:spPr>
        </p:sp>
      </p:grpSp>
      <p:grpSp>
        <p:nvGrpSpPr>
          <p:cNvPr name="Group 83" id="83"/>
          <p:cNvGrpSpPr/>
          <p:nvPr/>
        </p:nvGrpSpPr>
        <p:grpSpPr>
          <a:xfrm rot="0">
            <a:off x="9241031" y="5565143"/>
            <a:ext cx="4012187" cy="171707"/>
            <a:chOff x="0" y="0"/>
            <a:chExt cx="5349583" cy="228943"/>
          </a:xfrm>
        </p:grpSpPr>
        <p:sp>
          <p:nvSpPr>
            <p:cNvPr name="Freeform 84" id="84"/>
            <p:cNvSpPr/>
            <p:nvPr/>
          </p:nvSpPr>
          <p:spPr>
            <a:xfrm flipH="false" flipV="false" rot="0">
              <a:off x="16891" y="16891"/>
              <a:ext cx="5315712" cy="195072"/>
            </a:xfrm>
            <a:custGeom>
              <a:avLst/>
              <a:gdLst/>
              <a:ahLst/>
              <a:cxnLst/>
              <a:rect r="r" b="b" t="t" l="l"/>
              <a:pathLst>
                <a:path h="195072" w="5315712">
                  <a:moveTo>
                    <a:pt x="0" y="0"/>
                  </a:moveTo>
                  <a:lnTo>
                    <a:pt x="5315712" y="0"/>
                  </a:lnTo>
                  <a:lnTo>
                    <a:pt x="5315712" y="195072"/>
                  </a:lnTo>
                  <a:lnTo>
                    <a:pt x="0" y="195072"/>
                  </a:lnTo>
                  <a:close/>
                </a:path>
              </a:pathLst>
            </a:custGeom>
            <a:solidFill>
              <a:srgbClr val="F59E0B"/>
            </a:solidFill>
          </p:spPr>
        </p:sp>
        <p:sp>
          <p:nvSpPr>
            <p:cNvPr name="Freeform 85" id="85"/>
            <p:cNvSpPr/>
            <p:nvPr/>
          </p:nvSpPr>
          <p:spPr>
            <a:xfrm flipH="false" flipV="false" rot="0">
              <a:off x="0" y="0"/>
              <a:ext cx="5349494" cy="228856"/>
            </a:xfrm>
            <a:custGeom>
              <a:avLst/>
              <a:gdLst/>
              <a:ahLst/>
              <a:cxnLst/>
              <a:rect r="r" b="b" t="t" l="l"/>
              <a:pathLst>
                <a:path h="228856" w="5349494">
                  <a:moveTo>
                    <a:pt x="16891" y="0"/>
                  </a:moveTo>
                  <a:lnTo>
                    <a:pt x="5332603" y="0"/>
                  </a:lnTo>
                  <a:cubicBezTo>
                    <a:pt x="5342001" y="0"/>
                    <a:pt x="5349494" y="7620"/>
                    <a:pt x="5349494" y="16891"/>
                  </a:cubicBezTo>
                  <a:lnTo>
                    <a:pt x="5349494" y="211963"/>
                  </a:lnTo>
                  <a:cubicBezTo>
                    <a:pt x="5349494" y="221361"/>
                    <a:pt x="5341874" y="228854"/>
                    <a:pt x="533260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5332603" y="195072"/>
                  </a:lnTo>
                  <a:lnTo>
                    <a:pt x="5332603" y="211963"/>
                  </a:lnTo>
                  <a:lnTo>
                    <a:pt x="5315712" y="211963"/>
                  </a:lnTo>
                  <a:lnTo>
                    <a:pt x="5315712" y="16891"/>
                  </a:lnTo>
                  <a:lnTo>
                    <a:pt x="5332603" y="16891"/>
                  </a:lnTo>
                  <a:lnTo>
                    <a:pt x="5332603" y="33909"/>
                  </a:lnTo>
                  <a:lnTo>
                    <a:pt x="16891" y="33909"/>
                  </a:lnTo>
                  <a:close/>
                </a:path>
              </a:pathLst>
            </a:custGeom>
            <a:solidFill>
              <a:srgbClr val="F59E0B"/>
            </a:solidFill>
          </p:spPr>
        </p:sp>
      </p:grpSp>
      <p:grpSp>
        <p:nvGrpSpPr>
          <p:cNvPr name="Group 86" id="86"/>
          <p:cNvGrpSpPr/>
          <p:nvPr/>
        </p:nvGrpSpPr>
        <p:grpSpPr>
          <a:xfrm rot="0">
            <a:off x="9436608" y="5833872"/>
            <a:ext cx="3621024" cy="694944"/>
            <a:chOff x="0" y="0"/>
            <a:chExt cx="4828032" cy="926592"/>
          </a:xfrm>
        </p:grpSpPr>
        <p:sp>
          <p:nvSpPr>
            <p:cNvPr name="Freeform 87" id="87"/>
            <p:cNvSpPr/>
            <p:nvPr/>
          </p:nvSpPr>
          <p:spPr>
            <a:xfrm flipH="false" flipV="false" rot="0">
              <a:off x="0" y="0"/>
              <a:ext cx="4828032" cy="926592"/>
            </a:xfrm>
            <a:custGeom>
              <a:avLst/>
              <a:gdLst/>
              <a:ahLst/>
              <a:cxnLst/>
              <a:rect r="r" b="b" t="t" l="l"/>
              <a:pathLst>
                <a:path h="926592" w="4828032">
                  <a:moveTo>
                    <a:pt x="0" y="0"/>
                  </a:moveTo>
                  <a:lnTo>
                    <a:pt x="4828032" y="0"/>
                  </a:lnTo>
                  <a:lnTo>
                    <a:pt x="4828032" y="926592"/>
                  </a:lnTo>
                  <a:lnTo>
                    <a:pt x="0" y="926592"/>
                  </a:lnTo>
                  <a:close/>
                </a:path>
              </a:pathLst>
            </a:custGeom>
            <a:blipFill>
              <a:blip r:embed="rId3">
                <a:alphaModFix amt="0"/>
              </a:blip>
              <a:stretch>
                <a:fillRect l="0" t="-51527" r="0" b="-51527"/>
              </a:stretch>
            </a:blipFill>
          </p:spPr>
        </p:sp>
        <p:sp>
          <p:nvSpPr>
            <p:cNvPr name="TextBox 88" id="88"/>
            <p:cNvSpPr txBox="true"/>
            <p:nvPr/>
          </p:nvSpPr>
          <p:spPr>
            <a:xfrm>
              <a:off x="0" y="-38100"/>
              <a:ext cx="4828032" cy="964692"/>
            </a:xfrm>
            <a:prstGeom prst="rect">
              <a:avLst/>
            </a:prstGeom>
          </p:spPr>
          <p:txBody>
            <a:bodyPr anchor="ctr" rtlCol="false" tIns="0" lIns="0" bIns="0" rIns="0"/>
            <a:lstStyle/>
            <a:p>
              <a:pPr algn="l">
                <a:lnSpc>
                  <a:spcPts val="2400"/>
                </a:lnSpc>
              </a:pPr>
              <a:r>
                <a:rPr lang="en-US" sz="2000" b="true">
                  <a:solidFill>
                    <a:srgbClr val="F59E0B"/>
                  </a:solidFill>
                  <a:latin typeface="Calibri (MS) Bold"/>
                  <a:ea typeface="Calibri (MS) Bold"/>
                  <a:cs typeface="Calibri (MS) Bold"/>
                  <a:sym typeface="Calibri (MS) Bold"/>
                </a:rPr>
                <a:t>Explainable AI (SHAP)</a:t>
              </a:r>
            </a:p>
          </p:txBody>
        </p:sp>
      </p:grpSp>
      <p:grpSp>
        <p:nvGrpSpPr>
          <p:cNvPr name="Group 89" id="89"/>
          <p:cNvGrpSpPr/>
          <p:nvPr/>
        </p:nvGrpSpPr>
        <p:grpSpPr>
          <a:xfrm rot="0">
            <a:off x="9436608" y="6601968"/>
            <a:ext cx="3621024" cy="2596896"/>
            <a:chOff x="0" y="0"/>
            <a:chExt cx="4828032" cy="3462528"/>
          </a:xfrm>
        </p:grpSpPr>
        <p:sp>
          <p:nvSpPr>
            <p:cNvPr name="Freeform 90" id="90"/>
            <p:cNvSpPr/>
            <p:nvPr/>
          </p:nvSpPr>
          <p:spPr>
            <a:xfrm flipH="false" flipV="false" rot="0">
              <a:off x="0" y="0"/>
              <a:ext cx="4828032" cy="3462528"/>
            </a:xfrm>
            <a:custGeom>
              <a:avLst/>
              <a:gdLst/>
              <a:ahLst/>
              <a:cxnLst/>
              <a:rect r="r" b="b" t="t" l="l"/>
              <a:pathLst>
                <a:path h="3462528" w="4828032">
                  <a:moveTo>
                    <a:pt x="0" y="0"/>
                  </a:moveTo>
                  <a:lnTo>
                    <a:pt x="4828032" y="0"/>
                  </a:lnTo>
                  <a:lnTo>
                    <a:pt x="4828032" y="3462528"/>
                  </a:lnTo>
                  <a:lnTo>
                    <a:pt x="0" y="3462528"/>
                  </a:lnTo>
                  <a:close/>
                </a:path>
              </a:pathLst>
            </a:custGeom>
            <a:blipFill>
              <a:blip r:embed="rId3">
                <a:alphaModFix amt="0"/>
              </a:blip>
              <a:stretch>
                <a:fillRect l="-42015" t="0" r="-42015" b="0"/>
              </a:stretch>
            </a:blipFill>
          </p:spPr>
        </p:sp>
        <p:sp>
          <p:nvSpPr>
            <p:cNvPr name="TextBox 91" id="91"/>
            <p:cNvSpPr txBox="true"/>
            <p:nvPr/>
          </p:nvSpPr>
          <p:spPr>
            <a:xfrm>
              <a:off x="0" y="-38100"/>
              <a:ext cx="4828032" cy="3500628"/>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Doctors see exactly why a prediction was made — which factors contributed and how much. Full transparency builds clinical trust.</a:t>
              </a:r>
            </a:p>
          </p:txBody>
        </p:sp>
      </p:grpSp>
      <p:grpSp>
        <p:nvGrpSpPr>
          <p:cNvPr name="Group 92" id="92"/>
          <p:cNvGrpSpPr/>
          <p:nvPr/>
        </p:nvGrpSpPr>
        <p:grpSpPr>
          <a:xfrm rot="0">
            <a:off x="13599919" y="5571487"/>
            <a:ext cx="3999481" cy="3889753"/>
            <a:chOff x="0" y="0"/>
            <a:chExt cx="5332641" cy="5186337"/>
          </a:xfrm>
        </p:grpSpPr>
        <p:sp>
          <p:nvSpPr>
            <p:cNvPr name="Freeform 93" id="93"/>
            <p:cNvSpPr/>
            <p:nvPr/>
          </p:nvSpPr>
          <p:spPr>
            <a:xfrm flipH="false" flipV="false" rot="0">
              <a:off x="8509" y="8509"/>
              <a:ext cx="5315712" cy="5169408"/>
            </a:xfrm>
            <a:custGeom>
              <a:avLst/>
              <a:gdLst/>
              <a:ahLst/>
              <a:cxnLst/>
              <a:rect r="r" b="b" t="t" l="l"/>
              <a:pathLst>
                <a:path h="5169408" w="5315712">
                  <a:moveTo>
                    <a:pt x="0" y="0"/>
                  </a:moveTo>
                  <a:lnTo>
                    <a:pt x="5315712" y="0"/>
                  </a:lnTo>
                  <a:lnTo>
                    <a:pt x="5315712" y="5169408"/>
                  </a:lnTo>
                  <a:lnTo>
                    <a:pt x="0" y="5169408"/>
                  </a:lnTo>
                  <a:close/>
                </a:path>
              </a:pathLst>
            </a:custGeom>
            <a:solidFill>
              <a:srgbClr val="0D1F38"/>
            </a:solidFill>
          </p:spPr>
        </p:sp>
        <p:sp>
          <p:nvSpPr>
            <p:cNvPr name="Freeform 94" id="94"/>
            <p:cNvSpPr/>
            <p:nvPr/>
          </p:nvSpPr>
          <p:spPr>
            <a:xfrm flipH="false" flipV="false" rot="0">
              <a:off x="0" y="0"/>
              <a:ext cx="5332730" cy="5186426"/>
            </a:xfrm>
            <a:custGeom>
              <a:avLst/>
              <a:gdLst/>
              <a:ahLst/>
              <a:cxnLst/>
              <a:rect r="r" b="b" t="t" l="l"/>
              <a:pathLst>
                <a:path h="5186426" w="5332730">
                  <a:moveTo>
                    <a:pt x="8509" y="0"/>
                  </a:moveTo>
                  <a:lnTo>
                    <a:pt x="5324221" y="0"/>
                  </a:lnTo>
                  <a:cubicBezTo>
                    <a:pt x="5328920" y="0"/>
                    <a:pt x="5332730" y="3810"/>
                    <a:pt x="5332730" y="8509"/>
                  </a:cubicBezTo>
                  <a:lnTo>
                    <a:pt x="5332730" y="5177917"/>
                  </a:lnTo>
                  <a:cubicBezTo>
                    <a:pt x="5332730" y="5182616"/>
                    <a:pt x="5328920" y="5186426"/>
                    <a:pt x="5324221" y="5186426"/>
                  </a:cubicBezTo>
                  <a:lnTo>
                    <a:pt x="8509" y="5186426"/>
                  </a:lnTo>
                  <a:cubicBezTo>
                    <a:pt x="3810" y="5186426"/>
                    <a:pt x="0" y="5182616"/>
                    <a:pt x="0" y="5177917"/>
                  </a:cubicBezTo>
                  <a:lnTo>
                    <a:pt x="0" y="8509"/>
                  </a:lnTo>
                  <a:cubicBezTo>
                    <a:pt x="0" y="3810"/>
                    <a:pt x="3810" y="0"/>
                    <a:pt x="8509" y="0"/>
                  </a:cubicBezTo>
                  <a:moveTo>
                    <a:pt x="8509" y="16891"/>
                  </a:moveTo>
                  <a:lnTo>
                    <a:pt x="8509" y="8509"/>
                  </a:lnTo>
                  <a:lnTo>
                    <a:pt x="17018" y="8509"/>
                  </a:lnTo>
                  <a:lnTo>
                    <a:pt x="17018" y="5177917"/>
                  </a:lnTo>
                  <a:lnTo>
                    <a:pt x="8509" y="5177917"/>
                  </a:lnTo>
                  <a:lnTo>
                    <a:pt x="8509" y="5169408"/>
                  </a:lnTo>
                  <a:lnTo>
                    <a:pt x="5324221" y="5169408"/>
                  </a:lnTo>
                  <a:lnTo>
                    <a:pt x="5324221" y="5177917"/>
                  </a:lnTo>
                  <a:lnTo>
                    <a:pt x="5315712" y="5177917"/>
                  </a:lnTo>
                  <a:lnTo>
                    <a:pt x="5315712" y="8509"/>
                  </a:lnTo>
                  <a:lnTo>
                    <a:pt x="5324221" y="8509"/>
                  </a:lnTo>
                  <a:lnTo>
                    <a:pt x="5324221" y="17018"/>
                  </a:lnTo>
                  <a:lnTo>
                    <a:pt x="8509" y="17018"/>
                  </a:lnTo>
                  <a:close/>
                </a:path>
              </a:pathLst>
            </a:custGeom>
            <a:solidFill>
              <a:srgbClr val="8B5CF6"/>
            </a:solidFill>
          </p:spPr>
        </p:sp>
      </p:grpSp>
      <p:grpSp>
        <p:nvGrpSpPr>
          <p:cNvPr name="Group 95" id="95"/>
          <p:cNvGrpSpPr/>
          <p:nvPr/>
        </p:nvGrpSpPr>
        <p:grpSpPr>
          <a:xfrm rot="0">
            <a:off x="13593575" y="5565143"/>
            <a:ext cx="4012187" cy="171707"/>
            <a:chOff x="0" y="0"/>
            <a:chExt cx="5349583" cy="228943"/>
          </a:xfrm>
        </p:grpSpPr>
        <p:sp>
          <p:nvSpPr>
            <p:cNvPr name="Freeform 96" id="96"/>
            <p:cNvSpPr/>
            <p:nvPr/>
          </p:nvSpPr>
          <p:spPr>
            <a:xfrm flipH="false" flipV="false" rot="0">
              <a:off x="16891" y="16891"/>
              <a:ext cx="5315712" cy="195072"/>
            </a:xfrm>
            <a:custGeom>
              <a:avLst/>
              <a:gdLst/>
              <a:ahLst/>
              <a:cxnLst/>
              <a:rect r="r" b="b" t="t" l="l"/>
              <a:pathLst>
                <a:path h="195072" w="5315712">
                  <a:moveTo>
                    <a:pt x="0" y="0"/>
                  </a:moveTo>
                  <a:lnTo>
                    <a:pt x="5315712" y="0"/>
                  </a:lnTo>
                  <a:lnTo>
                    <a:pt x="5315712" y="195072"/>
                  </a:lnTo>
                  <a:lnTo>
                    <a:pt x="0" y="195072"/>
                  </a:lnTo>
                  <a:close/>
                </a:path>
              </a:pathLst>
            </a:custGeom>
            <a:solidFill>
              <a:srgbClr val="8B5CF6"/>
            </a:solidFill>
          </p:spPr>
        </p:sp>
        <p:sp>
          <p:nvSpPr>
            <p:cNvPr name="Freeform 97" id="97"/>
            <p:cNvSpPr/>
            <p:nvPr/>
          </p:nvSpPr>
          <p:spPr>
            <a:xfrm flipH="false" flipV="false" rot="0">
              <a:off x="0" y="0"/>
              <a:ext cx="5349494" cy="228856"/>
            </a:xfrm>
            <a:custGeom>
              <a:avLst/>
              <a:gdLst/>
              <a:ahLst/>
              <a:cxnLst/>
              <a:rect r="r" b="b" t="t" l="l"/>
              <a:pathLst>
                <a:path h="228856" w="5349494">
                  <a:moveTo>
                    <a:pt x="16891" y="0"/>
                  </a:moveTo>
                  <a:lnTo>
                    <a:pt x="5332603" y="0"/>
                  </a:lnTo>
                  <a:cubicBezTo>
                    <a:pt x="5342001" y="0"/>
                    <a:pt x="5349494" y="7620"/>
                    <a:pt x="5349494" y="16891"/>
                  </a:cubicBezTo>
                  <a:lnTo>
                    <a:pt x="5349494" y="211963"/>
                  </a:lnTo>
                  <a:cubicBezTo>
                    <a:pt x="5349494" y="221361"/>
                    <a:pt x="5341874" y="228854"/>
                    <a:pt x="533260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5332603" y="195072"/>
                  </a:lnTo>
                  <a:lnTo>
                    <a:pt x="5332603" y="211963"/>
                  </a:lnTo>
                  <a:lnTo>
                    <a:pt x="5315712" y="211963"/>
                  </a:lnTo>
                  <a:lnTo>
                    <a:pt x="5315712" y="16891"/>
                  </a:lnTo>
                  <a:lnTo>
                    <a:pt x="5332603" y="16891"/>
                  </a:lnTo>
                  <a:lnTo>
                    <a:pt x="5332603" y="33909"/>
                  </a:lnTo>
                  <a:lnTo>
                    <a:pt x="16891" y="33909"/>
                  </a:lnTo>
                  <a:close/>
                </a:path>
              </a:pathLst>
            </a:custGeom>
            <a:solidFill>
              <a:srgbClr val="8B5CF6"/>
            </a:solidFill>
          </p:spPr>
        </p:sp>
      </p:grpSp>
      <p:grpSp>
        <p:nvGrpSpPr>
          <p:cNvPr name="Group 98" id="98"/>
          <p:cNvGrpSpPr/>
          <p:nvPr/>
        </p:nvGrpSpPr>
        <p:grpSpPr>
          <a:xfrm rot="0">
            <a:off x="13789152" y="5833872"/>
            <a:ext cx="3621024" cy="694944"/>
            <a:chOff x="0" y="0"/>
            <a:chExt cx="4828032" cy="926592"/>
          </a:xfrm>
        </p:grpSpPr>
        <p:sp>
          <p:nvSpPr>
            <p:cNvPr name="Freeform 99" id="99"/>
            <p:cNvSpPr/>
            <p:nvPr/>
          </p:nvSpPr>
          <p:spPr>
            <a:xfrm flipH="false" flipV="false" rot="0">
              <a:off x="0" y="0"/>
              <a:ext cx="4828032" cy="926592"/>
            </a:xfrm>
            <a:custGeom>
              <a:avLst/>
              <a:gdLst/>
              <a:ahLst/>
              <a:cxnLst/>
              <a:rect r="r" b="b" t="t" l="l"/>
              <a:pathLst>
                <a:path h="926592" w="4828032">
                  <a:moveTo>
                    <a:pt x="0" y="0"/>
                  </a:moveTo>
                  <a:lnTo>
                    <a:pt x="4828032" y="0"/>
                  </a:lnTo>
                  <a:lnTo>
                    <a:pt x="4828032" y="926592"/>
                  </a:lnTo>
                  <a:lnTo>
                    <a:pt x="0" y="926592"/>
                  </a:lnTo>
                  <a:close/>
                </a:path>
              </a:pathLst>
            </a:custGeom>
            <a:blipFill>
              <a:blip r:embed="rId3">
                <a:alphaModFix amt="0"/>
              </a:blip>
              <a:stretch>
                <a:fillRect l="0" t="-51527" r="0" b="-51527"/>
              </a:stretch>
            </a:blipFill>
          </p:spPr>
        </p:sp>
        <p:sp>
          <p:nvSpPr>
            <p:cNvPr name="TextBox 100" id="100"/>
            <p:cNvSpPr txBox="true"/>
            <p:nvPr/>
          </p:nvSpPr>
          <p:spPr>
            <a:xfrm>
              <a:off x="0" y="-38100"/>
              <a:ext cx="4828032" cy="964692"/>
            </a:xfrm>
            <a:prstGeom prst="rect">
              <a:avLst/>
            </a:prstGeom>
          </p:spPr>
          <p:txBody>
            <a:bodyPr anchor="ctr" rtlCol="false" tIns="0" lIns="0" bIns="0" rIns="0"/>
            <a:lstStyle/>
            <a:p>
              <a:pPr algn="l">
                <a:lnSpc>
                  <a:spcPts val="2400"/>
                </a:lnSpc>
              </a:pPr>
              <a:r>
                <a:rPr lang="en-US" sz="2000" b="true">
                  <a:solidFill>
                    <a:srgbClr val="8B5CF6"/>
                  </a:solidFill>
                  <a:latin typeface="Calibri (MS) Bold"/>
                  <a:ea typeface="Calibri (MS) Bold"/>
                  <a:cs typeface="Calibri (MS) Bold"/>
                  <a:sym typeface="Calibri (MS) Bold"/>
                </a:rPr>
                <a:t>Cold-start solved</a:t>
              </a:r>
            </a:p>
          </p:txBody>
        </p:sp>
      </p:grpSp>
      <p:grpSp>
        <p:nvGrpSpPr>
          <p:cNvPr name="Group 101" id="101"/>
          <p:cNvGrpSpPr/>
          <p:nvPr/>
        </p:nvGrpSpPr>
        <p:grpSpPr>
          <a:xfrm rot="0">
            <a:off x="13789152" y="6601968"/>
            <a:ext cx="3621024" cy="2596896"/>
            <a:chOff x="0" y="0"/>
            <a:chExt cx="4828032" cy="3462528"/>
          </a:xfrm>
        </p:grpSpPr>
        <p:sp>
          <p:nvSpPr>
            <p:cNvPr name="Freeform 102" id="102"/>
            <p:cNvSpPr/>
            <p:nvPr/>
          </p:nvSpPr>
          <p:spPr>
            <a:xfrm flipH="false" flipV="false" rot="0">
              <a:off x="0" y="0"/>
              <a:ext cx="4828032" cy="3462528"/>
            </a:xfrm>
            <a:custGeom>
              <a:avLst/>
              <a:gdLst/>
              <a:ahLst/>
              <a:cxnLst/>
              <a:rect r="r" b="b" t="t" l="l"/>
              <a:pathLst>
                <a:path h="3462528" w="4828032">
                  <a:moveTo>
                    <a:pt x="0" y="0"/>
                  </a:moveTo>
                  <a:lnTo>
                    <a:pt x="4828032" y="0"/>
                  </a:lnTo>
                  <a:lnTo>
                    <a:pt x="4828032" y="3462528"/>
                  </a:lnTo>
                  <a:lnTo>
                    <a:pt x="0" y="3462528"/>
                  </a:lnTo>
                  <a:close/>
                </a:path>
              </a:pathLst>
            </a:custGeom>
            <a:blipFill>
              <a:blip r:embed="rId3">
                <a:alphaModFix amt="0"/>
              </a:blip>
              <a:stretch>
                <a:fillRect l="-42015" t="0" r="-42015" b="0"/>
              </a:stretch>
            </a:blipFill>
          </p:spPr>
        </p:sp>
        <p:sp>
          <p:nvSpPr>
            <p:cNvPr name="TextBox 103" id="103"/>
            <p:cNvSpPr txBox="true"/>
            <p:nvPr/>
          </p:nvSpPr>
          <p:spPr>
            <a:xfrm>
              <a:off x="0" y="-38100"/>
              <a:ext cx="4828032" cy="3500628"/>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Doctor-observed progression records serve as high-quality seed data at launch — the model is accurate from day one, even with zero patient records.</a:t>
              </a:r>
            </a:p>
          </p:txBody>
        </p:sp>
      </p:grpSp>
      <p:grpSp>
        <p:nvGrpSpPr>
          <p:cNvPr name="Group 104" id="104"/>
          <p:cNvGrpSpPr/>
          <p:nvPr/>
        </p:nvGrpSpPr>
        <p:grpSpPr>
          <a:xfrm rot="0">
            <a:off x="-12697" y="9588503"/>
            <a:ext cx="18313403" cy="711203"/>
            <a:chOff x="0" y="0"/>
            <a:chExt cx="24417871" cy="948271"/>
          </a:xfrm>
        </p:grpSpPr>
        <p:sp>
          <p:nvSpPr>
            <p:cNvPr name="Freeform 105" id="105"/>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106" id="106"/>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107" id="107"/>
          <p:cNvGrpSpPr/>
          <p:nvPr/>
        </p:nvGrpSpPr>
        <p:grpSpPr>
          <a:xfrm rot="0">
            <a:off x="731520" y="9637776"/>
            <a:ext cx="16824960" cy="585216"/>
            <a:chOff x="0" y="0"/>
            <a:chExt cx="22433280" cy="780288"/>
          </a:xfrm>
        </p:grpSpPr>
        <p:sp>
          <p:nvSpPr>
            <p:cNvPr name="Freeform 108" id="108"/>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109" id="109"/>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A162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A162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14B8A6"/>
                  </a:solidFill>
                  <a:latin typeface="Calibri (MS) Bold"/>
                  <a:ea typeface="Calibri (MS) Bold"/>
                  <a:cs typeface="Calibri (MS) Bold"/>
                  <a:sym typeface="Calibri (MS) Bold"/>
                </a:rPr>
                <a:t>LIMITATIONS &amp; FUTURE WORK</a:t>
              </a:r>
            </a:p>
          </p:txBody>
        </p:sp>
      </p:grpSp>
      <p:grpSp>
        <p:nvGrpSpPr>
          <p:cNvPr name="Group 8" id="8"/>
          <p:cNvGrpSpPr/>
          <p:nvPr/>
        </p:nvGrpSpPr>
        <p:grpSpPr>
          <a:xfrm rot="0">
            <a:off x="535943" y="1304039"/>
            <a:ext cx="8163563" cy="8474459"/>
            <a:chOff x="0" y="0"/>
            <a:chExt cx="10884751" cy="11299279"/>
          </a:xfrm>
        </p:grpSpPr>
        <p:sp>
          <p:nvSpPr>
            <p:cNvPr name="Freeform 9" id="9"/>
            <p:cNvSpPr/>
            <p:nvPr/>
          </p:nvSpPr>
          <p:spPr>
            <a:xfrm flipH="false" flipV="false" rot="0">
              <a:off x="16891" y="16891"/>
              <a:ext cx="10850881" cy="11265408"/>
            </a:xfrm>
            <a:custGeom>
              <a:avLst/>
              <a:gdLst/>
              <a:ahLst/>
              <a:cxnLst/>
              <a:rect r="r" b="b" t="t" l="l"/>
              <a:pathLst>
                <a:path h="11265408" w="10850881">
                  <a:moveTo>
                    <a:pt x="0" y="0"/>
                  </a:moveTo>
                  <a:lnTo>
                    <a:pt x="10850881" y="0"/>
                  </a:lnTo>
                  <a:lnTo>
                    <a:pt x="10850881" y="11265408"/>
                  </a:lnTo>
                  <a:lnTo>
                    <a:pt x="0" y="11265408"/>
                  </a:lnTo>
                  <a:close/>
                </a:path>
              </a:pathLst>
            </a:custGeom>
            <a:solidFill>
              <a:srgbClr val="0A1628"/>
            </a:solidFill>
          </p:spPr>
        </p:sp>
        <p:sp>
          <p:nvSpPr>
            <p:cNvPr name="Freeform 10" id="10"/>
            <p:cNvSpPr/>
            <p:nvPr/>
          </p:nvSpPr>
          <p:spPr>
            <a:xfrm flipH="false" flipV="false" rot="0">
              <a:off x="0" y="0"/>
              <a:ext cx="10884662" cy="11299190"/>
            </a:xfrm>
            <a:custGeom>
              <a:avLst/>
              <a:gdLst/>
              <a:ahLst/>
              <a:cxnLst/>
              <a:rect r="r" b="b" t="t" l="l"/>
              <a:pathLst>
                <a:path h="11299190" w="10884662">
                  <a:moveTo>
                    <a:pt x="16891" y="0"/>
                  </a:moveTo>
                  <a:lnTo>
                    <a:pt x="10867772" y="0"/>
                  </a:lnTo>
                  <a:cubicBezTo>
                    <a:pt x="10877169" y="0"/>
                    <a:pt x="10884662" y="7620"/>
                    <a:pt x="10884662" y="16891"/>
                  </a:cubicBezTo>
                  <a:lnTo>
                    <a:pt x="10884662" y="11282299"/>
                  </a:lnTo>
                  <a:cubicBezTo>
                    <a:pt x="10884662" y="11291697"/>
                    <a:pt x="10877042" y="11299190"/>
                    <a:pt x="10867772" y="11299190"/>
                  </a:cubicBezTo>
                  <a:lnTo>
                    <a:pt x="16891" y="11299190"/>
                  </a:lnTo>
                  <a:cubicBezTo>
                    <a:pt x="7493" y="11299190"/>
                    <a:pt x="0" y="11291570"/>
                    <a:pt x="0" y="11282299"/>
                  </a:cubicBezTo>
                  <a:lnTo>
                    <a:pt x="0" y="16891"/>
                  </a:lnTo>
                  <a:cubicBezTo>
                    <a:pt x="0" y="7620"/>
                    <a:pt x="7620" y="0"/>
                    <a:pt x="16891" y="0"/>
                  </a:cubicBezTo>
                  <a:moveTo>
                    <a:pt x="16891" y="33909"/>
                  </a:moveTo>
                  <a:lnTo>
                    <a:pt x="16891" y="16891"/>
                  </a:lnTo>
                  <a:lnTo>
                    <a:pt x="33909" y="16891"/>
                  </a:lnTo>
                  <a:lnTo>
                    <a:pt x="33909" y="11282299"/>
                  </a:lnTo>
                  <a:lnTo>
                    <a:pt x="16891" y="11282299"/>
                  </a:lnTo>
                  <a:lnTo>
                    <a:pt x="16891" y="11265408"/>
                  </a:lnTo>
                  <a:lnTo>
                    <a:pt x="10867772" y="11265408"/>
                  </a:lnTo>
                  <a:lnTo>
                    <a:pt x="10867772" y="11282299"/>
                  </a:lnTo>
                  <a:lnTo>
                    <a:pt x="10850880" y="11282299"/>
                  </a:lnTo>
                  <a:lnTo>
                    <a:pt x="10850880" y="16891"/>
                  </a:lnTo>
                  <a:lnTo>
                    <a:pt x="10867772" y="16891"/>
                  </a:lnTo>
                  <a:lnTo>
                    <a:pt x="10867772" y="33909"/>
                  </a:lnTo>
                  <a:lnTo>
                    <a:pt x="16891" y="33909"/>
                  </a:lnTo>
                  <a:close/>
                </a:path>
              </a:pathLst>
            </a:custGeom>
            <a:solidFill>
              <a:srgbClr val="0A1628"/>
            </a:solidFill>
          </p:spPr>
        </p:sp>
      </p:grpSp>
      <p:grpSp>
        <p:nvGrpSpPr>
          <p:cNvPr name="Group 11" id="11"/>
          <p:cNvGrpSpPr/>
          <p:nvPr/>
        </p:nvGrpSpPr>
        <p:grpSpPr>
          <a:xfrm rot="0">
            <a:off x="822960" y="1554480"/>
            <a:ext cx="7498080" cy="548640"/>
            <a:chOff x="0" y="0"/>
            <a:chExt cx="9997440" cy="731520"/>
          </a:xfrm>
        </p:grpSpPr>
        <p:sp>
          <p:nvSpPr>
            <p:cNvPr name="Freeform 12" id="12"/>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sp>
        <p:sp>
          <p:nvSpPr>
            <p:cNvPr name="TextBox 13" id="13"/>
            <p:cNvSpPr txBox="true"/>
            <p:nvPr/>
          </p:nvSpPr>
          <p:spPr>
            <a:xfrm>
              <a:off x="0" y="-38100"/>
              <a:ext cx="9997440" cy="769620"/>
            </a:xfrm>
            <a:prstGeom prst="rect">
              <a:avLst/>
            </a:prstGeom>
          </p:spPr>
          <p:txBody>
            <a:bodyPr anchor="ctr" rtlCol="false" tIns="0" lIns="0" bIns="0" rIns="0"/>
            <a:lstStyle/>
            <a:p>
              <a:pPr algn="l">
                <a:lnSpc>
                  <a:spcPts val="2879"/>
                </a:lnSpc>
              </a:pPr>
              <a:r>
                <a:rPr lang="en-US" sz="2400" b="true">
                  <a:solidFill>
                    <a:srgbClr val="EF4444"/>
                  </a:solidFill>
                  <a:latin typeface="Calibri (MS) Bold"/>
                  <a:ea typeface="Calibri (MS) Bold"/>
                  <a:cs typeface="Calibri (MS) Bold"/>
                  <a:sym typeface="Calibri (MS) Bold"/>
                </a:rPr>
                <a:t>Current limitations</a:t>
              </a:r>
            </a:p>
          </p:txBody>
        </p:sp>
      </p:grpSp>
      <p:grpSp>
        <p:nvGrpSpPr>
          <p:cNvPr name="Group 14" id="14"/>
          <p:cNvGrpSpPr/>
          <p:nvPr/>
        </p:nvGrpSpPr>
        <p:grpSpPr>
          <a:xfrm rot="0">
            <a:off x="761743" y="2334511"/>
            <a:ext cx="7510777" cy="1695193"/>
            <a:chOff x="0" y="0"/>
            <a:chExt cx="10014369" cy="2260257"/>
          </a:xfrm>
        </p:grpSpPr>
        <p:sp>
          <p:nvSpPr>
            <p:cNvPr name="Freeform 15" id="15"/>
            <p:cNvSpPr/>
            <p:nvPr/>
          </p:nvSpPr>
          <p:spPr>
            <a:xfrm flipH="false" flipV="false" rot="0">
              <a:off x="8509" y="8509"/>
              <a:ext cx="9997440" cy="2243328"/>
            </a:xfrm>
            <a:custGeom>
              <a:avLst/>
              <a:gdLst/>
              <a:ahLst/>
              <a:cxnLst/>
              <a:rect r="r" b="b" t="t" l="l"/>
              <a:pathLst>
                <a:path h="2243328" w="9997440">
                  <a:moveTo>
                    <a:pt x="0" y="0"/>
                  </a:moveTo>
                  <a:lnTo>
                    <a:pt x="9997440" y="0"/>
                  </a:lnTo>
                  <a:lnTo>
                    <a:pt x="9997440" y="2243328"/>
                  </a:lnTo>
                  <a:lnTo>
                    <a:pt x="0" y="2243328"/>
                  </a:lnTo>
                  <a:close/>
                </a:path>
              </a:pathLst>
            </a:custGeom>
            <a:solidFill>
              <a:srgbClr val="0D1F38"/>
            </a:solidFill>
          </p:spPr>
        </p:sp>
        <p:sp>
          <p:nvSpPr>
            <p:cNvPr name="Freeform 16" id="16"/>
            <p:cNvSpPr/>
            <p:nvPr/>
          </p:nvSpPr>
          <p:spPr>
            <a:xfrm flipH="false" flipV="false" rot="0">
              <a:off x="0" y="0"/>
              <a:ext cx="10014458" cy="2260346"/>
            </a:xfrm>
            <a:custGeom>
              <a:avLst/>
              <a:gdLst/>
              <a:ahLst/>
              <a:cxnLst/>
              <a:rect r="r" b="b" t="t" l="l"/>
              <a:pathLst>
                <a:path h="2260346" w="10014458">
                  <a:moveTo>
                    <a:pt x="8509" y="0"/>
                  </a:moveTo>
                  <a:lnTo>
                    <a:pt x="10005949" y="0"/>
                  </a:lnTo>
                  <a:cubicBezTo>
                    <a:pt x="10010648" y="0"/>
                    <a:pt x="10014458" y="3810"/>
                    <a:pt x="10014458" y="8509"/>
                  </a:cubicBezTo>
                  <a:lnTo>
                    <a:pt x="10014458" y="2251837"/>
                  </a:lnTo>
                  <a:cubicBezTo>
                    <a:pt x="10014458" y="2256536"/>
                    <a:pt x="10010648" y="2260346"/>
                    <a:pt x="10005949" y="2260346"/>
                  </a:cubicBezTo>
                  <a:lnTo>
                    <a:pt x="8509" y="2260346"/>
                  </a:lnTo>
                  <a:cubicBezTo>
                    <a:pt x="3810" y="2260346"/>
                    <a:pt x="0" y="2256536"/>
                    <a:pt x="0" y="2251837"/>
                  </a:cubicBezTo>
                  <a:lnTo>
                    <a:pt x="0" y="8509"/>
                  </a:lnTo>
                  <a:cubicBezTo>
                    <a:pt x="0" y="3810"/>
                    <a:pt x="3810" y="0"/>
                    <a:pt x="8509" y="0"/>
                  </a:cubicBezTo>
                  <a:moveTo>
                    <a:pt x="8509" y="16891"/>
                  </a:moveTo>
                  <a:lnTo>
                    <a:pt x="8509" y="8509"/>
                  </a:lnTo>
                  <a:lnTo>
                    <a:pt x="17018" y="8509"/>
                  </a:lnTo>
                  <a:lnTo>
                    <a:pt x="17018" y="2251837"/>
                  </a:lnTo>
                  <a:lnTo>
                    <a:pt x="8509" y="2251837"/>
                  </a:lnTo>
                  <a:lnTo>
                    <a:pt x="8509" y="2243328"/>
                  </a:lnTo>
                  <a:lnTo>
                    <a:pt x="10005949" y="2243328"/>
                  </a:lnTo>
                  <a:lnTo>
                    <a:pt x="10005949" y="2251837"/>
                  </a:lnTo>
                  <a:lnTo>
                    <a:pt x="9997440" y="2251837"/>
                  </a:lnTo>
                  <a:lnTo>
                    <a:pt x="9997440" y="8509"/>
                  </a:lnTo>
                  <a:lnTo>
                    <a:pt x="10005949" y="8509"/>
                  </a:lnTo>
                  <a:lnTo>
                    <a:pt x="10005949" y="17018"/>
                  </a:lnTo>
                  <a:lnTo>
                    <a:pt x="8509" y="17018"/>
                  </a:lnTo>
                  <a:close/>
                </a:path>
              </a:pathLst>
            </a:custGeom>
            <a:solidFill>
              <a:srgbClr val="EF4444"/>
            </a:solidFill>
          </p:spPr>
        </p:sp>
      </p:grpSp>
      <p:grpSp>
        <p:nvGrpSpPr>
          <p:cNvPr name="Group 17" id="17"/>
          <p:cNvGrpSpPr/>
          <p:nvPr/>
        </p:nvGrpSpPr>
        <p:grpSpPr>
          <a:xfrm rot="0">
            <a:off x="1060704" y="2468880"/>
            <a:ext cx="6912864" cy="512064"/>
            <a:chOff x="0" y="0"/>
            <a:chExt cx="9217152" cy="682752"/>
          </a:xfrm>
        </p:grpSpPr>
        <p:sp>
          <p:nvSpPr>
            <p:cNvPr name="Freeform 18" id="18"/>
            <p:cNvSpPr/>
            <p:nvPr/>
          </p:nvSpPr>
          <p:spPr>
            <a:xfrm flipH="false" flipV="false" rot="0">
              <a:off x="0" y="0"/>
              <a:ext cx="9217152" cy="682752"/>
            </a:xfrm>
            <a:custGeom>
              <a:avLst/>
              <a:gdLst/>
              <a:ahLst/>
              <a:cxnLst/>
              <a:rect r="r" b="b" t="t" l="l"/>
              <a:pathLst>
                <a:path h="682752" w="9217152">
                  <a:moveTo>
                    <a:pt x="0" y="0"/>
                  </a:moveTo>
                  <a:lnTo>
                    <a:pt x="9217152" y="0"/>
                  </a:lnTo>
                  <a:lnTo>
                    <a:pt x="9217152" y="682752"/>
                  </a:lnTo>
                  <a:lnTo>
                    <a:pt x="0" y="682752"/>
                  </a:lnTo>
                  <a:close/>
                </a:path>
              </a:pathLst>
            </a:custGeom>
            <a:blipFill>
              <a:blip r:embed="rId3">
                <a:alphaModFix amt="0"/>
              </a:blip>
              <a:stretch>
                <a:fillRect l="0" t="-213048" r="0" b="-213048"/>
              </a:stretch>
            </a:blipFill>
          </p:spPr>
        </p:sp>
        <p:sp>
          <p:nvSpPr>
            <p:cNvPr name="TextBox 19" id="19"/>
            <p:cNvSpPr txBox="true"/>
            <p:nvPr/>
          </p:nvSpPr>
          <p:spPr>
            <a:xfrm>
              <a:off x="0" y="-38100"/>
              <a:ext cx="9217152" cy="720852"/>
            </a:xfrm>
            <a:prstGeom prst="rect">
              <a:avLst/>
            </a:prstGeom>
          </p:spPr>
          <p:txBody>
            <a:bodyPr anchor="ctr" rtlCol="false" tIns="0" lIns="0" bIns="0" rIns="0"/>
            <a:lstStyle/>
            <a:p>
              <a:pPr algn="l">
                <a:lnSpc>
                  <a:spcPts val="2400"/>
                </a:lnSpc>
              </a:pPr>
              <a:r>
                <a:rPr lang="en-US" sz="2000" b="true">
                  <a:solidFill>
                    <a:srgbClr val="EF4444"/>
                  </a:solidFill>
                  <a:latin typeface="Calibri (MS) Bold"/>
                  <a:ea typeface="Calibri (MS) Bold"/>
                  <a:cs typeface="Calibri (MS) Bold"/>
                  <a:sym typeface="Calibri (MS) Bold"/>
                </a:rPr>
                <a:t>Real-world validation needed</a:t>
              </a:r>
            </a:p>
          </p:txBody>
        </p:sp>
      </p:grpSp>
      <p:grpSp>
        <p:nvGrpSpPr>
          <p:cNvPr name="Group 20" id="20"/>
          <p:cNvGrpSpPr/>
          <p:nvPr/>
        </p:nvGrpSpPr>
        <p:grpSpPr>
          <a:xfrm rot="0">
            <a:off x="1060704" y="3035808"/>
            <a:ext cx="6912864" cy="877824"/>
            <a:chOff x="0" y="0"/>
            <a:chExt cx="9217152" cy="1170432"/>
          </a:xfrm>
        </p:grpSpPr>
        <p:sp>
          <p:nvSpPr>
            <p:cNvPr name="Freeform 21" id="21"/>
            <p:cNvSpPr/>
            <p:nvPr/>
          </p:nvSpPr>
          <p:spPr>
            <a:xfrm flipH="false" flipV="false" rot="0">
              <a:off x="0" y="0"/>
              <a:ext cx="9217152" cy="1170432"/>
            </a:xfrm>
            <a:custGeom>
              <a:avLst/>
              <a:gdLst/>
              <a:ahLst/>
              <a:cxnLst/>
              <a:rect r="r" b="b" t="t" l="l"/>
              <a:pathLst>
                <a:path h="1170432" w="9217152">
                  <a:moveTo>
                    <a:pt x="0" y="0"/>
                  </a:moveTo>
                  <a:lnTo>
                    <a:pt x="9217152" y="0"/>
                  </a:lnTo>
                  <a:lnTo>
                    <a:pt x="9217152" y="1170432"/>
                  </a:lnTo>
                  <a:lnTo>
                    <a:pt x="0" y="1170432"/>
                  </a:lnTo>
                  <a:close/>
                </a:path>
              </a:pathLst>
            </a:custGeom>
            <a:blipFill>
              <a:blip r:embed="rId3">
                <a:alphaModFix amt="0"/>
              </a:blip>
              <a:stretch>
                <a:fillRect l="0" t="-103444" r="0" b="-103444"/>
              </a:stretch>
            </a:blipFill>
          </p:spPr>
        </p:sp>
        <p:sp>
          <p:nvSpPr>
            <p:cNvPr name="TextBox 22" id="22"/>
            <p:cNvSpPr txBox="true"/>
            <p:nvPr/>
          </p:nvSpPr>
          <p:spPr>
            <a:xfrm>
              <a:off x="0" y="-38100"/>
              <a:ext cx="9217152" cy="120853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Model is trained on public datasets. Clinical validation with real hospital data is the critical next step for accuracy confirmation.</a:t>
              </a:r>
            </a:p>
          </p:txBody>
        </p:sp>
      </p:grpSp>
      <p:grpSp>
        <p:nvGrpSpPr>
          <p:cNvPr name="Group 23" id="23"/>
          <p:cNvGrpSpPr/>
          <p:nvPr/>
        </p:nvGrpSpPr>
        <p:grpSpPr>
          <a:xfrm rot="0">
            <a:off x="761743" y="4346191"/>
            <a:ext cx="7510777" cy="1695193"/>
            <a:chOff x="0" y="0"/>
            <a:chExt cx="10014369" cy="2260257"/>
          </a:xfrm>
        </p:grpSpPr>
        <p:sp>
          <p:nvSpPr>
            <p:cNvPr name="Freeform 24" id="24"/>
            <p:cNvSpPr/>
            <p:nvPr/>
          </p:nvSpPr>
          <p:spPr>
            <a:xfrm flipH="false" flipV="false" rot="0">
              <a:off x="8509" y="8509"/>
              <a:ext cx="9997440" cy="2243328"/>
            </a:xfrm>
            <a:custGeom>
              <a:avLst/>
              <a:gdLst/>
              <a:ahLst/>
              <a:cxnLst/>
              <a:rect r="r" b="b" t="t" l="l"/>
              <a:pathLst>
                <a:path h="2243328" w="9997440">
                  <a:moveTo>
                    <a:pt x="0" y="0"/>
                  </a:moveTo>
                  <a:lnTo>
                    <a:pt x="9997440" y="0"/>
                  </a:lnTo>
                  <a:lnTo>
                    <a:pt x="9997440" y="2243328"/>
                  </a:lnTo>
                  <a:lnTo>
                    <a:pt x="0" y="2243328"/>
                  </a:lnTo>
                  <a:close/>
                </a:path>
              </a:pathLst>
            </a:custGeom>
            <a:solidFill>
              <a:srgbClr val="0D1F38"/>
            </a:solidFill>
          </p:spPr>
        </p:sp>
        <p:sp>
          <p:nvSpPr>
            <p:cNvPr name="Freeform 25" id="25"/>
            <p:cNvSpPr/>
            <p:nvPr/>
          </p:nvSpPr>
          <p:spPr>
            <a:xfrm flipH="false" flipV="false" rot="0">
              <a:off x="0" y="0"/>
              <a:ext cx="10014458" cy="2260346"/>
            </a:xfrm>
            <a:custGeom>
              <a:avLst/>
              <a:gdLst/>
              <a:ahLst/>
              <a:cxnLst/>
              <a:rect r="r" b="b" t="t" l="l"/>
              <a:pathLst>
                <a:path h="2260346" w="10014458">
                  <a:moveTo>
                    <a:pt x="8509" y="0"/>
                  </a:moveTo>
                  <a:lnTo>
                    <a:pt x="10005949" y="0"/>
                  </a:lnTo>
                  <a:cubicBezTo>
                    <a:pt x="10010648" y="0"/>
                    <a:pt x="10014458" y="3810"/>
                    <a:pt x="10014458" y="8509"/>
                  </a:cubicBezTo>
                  <a:lnTo>
                    <a:pt x="10014458" y="2251837"/>
                  </a:lnTo>
                  <a:cubicBezTo>
                    <a:pt x="10014458" y="2256536"/>
                    <a:pt x="10010648" y="2260346"/>
                    <a:pt x="10005949" y="2260346"/>
                  </a:cubicBezTo>
                  <a:lnTo>
                    <a:pt x="8509" y="2260346"/>
                  </a:lnTo>
                  <a:cubicBezTo>
                    <a:pt x="3810" y="2260346"/>
                    <a:pt x="0" y="2256536"/>
                    <a:pt x="0" y="2251837"/>
                  </a:cubicBezTo>
                  <a:lnTo>
                    <a:pt x="0" y="8509"/>
                  </a:lnTo>
                  <a:cubicBezTo>
                    <a:pt x="0" y="3810"/>
                    <a:pt x="3810" y="0"/>
                    <a:pt x="8509" y="0"/>
                  </a:cubicBezTo>
                  <a:moveTo>
                    <a:pt x="8509" y="16891"/>
                  </a:moveTo>
                  <a:lnTo>
                    <a:pt x="8509" y="8509"/>
                  </a:lnTo>
                  <a:lnTo>
                    <a:pt x="17018" y="8509"/>
                  </a:lnTo>
                  <a:lnTo>
                    <a:pt x="17018" y="2251837"/>
                  </a:lnTo>
                  <a:lnTo>
                    <a:pt x="8509" y="2251837"/>
                  </a:lnTo>
                  <a:lnTo>
                    <a:pt x="8509" y="2243328"/>
                  </a:lnTo>
                  <a:lnTo>
                    <a:pt x="10005949" y="2243328"/>
                  </a:lnTo>
                  <a:lnTo>
                    <a:pt x="10005949" y="2251837"/>
                  </a:lnTo>
                  <a:lnTo>
                    <a:pt x="9997440" y="2251837"/>
                  </a:lnTo>
                  <a:lnTo>
                    <a:pt x="9997440" y="8509"/>
                  </a:lnTo>
                  <a:lnTo>
                    <a:pt x="10005949" y="8509"/>
                  </a:lnTo>
                  <a:lnTo>
                    <a:pt x="10005949" y="17018"/>
                  </a:lnTo>
                  <a:lnTo>
                    <a:pt x="8509" y="17018"/>
                  </a:lnTo>
                  <a:close/>
                </a:path>
              </a:pathLst>
            </a:custGeom>
            <a:solidFill>
              <a:srgbClr val="F59E0B"/>
            </a:solidFill>
          </p:spPr>
        </p:sp>
      </p:grpSp>
      <p:grpSp>
        <p:nvGrpSpPr>
          <p:cNvPr name="Group 26" id="26"/>
          <p:cNvGrpSpPr/>
          <p:nvPr/>
        </p:nvGrpSpPr>
        <p:grpSpPr>
          <a:xfrm rot="0">
            <a:off x="1060704" y="4480560"/>
            <a:ext cx="6912864" cy="512064"/>
            <a:chOff x="0" y="0"/>
            <a:chExt cx="9217152" cy="682752"/>
          </a:xfrm>
        </p:grpSpPr>
        <p:sp>
          <p:nvSpPr>
            <p:cNvPr name="Freeform 27" id="27"/>
            <p:cNvSpPr/>
            <p:nvPr/>
          </p:nvSpPr>
          <p:spPr>
            <a:xfrm flipH="false" flipV="false" rot="0">
              <a:off x="0" y="0"/>
              <a:ext cx="9217152" cy="682752"/>
            </a:xfrm>
            <a:custGeom>
              <a:avLst/>
              <a:gdLst/>
              <a:ahLst/>
              <a:cxnLst/>
              <a:rect r="r" b="b" t="t" l="l"/>
              <a:pathLst>
                <a:path h="682752" w="9217152">
                  <a:moveTo>
                    <a:pt x="0" y="0"/>
                  </a:moveTo>
                  <a:lnTo>
                    <a:pt x="9217152" y="0"/>
                  </a:lnTo>
                  <a:lnTo>
                    <a:pt x="9217152" y="682752"/>
                  </a:lnTo>
                  <a:lnTo>
                    <a:pt x="0" y="682752"/>
                  </a:lnTo>
                  <a:close/>
                </a:path>
              </a:pathLst>
            </a:custGeom>
            <a:blipFill>
              <a:blip r:embed="rId3">
                <a:alphaModFix amt="0"/>
              </a:blip>
              <a:stretch>
                <a:fillRect l="0" t="-213048" r="0" b="-213048"/>
              </a:stretch>
            </a:blipFill>
          </p:spPr>
        </p:sp>
        <p:sp>
          <p:nvSpPr>
            <p:cNvPr name="TextBox 28" id="28"/>
            <p:cNvSpPr txBox="true"/>
            <p:nvPr/>
          </p:nvSpPr>
          <p:spPr>
            <a:xfrm>
              <a:off x="0" y="-38100"/>
              <a:ext cx="9217152" cy="720852"/>
            </a:xfrm>
            <a:prstGeom prst="rect">
              <a:avLst/>
            </a:prstGeom>
          </p:spPr>
          <p:txBody>
            <a:bodyPr anchor="ctr" rtlCol="false" tIns="0" lIns="0" bIns="0" rIns="0"/>
            <a:lstStyle/>
            <a:p>
              <a:pPr algn="l">
                <a:lnSpc>
                  <a:spcPts val="2400"/>
                </a:lnSpc>
              </a:pPr>
              <a:r>
                <a:rPr lang="en-US" sz="2000" b="true">
                  <a:solidFill>
                    <a:srgbClr val="F59E0B"/>
                  </a:solidFill>
                  <a:latin typeface="Calibri (MS) Bold"/>
                  <a:ea typeface="Calibri (MS) Bold"/>
                  <a:cs typeface="Calibri (MS) Bold"/>
                  <a:sym typeface="Calibri (MS) Bold"/>
                </a:rPr>
                <a:t>Model bias risk</a:t>
              </a:r>
            </a:p>
          </p:txBody>
        </p:sp>
      </p:grpSp>
      <p:grpSp>
        <p:nvGrpSpPr>
          <p:cNvPr name="Group 29" id="29"/>
          <p:cNvGrpSpPr/>
          <p:nvPr/>
        </p:nvGrpSpPr>
        <p:grpSpPr>
          <a:xfrm rot="0">
            <a:off x="1060704" y="5047488"/>
            <a:ext cx="6912864" cy="877824"/>
            <a:chOff x="0" y="0"/>
            <a:chExt cx="9217152" cy="1170432"/>
          </a:xfrm>
        </p:grpSpPr>
        <p:sp>
          <p:nvSpPr>
            <p:cNvPr name="Freeform 30" id="30"/>
            <p:cNvSpPr/>
            <p:nvPr/>
          </p:nvSpPr>
          <p:spPr>
            <a:xfrm flipH="false" flipV="false" rot="0">
              <a:off x="0" y="0"/>
              <a:ext cx="9217152" cy="1170432"/>
            </a:xfrm>
            <a:custGeom>
              <a:avLst/>
              <a:gdLst/>
              <a:ahLst/>
              <a:cxnLst/>
              <a:rect r="r" b="b" t="t" l="l"/>
              <a:pathLst>
                <a:path h="1170432" w="9217152">
                  <a:moveTo>
                    <a:pt x="0" y="0"/>
                  </a:moveTo>
                  <a:lnTo>
                    <a:pt x="9217152" y="0"/>
                  </a:lnTo>
                  <a:lnTo>
                    <a:pt x="9217152" y="1170432"/>
                  </a:lnTo>
                  <a:lnTo>
                    <a:pt x="0" y="1170432"/>
                  </a:lnTo>
                  <a:close/>
                </a:path>
              </a:pathLst>
            </a:custGeom>
            <a:blipFill>
              <a:blip r:embed="rId3">
                <a:alphaModFix amt="0"/>
              </a:blip>
              <a:stretch>
                <a:fillRect l="0" t="-103444" r="0" b="-103444"/>
              </a:stretch>
            </a:blipFill>
          </p:spPr>
        </p:sp>
        <p:sp>
          <p:nvSpPr>
            <p:cNvPr name="TextBox 31" id="31"/>
            <p:cNvSpPr txBox="true"/>
            <p:nvPr/>
          </p:nvSpPr>
          <p:spPr>
            <a:xfrm>
              <a:off x="0" y="-38100"/>
              <a:ext cx="9217152" cy="120853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If training data lacks demographic diversity, predictions may be less accurate for underrepresented groups — actively monitored.</a:t>
              </a:r>
            </a:p>
          </p:txBody>
        </p:sp>
      </p:grpSp>
      <p:grpSp>
        <p:nvGrpSpPr>
          <p:cNvPr name="Group 32" id="32"/>
          <p:cNvGrpSpPr/>
          <p:nvPr/>
        </p:nvGrpSpPr>
        <p:grpSpPr>
          <a:xfrm rot="0">
            <a:off x="761743" y="6357871"/>
            <a:ext cx="7510777" cy="1695193"/>
            <a:chOff x="0" y="0"/>
            <a:chExt cx="10014369" cy="2260257"/>
          </a:xfrm>
        </p:grpSpPr>
        <p:sp>
          <p:nvSpPr>
            <p:cNvPr name="Freeform 33" id="33"/>
            <p:cNvSpPr/>
            <p:nvPr/>
          </p:nvSpPr>
          <p:spPr>
            <a:xfrm flipH="false" flipV="false" rot="0">
              <a:off x="8509" y="8509"/>
              <a:ext cx="9997440" cy="2243328"/>
            </a:xfrm>
            <a:custGeom>
              <a:avLst/>
              <a:gdLst/>
              <a:ahLst/>
              <a:cxnLst/>
              <a:rect r="r" b="b" t="t" l="l"/>
              <a:pathLst>
                <a:path h="2243328" w="9997440">
                  <a:moveTo>
                    <a:pt x="0" y="0"/>
                  </a:moveTo>
                  <a:lnTo>
                    <a:pt x="9997440" y="0"/>
                  </a:lnTo>
                  <a:lnTo>
                    <a:pt x="9997440" y="2243328"/>
                  </a:lnTo>
                  <a:lnTo>
                    <a:pt x="0" y="2243328"/>
                  </a:lnTo>
                  <a:close/>
                </a:path>
              </a:pathLst>
            </a:custGeom>
            <a:solidFill>
              <a:srgbClr val="0D1F38"/>
            </a:solidFill>
          </p:spPr>
        </p:sp>
        <p:sp>
          <p:nvSpPr>
            <p:cNvPr name="Freeform 34" id="34"/>
            <p:cNvSpPr/>
            <p:nvPr/>
          </p:nvSpPr>
          <p:spPr>
            <a:xfrm flipH="false" flipV="false" rot="0">
              <a:off x="0" y="0"/>
              <a:ext cx="10014458" cy="2260346"/>
            </a:xfrm>
            <a:custGeom>
              <a:avLst/>
              <a:gdLst/>
              <a:ahLst/>
              <a:cxnLst/>
              <a:rect r="r" b="b" t="t" l="l"/>
              <a:pathLst>
                <a:path h="2260346" w="10014458">
                  <a:moveTo>
                    <a:pt x="8509" y="0"/>
                  </a:moveTo>
                  <a:lnTo>
                    <a:pt x="10005949" y="0"/>
                  </a:lnTo>
                  <a:cubicBezTo>
                    <a:pt x="10010648" y="0"/>
                    <a:pt x="10014458" y="3810"/>
                    <a:pt x="10014458" y="8509"/>
                  </a:cubicBezTo>
                  <a:lnTo>
                    <a:pt x="10014458" y="2251837"/>
                  </a:lnTo>
                  <a:cubicBezTo>
                    <a:pt x="10014458" y="2256536"/>
                    <a:pt x="10010648" y="2260346"/>
                    <a:pt x="10005949" y="2260346"/>
                  </a:cubicBezTo>
                  <a:lnTo>
                    <a:pt x="8509" y="2260346"/>
                  </a:lnTo>
                  <a:cubicBezTo>
                    <a:pt x="3810" y="2260346"/>
                    <a:pt x="0" y="2256536"/>
                    <a:pt x="0" y="2251837"/>
                  </a:cubicBezTo>
                  <a:lnTo>
                    <a:pt x="0" y="8509"/>
                  </a:lnTo>
                  <a:cubicBezTo>
                    <a:pt x="0" y="3810"/>
                    <a:pt x="3810" y="0"/>
                    <a:pt x="8509" y="0"/>
                  </a:cubicBezTo>
                  <a:moveTo>
                    <a:pt x="8509" y="16891"/>
                  </a:moveTo>
                  <a:lnTo>
                    <a:pt x="8509" y="8509"/>
                  </a:lnTo>
                  <a:lnTo>
                    <a:pt x="17018" y="8509"/>
                  </a:lnTo>
                  <a:lnTo>
                    <a:pt x="17018" y="2251837"/>
                  </a:lnTo>
                  <a:lnTo>
                    <a:pt x="8509" y="2251837"/>
                  </a:lnTo>
                  <a:lnTo>
                    <a:pt x="8509" y="2243328"/>
                  </a:lnTo>
                  <a:lnTo>
                    <a:pt x="10005949" y="2243328"/>
                  </a:lnTo>
                  <a:lnTo>
                    <a:pt x="10005949" y="2251837"/>
                  </a:lnTo>
                  <a:lnTo>
                    <a:pt x="9997440" y="2251837"/>
                  </a:lnTo>
                  <a:lnTo>
                    <a:pt x="9997440" y="8509"/>
                  </a:lnTo>
                  <a:lnTo>
                    <a:pt x="10005949" y="8509"/>
                  </a:lnTo>
                  <a:lnTo>
                    <a:pt x="10005949" y="17018"/>
                  </a:lnTo>
                  <a:lnTo>
                    <a:pt x="8509" y="17018"/>
                  </a:lnTo>
                  <a:close/>
                </a:path>
              </a:pathLst>
            </a:custGeom>
            <a:solidFill>
              <a:srgbClr val="8B5CF6"/>
            </a:solidFill>
          </p:spPr>
        </p:sp>
      </p:grpSp>
      <p:grpSp>
        <p:nvGrpSpPr>
          <p:cNvPr name="Group 35" id="35"/>
          <p:cNvGrpSpPr/>
          <p:nvPr/>
        </p:nvGrpSpPr>
        <p:grpSpPr>
          <a:xfrm rot="0">
            <a:off x="1060704" y="6492240"/>
            <a:ext cx="6912864" cy="512064"/>
            <a:chOff x="0" y="0"/>
            <a:chExt cx="9217152" cy="682752"/>
          </a:xfrm>
        </p:grpSpPr>
        <p:sp>
          <p:nvSpPr>
            <p:cNvPr name="Freeform 36" id="36"/>
            <p:cNvSpPr/>
            <p:nvPr/>
          </p:nvSpPr>
          <p:spPr>
            <a:xfrm flipH="false" flipV="false" rot="0">
              <a:off x="0" y="0"/>
              <a:ext cx="9217152" cy="682752"/>
            </a:xfrm>
            <a:custGeom>
              <a:avLst/>
              <a:gdLst/>
              <a:ahLst/>
              <a:cxnLst/>
              <a:rect r="r" b="b" t="t" l="l"/>
              <a:pathLst>
                <a:path h="682752" w="9217152">
                  <a:moveTo>
                    <a:pt x="0" y="0"/>
                  </a:moveTo>
                  <a:lnTo>
                    <a:pt x="9217152" y="0"/>
                  </a:lnTo>
                  <a:lnTo>
                    <a:pt x="9217152" y="682752"/>
                  </a:lnTo>
                  <a:lnTo>
                    <a:pt x="0" y="682752"/>
                  </a:lnTo>
                  <a:close/>
                </a:path>
              </a:pathLst>
            </a:custGeom>
            <a:blipFill>
              <a:blip r:embed="rId3">
                <a:alphaModFix amt="0"/>
              </a:blip>
              <a:stretch>
                <a:fillRect l="0" t="-213048" r="0" b="-213048"/>
              </a:stretch>
            </a:blipFill>
          </p:spPr>
        </p:sp>
        <p:sp>
          <p:nvSpPr>
            <p:cNvPr name="TextBox 37" id="37"/>
            <p:cNvSpPr txBox="true"/>
            <p:nvPr/>
          </p:nvSpPr>
          <p:spPr>
            <a:xfrm>
              <a:off x="0" y="-38100"/>
              <a:ext cx="9217152" cy="720852"/>
            </a:xfrm>
            <a:prstGeom prst="rect">
              <a:avLst/>
            </a:prstGeom>
          </p:spPr>
          <p:txBody>
            <a:bodyPr anchor="ctr" rtlCol="false" tIns="0" lIns="0" bIns="0" rIns="0"/>
            <a:lstStyle/>
            <a:p>
              <a:pPr algn="l">
                <a:lnSpc>
                  <a:spcPts val="2400"/>
                </a:lnSpc>
              </a:pPr>
              <a:r>
                <a:rPr lang="en-US" sz="2000" b="true">
                  <a:solidFill>
                    <a:srgbClr val="8B5CF6"/>
                  </a:solidFill>
                  <a:latin typeface="Calibri (MS) Bold"/>
                  <a:ea typeface="Calibri (MS) Bold"/>
                  <a:cs typeface="Calibri (MS) Bold"/>
                  <a:sym typeface="Calibri (MS) Bold"/>
                </a:rPr>
                <a:t>Data volume dependency</a:t>
              </a:r>
            </a:p>
          </p:txBody>
        </p:sp>
      </p:grpSp>
      <p:grpSp>
        <p:nvGrpSpPr>
          <p:cNvPr name="Group 38" id="38"/>
          <p:cNvGrpSpPr/>
          <p:nvPr/>
        </p:nvGrpSpPr>
        <p:grpSpPr>
          <a:xfrm rot="0">
            <a:off x="1060704" y="7059168"/>
            <a:ext cx="6912864" cy="877824"/>
            <a:chOff x="0" y="0"/>
            <a:chExt cx="9217152" cy="1170432"/>
          </a:xfrm>
        </p:grpSpPr>
        <p:sp>
          <p:nvSpPr>
            <p:cNvPr name="Freeform 39" id="39"/>
            <p:cNvSpPr/>
            <p:nvPr/>
          </p:nvSpPr>
          <p:spPr>
            <a:xfrm flipH="false" flipV="false" rot="0">
              <a:off x="0" y="0"/>
              <a:ext cx="9217152" cy="1170432"/>
            </a:xfrm>
            <a:custGeom>
              <a:avLst/>
              <a:gdLst/>
              <a:ahLst/>
              <a:cxnLst/>
              <a:rect r="r" b="b" t="t" l="l"/>
              <a:pathLst>
                <a:path h="1170432" w="9217152">
                  <a:moveTo>
                    <a:pt x="0" y="0"/>
                  </a:moveTo>
                  <a:lnTo>
                    <a:pt x="9217152" y="0"/>
                  </a:lnTo>
                  <a:lnTo>
                    <a:pt x="9217152" y="1170432"/>
                  </a:lnTo>
                  <a:lnTo>
                    <a:pt x="0" y="1170432"/>
                  </a:lnTo>
                  <a:close/>
                </a:path>
              </a:pathLst>
            </a:custGeom>
            <a:blipFill>
              <a:blip r:embed="rId3">
                <a:alphaModFix amt="0"/>
              </a:blip>
              <a:stretch>
                <a:fillRect l="0" t="-103444" r="0" b="-103444"/>
              </a:stretch>
            </a:blipFill>
          </p:spPr>
        </p:sp>
        <p:sp>
          <p:nvSpPr>
            <p:cNvPr name="TextBox 40" id="40"/>
            <p:cNvSpPr txBox="true"/>
            <p:nvPr/>
          </p:nvSpPr>
          <p:spPr>
            <a:xfrm>
              <a:off x="0" y="-38100"/>
              <a:ext cx="9217152" cy="120853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Accuracy improves significantly with more patient records. The cold-start strategy mitigates this at launch.</a:t>
              </a:r>
            </a:p>
          </p:txBody>
        </p:sp>
      </p:grpSp>
      <p:grpSp>
        <p:nvGrpSpPr>
          <p:cNvPr name="Group 41" id="41"/>
          <p:cNvGrpSpPr/>
          <p:nvPr/>
        </p:nvGrpSpPr>
        <p:grpSpPr>
          <a:xfrm rot="0">
            <a:off x="9039863" y="1304039"/>
            <a:ext cx="8712203" cy="8474459"/>
            <a:chOff x="0" y="0"/>
            <a:chExt cx="11616271" cy="11299279"/>
          </a:xfrm>
        </p:grpSpPr>
        <p:sp>
          <p:nvSpPr>
            <p:cNvPr name="Freeform 42" id="42"/>
            <p:cNvSpPr/>
            <p:nvPr/>
          </p:nvSpPr>
          <p:spPr>
            <a:xfrm flipH="false" flipV="false" rot="0">
              <a:off x="16891" y="16891"/>
              <a:ext cx="11582400" cy="11265408"/>
            </a:xfrm>
            <a:custGeom>
              <a:avLst/>
              <a:gdLst/>
              <a:ahLst/>
              <a:cxnLst/>
              <a:rect r="r" b="b" t="t" l="l"/>
              <a:pathLst>
                <a:path h="11265408" w="11582400">
                  <a:moveTo>
                    <a:pt x="0" y="0"/>
                  </a:moveTo>
                  <a:lnTo>
                    <a:pt x="11582400" y="0"/>
                  </a:lnTo>
                  <a:lnTo>
                    <a:pt x="11582400" y="11265408"/>
                  </a:lnTo>
                  <a:lnTo>
                    <a:pt x="0" y="11265408"/>
                  </a:lnTo>
                  <a:close/>
                </a:path>
              </a:pathLst>
            </a:custGeom>
            <a:solidFill>
              <a:srgbClr val="FFFFFF"/>
            </a:solidFill>
          </p:spPr>
        </p:sp>
        <p:sp>
          <p:nvSpPr>
            <p:cNvPr name="Freeform 43" id="43"/>
            <p:cNvSpPr/>
            <p:nvPr/>
          </p:nvSpPr>
          <p:spPr>
            <a:xfrm flipH="false" flipV="false" rot="0">
              <a:off x="0" y="0"/>
              <a:ext cx="11616182" cy="11299190"/>
            </a:xfrm>
            <a:custGeom>
              <a:avLst/>
              <a:gdLst/>
              <a:ahLst/>
              <a:cxnLst/>
              <a:rect r="r" b="b" t="t" l="l"/>
              <a:pathLst>
                <a:path h="11299190" w="11616182">
                  <a:moveTo>
                    <a:pt x="16891" y="0"/>
                  </a:moveTo>
                  <a:lnTo>
                    <a:pt x="11599291" y="0"/>
                  </a:lnTo>
                  <a:cubicBezTo>
                    <a:pt x="11608689" y="0"/>
                    <a:pt x="11616182" y="7620"/>
                    <a:pt x="11616182" y="16891"/>
                  </a:cubicBezTo>
                  <a:lnTo>
                    <a:pt x="11616182" y="11282299"/>
                  </a:lnTo>
                  <a:cubicBezTo>
                    <a:pt x="11616182" y="11291697"/>
                    <a:pt x="11608562" y="11299190"/>
                    <a:pt x="11599291" y="11299190"/>
                  </a:cubicBezTo>
                  <a:lnTo>
                    <a:pt x="16891" y="11299190"/>
                  </a:lnTo>
                  <a:cubicBezTo>
                    <a:pt x="7493" y="11299190"/>
                    <a:pt x="0" y="11291570"/>
                    <a:pt x="0" y="11282299"/>
                  </a:cubicBezTo>
                  <a:lnTo>
                    <a:pt x="0" y="16891"/>
                  </a:lnTo>
                  <a:cubicBezTo>
                    <a:pt x="0" y="7620"/>
                    <a:pt x="7620" y="0"/>
                    <a:pt x="16891" y="0"/>
                  </a:cubicBezTo>
                  <a:moveTo>
                    <a:pt x="16891" y="33909"/>
                  </a:moveTo>
                  <a:lnTo>
                    <a:pt x="16891" y="16891"/>
                  </a:lnTo>
                  <a:lnTo>
                    <a:pt x="33909" y="16891"/>
                  </a:lnTo>
                  <a:lnTo>
                    <a:pt x="33909" y="11282299"/>
                  </a:lnTo>
                  <a:lnTo>
                    <a:pt x="16891" y="11282299"/>
                  </a:lnTo>
                  <a:lnTo>
                    <a:pt x="16891" y="11265408"/>
                  </a:lnTo>
                  <a:lnTo>
                    <a:pt x="11599291" y="11265408"/>
                  </a:lnTo>
                  <a:lnTo>
                    <a:pt x="11599291" y="11282299"/>
                  </a:lnTo>
                  <a:lnTo>
                    <a:pt x="11582400" y="11282299"/>
                  </a:lnTo>
                  <a:lnTo>
                    <a:pt x="11582400" y="16891"/>
                  </a:lnTo>
                  <a:lnTo>
                    <a:pt x="11599291" y="16891"/>
                  </a:lnTo>
                  <a:lnTo>
                    <a:pt x="11599291" y="33909"/>
                  </a:lnTo>
                  <a:lnTo>
                    <a:pt x="16891" y="33909"/>
                  </a:lnTo>
                  <a:close/>
                </a:path>
              </a:pathLst>
            </a:custGeom>
            <a:solidFill>
              <a:srgbClr val="E2E8F0"/>
            </a:solidFill>
          </p:spPr>
        </p:sp>
      </p:grpSp>
      <p:grpSp>
        <p:nvGrpSpPr>
          <p:cNvPr name="Group 44" id="44"/>
          <p:cNvGrpSpPr/>
          <p:nvPr/>
        </p:nvGrpSpPr>
        <p:grpSpPr>
          <a:xfrm rot="0">
            <a:off x="9039863" y="1304039"/>
            <a:ext cx="8712203" cy="171707"/>
            <a:chOff x="0" y="0"/>
            <a:chExt cx="11616271" cy="228943"/>
          </a:xfrm>
        </p:grpSpPr>
        <p:sp>
          <p:nvSpPr>
            <p:cNvPr name="Freeform 45" id="45"/>
            <p:cNvSpPr/>
            <p:nvPr/>
          </p:nvSpPr>
          <p:spPr>
            <a:xfrm flipH="false" flipV="false" rot="0">
              <a:off x="16891" y="16891"/>
              <a:ext cx="11582400" cy="195072"/>
            </a:xfrm>
            <a:custGeom>
              <a:avLst/>
              <a:gdLst/>
              <a:ahLst/>
              <a:cxnLst/>
              <a:rect r="r" b="b" t="t" l="l"/>
              <a:pathLst>
                <a:path h="195072" w="11582400">
                  <a:moveTo>
                    <a:pt x="0" y="0"/>
                  </a:moveTo>
                  <a:lnTo>
                    <a:pt x="11582400" y="0"/>
                  </a:lnTo>
                  <a:lnTo>
                    <a:pt x="11582400" y="195072"/>
                  </a:lnTo>
                  <a:lnTo>
                    <a:pt x="0" y="195072"/>
                  </a:lnTo>
                  <a:close/>
                </a:path>
              </a:pathLst>
            </a:custGeom>
            <a:solidFill>
              <a:srgbClr val="0D9488"/>
            </a:solidFill>
          </p:spPr>
        </p:sp>
        <p:sp>
          <p:nvSpPr>
            <p:cNvPr name="Freeform 46" id="46"/>
            <p:cNvSpPr/>
            <p:nvPr/>
          </p:nvSpPr>
          <p:spPr>
            <a:xfrm flipH="false" flipV="false" rot="0">
              <a:off x="0" y="0"/>
              <a:ext cx="11616182" cy="228856"/>
            </a:xfrm>
            <a:custGeom>
              <a:avLst/>
              <a:gdLst/>
              <a:ahLst/>
              <a:cxnLst/>
              <a:rect r="r" b="b" t="t" l="l"/>
              <a:pathLst>
                <a:path h="228856" w="11616182">
                  <a:moveTo>
                    <a:pt x="16891" y="0"/>
                  </a:moveTo>
                  <a:lnTo>
                    <a:pt x="11599291" y="0"/>
                  </a:lnTo>
                  <a:cubicBezTo>
                    <a:pt x="11608689" y="0"/>
                    <a:pt x="11616182" y="7620"/>
                    <a:pt x="11616182" y="16891"/>
                  </a:cubicBezTo>
                  <a:lnTo>
                    <a:pt x="11616182" y="211963"/>
                  </a:lnTo>
                  <a:cubicBezTo>
                    <a:pt x="11616182" y="221361"/>
                    <a:pt x="11608562" y="228854"/>
                    <a:pt x="115992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1599291" y="195072"/>
                  </a:lnTo>
                  <a:lnTo>
                    <a:pt x="11599291" y="211963"/>
                  </a:lnTo>
                  <a:lnTo>
                    <a:pt x="11582400" y="211963"/>
                  </a:lnTo>
                  <a:lnTo>
                    <a:pt x="11582400" y="16891"/>
                  </a:lnTo>
                  <a:lnTo>
                    <a:pt x="11599291" y="16891"/>
                  </a:lnTo>
                  <a:lnTo>
                    <a:pt x="11599291" y="33909"/>
                  </a:lnTo>
                  <a:lnTo>
                    <a:pt x="16891" y="33909"/>
                  </a:lnTo>
                  <a:close/>
                </a:path>
              </a:pathLst>
            </a:custGeom>
            <a:solidFill>
              <a:srgbClr val="0D9488"/>
            </a:solidFill>
          </p:spPr>
        </p:sp>
      </p:grpSp>
      <p:grpSp>
        <p:nvGrpSpPr>
          <p:cNvPr name="Group 47" id="47"/>
          <p:cNvGrpSpPr/>
          <p:nvPr/>
        </p:nvGrpSpPr>
        <p:grpSpPr>
          <a:xfrm rot="0">
            <a:off x="9326880" y="1554480"/>
            <a:ext cx="8046720" cy="548640"/>
            <a:chOff x="0" y="0"/>
            <a:chExt cx="10728960" cy="731520"/>
          </a:xfrm>
        </p:grpSpPr>
        <p:sp>
          <p:nvSpPr>
            <p:cNvPr name="Freeform 48" id="48"/>
            <p:cNvSpPr/>
            <p:nvPr/>
          </p:nvSpPr>
          <p:spPr>
            <a:xfrm flipH="false" flipV="false" rot="0">
              <a:off x="0" y="0"/>
              <a:ext cx="10728960" cy="731520"/>
            </a:xfrm>
            <a:custGeom>
              <a:avLst/>
              <a:gdLst/>
              <a:ahLst/>
              <a:cxnLst/>
              <a:rect r="r" b="b" t="t" l="l"/>
              <a:pathLst>
                <a:path h="731520" w="10728960">
                  <a:moveTo>
                    <a:pt x="0" y="0"/>
                  </a:moveTo>
                  <a:lnTo>
                    <a:pt x="10728960" y="0"/>
                  </a:lnTo>
                  <a:lnTo>
                    <a:pt x="10728960" y="731520"/>
                  </a:lnTo>
                  <a:lnTo>
                    <a:pt x="0" y="731520"/>
                  </a:lnTo>
                  <a:close/>
                </a:path>
              </a:pathLst>
            </a:custGeom>
            <a:blipFill>
              <a:blip r:embed="rId3">
                <a:alphaModFix amt="0"/>
              </a:blip>
              <a:stretch>
                <a:fillRect l="0" t="-235780" r="0" b="-235780"/>
              </a:stretch>
            </a:blipFill>
          </p:spPr>
        </p:sp>
        <p:sp>
          <p:nvSpPr>
            <p:cNvPr name="TextBox 49" id="49"/>
            <p:cNvSpPr txBox="true"/>
            <p:nvPr/>
          </p:nvSpPr>
          <p:spPr>
            <a:xfrm>
              <a:off x="0" y="-38100"/>
              <a:ext cx="10728960" cy="769620"/>
            </a:xfrm>
            <a:prstGeom prst="rect">
              <a:avLst/>
            </a:prstGeom>
          </p:spPr>
          <p:txBody>
            <a:bodyPr anchor="ctr" rtlCol="false" tIns="0" lIns="0" bIns="0" rIns="0"/>
            <a:lstStyle/>
            <a:p>
              <a:pPr algn="l">
                <a:lnSpc>
                  <a:spcPts val="2879"/>
                </a:lnSpc>
              </a:pPr>
              <a:r>
                <a:rPr lang="en-US" sz="2400" b="true">
                  <a:solidFill>
                    <a:srgbClr val="0F172A"/>
                  </a:solidFill>
                  <a:latin typeface="Calibri (MS) Bold"/>
                  <a:ea typeface="Calibri (MS) Bold"/>
                  <a:cs typeface="Calibri (MS) Bold"/>
                  <a:sym typeface="Calibri (MS) Bold"/>
                </a:rPr>
                <a:t>Future enhancements</a:t>
              </a:r>
            </a:p>
          </p:txBody>
        </p:sp>
      </p:grpSp>
      <p:grpSp>
        <p:nvGrpSpPr>
          <p:cNvPr name="Group 50" id="50"/>
          <p:cNvGrpSpPr/>
          <p:nvPr/>
        </p:nvGrpSpPr>
        <p:grpSpPr>
          <a:xfrm rot="0">
            <a:off x="9283951" y="2389375"/>
            <a:ext cx="1146553" cy="451609"/>
            <a:chOff x="0" y="0"/>
            <a:chExt cx="1528737" cy="602145"/>
          </a:xfrm>
        </p:grpSpPr>
        <p:sp>
          <p:nvSpPr>
            <p:cNvPr name="Freeform 51" id="51"/>
            <p:cNvSpPr/>
            <p:nvPr/>
          </p:nvSpPr>
          <p:spPr>
            <a:xfrm flipH="false" flipV="false" rot="0">
              <a:off x="8382" y="8509"/>
              <a:ext cx="1511935" cy="585216"/>
            </a:xfrm>
            <a:custGeom>
              <a:avLst/>
              <a:gdLst/>
              <a:ahLst/>
              <a:cxnLst/>
              <a:rect r="r" b="b" t="t" l="l"/>
              <a:pathLst>
                <a:path h="585216" w="1511935">
                  <a:moveTo>
                    <a:pt x="127" y="121920"/>
                  </a:moveTo>
                  <a:cubicBezTo>
                    <a:pt x="127" y="54610"/>
                    <a:pt x="55626" y="0"/>
                    <a:pt x="124206" y="0"/>
                  </a:cubicBezTo>
                  <a:lnTo>
                    <a:pt x="1387856" y="0"/>
                  </a:lnTo>
                  <a:cubicBezTo>
                    <a:pt x="1456309" y="0"/>
                    <a:pt x="1511935" y="54610"/>
                    <a:pt x="1511935" y="121920"/>
                  </a:cubicBezTo>
                  <a:lnTo>
                    <a:pt x="1511935" y="463296"/>
                  </a:lnTo>
                  <a:cubicBezTo>
                    <a:pt x="1511935" y="530606"/>
                    <a:pt x="1456436" y="585216"/>
                    <a:pt x="1387856" y="585216"/>
                  </a:cubicBezTo>
                  <a:lnTo>
                    <a:pt x="124079" y="585216"/>
                  </a:lnTo>
                  <a:cubicBezTo>
                    <a:pt x="55626" y="585216"/>
                    <a:pt x="0" y="530606"/>
                    <a:pt x="0" y="463296"/>
                  </a:cubicBezTo>
                  <a:close/>
                </a:path>
              </a:pathLst>
            </a:custGeom>
            <a:solidFill>
              <a:srgbClr val="CCFBF1"/>
            </a:solidFill>
          </p:spPr>
        </p:sp>
        <p:sp>
          <p:nvSpPr>
            <p:cNvPr name="Freeform 52" id="52"/>
            <p:cNvSpPr/>
            <p:nvPr/>
          </p:nvSpPr>
          <p:spPr>
            <a:xfrm flipH="false" flipV="false" rot="0">
              <a:off x="0" y="0"/>
              <a:ext cx="1528572" cy="602234"/>
            </a:xfrm>
            <a:custGeom>
              <a:avLst/>
              <a:gdLst/>
              <a:ahLst/>
              <a:cxnLst/>
              <a:rect r="r" b="b" t="t" l="l"/>
              <a:pathLst>
                <a:path h="602234" w="1528572">
                  <a:moveTo>
                    <a:pt x="0" y="130429"/>
                  </a:moveTo>
                  <a:cubicBezTo>
                    <a:pt x="0" y="58293"/>
                    <a:pt x="59436" y="0"/>
                    <a:pt x="132461" y="0"/>
                  </a:cubicBezTo>
                  <a:lnTo>
                    <a:pt x="1396111" y="0"/>
                  </a:lnTo>
                  <a:lnTo>
                    <a:pt x="1396111" y="8509"/>
                  </a:lnTo>
                  <a:lnTo>
                    <a:pt x="1396111" y="0"/>
                  </a:lnTo>
                  <a:cubicBezTo>
                    <a:pt x="1469136" y="0"/>
                    <a:pt x="1528572" y="58293"/>
                    <a:pt x="1528572" y="130429"/>
                  </a:cubicBezTo>
                  <a:lnTo>
                    <a:pt x="1520063" y="130429"/>
                  </a:lnTo>
                  <a:lnTo>
                    <a:pt x="1528572" y="130429"/>
                  </a:lnTo>
                  <a:lnTo>
                    <a:pt x="1528572" y="471805"/>
                  </a:lnTo>
                  <a:lnTo>
                    <a:pt x="1520063" y="471805"/>
                  </a:lnTo>
                  <a:lnTo>
                    <a:pt x="1528572" y="471805"/>
                  </a:lnTo>
                  <a:cubicBezTo>
                    <a:pt x="1528572" y="543941"/>
                    <a:pt x="1469136" y="602234"/>
                    <a:pt x="1396111" y="602234"/>
                  </a:cubicBezTo>
                  <a:lnTo>
                    <a:pt x="1396111" y="593725"/>
                  </a:lnTo>
                  <a:lnTo>
                    <a:pt x="1396111" y="602234"/>
                  </a:lnTo>
                  <a:lnTo>
                    <a:pt x="132461" y="602234"/>
                  </a:lnTo>
                  <a:lnTo>
                    <a:pt x="132461" y="593725"/>
                  </a:lnTo>
                  <a:lnTo>
                    <a:pt x="132461" y="602234"/>
                  </a:lnTo>
                  <a:cubicBezTo>
                    <a:pt x="59436" y="602107"/>
                    <a:pt x="0" y="543941"/>
                    <a:pt x="0" y="471805"/>
                  </a:cubicBezTo>
                  <a:lnTo>
                    <a:pt x="0" y="130429"/>
                  </a:lnTo>
                  <a:lnTo>
                    <a:pt x="8509" y="130429"/>
                  </a:lnTo>
                  <a:lnTo>
                    <a:pt x="0" y="130429"/>
                  </a:lnTo>
                  <a:moveTo>
                    <a:pt x="16891" y="130429"/>
                  </a:moveTo>
                  <a:lnTo>
                    <a:pt x="16891" y="471805"/>
                  </a:lnTo>
                  <a:lnTo>
                    <a:pt x="8509" y="471805"/>
                  </a:lnTo>
                  <a:lnTo>
                    <a:pt x="17018" y="471805"/>
                  </a:lnTo>
                  <a:cubicBezTo>
                    <a:pt x="17018" y="534289"/>
                    <a:pt x="68580" y="585216"/>
                    <a:pt x="132588" y="585216"/>
                  </a:cubicBezTo>
                  <a:lnTo>
                    <a:pt x="1396238" y="585216"/>
                  </a:lnTo>
                  <a:cubicBezTo>
                    <a:pt x="1460246" y="585216"/>
                    <a:pt x="1511808" y="534289"/>
                    <a:pt x="1511808" y="471805"/>
                  </a:cubicBezTo>
                  <a:lnTo>
                    <a:pt x="1511808" y="130429"/>
                  </a:lnTo>
                  <a:cubicBezTo>
                    <a:pt x="1511808" y="67945"/>
                    <a:pt x="1460246" y="17018"/>
                    <a:pt x="1396238" y="17018"/>
                  </a:cubicBezTo>
                  <a:lnTo>
                    <a:pt x="132461" y="17018"/>
                  </a:lnTo>
                  <a:lnTo>
                    <a:pt x="132461" y="8509"/>
                  </a:lnTo>
                  <a:lnTo>
                    <a:pt x="132461" y="17018"/>
                  </a:lnTo>
                  <a:cubicBezTo>
                    <a:pt x="68453" y="17018"/>
                    <a:pt x="16891" y="67945"/>
                    <a:pt x="16891" y="130429"/>
                  </a:cubicBezTo>
                  <a:close/>
                </a:path>
              </a:pathLst>
            </a:custGeom>
            <a:solidFill>
              <a:srgbClr val="0D9488"/>
            </a:solidFill>
          </p:spPr>
        </p:sp>
      </p:grpSp>
      <p:grpSp>
        <p:nvGrpSpPr>
          <p:cNvPr name="Group 53" id="53"/>
          <p:cNvGrpSpPr/>
          <p:nvPr/>
        </p:nvGrpSpPr>
        <p:grpSpPr>
          <a:xfrm rot="0">
            <a:off x="9290304" y="2395728"/>
            <a:ext cx="1133856" cy="438912"/>
            <a:chOff x="0" y="0"/>
            <a:chExt cx="1511808" cy="585216"/>
          </a:xfrm>
        </p:grpSpPr>
        <p:sp>
          <p:nvSpPr>
            <p:cNvPr name="Freeform 54" id="54"/>
            <p:cNvSpPr/>
            <p:nvPr/>
          </p:nvSpPr>
          <p:spPr>
            <a:xfrm flipH="false" flipV="false" rot="0">
              <a:off x="0" y="0"/>
              <a:ext cx="1511808" cy="585216"/>
            </a:xfrm>
            <a:custGeom>
              <a:avLst/>
              <a:gdLst/>
              <a:ahLst/>
              <a:cxnLst/>
              <a:rect r="r" b="b" t="t" l="l"/>
              <a:pathLst>
                <a:path h="585216" w="1511808">
                  <a:moveTo>
                    <a:pt x="0" y="0"/>
                  </a:moveTo>
                  <a:lnTo>
                    <a:pt x="1511808" y="0"/>
                  </a:lnTo>
                  <a:lnTo>
                    <a:pt x="1511808" y="585216"/>
                  </a:lnTo>
                  <a:lnTo>
                    <a:pt x="0" y="585216"/>
                  </a:lnTo>
                  <a:close/>
                </a:path>
              </a:pathLst>
            </a:custGeom>
            <a:blipFill>
              <a:blip r:embed="rId3">
                <a:alphaModFix amt="0"/>
              </a:blip>
              <a:stretch>
                <a:fillRect l="0" t="-336" r="0" b="-336"/>
              </a:stretch>
            </a:blipFill>
          </p:spPr>
        </p:sp>
        <p:sp>
          <p:nvSpPr>
            <p:cNvPr name="TextBox 55" id="55"/>
            <p:cNvSpPr txBox="true"/>
            <p:nvPr/>
          </p:nvSpPr>
          <p:spPr>
            <a:xfrm>
              <a:off x="0" y="-28575"/>
              <a:ext cx="1511808" cy="613791"/>
            </a:xfrm>
            <a:prstGeom prst="rect">
              <a:avLst/>
            </a:prstGeom>
          </p:spPr>
          <p:txBody>
            <a:bodyPr anchor="ctr" rtlCol="false" tIns="0" lIns="0" bIns="0" rIns="0"/>
            <a:lstStyle/>
            <a:p>
              <a:pPr algn="ctr">
                <a:lnSpc>
                  <a:spcPts val="1679"/>
                </a:lnSpc>
              </a:pPr>
              <a:r>
                <a:rPr lang="en-US" sz="1399" b="true">
                  <a:solidFill>
                    <a:srgbClr val="0F766E"/>
                  </a:solidFill>
                  <a:latin typeface="Calibri (MS) Bold"/>
                  <a:ea typeface="Calibri (MS) Bold"/>
                  <a:cs typeface="Calibri (MS) Bold"/>
                  <a:sym typeface="Calibri (MS) Bold"/>
                </a:rPr>
                <a:t>Phase 1</a:t>
              </a:r>
            </a:p>
          </p:txBody>
        </p:sp>
      </p:grpSp>
      <p:grpSp>
        <p:nvGrpSpPr>
          <p:cNvPr name="Group 56" id="56"/>
          <p:cNvGrpSpPr/>
          <p:nvPr/>
        </p:nvGrpSpPr>
        <p:grpSpPr>
          <a:xfrm rot="0">
            <a:off x="10570464" y="2340864"/>
            <a:ext cx="6803136" cy="548640"/>
            <a:chOff x="0" y="0"/>
            <a:chExt cx="9070848" cy="731520"/>
          </a:xfrm>
        </p:grpSpPr>
        <p:sp>
          <p:nvSpPr>
            <p:cNvPr name="Freeform 57" id="57"/>
            <p:cNvSpPr/>
            <p:nvPr/>
          </p:nvSpPr>
          <p:spPr>
            <a:xfrm flipH="false" flipV="false" rot="0">
              <a:off x="0" y="0"/>
              <a:ext cx="9070848" cy="731520"/>
            </a:xfrm>
            <a:custGeom>
              <a:avLst/>
              <a:gdLst/>
              <a:ahLst/>
              <a:cxnLst/>
              <a:rect r="r" b="b" t="t" l="l"/>
              <a:pathLst>
                <a:path h="731520" w="9070848">
                  <a:moveTo>
                    <a:pt x="0" y="0"/>
                  </a:moveTo>
                  <a:lnTo>
                    <a:pt x="9070848" y="0"/>
                  </a:lnTo>
                  <a:lnTo>
                    <a:pt x="9070848" y="731520"/>
                  </a:lnTo>
                  <a:lnTo>
                    <a:pt x="0" y="731520"/>
                  </a:lnTo>
                  <a:close/>
                </a:path>
              </a:pathLst>
            </a:custGeom>
            <a:blipFill>
              <a:blip r:embed="rId3">
                <a:alphaModFix amt="0"/>
              </a:blip>
              <a:stretch>
                <a:fillRect l="0" t="-191614" r="0" b="-191614"/>
              </a:stretch>
            </a:blipFill>
          </p:spPr>
        </p:sp>
        <p:sp>
          <p:nvSpPr>
            <p:cNvPr name="TextBox 58" id="58"/>
            <p:cNvSpPr txBox="true"/>
            <p:nvPr/>
          </p:nvSpPr>
          <p:spPr>
            <a:xfrm>
              <a:off x="0" y="-38100"/>
              <a:ext cx="9070848" cy="769620"/>
            </a:xfrm>
            <a:prstGeom prst="rect">
              <a:avLst/>
            </a:prstGeom>
          </p:spPr>
          <p:txBody>
            <a:bodyPr anchor="ctr" rtlCol="false" tIns="0" lIns="0" bIns="0" rIns="0"/>
            <a:lstStyle/>
            <a:p>
              <a:pPr algn="l">
                <a:lnSpc>
                  <a:spcPts val="2400"/>
                </a:lnSpc>
              </a:pPr>
              <a:r>
                <a:rPr lang="en-US" sz="2000" b="true">
                  <a:solidFill>
                    <a:srgbClr val="0F172A"/>
                  </a:solidFill>
                  <a:latin typeface="Calibri (MS) Bold"/>
                  <a:ea typeface="Calibri (MS) Bold"/>
                  <a:cs typeface="Calibri (MS) Bold"/>
                  <a:sym typeface="Calibri (MS) Bold"/>
                </a:rPr>
                <a:t>Hospital pilot programme</a:t>
              </a:r>
            </a:p>
          </p:txBody>
        </p:sp>
      </p:grpSp>
      <p:grpSp>
        <p:nvGrpSpPr>
          <p:cNvPr name="Group 59" id="59"/>
          <p:cNvGrpSpPr/>
          <p:nvPr/>
        </p:nvGrpSpPr>
        <p:grpSpPr>
          <a:xfrm rot="0">
            <a:off x="10570464" y="2926080"/>
            <a:ext cx="6803136" cy="621792"/>
            <a:chOff x="0" y="0"/>
            <a:chExt cx="9070848" cy="829056"/>
          </a:xfrm>
        </p:grpSpPr>
        <p:sp>
          <p:nvSpPr>
            <p:cNvPr name="Freeform 60" id="60"/>
            <p:cNvSpPr/>
            <p:nvPr/>
          </p:nvSpPr>
          <p:spPr>
            <a:xfrm flipH="false" flipV="false" rot="0">
              <a:off x="0" y="0"/>
              <a:ext cx="9070848" cy="829056"/>
            </a:xfrm>
            <a:custGeom>
              <a:avLst/>
              <a:gdLst/>
              <a:ahLst/>
              <a:cxnLst/>
              <a:rect r="r" b="b" t="t" l="l"/>
              <a:pathLst>
                <a:path h="829056" w="9070848">
                  <a:moveTo>
                    <a:pt x="0" y="0"/>
                  </a:moveTo>
                  <a:lnTo>
                    <a:pt x="9070848" y="0"/>
                  </a:lnTo>
                  <a:lnTo>
                    <a:pt x="9070848" y="829056"/>
                  </a:lnTo>
                  <a:lnTo>
                    <a:pt x="0" y="829056"/>
                  </a:lnTo>
                  <a:close/>
                </a:path>
              </a:pathLst>
            </a:custGeom>
            <a:blipFill>
              <a:blip r:embed="rId3">
                <a:alphaModFix amt="0"/>
              </a:blip>
              <a:stretch>
                <a:fillRect l="0" t="-163189" r="0" b="-163189"/>
              </a:stretch>
            </a:blipFill>
          </p:spPr>
        </p:sp>
        <p:sp>
          <p:nvSpPr>
            <p:cNvPr name="TextBox 61" id="61"/>
            <p:cNvSpPr txBox="true"/>
            <p:nvPr/>
          </p:nvSpPr>
          <p:spPr>
            <a:xfrm>
              <a:off x="0" y="-38100"/>
              <a:ext cx="9070848" cy="867156"/>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Partner with a real clinic to validate predictions with actual anonymized patient data.</a:t>
              </a:r>
            </a:p>
          </p:txBody>
        </p:sp>
      </p:grpSp>
      <p:grpSp>
        <p:nvGrpSpPr>
          <p:cNvPr name="Group 62" id="62"/>
          <p:cNvGrpSpPr/>
          <p:nvPr/>
        </p:nvGrpSpPr>
        <p:grpSpPr>
          <a:xfrm rot="0">
            <a:off x="9283951" y="3706111"/>
            <a:ext cx="1146553" cy="451609"/>
            <a:chOff x="0" y="0"/>
            <a:chExt cx="1528737" cy="602145"/>
          </a:xfrm>
        </p:grpSpPr>
        <p:sp>
          <p:nvSpPr>
            <p:cNvPr name="Freeform 63" id="63"/>
            <p:cNvSpPr/>
            <p:nvPr/>
          </p:nvSpPr>
          <p:spPr>
            <a:xfrm flipH="false" flipV="false" rot="0">
              <a:off x="8382" y="8509"/>
              <a:ext cx="1511935" cy="585216"/>
            </a:xfrm>
            <a:custGeom>
              <a:avLst/>
              <a:gdLst/>
              <a:ahLst/>
              <a:cxnLst/>
              <a:rect r="r" b="b" t="t" l="l"/>
              <a:pathLst>
                <a:path h="585216" w="1511935">
                  <a:moveTo>
                    <a:pt x="127" y="121920"/>
                  </a:moveTo>
                  <a:cubicBezTo>
                    <a:pt x="127" y="54610"/>
                    <a:pt x="55626" y="0"/>
                    <a:pt x="124206" y="0"/>
                  </a:cubicBezTo>
                  <a:lnTo>
                    <a:pt x="1387856" y="0"/>
                  </a:lnTo>
                  <a:cubicBezTo>
                    <a:pt x="1456309" y="0"/>
                    <a:pt x="1511935" y="54610"/>
                    <a:pt x="1511935" y="121920"/>
                  </a:cubicBezTo>
                  <a:lnTo>
                    <a:pt x="1511935" y="463296"/>
                  </a:lnTo>
                  <a:cubicBezTo>
                    <a:pt x="1511935" y="530606"/>
                    <a:pt x="1456436" y="585216"/>
                    <a:pt x="1387856" y="585216"/>
                  </a:cubicBezTo>
                  <a:lnTo>
                    <a:pt x="124079" y="585216"/>
                  </a:lnTo>
                  <a:cubicBezTo>
                    <a:pt x="55626" y="585216"/>
                    <a:pt x="0" y="530606"/>
                    <a:pt x="0" y="463296"/>
                  </a:cubicBezTo>
                  <a:close/>
                </a:path>
              </a:pathLst>
            </a:custGeom>
            <a:solidFill>
              <a:srgbClr val="CCFBF1"/>
            </a:solidFill>
          </p:spPr>
        </p:sp>
        <p:sp>
          <p:nvSpPr>
            <p:cNvPr name="Freeform 64" id="64"/>
            <p:cNvSpPr/>
            <p:nvPr/>
          </p:nvSpPr>
          <p:spPr>
            <a:xfrm flipH="false" flipV="false" rot="0">
              <a:off x="0" y="0"/>
              <a:ext cx="1528572" cy="602234"/>
            </a:xfrm>
            <a:custGeom>
              <a:avLst/>
              <a:gdLst/>
              <a:ahLst/>
              <a:cxnLst/>
              <a:rect r="r" b="b" t="t" l="l"/>
              <a:pathLst>
                <a:path h="602234" w="1528572">
                  <a:moveTo>
                    <a:pt x="0" y="130429"/>
                  </a:moveTo>
                  <a:cubicBezTo>
                    <a:pt x="0" y="58293"/>
                    <a:pt x="59436" y="0"/>
                    <a:pt x="132461" y="0"/>
                  </a:cubicBezTo>
                  <a:lnTo>
                    <a:pt x="1396111" y="0"/>
                  </a:lnTo>
                  <a:lnTo>
                    <a:pt x="1396111" y="8509"/>
                  </a:lnTo>
                  <a:lnTo>
                    <a:pt x="1396111" y="0"/>
                  </a:lnTo>
                  <a:cubicBezTo>
                    <a:pt x="1469136" y="0"/>
                    <a:pt x="1528572" y="58293"/>
                    <a:pt x="1528572" y="130429"/>
                  </a:cubicBezTo>
                  <a:lnTo>
                    <a:pt x="1520063" y="130429"/>
                  </a:lnTo>
                  <a:lnTo>
                    <a:pt x="1528572" y="130429"/>
                  </a:lnTo>
                  <a:lnTo>
                    <a:pt x="1528572" y="471805"/>
                  </a:lnTo>
                  <a:lnTo>
                    <a:pt x="1520063" y="471805"/>
                  </a:lnTo>
                  <a:lnTo>
                    <a:pt x="1528572" y="471805"/>
                  </a:lnTo>
                  <a:cubicBezTo>
                    <a:pt x="1528572" y="543941"/>
                    <a:pt x="1469136" y="602234"/>
                    <a:pt x="1396111" y="602234"/>
                  </a:cubicBezTo>
                  <a:lnTo>
                    <a:pt x="1396111" y="593725"/>
                  </a:lnTo>
                  <a:lnTo>
                    <a:pt x="1396111" y="602234"/>
                  </a:lnTo>
                  <a:lnTo>
                    <a:pt x="132461" y="602234"/>
                  </a:lnTo>
                  <a:lnTo>
                    <a:pt x="132461" y="593725"/>
                  </a:lnTo>
                  <a:lnTo>
                    <a:pt x="132461" y="602234"/>
                  </a:lnTo>
                  <a:cubicBezTo>
                    <a:pt x="59436" y="602107"/>
                    <a:pt x="0" y="543941"/>
                    <a:pt x="0" y="471805"/>
                  </a:cubicBezTo>
                  <a:lnTo>
                    <a:pt x="0" y="130429"/>
                  </a:lnTo>
                  <a:lnTo>
                    <a:pt x="8509" y="130429"/>
                  </a:lnTo>
                  <a:lnTo>
                    <a:pt x="0" y="130429"/>
                  </a:lnTo>
                  <a:moveTo>
                    <a:pt x="16891" y="130429"/>
                  </a:moveTo>
                  <a:lnTo>
                    <a:pt x="16891" y="471805"/>
                  </a:lnTo>
                  <a:lnTo>
                    <a:pt x="8509" y="471805"/>
                  </a:lnTo>
                  <a:lnTo>
                    <a:pt x="17018" y="471805"/>
                  </a:lnTo>
                  <a:cubicBezTo>
                    <a:pt x="17018" y="534289"/>
                    <a:pt x="68580" y="585216"/>
                    <a:pt x="132588" y="585216"/>
                  </a:cubicBezTo>
                  <a:lnTo>
                    <a:pt x="1396238" y="585216"/>
                  </a:lnTo>
                  <a:cubicBezTo>
                    <a:pt x="1460246" y="585216"/>
                    <a:pt x="1511808" y="534289"/>
                    <a:pt x="1511808" y="471805"/>
                  </a:cubicBezTo>
                  <a:lnTo>
                    <a:pt x="1511808" y="130429"/>
                  </a:lnTo>
                  <a:cubicBezTo>
                    <a:pt x="1511808" y="67945"/>
                    <a:pt x="1460246" y="17018"/>
                    <a:pt x="1396238" y="17018"/>
                  </a:cubicBezTo>
                  <a:lnTo>
                    <a:pt x="132461" y="17018"/>
                  </a:lnTo>
                  <a:lnTo>
                    <a:pt x="132461" y="8509"/>
                  </a:lnTo>
                  <a:lnTo>
                    <a:pt x="132461" y="17018"/>
                  </a:lnTo>
                  <a:cubicBezTo>
                    <a:pt x="68453" y="17018"/>
                    <a:pt x="16891" y="67945"/>
                    <a:pt x="16891" y="130429"/>
                  </a:cubicBezTo>
                  <a:close/>
                </a:path>
              </a:pathLst>
            </a:custGeom>
            <a:solidFill>
              <a:srgbClr val="0D9488"/>
            </a:solidFill>
          </p:spPr>
        </p:sp>
      </p:grpSp>
      <p:grpSp>
        <p:nvGrpSpPr>
          <p:cNvPr name="Group 65" id="65"/>
          <p:cNvGrpSpPr/>
          <p:nvPr/>
        </p:nvGrpSpPr>
        <p:grpSpPr>
          <a:xfrm rot="0">
            <a:off x="9290304" y="3712464"/>
            <a:ext cx="1133856" cy="438912"/>
            <a:chOff x="0" y="0"/>
            <a:chExt cx="1511808" cy="585216"/>
          </a:xfrm>
        </p:grpSpPr>
        <p:sp>
          <p:nvSpPr>
            <p:cNvPr name="Freeform 66" id="66"/>
            <p:cNvSpPr/>
            <p:nvPr/>
          </p:nvSpPr>
          <p:spPr>
            <a:xfrm flipH="false" flipV="false" rot="0">
              <a:off x="0" y="0"/>
              <a:ext cx="1511808" cy="585216"/>
            </a:xfrm>
            <a:custGeom>
              <a:avLst/>
              <a:gdLst/>
              <a:ahLst/>
              <a:cxnLst/>
              <a:rect r="r" b="b" t="t" l="l"/>
              <a:pathLst>
                <a:path h="585216" w="1511808">
                  <a:moveTo>
                    <a:pt x="0" y="0"/>
                  </a:moveTo>
                  <a:lnTo>
                    <a:pt x="1511808" y="0"/>
                  </a:lnTo>
                  <a:lnTo>
                    <a:pt x="1511808" y="585216"/>
                  </a:lnTo>
                  <a:lnTo>
                    <a:pt x="0" y="585216"/>
                  </a:lnTo>
                  <a:close/>
                </a:path>
              </a:pathLst>
            </a:custGeom>
            <a:blipFill>
              <a:blip r:embed="rId3">
                <a:alphaModFix amt="0"/>
              </a:blip>
              <a:stretch>
                <a:fillRect l="0" t="-336" r="0" b="-336"/>
              </a:stretch>
            </a:blipFill>
          </p:spPr>
        </p:sp>
        <p:sp>
          <p:nvSpPr>
            <p:cNvPr name="TextBox 67" id="67"/>
            <p:cNvSpPr txBox="true"/>
            <p:nvPr/>
          </p:nvSpPr>
          <p:spPr>
            <a:xfrm>
              <a:off x="0" y="-28575"/>
              <a:ext cx="1511808" cy="613791"/>
            </a:xfrm>
            <a:prstGeom prst="rect">
              <a:avLst/>
            </a:prstGeom>
          </p:spPr>
          <p:txBody>
            <a:bodyPr anchor="ctr" rtlCol="false" tIns="0" lIns="0" bIns="0" rIns="0"/>
            <a:lstStyle/>
            <a:p>
              <a:pPr algn="ctr">
                <a:lnSpc>
                  <a:spcPts val="1679"/>
                </a:lnSpc>
              </a:pPr>
              <a:r>
                <a:rPr lang="en-US" sz="1399" b="true">
                  <a:solidFill>
                    <a:srgbClr val="0F766E"/>
                  </a:solidFill>
                  <a:latin typeface="Calibri (MS) Bold"/>
                  <a:ea typeface="Calibri (MS) Bold"/>
                  <a:cs typeface="Calibri (MS) Bold"/>
                  <a:sym typeface="Calibri (MS) Bold"/>
                </a:rPr>
                <a:t>Phase 2</a:t>
              </a:r>
            </a:p>
          </p:txBody>
        </p:sp>
      </p:grpSp>
      <p:grpSp>
        <p:nvGrpSpPr>
          <p:cNvPr name="Group 68" id="68"/>
          <p:cNvGrpSpPr/>
          <p:nvPr/>
        </p:nvGrpSpPr>
        <p:grpSpPr>
          <a:xfrm rot="0">
            <a:off x="10570464" y="3657600"/>
            <a:ext cx="6803136" cy="548640"/>
            <a:chOff x="0" y="0"/>
            <a:chExt cx="9070848" cy="731520"/>
          </a:xfrm>
        </p:grpSpPr>
        <p:sp>
          <p:nvSpPr>
            <p:cNvPr name="Freeform 69" id="69"/>
            <p:cNvSpPr/>
            <p:nvPr/>
          </p:nvSpPr>
          <p:spPr>
            <a:xfrm flipH="false" flipV="false" rot="0">
              <a:off x="0" y="0"/>
              <a:ext cx="9070848" cy="731520"/>
            </a:xfrm>
            <a:custGeom>
              <a:avLst/>
              <a:gdLst/>
              <a:ahLst/>
              <a:cxnLst/>
              <a:rect r="r" b="b" t="t" l="l"/>
              <a:pathLst>
                <a:path h="731520" w="9070848">
                  <a:moveTo>
                    <a:pt x="0" y="0"/>
                  </a:moveTo>
                  <a:lnTo>
                    <a:pt x="9070848" y="0"/>
                  </a:lnTo>
                  <a:lnTo>
                    <a:pt x="9070848" y="731520"/>
                  </a:lnTo>
                  <a:lnTo>
                    <a:pt x="0" y="731520"/>
                  </a:lnTo>
                  <a:close/>
                </a:path>
              </a:pathLst>
            </a:custGeom>
            <a:blipFill>
              <a:blip r:embed="rId3">
                <a:alphaModFix amt="0"/>
              </a:blip>
              <a:stretch>
                <a:fillRect l="0" t="-191614" r="0" b="-191614"/>
              </a:stretch>
            </a:blipFill>
          </p:spPr>
        </p:sp>
        <p:sp>
          <p:nvSpPr>
            <p:cNvPr name="TextBox 70" id="70"/>
            <p:cNvSpPr txBox="true"/>
            <p:nvPr/>
          </p:nvSpPr>
          <p:spPr>
            <a:xfrm>
              <a:off x="0" y="-38100"/>
              <a:ext cx="9070848" cy="769620"/>
            </a:xfrm>
            <a:prstGeom prst="rect">
              <a:avLst/>
            </a:prstGeom>
          </p:spPr>
          <p:txBody>
            <a:bodyPr anchor="ctr" rtlCol="false" tIns="0" lIns="0" bIns="0" rIns="0"/>
            <a:lstStyle/>
            <a:p>
              <a:pPr algn="l">
                <a:lnSpc>
                  <a:spcPts val="2400"/>
                </a:lnSpc>
              </a:pPr>
              <a:r>
                <a:rPr lang="en-US" sz="2000" b="true">
                  <a:solidFill>
                    <a:srgbClr val="0F172A"/>
                  </a:solidFill>
                  <a:latin typeface="Calibri (MS) Bold"/>
                  <a:ea typeface="Calibri (MS) Bold"/>
                  <a:cs typeface="Calibri (MS) Bold"/>
                  <a:sym typeface="Calibri (MS) Bold"/>
                </a:rPr>
                <a:t>Mobile application</a:t>
              </a:r>
            </a:p>
          </p:txBody>
        </p:sp>
      </p:grpSp>
      <p:grpSp>
        <p:nvGrpSpPr>
          <p:cNvPr name="Group 71" id="71"/>
          <p:cNvGrpSpPr/>
          <p:nvPr/>
        </p:nvGrpSpPr>
        <p:grpSpPr>
          <a:xfrm rot="0">
            <a:off x="10570464" y="4242816"/>
            <a:ext cx="6803136" cy="621792"/>
            <a:chOff x="0" y="0"/>
            <a:chExt cx="9070848" cy="829056"/>
          </a:xfrm>
        </p:grpSpPr>
        <p:sp>
          <p:nvSpPr>
            <p:cNvPr name="Freeform 72" id="72"/>
            <p:cNvSpPr/>
            <p:nvPr/>
          </p:nvSpPr>
          <p:spPr>
            <a:xfrm flipH="false" flipV="false" rot="0">
              <a:off x="0" y="0"/>
              <a:ext cx="9070848" cy="829056"/>
            </a:xfrm>
            <a:custGeom>
              <a:avLst/>
              <a:gdLst/>
              <a:ahLst/>
              <a:cxnLst/>
              <a:rect r="r" b="b" t="t" l="l"/>
              <a:pathLst>
                <a:path h="829056" w="9070848">
                  <a:moveTo>
                    <a:pt x="0" y="0"/>
                  </a:moveTo>
                  <a:lnTo>
                    <a:pt x="9070848" y="0"/>
                  </a:lnTo>
                  <a:lnTo>
                    <a:pt x="9070848" y="829056"/>
                  </a:lnTo>
                  <a:lnTo>
                    <a:pt x="0" y="829056"/>
                  </a:lnTo>
                  <a:close/>
                </a:path>
              </a:pathLst>
            </a:custGeom>
            <a:blipFill>
              <a:blip r:embed="rId3">
                <a:alphaModFix amt="0"/>
              </a:blip>
              <a:stretch>
                <a:fillRect l="0" t="-163189" r="0" b="-163189"/>
              </a:stretch>
            </a:blipFill>
          </p:spPr>
        </p:sp>
        <p:sp>
          <p:nvSpPr>
            <p:cNvPr name="TextBox 73" id="73"/>
            <p:cNvSpPr txBox="true"/>
            <p:nvPr/>
          </p:nvSpPr>
          <p:spPr>
            <a:xfrm>
              <a:off x="0" y="-38100"/>
              <a:ext cx="9070848" cy="867156"/>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Allow patients to view their own risk reports and recommended actions via mobile.</a:t>
              </a:r>
            </a:p>
          </p:txBody>
        </p:sp>
      </p:grpSp>
      <p:grpSp>
        <p:nvGrpSpPr>
          <p:cNvPr name="Group 74" id="74"/>
          <p:cNvGrpSpPr/>
          <p:nvPr/>
        </p:nvGrpSpPr>
        <p:grpSpPr>
          <a:xfrm rot="0">
            <a:off x="9283951" y="5022847"/>
            <a:ext cx="1146553" cy="451609"/>
            <a:chOff x="0" y="0"/>
            <a:chExt cx="1528737" cy="602145"/>
          </a:xfrm>
        </p:grpSpPr>
        <p:sp>
          <p:nvSpPr>
            <p:cNvPr name="Freeform 75" id="75"/>
            <p:cNvSpPr/>
            <p:nvPr/>
          </p:nvSpPr>
          <p:spPr>
            <a:xfrm flipH="false" flipV="false" rot="0">
              <a:off x="8382" y="8509"/>
              <a:ext cx="1511935" cy="585216"/>
            </a:xfrm>
            <a:custGeom>
              <a:avLst/>
              <a:gdLst/>
              <a:ahLst/>
              <a:cxnLst/>
              <a:rect r="r" b="b" t="t" l="l"/>
              <a:pathLst>
                <a:path h="585216" w="1511935">
                  <a:moveTo>
                    <a:pt x="127" y="121920"/>
                  </a:moveTo>
                  <a:cubicBezTo>
                    <a:pt x="127" y="54610"/>
                    <a:pt x="55626" y="0"/>
                    <a:pt x="124206" y="0"/>
                  </a:cubicBezTo>
                  <a:lnTo>
                    <a:pt x="1387856" y="0"/>
                  </a:lnTo>
                  <a:cubicBezTo>
                    <a:pt x="1456309" y="0"/>
                    <a:pt x="1511935" y="54610"/>
                    <a:pt x="1511935" y="121920"/>
                  </a:cubicBezTo>
                  <a:lnTo>
                    <a:pt x="1511935" y="463296"/>
                  </a:lnTo>
                  <a:cubicBezTo>
                    <a:pt x="1511935" y="530606"/>
                    <a:pt x="1456436" y="585216"/>
                    <a:pt x="1387856" y="585216"/>
                  </a:cubicBezTo>
                  <a:lnTo>
                    <a:pt x="124079" y="585216"/>
                  </a:lnTo>
                  <a:cubicBezTo>
                    <a:pt x="55626" y="585216"/>
                    <a:pt x="0" y="530606"/>
                    <a:pt x="0" y="463296"/>
                  </a:cubicBezTo>
                  <a:close/>
                </a:path>
              </a:pathLst>
            </a:custGeom>
            <a:solidFill>
              <a:srgbClr val="CCFBF1"/>
            </a:solidFill>
          </p:spPr>
        </p:sp>
        <p:sp>
          <p:nvSpPr>
            <p:cNvPr name="Freeform 76" id="76"/>
            <p:cNvSpPr/>
            <p:nvPr/>
          </p:nvSpPr>
          <p:spPr>
            <a:xfrm flipH="false" flipV="false" rot="0">
              <a:off x="0" y="0"/>
              <a:ext cx="1528572" cy="602234"/>
            </a:xfrm>
            <a:custGeom>
              <a:avLst/>
              <a:gdLst/>
              <a:ahLst/>
              <a:cxnLst/>
              <a:rect r="r" b="b" t="t" l="l"/>
              <a:pathLst>
                <a:path h="602234" w="1528572">
                  <a:moveTo>
                    <a:pt x="0" y="130429"/>
                  </a:moveTo>
                  <a:cubicBezTo>
                    <a:pt x="0" y="58293"/>
                    <a:pt x="59436" y="0"/>
                    <a:pt x="132461" y="0"/>
                  </a:cubicBezTo>
                  <a:lnTo>
                    <a:pt x="1396111" y="0"/>
                  </a:lnTo>
                  <a:lnTo>
                    <a:pt x="1396111" y="8509"/>
                  </a:lnTo>
                  <a:lnTo>
                    <a:pt x="1396111" y="0"/>
                  </a:lnTo>
                  <a:cubicBezTo>
                    <a:pt x="1469136" y="0"/>
                    <a:pt x="1528572" y="58293"/>
                    <a:pt x="1528572" y="130429"/>
                  </a:cubicBezTo>
                  <a:lnTo>
                    <a:pt x="1520063" y="130429"/>
                  </a:lnTo>
                  <a:lnTo>
                    <a:pt x="1528572" y="130429"/>
                  </a:lnTo>
                  <a:lnTo>
                    <a:pt x="1528572" y="471805"/>
                  </a:lnTo>
                  <a:lnTo>
                    <a:pt x="1520063" y="471805"/>
                  </a:lnTo>
                  <a:lnTo>
                    <a:pt x="1528572" y="471805"/>
                  </a:lnTo>
                  <a:cubicBezTo>
                    <a:pt x="1528572" y="543941"/>
                    <a:pt x="1469136" y="602234"/>
                    <a:pt x="1396111" y="602234"/>
                  </a:cubicBezTo>
                  <a:lnTo>
                    <a:pt x="1396111" y="593725"/>
                  </a:lnTo>
                  <a:lnTo>
                    <a:pt x="1396111" y="602234"/>
                  </a:lnTo>
                  <a:lnTo>
                    <a:pt x="132461" y="602234"/>
                  </a:lnTo>
                  <a:lnTo>
                    <a:pt x="132461" y="593725"/>
                  </a:lnTo>
                  <a:lnTo>
                    <a:pt x="132461" y="602234"/>
                  </a:lnTo>
                  <a:cubicBezTo>
                    <a:pt x="59436" y="602107"/>
                    <a:pt x="0" y="543941"/>
                    <a:pt x="0" y="471805"/>
                  </a:cubicBezTo>
                  <a:lnTo>
                    <a:pt x="0" y="130429"/>
                  </a:lnTo>
                  <a:lnTo>
                    <a:pt x="8509" y="130429"/>
                  </a:lnTo>
                  <a:lnTo>
                    <a:pt x="0" y="130429"/>
                  </a:lnTo>
                  <a:moveTo>
                    <a:pt x="16891" y="130429"/>
                  </a:moveTo>
                  <a:lnTo>
                    <a:pt x="16891" y="471805"/>
                  </a:lnTo>
                  <a:lnTo>
                    <a:pt x="8509" y="471805"/>
                  </a:lnTo>
                  <a:lnTo>
                    <a:pt x="17018" y="471805"/>
                  </a:lnTo>
                  <a:cubicBezTo>
                    <a:pt x="17018" y="534289"/>
                    <a:pt x="68580" y="585216"/>
                    <a:pt x="132588" y="585216"/>
                  </a:cubicBezTo>
                  <a:lnTo>
                    <a:pt x="1396238" y="585216"/>
                  </a:lnTo>
                  <a:cubicBezTo>
                    <a:pt x="1460246" y="585216"/>
                    <a:pt x="1511808" y="534289"/>
                    <a:pt x="1511808" y="471805"/>
                  </a:cubicBezTo>
                  <a:lnTo>
                    <a:pt x="1511808" y="130429"/>
                  </a:lnTo>
                  <a:cubicBezTo>
                    <a:pt x="1511808" y="67945"/>
                    <a:pt x="1460246" y="17018"/>
                    <a:pt x="1396238" y="17018"/>
                  </a:cubicBezTo>
                  <a:lnTo>
                    <a:pt x="132461" y="17018"/>
                  </a:lnTo>
                  <a:lnTo>
                    <a:pt x="132461" y="8509"/>
                  </a:lnTo>
                  <a:lnTo>
                    <a:pt x="132461" y="17018"/>
                  </a:lnTo>
                  <a:cubicBezTo>
                    <a:pt x="68453" y="17018"/>
                    <a:pt x="16891" y="67945"/>
                    <a:pt x="16891" y="130429"/>
                  </a:cubicBezTo>
                  <a:close/>
                </a:path>
              </a:pathLst>
            </a:custGeom>
            <a:solidFill>
              <a:srgbClr val="0D9488"/>
            </a:solidFill>
          </p:spPr>
        </p:sp>
      </p:grpSp>
      <p:grpSp>
        <p:nvGrpSpPr>
          <p:cNvPr name="Group 77" id="77"/>
          <p:cNvGrpSpPr/>
          <p:nvPr/>
        </p:nvGrpSpPr>
        <p:grpSpPr>
          <a:xfrm rot="0">
            <a:off x="9290304" y="5029200"/>
            <a:ext cx="1133856" cy="438912"/>
            <a:chOff x="0" y="0"/>
            <a:chExt cx="1511808" cy="585216"/>
          </a:xfrm>
        </p:grpSpPr>
        <p:sp>
          <p:nvSpPr>
            <p:cNvPr name="Freeform 78" id="78"/>
            <p:cNvSpPr/>
            <p:nvPr/>
          </p:nvSpPr>
          <p:spPr>
            <a:xfrm flipH="false" flipV="false" rot="0">
              <a:off x="0" y="0"/>
              <a:ext cx="1511808" cy="585216"/>
            </a:xfrm>
            <a:custGeom>
              <a:avLst/>
              <a:gdLst/>
              <a:ahLst/>
              <a:cxnLst/>
              <a:rect r="r" b="b" t="t" l="l"/>
              <a:pathLst>
                <a:path h="585216" w="1511808">
                  <a:moveTo>
                    <a:pt x="0" y="0"/>
                  </a:moveTo>
                  <a:lnTo>
                    <a:pt x="1511808" y="0"/>
                  </a:lnTo>
                  <a:lnTo>
                    <a:pt x="1511808" y="585216"/>
                  </a:lnTo>
                  <a:lnTo>
                    <a:pt x="0" y="585216"/>
                  </a:lnTo>
                  <a:close/>
                </a:path>
              </a:pathLst>
            </a:custGeom>
            <a:blipFill>
              <a:blip r:embed="rId3">
                <a:alphaModFix amt="0"/>
              </a:blip>
              <a:stretch>
                <a:fillRect l="0" t="-336" r="0" b="-336"/>
              </a:stretch>
            </a:blipFill>
          </p:spPr>
        </p:sp>
        <p:sp>
          <p:nvSpPr>
            <p:cNvPr name="TextBox 79" id="79"/>
            <p:cNvSpPr txBox="true"/>
            <p:nvPr/>
          </p:nvSpPr>
          <p:spPr>
            <a:xfrm>
              <a:off x="0" y="-28575"/>
              <a:ext cx="1511808" cy="613791"/>
            </a:xfrm>
            <a:prstGeom prst="rect">
              <a:avLst/>
            </a:prstGeom>
          </p:spPr>
          <p:txBody>
            <a:bodyPr anchor="ctr" rtlCol="false" tIns="0" lIns="0" bIns="0" rIns="0"/>
            <a:lstStyle/>
            <a:p>
              <a:pPr algn="ctr">
                <a:lnSpc>
                  <a:spcPts val="1679"/>
                </a:lnSpc>
              </a:pPr>
              <a:r>
                <a:rPr lang="en-US" sz="1399" b="true">
                  <a:solidFill>
                    <a:srgbClr val="0F766E"/>
                  </a:solidFill>
                  <a:latin typeface="Calibri (MS) Bold"/>
                  <a:ea typeface="Calibri (MS) Bold"/>
                  <a:cs typeface="Calibri (MS) Bold"/>
                  <a:sym typeface="Calibri (MS) Bold"/>
                </a:rPr>
                <a:t>Phase 2</a:t>
              </a:r>
            </a:p>
          </p:txBody>
        </p:sp>
      </p:grpSp>
      <p:grpSp>
        <p:nvGrpSpPr>
          <p:cNvPr name="Group 80" id="80"/>
          <p:cNvGrpSpPr/>
          <p:nvPr/>
        </p:nvGrpSpPr>
        <p:grpSpPr>
          <a:xfrm rot="0">
            <a:off x="10570464" y="4974336"/>
            <a:ext cx="6803136" cy="548640"/>
            <a:chOff x="0" y="0"/>
            <a:chExt cx="9070848" cy="731520"/>
          </a:xfrm>
        </p:grpSpPr>
        <p:sp>
          <p:nvSpPr>
            <p:cNvPr name="Freeform 81" id="81"/>
            <p:cNvSpPr/>
            <p:nvPr/>
          </p:nvSpPr>
          <p:spPr>
            <a:xfrm flipH="false" flipV="false" rot="0">
              <a:off x="0" y="0"/>
              <a:ext cx="9070848" cy="731520"/>
            </a:xfrm>
            <a:custGeom>
              <a:avLst/>
              <a:gdLst/>
              <a:ahLst/>
              <a:cxnLst/>
              <a:rect r="r" b="b" t="t" l="l"/>
              <a:pathLst>
                <a:path h="731520" w="9070848">
                  <a:moveTo>
                    <a:pt x="0" y="0"/>
                  </a:moveTo>
                  <a:lnTo>
                    <a:pt x="9070848" y="0"/>
                  </a:lnTo>
                  <a:lnTo>
                    <a:pt x="9070848" y="731520"/>
                  </a:lnTo>
                  <a:lnTo>
                    <a:pt x="0" y="731520"/>
                  </a:lnTo>
                  <a:close/>
                </a:path>
              </a:pathLst>
            </a:custGeom>
            <a:blipFill>
              <a:blip r:embed="rId3">
                <a:alphaModFix amt="0"/>
              </a:blip>
              <a:stretch>
                <a:fillRect l="0" t="-191614" r="0" b="-191614"/>
              </a:stretch>
            </a:blipFill>
          </p:spPr>
        </p:sp>
        <p:sp>
          <p:nvSpPr>
            <p:cNvPr name="TextBox 82" id="82"/>
            <p:cNvSpPr txBox="true"/>
            <p:nvPr/>
          </p:nvSpPr>
          <p:spPr>
            <a:xfrm>
              <a:off x="0" y="-38100"/>
              <a:ext cx="9070848" cy="769620"/>
            </a:xfrm>
            <a:prstGeom prst="rect">
              <a:avLst/>
            </a:prstGeom>
          </p:spPr>
          <p:txBody>
            <a:bodyPr anchor="ctr" rtlCol="false" tIns="0" lIns="0" bIns="0" rIns="0"/>
            <a:lstStyle/>
            <a:p>
              <a:pPr algn="l">
                <a:lnSpc>
                  <a:spcPts val="2400"/>
                </a:lnSpc>
              </a:pPr>
              <a:r>
                <a:rPr lang="en-US" sz="2000" b="true">
                  <a:solidFill>
                    <a:srgbClr val="0F172A"/>
                  </a:solidFill>
                  <a:latin typeface="Calibri (MS) Bold"/>
                  <a:ea typeface="Calibri (MS) Bold"/>
                  <a:cs typeface="Calibri (MS) Bold"/>
                  <a:sym typeface="Calibri (MS) Bold"/>
                </a:rPr>
                <a:t>Wearable device integration</a:t>
              </a:r>
            </a:p>
          </p:txBody>
        </p:sp>
      </p:grpSp>
      <p:grpSp>
        <p:nvGrpSpPr>
          <p:cNvPr name="Group 83" id="83"/>
          <p:cNvGrpSpPr/>
          <p:nvPr/>
        </p:nvGrpSpPr>
        <p:grpSpPr>
          <a:xfrm rot="0">
            <a:off x="10570464" y="5559552"/>
            <a:ext cx="6803136" cy="621792"/>
            <a:chOff x="0" y="0"/>
            <a:chExt cx="9070848" cy="829056"/>
          </a:xfrm>
        </p:grpSpPr>
        <p:sp>
          <p:nvSpPr>
            <p:cNvPr name="Freeform 84" id="84"/>
            <p:cNvSpPr/>
            <p:nvPr/>
          </p:nvSpPr>
          <p:spPr>
            <a:xfrm flipH="false" flipV="false" rot="0">
              <a:off x="0" y="0"/>
              <a:ext cx="9070848" cy="829056"/>
            </a:xfrm>
            <a:custGeom>
              <a:avLst/>
              <a:gdLst/>
              <a:ahLst/>
              <a:cxnLst/>
              <a:rect r="r" b="b" t="t" l="l"/>
              <a:pathLst>
                <a:path h="829056" w="9070848">
                  <a:moveTo>
                    <a:pt x="0" y="0"/>
                  </a:moveTo>
                  <a:lnTo>
                    <a:pt x="9070848" y="0"/>
                  </a:lnTo>
                  <a:lnTo>
                    <a:pt x="9070848" y="829056"/>
                  </a:lnTo>
                  <a:lnTo>
                    <a:pt x="0" y="829056"/>
                  </a:lnTo>
                  <a:close/>
                </a:path>
              </a:pathLst>
            </a:custGeom>
            <a:blipFill>
              <a:blip r:embed="rId3">
                <a:alphaModFix amt="0"/>
              </a:blip>
              <a:stretch>
                <a:fillRect l="0" t="-163189" r="0" b="-163189"/>
              </a:stretch>
            </a:blipFill>
          </p:spPr>
        </p:sp>
        <p:sp>
          <p:nvSpPr>
            <p:cNvPr name="TextBox 85" id="85"/>
            <p:cNvSpPr txBox="true"/>
            <p:nvPr/>
          </p:nvSpPr>
          <p:spPr>
            <a:xfrm>
              <a:off x="0" y="-38100"/>
              <a:ext cx="9070848" cy="867156"/>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Incorporate real-time health data from smartwatches and biosensors for live monitoring.</a:t>
              </a:r>
            </a:p>
          </p:txBody>
        </p:sp>
      </p:grpSp>
      <p:grpSp>
        <p:nvGrpSpPr>
          <p:cNvPr name="Group 86" id="86"/>
          <p:cNvGrpSpPr/>
          <p:nvPr/>
        </p:nvGrpSpPr>
        <p:grpSpPr>
          <a:xfrm rot="0">
            <a:off x="9283951" y="6339583"/>
            <a:ext cx="1146553" cy="451609"/>
            <a:chOff x="0" y="0"/>
            <a:chExt cx="1528737" cy="602145"/>
          </a:xfrm>
        </p:grpSpPr>
        <p:sp>
          <p:nvSpPr>
            <p:cNvPr name="Freeform 87" id="87"/>
            <p:cNvSpPr/>
            <p:nvPr/>
          </p:nvSpPr>
          <p:spPr>
            <a:xfrm flipH="false" flipV="false" rot="0">
              <a:off x="8382" y="8509"/>
              <a:ext cx="1511935" cy="585216"/>
            </a:xfrm>
            <a:custGeom>
              <a:avLst/>
              <a:gdLst/>
              <a:ahLst/>
              <a:cxnLst/>
              <a:rect r="r" b="b" t="t" l="l"/>
              <a:pathLst>
                <a:path h="585216" w="1511935">
                  <a:moveTo>
                    <a:pt x="127" y="121920"/>
                  </a:moveTo>
                  <a:cubicBezTo>
                    <a:pt x="127" y="54610"/>
                    <a:pt x="55626" y="0"/>
                    <a:pt x="124206" y="0"/>
                  </a:cubicBezTo>
                  <a:lnTo>
                    <a:pt x="1387856" y="0"/>
                  </a:lnTo>
                  <a:cubicBezTo>
                    <a:pt x="1456309" y="0"/>
                    <a:pt x="1511935" y="54610"/>
                    <a:pt x="1511935" y="121920"/>
                  </a:cubicBezTo>
                  <a:lnTo>
                    <a:pt x="1511935" y="463296"/>
                  </a:lnTo>
                  <a:cubicBezTo>
                    <a:pt x="1511935" y="530606"/>
                    <a:pt x="1456436" y="585216"/>
                    <a:pt x="1387856" y="585216"/>
                  </a:cubicBezTo>
                  <a:lnTo>
                    <a:pt x="124079" y="585216"/>
                  </a:lnTo>
                  <a:cubicBezTo>
                    <a:pt x="55626" y="585216"/>
                    <a:pt x="0" y="530606"/>
                    <a:pt x="0" y="463296"/>
                  </a:cubicBezTo>
                  <a:close/>
                </a:path>
              </a:pathLst>
            </a:custGeom>
            <a:solidFill>
              <a:srgbClr val="CCFBF1"/>
            </a:solidFill>
          </p:spPr>
        </p:sp>
        <p:sp>
          <p:nvSpPr>
            <p:cNvPr name="Freeform 88" id="88"/>
            <p:cNvSpPr/>
            <p:nvPr/>
          </p:nvSpPr>
          <p:spPr>
            <a:xfrm flipH="false" flipV="false" rot="0">
              <a:off x="0" y="0"/>
              <a:ext cx="1528572" cy="602234"/>
            </a:xfrm>
            <a:custGeom>
              <a:avLst/>
              <a:gdLst/>
              <a:ahLst/>
              <a:cxnLst/>
              <a:rect r="r" b="b" t="t" l="l"/>
              <a:pathLst>
                <a:path h="602234" w="1528572">
                  <a:moveTo>
                    <a:pt x="0" y="130429"/>
                  </a:moveTo>
                  <a:cubicBezTo>
                    <a:pt x="0" y="58293"/>
                    <a:pt x="59436" y="0"/>
                    <a:pt x="132461" y="0"/>
                  </a:cubicBezTo>
                  <a:lnTo>
                    <a:pt x="1396111" y="0"/>
                  </a:lnTo>
                  <a:lnTo>
                    <a:pt x="1396111" y="8509"/>
                  </a:lnTo>
                  <a:lnTo>
                    <a:pt x="1396111" y="0"/>
                  </a:lnTo>
                  <a:cubicBezTo>
                    <a:pt x="1469136" y="0"/>
                    <a:pt x="1528572" y="58293"/>
                    <a:pt x="1528572" y="130429"/>
                  </a:cubicBezTo>
                  <a:lnTo>
                    <a:pt x="1520063" y="130429"/>
                  </a:lnTo>
                  <a:lnTo>
                    <a:pt x="1528572" y="130429"/>
                  </a:lnTo>
                  <a:lnTo>
                    <a:pt x="1528572" y="471805"/>
                  </a:lnTo>
                  <a:lnTo>
                    <a:pt x="1520063" y="471805"/>
                  </a:lnTo>
                  <a:lnTo>
                    <a:pt x="1528572" y="471805"/>
                  </a:lnTo>
                  <a:cubicBezTo>
                    <a:pt x="1528572" y="543941"/>
                    <a:pt x="1469136" y="602234"/>
                    <a:pt x="1396111" y="602234"/>
                  </a:cubicBezTo>
                  <a:lnTo>
                    <a:pt x="1396111" y="593725"/>
                  </a:lnTo>
                  <a:lnTo>
                    <a:pt x="1396111" y="602234"/>
                  </a:lnTo>
                  <a:lnTo>
                    <a:pt x="132461" y="602234"/>
                  </a:lnTo>
                  <a:lnTo>
                    <a:pt x="132461" y="593725"/>
                  </a:lnTo>
                  <a:lnTo>
                    <a:pt x="132461" y="602234"/>
                  </a:lnTo>
                  <a:cubicBezTo>
                    <a:pt x="59436" y="602107"/>
                    <a:pt x="0" y="543941"/>
                    <a:pt x="0" y="471805"/>
                  </a:cubicBezTo>
                  <a:lnTo>
                    <a:pt x="0" y="130429"/>
                  </a:lnTo>
                  <a:lnTo>
                    <a:pt x="8509" y="130429"/>
                  </a:lnTo>
                  <a:lnTo>
                    <a:pt x="0" y="130429"/>
                  </a:lnTo>
                  <a:moveTo>
                    <a:pt x="16891" y="130429"/>
                  </a:moveTo>
                  <a:lnTo>
                    <a:pt x="16891" y="471805"/>
                  </a:lnTo>
                  <a:lnTo>
                    <a:pt x="8509" y="471805"/>
                  </a:lnTo>
                  <a:lnTo>
                    <a:pt x="17018" y="471805"/>
                  </a:lnTo>
                  <a:cubicBezTo>
                    <a:pt x="17018" y="534289"/>
                    <a:pt x="68580" y="585216"/>
                    <a:pt x="132588" y="585216"/>
                  </a:cubicBezTo>
                  <a:lnTo>
                    <a:pt x="1396238" y="585216"/>
                  </a:lnTo>
                  <a:cubicBezTo>
                    <a:pt x="1460246" y="585216"/>
                    <a:pt x="1511808" y="534289"/>
                    <a:pt x="1511808" y="471805"/>
                  </a:cubicBezTo>
                  <a:lnTo>
                    <a:pt x="1511808" y="130429"/>
                  </a:lnTo>
                  <a:cubicBezTo>
                    <a:pt x="1511808" y="67945"/>
                    <a:pt x="1460246" y="17018"/>
                    <a:pt x="1396238" y="17018"/>
                  </a:cubicBezTo>
                  <a:lnTo>
                    <a:pt x="132461" y="17018"/>
                  </a:lnTo>
                  <a:lnTo>
                    <a:pt x="132461" y="8509"/>
                  </a:lnTo>
                  <a:lnTo>
                    <a:pt x="132461" y="17018"/>
                  </a:lnTo>
                  <a:cubicBezTo>
                    <a:pt x="68453" y="17018"/>
                    <a:pt x="16891" y="67945"/>
                    <a:pt x="16891" y="130429"/>
                  </a:cubicBezTo>
                  <a:close/>
                </a:path>
              </a:pathLst>
            </a:custGeom>
            <a:solidFill>
              <a:srgbClr val="0D9488"/>
            </a:solidFill>
          </p:spPr>
        </p:sp>
      </p:grpSp>
      <p:grpSp>
        <p:nvGrpSpPr>
          <p:cNvPr name="Group 89" id="89"/>
          <p:cNvGrpSpPr/>
          <p:nvPr/>
        </p:nvGrpSpPr>
        <p:grpSpPr>
          <a:xfrm rot="0">
            <a:off x="9290304" y="6345936"/>
            <a:ext cx="1133856" cy="438912"/>
            <a:chOff x="0" y="0"/>
            <a:chExt cx="1511808" cy="585216"/>
          </a:xfrm>
        </p:grpSpPr>
        <p:sp>
          <p:nvSpPr>
            <p:cNvPr name="Freeform 90" id="90"/>
            <p:cNvSpPr/>
            <p:nvPr/>
          </p:nvSpPr>
          <p:spPr>
            <a:xfrm flipH="false" flipV="false" rot="0">
              <a:off x="0" y="0"/>
              <a:ext cx="1511808" cy="585216"/>
            </a:xfrm>
            <a:custGeom>
              <a:avLst/>
              <a:gdLst/>
              <a:ahLst/>
              <a:cxnLst/>
              <a:rect r="r" b="b" t="t" l="l"/>
              <a:pathLst>
                <a:path h="585216" w="1511808">
                  <a:moveTo>
                    <a:pt x="0" y="0"/>
                  </a:moveTo>
                  <a:lnTo>
                    <a:pt x="1511808" y="0"/>
                  </a:lnTo>
                  <a:lnTo>
                    <a:pt x="1511808" y="585216"/>
                  </a:lnTo>
                  <a:lnTo>
                    <a:pt x="0" y="585216"/>
                  </a:lnTo>
                  <a:close/>
                </a:path>
              </a:pathLst>
            </a:custGeom>
            <a:blipFill>
              <a:blip r:embed="rId3">
                <a:alphaModFix amt="0"/>
              </a:blip>
              <a:stretch>
                <a:fillRect l="0" t="-336" r="0" b="-336"/>
              </a:stretch>
            </a:blipFill>
          </p:spPr>
        </p:sp>
        <p:sp>
          <p:nvSpPr>
            <p:cNvPr name="TextBox 91" id="91"/>
            <p:cNvSpPr txBox="true"/>
            <p:nvPr/>
          </p:nvSpPr>
          <p:spPr>
            <a:xfrm>
              <a:off x="0" y="-28575"/>
              <a:ext cx="1511808" cy="613791"/>
            </a:xfrm>
            <a:prstGeom prst="rect">
              <a:avLst/>
            </a:prstGeom>
          </p:spPr>
          <p:txBody>
            <a:bodyPr anchor="ctr" rtlCol="false" tIns="0" lIns="0" bIns="0" rIns="0"/>
            <a:lstStyle/>
            <a:p>
              <a:pPr algn="ctr">
                <a:lnSpc>
                  <a:spcPts val="1679"/>
                </a:lnSpc>
              </a:pPr>
              <a:r>
                <a:rPr lang="en-US" sz="1399" b="true">
                  <a:solidFill>
                    <a:srgbClr val="0F766E"/>
                  </a:solidFill>
                  <a:latin typeface="Calibri (MS) Bold"/>
                  <a:ea typeface="Calibri (MS) Bold"/>
                  <a:cs typeface="Calibri (MS) Bold"/>
                  <a:sym typeface="Calibri (MS) Bold"/>
                </a:rPr>
                <a:t>Phase 3</a:t>
              </a:r>
            </a:p>
          </p:txBody>
        </p:sp>
      </p:grpSp>
      <p:grpSp>
        <p:nvGrpSpPr>
          <p:cNvPr name="Group 92" id="92"/>
          <p:cNvGrpSpPr/>
          <p:nvPr/>
        </p:nvGrpSpPr>
        <p:grpSpPr>
          <a:xfrm rot="0">
            <a:off x="10570464" y="6291072"/>
            <a:ext cx="6803136" cy="548640"/>
            <a:chOff x="0" y="0"/>
            <a:chExt cx="9070848" cy="731520"/>
          </a:xfrm>
        </p:grpSpPr>
        <p:sp>
          <p:nvSpPr>
            <p:cNvPr name="Freeform 93" id="93"/>
            <p:cNvSpPr/>
            <p:nvPr/>
          </p:nvSpPr>
          <p:spPr>
            <a:xfrm flipH="false" flipV="false" rot="0">
              <a:off x="0" y="0"/>
              <a:ext cx="9070848" cy="731520"/>
            </a:xfrm>
            <a:custGeom>
              <a:avLst/>
              <a:gdLst/>
              <a:ahLst/>
              <a:cxnLst/>
              <a:rect r="r" b="b" t="t" l="l"/>
              <a:pathLst>
                <a:path h="731520" w="9070848">
                  <a:moveTo>
                    <a:pt x="0" y="0"/>
                  </a:moveTo>
                  <a:lnTo>
                    <a:pt x="9070848" y="0"/>
                  </a:lnTo>
                  <a:lnTo>
                    <a:pt x="9070848" y="731520"/>
                  </a:lnTo>
                  <a:lnTo>
                    <a:pt x="0" y="731520"/>
                  </a:lnTo>
                  <a:close/>
                </a:path>
              </a:pathLst>
            </a:custGeom>
            <a:blipFill>
              <a:blip r:embed="rId3">
                <a:alphaModFix amt="0"/>
              </a:blip>
              <a:stretch>
                <a:fillRect l="0" t="-191614" r="0" b="-191614"/>
              </a:stretch>
            </a:blipFill>
          </p:spPr>
        </p:sp>
        <p:sp>
          <p:nvSpPr>
            <p:cNvPr name="TextBox 94" id="94"/>
            <p:cNvSpPr txBox="true"/>
            <p:nvPr/>
          </p:nvSpPr>
          <p:spPr>
            <a:xfrm>
              <a:off x="0" y="-38100"/>
              <a:ext cx="9070848" cy="769620"/>
            </a:xfrm>
            <a:prstGeom prst="rect">
              <a:avLst/>
            </a:prstGeom>
          </p:spPr>
          <p:txBody>
            <a:bodyPr anchor="ctr" rtlCol="false" tIns="0" lIns="0" bIns="0" rIns="0"/>
            <a:lstStyle/>
            <a:p>
              <a:pPr algn="l">
                <a:lnSpc>
                  <a:spcPts val="2400"/>
                </a:lnSpc>
              </a:pPr>
              <a:r>
                <a:rPr lang="en-US" sz="2000" b="true">
                  <a:solidFill>
                    <a:srgbClr val="0F172A"/>
                  </a:solidFill>
                  <a:latin typeface="Calibri (MS) Bold"/>
                  <a:ea typeface="Calibri (MS) Bold"/>
                  <a:cs typeface="Calibri (MS) Bold"/>
                  <a:sym typeface="Calibri (MS) Bold"/>
                </a:rPr>
                <a:t>Multi-language support</a:t>
              </a:r>
            </a:p>
          </p:txBody>
        </p:sp>
      </p:grpSp>
      <p:grpSp>
        <p:nvGrpSpPr>
          <p:cNvPr name="Group 95" id="95"/>
          <p:cNvGrpSpPr/>
          <p:nvPr/>
        </p:nvGrpSpPr>
        <p:grpSpPr>
          <a:xfrm rot="0">
            <a:off x="10570464" y="6876288"/>
            <a:ext cx="6803136" cy="621792"/>
            <a:chOff x="0" y="0"/>
            <a:chExt cx="9070848" cy="829056"/>
          </a:xfrm>
        </p:grpSpPr>
        <p:sp>
          <p:nvSpPr>
            <p:cNvPr name="Freeform 96" id="96"/>
            <p:cNvSpPr/>
            <p:nvPr/>
          </p:nvSpPr>
          <p:spPr>
            <a:xfrm flipH="false" flipV="false" rot="0">
              <a:off x="0" y="0"/>
              <a:ext cx="9070848" cy="829056"/>
            </a:xfrm>
            <a:custGeom>
              <a:avLst/>
              <a:gdLst/>
              <a:ahLst/>
              <a:cxnLst/>
              <a:rect r="r" b="b" t="t" l="l"/>
              <a:pathLst>
                <a:path h="829056" w="9070848">
                  <a:moveTo>
                    <a:pt x="0" y="0"/>
                  </a:moveTo>
                  <a:lnTo>
                    <a:pt x="9070848" y="0"/>
                  </a:lnTo>
                  <a:lnTo>
                    <a:pt x="9070848" y="829056"/>
                  </a:lnTo>
                  <a:lnTo>
                    <a:pt x="0" y="829056"/>
                  </a:lnTo>
                  <a:close/>
                </a:path>
              </a:pathLst>
            </a:custGeom>
            <a:blipFill>
              <a:blip r:embed="rId3">
                <a:alphaModFix amt="0"/>
              </a:blip>
              <a:stretch>
                <a:fillRect l="0" t="-163189" r="0" b="-163189"/>
              </a:stretch>
            </a:blipFill>
          </p:spPr>
        </p:sp>
        <p:sp>
          <p:nvSpPr>
            <p:cNvPr name="TextBox 97" id="97"/>
            <p:cNvSpPr txBox="true"/>
            <p:nvPr/>
          </p:nvSpPr>
          <p:spPr>
            <a:xfrm>
              <a:off x="0" y="-38100"/>
              <a:ext cx="9070848" cy="867156"/>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Expand access to rural and non-English-speaking communities across East Africa.</a:t>
              </a:r>
            </a:p>
          </p:txBody>
        </p:sp>
      </p:grpSp>
      <p:grpSp>
        <p:nvGrpSpPr>
          <p:cNvPr name="Group 98" id="98"/>
          <p:cNvGrpSpPr/>
          <p:nvPr/>
        </p:nvGrpSpPr>
        <p:grpSpPr>
          <a:xfrm rot="0">
            <a:off x="9283951" y="7656319"/>
            <a:ext cx="1146553" cy="451609"/>
            <a:chOff x="0" y="0"/>
            <a:chExt cx="1528737" cy="602145"/>
          </a:xfrm>
        </p:grpSpPr>
        <p:sp>
          <p:nvSpPr>
            <p:cNvPr name="Freeform 99" id="99"/>
            <p:cNvSpPr/>
            <p:nvPr/>
          </p:nvSpPr>
          <p:spPr>
            <a:xfrm flipH="false" flipV="false" rot="0">
              <a:off x="8382" y="8509"/>
              <a:ext cx="1511935" cy="585216"/>
            </a:xfrm>
            <a:custGeom>
              <a:avLst/>
              <a:gdLst/>
              <a:ahLst/>
              <a:cxnLst/>
              <a:rect r="r" b="b" t="t" l="l"/>
              <a:pathLst>
                <a:path h="585216" w="1511935">
                  <a:moveTo>
                    <a:pt x="127" y="121920"/>
                  </a:moveTo>
                  <a:cubicBezTo>
                    <a:pt x="127" y="54610"/>
                    <a:pt x="55626" y="0"/>
                    <a:pt x="124206" y="0"/>
                  </a:cubicBezTo>
                  <a:lnTo>
                    <a:pt x="1387856" y="0"/>
                  </a:lnTo>
                  <a:cubicBezTo>
                    <a:pt x="1456309" y="0"/>
                    <a:pt x="1511935" y="54610"/>
                    <a:pt x="1511935" y="121920"/>
                  </a:cubicBezTo>
                  <a:lnTo>
                    <a:pt x="1511935" y="463296"/>
                  </a:lnTo>
                  <a:cubicBezTo>
                    <a:pt x="1511935" y="530606"/>
                    <a:pt x="1456436" y="585216"/>
                    <a:pt x="1387856" y="585216"/>
                  </a:cubicBezTo>
                  <a:lnTo>
                    <a:pt x="124079" y="585216"/>
                  </a:lnTo>
                  <a:cubicBezTo>
                    <a:pt x="55626" y="585216"/>
                    <a:pt x="0" y="530606"/>
                    <a:pt x="0" y="463296"/>
                  </a:cubicBezTo>
                  <a:close/>
                </a:path>
              </a:pathLst>
            </a:custGeom>
            <a:solidFill>
              <a:srgbClr val="CCFBF1"/>
            </a:solidFill>
          </p:spPr>
        </p:sp>
        <p:sp>
          <p:nvSpPr>
            <p:cNvPr name="Freeform 100" id="100"/>
            <p:cNvSpPr/>
            <p:nvPr/>
          </p:nvSpPr>
          <p:spPr>
            <a:xfrm flipH="false" flipV="false" rot="0">
              <a:off x="0" y="0"/>
              <a:ext cx="1528572" cy="602234"/>
            </a:xfrm>
            <a:custGeom>
              <a:avLst/>
              <a:gdLst/>
              <a:ahLst/>
              <a:cxnLst/>
              <a:rect r="r" b="b" t="t" l="l"/>
              <a:pathLst>
                <a:path h="602234" w="1528572">
                  <a:moveTo>
                    <a:pt x="0" y="130429"/>
                  </a:moveTo>
                  <a:cubicBezTo>
                    <a:pt x="0" y="58293"/>
                    <a:pt x="59436" y="0"/>
                    <a:pt x="132461" y="0"/>
                  </a:cubicBezTo>
                  <a:lnTo>
                    <a:pt x="1396111" y="0"/>
                  </a:lnTo>
                  <a:lnTo>
                    <a:pt x="1396111" y="8509"/>
                  </a:lnTo>
                  <a:lnTo>
                    <a:pt x="1396111" y="0"/>
                  </a:lnTo>
                  <a:cubicBezTo>
                    <a:pt x="1469136" y="0"/>
                    <a:pt x="1528572" y="58293"/>
                    <a:pt x="1528572" y="130429"/>
                  </a:cubicBezTo>
                  <a:lnTo>
                    <a:pt x="1520063" y="130429"/>
                  </a:lnTo>
                  <a:lnTo>
                    <a:pt x="1528572" y="130429"/>
                  </a:lnTo>
                  <a:lnTo>
                    <a:pt x="1528572" y="471805"/>
                  </a:lnTo>
                  <a:lnTo>
                    <a:pt x="1520063" y="471805"/>
                  </a:lnTo>
                  <a:lnTo>
                    <a:pt x="1528572" y="471805"/>
                  </a:lnTo>
                  <a:cubicBezTo>
                    <a:pt x="1528572" y="543941"/>
                    <a:pt x="1469136" y="602234"/>
                    <a:pt x="1396111" y="602234"/>
                  </a:cubicBezTo>
                  <a:lnTo>
                    <a:pt x="1396111" y="593725"/>
                  </a:lnTo>
                  <a:lnTo>
                    <a:pt x="1396111" y="602234"/>
                  </a:lnTo>
                  <a:lnTo>
                    <a:pt x="132461" y="602234"/>
                  </a:lnTo>
                  <a:lnTo>
                    <a:pt x="132461" y="593725"/>
                  </a:lnTo>
                  <a:lnTo>
                    <a:pt x="132461" y="602234"/>
                  </a:lnTo>
                  <a:cubicBezTo>
                    <a:pt x="59436" y="602107"/>
                    <a:pt x="0" y="543941"/>
                    <a:pt x="0" y="471805"/>
                  </a:cubicBezTo>
                  <a:lnTo>
                    <a:pt x="0" y="130429"/>
                  </a:lnTo>
                  <a:lnTo>
                    <a:pt x="8509" y="130429"/>
                  </a:lnTo>
                  <a:lnTo>
                    <a:pt x="0" y="130429"/>
                  </a:lnTo>
                  <a:moveTo>
                    <a:pt x="16891" y="130429"/>
                  </a:moveTo>
                  <a:lnTo>
                    <a:pt x="16891" y="471805"/>
                  </a:lnTo>
                  <a:lnTo>
                    <a:pt x="8509" y="471805"/>
                  </a:lnTo>
                  <a:lnTo>
                    <a:pt x="17018" y="471805"/>
                  </a:lnTo>
                  <a:cubicBezTo>
                    <a:pt x="17018" y="534289"/>
                    <a:pt x="68580" y="585216"/>
                    <a:pt x="132588" y="585216"/>
                  </a:cubicBezTo>
                  <a:lnTo>
                    <a:pt x="1396238" y="585216"/>
                  </a:lnTo>
                  <a:cubicBezTo>
                    <a:pt x="1460246" y="585216"/>
                    <a:pt x="1511808" y="534289"/>
                    <a:pt x="1511808" y="471805"/>
                  </a:cubicBezTo>
                  <a:lnTo>
                    <a:pt x="1511808" y="130429"/>
                  </a:lnTo>
                  <a:cubicBezTo>
                    <a:pt x="1511808" y="67945"/>
                    <a:pt x="1460246" y="17018"/>
                    <a:pt x="1396238" y="17018"/>
                  </a:cubicBezTo>
                  <a:lnTo>
                    <a:pt x="132461" y="17018"/>
                  </a:lnTo>
                  <a:lnTo>
                    <a:pt x="132461" y="8509"/>
                  </a:lnTo>
                  <a:lnTo>
                    <a:pt x="132461" y="17018"/>
                  </a:lnTo>
                  <a:cubicBezTo>
                    <a:pt x="68453" y="17018"/>
                    <a:pt x="16891" y="67945"/>
                    <a:pt x="16891" y="130429"/>
                  </a:cubicBezTo>
                  <a:close/>
                </a:path>
              </a:pathLst>
            </a:custGeom>
            <a:solidFill>
              <a:srgbClr val="0D9488"/>
            </a:solidFill>
          </p:spPr>
        </p:sp>
      </p:grpSp>
      <p:grpSp>
        <p:nvGrpSpPr>
          <p:cNvPr name="Group 101" id="101"/>
          <p:cNvGrpSpPr/>
          <p:nvPr/>
        </p:nvGrpSpPr>
        <p:grpSpPr>
          <a:xfrm rot="0">
            <a:off x="9290304" y="7662672"/>
            <a:ext cx="1133856" cy="438912"/>
            <a:chOff x="0" y="0"/>
            <a:chExt cx="1511808" cy="585216"/>
          </a:xfrm>
        </p:grpSpPr>
        <p:sp>
          <p:nvSpPr>
            <p:cNvPr name="Freeform 102" id="102"/>
            <p:cNvSpPr/>
            <p:nvPr/>
          </p:nvSpPr>
          <p:spPr>
            <a:xfrm flipH="false" flipV="false" rot="0">
              <a:off x="0" y="0"/>
              <a:ext cx="1511808" cy="585216"/>
            </a:xfrm>
            <a:custGeom>
              <a:avLst/>
              <a:gdLst/>
              <a:ahLst/>
              <a:cxnLst/>
              <a:rect r="r" b="b" t="t" l="l"/>
              <a:pathLst>
                <a:path h="585216" w="1511808">
                  <a:moveTo>
                    <a:pt x="0" y="0"/>
                  </a:moveTo>
                  <a:lnTo>
                    <a:pt x="1511808" y="0"/>
                  </a:lnTo>
                  <a:lnTo>
                    <a:pt x="1511808" y="585216"/>
                  </a:lnTo>
                  <a:lnTo>
                    <a:pt x="0" y="585216"/>
                  </a:lnTo>
                  <a:close/>
                </a:path>
              </a:pathLst>
            </a:custGeom>
            <a:blipFill>
              <a:blip r:embed="rId3">
                <a:alphaModFix amt="0"/>
              </a:blip>
              <a:stretch>
                <a:fillRect l="0" t="-336" r="0" b="-336"/>
              </a:stretch>
            </a:blipFill>
          </p:spPr>
        </p:sp>
        <p:sp>
          <p:nvSpPr>
            <p:cNvPr name="TextBox 103" id="103"/>
            <p:cNvSpPr txBox="true"/>
            <p:nvPr/>
          </p:nvSpPr>
          <p:spPr>
            <a:xfrm>
              <a:off x="0" y="-28575"/>
              <a:ext cx="1511808" cy="613791"/>
            </a:xfrm>
            <a:prstGeom prst="rect">
              <a:avLst/>
            </a:prstGeom>
          </p:spPr>
          <p:txBody>
            <a:bodyPr anchor="ctr" rtlCol="false" tIns="0" lIns="0" bIns="0" rIns="0"/>
            <a:lstStyle/>
            <a:p>
              <a:pPr algn="ctr">
                <a:lnSpc>
                  <a:spcPts val="1679"/>
                </a:lnSpc>
              </a:pPr>
              <a:r>
                <a:rPr lang="en-US" sz="1399" b="true">
                  <a:solidFill>
                    <a:srgbClr val="0F766E"/>
                  </a:solidFill>
                  <a:latin typeface="Calibri (MS) Bold"/>
                  <a:ea typeface="Calibri (MS) Bold"/>
                  <a:cs typeface="Calibri (MS) Bold"/>
                  <a:sym typeface="Calibri (MS) Bold"/>
                </a:rPr>
                <a:t>Phase 3</a:t>
              </a:r>
            </a:p>
          </p:txBody>
        </p:sp>
      </p:grpSp>
      <p:grpSp>
        <p:nvGrpSpPr>
          <p:cNvPr name="Group 104" id="104"/>
          <p:cNvGrpSpPr/>
          <p:nvPr/>
        </p:nvGrpSpPr>
        <p:grpSpPr>
          <a:xfrm rot="0">
            <a:off x="10570464" y="7607808"/>
            <a:ext cx="6803136" cy="548640"/>
            <a:chOff x="0" y="0"/>
            <a:chExt cx="9070848" cy="731520"/>
          </a:xfrm>
        </p:grpSpPr>
        <p:sp>
          <p:nvSpPr>
            <p:cNvPr name="Freeform 105" id="105"/>
            <p:cNvSpPr/>
            <p:nvPr/>
          </p:nvSpPr>
          <p:spPr>
            <a:xfrm flipH="false" flipV="false" rot="0">
              <a:off x="0" y="0"/>
              <a:ext cx="9070848" cy="731520"/>
            </a:xfrm>
            <a:custGeom>
              <a:avLst/>
              <a:gdLst/>
              <a:ahLst/>
              <a:cxnLst/>
              <a:rect r="r" b="b" t="t" l="l"/>
              <a:pathLst>
                <a:path h="731520" w="9070848">
                  <a:moveTo>
                    <a:pt x="0" y="0"/>
                  </a:moveTo>
                  <a:lnTo>
                    <a:pt x="9070848" y="0"/>
                  </a:lnTo>
                  <a:lnTo>
                    <a:pt x="9070848" y="731520"/>
                  </a:lnTo>
                  <a:lnTo>
                    <a:pt x="0" y="731520"/>
                  </a:lnTo>
                  <a:close/>
                </a:path>
              </a:pathLst>
            </a:custGeom>
            <a:blipFill>
              <a:blip r:embed="rId3">
                <a:alphaModFix amt="0"/>
              </a:blip>
              <a:stretch>
                <a:fillRect l="0" t="-191614" r="0" b="-191614"/>
              </a:stretch>
            </a:blipFill>
          </p:spPr>
        </p:sp>
        <p:sp>
          <p:nvSpPr>
            <p:cNvPr name="TextBox 106" id="106"/>
            <p:cNvSpPr txBox="true"/>
            <p:nvPr/>
          </p:nvSpPr>
          <p:spPr>
            <a:xfrm>
              <a:off x="0" y="-38100"/>
              <a:ext cx="9070848" cy="769620"/>
            </a:xfrm>
            <a:prstGeom prst="rect">
              <a:avLst/>
            </a:prstGeom>
          </p:spPr>
          <p:txBody>
            <a:bodyPr anchor="ctr" rtlCol="false" tIns="0" lIns="0" bIns="0" rIns="0"/>
            <a:lstStyle/>
            <a:p>
              <a:pPr algn="l">
                <a:lnSpc>
                  <a:spcPts val="2400"/>
                </a:lnSpc>
              </a:pPr>
              <a:r>
                <a:rPr lang="en-US" sz="2000" b="true">
                  <a:solidFill>
                    <a:srgbClr val="0F172A"/>
                  </a:solidFill>
                  <a:latin typeface="Calibri (MS) Bold"/>
                  <a:ea typeface="Calibri (MS) Bold"/>
                  <a:cs typeface="Calibri (MS) Bold"/>
                  <a:sym typeface="Calibri (MS) Bold"/>
                </a:rPr>
                <a:t>Public health dashboard</a:t>
              </a:r>
            </a:p>
          </p:txBody>
        </p:sp>
      </p:grpSp>
      <p:grpSp>
        <p:nvGrpSpPr>
          <p:cNvPr name="Group 107" id="107"/>
          <p:cNvGrpSpPr/>
          <p:nvPr/>
        </p:nvGrpSpPr>
        <p:grpSpPr>
          <a:xfrm rot="0">
            <a:off x="10570464" y="8193024"/>
            <a:ext cx="6803136" cy="621792"/>
            <a:chOff x="0" y="0"/>
            <a:chExt cx="9070848" cy="829056"/>
          </a:xfrm>
        </p:grpSpPr>
        <p:sp>
          <p:nvSpPr>
            <p:cNvPr name="Freeform 108" id="108"/>
            <p:cNvSpPr/>
            <p:nvPr/>
          </p:nvSpPr>
          <p:spPr>
            <a:xfrm flipH="false" flipV="false" rot="0">
              <a:off x="0" y="0"/>
              <a:ext cx="9070848" cy="829056"/>
            </a:xfrm>
            <a:custGeom>
              <a:avLst/>
              <a:gdLst/>
              <a:ahLst/>
              <a:cxnLst/>
              <a:rect r="r" b="b" t="t" l="l"/>
              <a:pathLst>
                <a:path h="829056" w="9070848">
                  <a:moveTo>
                    <a:pt x="0" y="0"/>
                  </a:moveTo>
                  <a:lnTo>
                    <a:pt x="9070848" y="0"/>
                  </a:lnTo>
                  <a:lnTo>
                    <a:pt x="9070848" y="829056"/>
                  </a:lnTo>
                  <a:lnTo>
                    <a:pt x="0" y="829056"/>
                  </a:lnTo>
                  <a:close/>
                </a:path>
              </a:pathLst>
            </a:custGeom>
            <a:blipFill>
              <a:blip r:embed="rId3">
                <a:alphaModFix amt="0"/>
              </a:blip>
              <a:stretch>
                <a:fillRect l="0" t="-163189" r="0" b="-163189"/>
              </a:stretch>
            </a:blipFill>
          </p:spPr>
        </p:sp>
        <p:sp>
          <p:nvSpPr>
            <p:cNvPr name="TextBox 109" id="109"/>
            <p:cNvSpPr txBox="true"/>
            <p:nvPr/>
          </p:nvSpPr>
          <p:spPr>
            <a:xfrm>
              <a:off x="0" y="-38100"/>
              <a:ext cx="9070848" cy="867156"/>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Aggregate anonymized population-level data into an outbreak detection and surveillance layer.</a:t>
              </a:r>
            </a:p>
          </p:txBody>
        </p:sp>
      </p:grpSp>
      <p:grpSp>
        <p:nvGrpSpPr>
          <p:cNvPr name="Group 110" id="110"/>
          <p:cNvGrpSpPr/>
          <p:nvPr/>
        </p:nvGrpSpPr>
        <p:grpSpPr>
          <a:xfrm rot="0">
            <a:off x="-12697" y="9588503"/>
            <a:ext cx="18313403" cy="711203"/>
            <a:chOff x="0" y="0"/>
            <a:chExt cx="24417871" cy="948271"/>
          </a:xfrm>
        </p:grpSpPr>
        <p:sp>
          <p:nvSpPr>
            <p:cNvPr name="Freeform 111" id="111"/>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112" id="112"/>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113" id="113"/>
          <p:cNvGrpSpPr/>
          <p:nvPr/>
        </p:nvGrpSpPr>
        <p:grpSpPr>
          <a:xfrm rot="0">
            <a:off x="731520" y="9637776"/>
            <a:ext cx="16824960" cy="585216"/>
            <a:chOff x="0" y="0"/>
            <a:chExt cx="22433280" cy="780288"/>
          </a:xfrm>
        </p:grpSpPr>
        <p:sp>
          <p:nvSpPr>
            <p:cNvPr name="Freeform 114" id="114"/>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115" id="115"/>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122683"/>
            <a:chOff x="0" y="0"/>
            <a:chExt cx="24417871" cy="1496911"/>
          </a:xfrm>
        </p:grpSpPr>
        <p:sp>
          <p:nvSpPr>
            <p:cNvPr name="Freeform 3" id="3"/>
            <p:cNvSpPr/>
            <p:nvPr/>
          </p:nvSpPr>
          <p:spPr>
            <a:xfrm flipH="false" flipV="false" rot="0">
              <a:off x="16891" y="16891"/>
              <a:ext cx="24383999" cy="1463040"/>
            </a:xfrm>
            <a:custGeom>
              <a:avLst/>
              <a:gdLst/>
              <a:ahLst/>
              <a:cxnLst/>
              <a:rect r="r" b="b" t="t" l="l"/>
              <a:pathLst>
                <a:path h="1463040" w="24383999">
                  <a:moveTo>
                    <a:pt x="0" y="0"/>
                  </a:moveTo>
                  <a:lnTo>
                    <a:pt x="24383999" y="0"/>
                  </a:lnTo>
                  <a:lnTo>
                    <a:pt x="24383999" y="1463040"/>
                  </a:lnTo>
                  <a:lnTo>
                    <a:pt x="0" y="1463040"/>
                  </a:lnTo>
                  <a:close/>
                </a:path>
              </a:pathLst>
            </a:custGeom>
            <a:solidFill>
              <a:srgbClr val="0D9488"/>
            </a:solidFill>
          </p:spPr>
        </p:sp>
        <p:sp>
          <p:nvSpPr>
            <p:cNvPr name="Freeform 4" id="4"/>
            <p:cNvSpPr/>
            <p:nvPr/>
          </p:nvSpPr>
          <p:spPr>
            <a:xfrm flipH="false" flipV="false" rot="0">
              <a:off x="0" y="0"/>
              <a:ext cx="24417782" cy="1496822"/>
            </a:xfrm>
            <a:custGeom>
              <a:avLst/>
              <a:gdLst/>
              <a:ahLst/>
              <a:cxnLst/>
              <a:rect r="r" b="b" t="t" l="l"/>
              <a:pathLst>
                <a:path h="1496822" w="24417782">
                  <a:moveTo>
                    <a:pt x="16891" y="0"/>
                  </a:moveTo>
                  <a:lnTo>
                    <a:pt x="24400890" y="0"/>
                  </a:lnTo>
                  <a:cubicBezTo>
                    <a:pt x="24410290" y="0"/>
                    <a:pt x="24417782" y="7620"/>
                    <a:pt x="24417782" y="16891"/>
                  </a:cubicBezTo>
                  <a:lnTo>
                    <a:pt x="24417782" y="1479931"/>
                  </a:lnTo>
                  <a:cubicBezTo>
                    <a:pt x="24417782" y="1489329"/>
                    <a:pt x="24410163" y="1496822"/>
                    <a:pt x="24400890"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24400890" y="1463040"/>
                  </a:lnTo>
                  <a:lnTo>
                    <a:pt x="24400890" y="1479931"/>
                  </a:lnTo>
                  <a:lnTo>
                    <a:pt x="24384000" y="1479931"/>
                  </a:lnTo>
                  <a:lnTo>
                    <a:pt x="24384000" y="16891"/>
                  </a:lnTo>
                  <a:lnTo>
                    <a:pt x="24400890" y="16891"/>
                  </a:lnTo>
                  <a:lnTo>
                    <a:pt x="24400890" y="33909"/>
                  </a:lnTo>
                  <a:lnTo>
                    <a:pt x="16891" y="33909"/>
                  </a:lnTo>
                  <a:close/>
                </a:path>
              </a:pathLst>
            </a:custGeom>
            <a:solidFill>
              <a:srgbClr val="0D9488"/>
            </a:solidFill>
          </p:spPr>
        </p:sp>
      </p:grpSp>
      <p:grpSp>
        <p:nvGrpSpPr>
          <p:cNvPr name="Group 5" id="5"/>
          <p:cNvGrpSpPr/>
          <p:nvPr/>
        </p:nvGrpSpPr>
        <p:grpSpPr>
          <a:xfrm rot="0">
            <a:off x="731520" y="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47625"/>
              <a:ext cx="21945600" cy="1510665"/>
            </a:xfrm>
            <a:prstGeom prst="rect">
              <a:avLst/>
            </a:prstGeom>
          </p:spPr>
          <p:txBody>
            <a:bodyPr anchor="ctr" rtlCol="false" tIns="0" lIns="0" bIns="0" rIns="0"/>
            <a:lstStyle/>
            <a:p>
              <a:pPr algn="l">
                <a:lnSpc>
                  <a:spcPts val="2640"/>
                </a:lnSpc>
              </a:pPr>
              <a:r>
                <a:rPr lang="en-US" b="true" sz="2200" spc="799">
                  <a:solidFill>
                    <a:srgbClr val="FFFFFF"/>
                  </a:solidFill>
                  <a:latin typeface="Calibri (MS) Bold"/>
                  <a:ea typeface="Calibri (MS) Bold"/>
                  <a:cs typeface="Calibri (MS) Bold"/>
                  <a:sym typeface="Calibri (MS) Bold"/>
                </a:rPr>
                <a:t>CONCLUSION</a:t>
              </a:r>
            </a:p>
          </p:txBody>
        </p:sp>
      </p:grpSp>
      <p:grpSp>
        <p:nvGrpSpPr>
          <p:cNvPr name="Group 8" id="8"/>
          <p:cNvGrpSpPr/>
          <p:nvPr/>
        </p:nvGrpSpPr>
        <p:grpSpPr>
          <a:xfrm rot="0">
            <a:off x="13154663" y="1267463"/>
            <a:ext cx="5146043" cy="5146043"/>
            <a:chOff x="0" y="0"/>
            <a:chExt cx="6861391" cy="6861391"/>
          </a:xfrm>
        </p:grpSpPr>
        <p:sp>
          <p:nvSpPr>
            <p:cNvPr name="Freeform 9" id="9"/>
            <p:cNvSpPr/>
            <p:nvPr/>
          </p:nvSpPr>
          <p:spPr>
            <a:xfrm flipH="false" flipV="false" rot="0">
              <a:off x="16891" y="16891"/>
              <a:ext cx="6827520" cy="6827520"/>
            </a:xfrm>
            <a:custGeom>
              <a:avLst/>
              <a:gdLst/>
              <a:ahLst/>
              <a:cxnLst/>
              <a:rect r="r" b="b" t="t" l="l"/>
              <a:pathLst>
                <a:path h="6827520" w="6827520">
                  <a:moveTo>
                    <a:pt x="0" y="3413760"/>
                  </a:moveTo>
                  <a:cubicBezTo>
                    <a:pt x="0" y="1528445"/>
                    <a:pt x="1528445" y="0"/>
                    <a:pt x="3413760" y="0"/>
                  </a:cubicBezTo>
                  <a:cubicBezTo>
                    <a:pt x="5299075" y="0"/>
                    <a:pt x="6827520" y="1528445"/>
                    <a:pt x="6827520" y="3413760"/>
                  </a:cubicBezTo>
                  <a:cubicBezTo>
                    <a:pt x="6827520" y="5299075"/>
                    <a:pt x="5299075" y="6827520"/>
                    <a:pt x="3413760" y="6827520"/>
                  </a:cubicBezTo>
                  <a:cubicBezTo>
                    <a:pt x="1528445" y="6827520"/>
                    <a:pt x="0" y="5299202"/>
                    <a:pt x="0" y="3413760"/>
                  </a:cubicBezTo>
                  <a:close/>
                </a:path>
              </a:pathLst>
            </a:custGeom>
            <a:solidFill>
              <a:srgbClr val="0D9488">
                <a:alpha val="1176"/>
              </a:srgbClr>
            </a:solidFill>
          </p:spPr>
        </p:sp>
        <p:sp>
          <p:nvSpPr>
            <p:cNvPr name="Freeform 10" id="10"/>
            <p:cNvSpPr/>
            <p:nvPr/>
          </p:nvSpPr>
          <p:spPr>
            <a:xfrm flipH="false" flipV="false" rot="0">
              <a:off x="0" y="0"/>
              <a:ext cx="6861429" cy="6861302"/>
            </a:xfrm>
            <a:custGeom>
              <a:avLst/>
              <a:gdLst/>
              <a:ahLst/>
              <a:cxnLst/>
              <a:rect r="r" b="b" t="t" l="l"/>
              <a:pathLst>
                <a:path h="6861302" w="6861429">
                  <a:moveTo>
                    <a:pt x="0" y="3430651"/>
                  </a:moveTo>
                  <a:cubicBezTo>
                    <a:pt x="0" y="1535938"/>
                    <a:pt x="1535938" y="0"/>
                    <a:pt x="3430651" y="0"/>
                  </a:cubicBezTo>
                  <a:lnTo>
                    <a:pt x="3430651" y="16891"/>
                  </a:lnTo>
                  <a:lnTo>
                    <a:pt x="3430651" y="0"/>
                  </a:lnTo>
                  <a:cubicBezTo>
                    <a:pt x="5325364" y="0"/>
                    <a:pt x="6861429" y="1535938"/>
                    <a:pt x="6861429" y="3430651"/>
                  </a:cubicBezTo>
                  <a:cubicBezTo>
                    <a:pt x="6861429" y="5325364"/>
                    <a:pt x="5325491" y="6861302"/>
                    <a:pt x="3430778" y="6861302"/>
                  </a:cubicBezTo>
                  <a:lnTo>
                    <a:pt x="3430778" y="6844411"/>
                  </a:lnTo>
                  <a:lnTo>
                    <a:pt x="3430778" y="6861302"/>
                  </a:lnTo>
                  <a:cubicBezTo>
                    <a:pt x="1535938" y="6861429"/>
                    <a:pt x="0" y="5325364"/>
                    <a:pt x="0" y="3430651"/>
                  </a:cubicBezTo>
                  <a:lnTo>
                    <a:pt x="16891" y="3430651"/>
                  </a:lnTo>
                  <a:lnTo>
                    <a:pt x="31115" y="3439795"/>
                  </a:lnTo>
                  <a:cubicBezTo>
                    <a:pt x="27051" y="3446145"/>
                    <a:pt x="19304" y="3449066"/>
                    <a:pt x="12065" y="3446907"/>
                  </a:cubicBezTo>
                  <a:cubicBezTo>
                    <a:pt x="4826" y="3444748"/>
                    <a:pt x="0" y="3438271"/>
                    <a:pt x="0" y="3430651"/>
                  </a:cubicBezTo>
                  <a:moveTo>
                    <a:pt x="33909" y="3430651"/>
                  </a:moveTo>
                  <a:lnTo>
                    <a:pt x="16891" y="3430651"/>
                  </a:lnTo>
                  <a:lnTo>
                    <a:pt x="2667" y="3421507"/>
                  </a:lnTo>
                  <a:cubicBezTo>
                    <a:pt x="6731" y="3415157"/>
                    <a:pt x="14478" y="3412236"/>
                    <a:pt x="21717" y="3414395"/>
                  </a:cubicBezTo>
                  <a:cubicBezTo>
                    <a:pt x="28956" y="3416554"/>
                    <a:pt x="33909" y="3423158"/>
                    <a:pt x="33909" y="3430651"/>
                  </a:cubicBezTo>
                  <a:cubicBezTo>
                    <a:pt x="33909" y="5306695"/>
                    <a:pt x="1554734" y="6827520"/>
                    <a:pt x="3430778" y="6827520"/>
                  </a:cubicBezTo>
                  <a:cubicBezTo>
                    <a:pt x="5306822" y="6827520"/>
                    <a:pt x="6827647" y="5306695"/>
                    <a:pt x="6827647" y="3430651"/>
                  </a:cubicBezTo>
                  <a:lnTo>
                    <a:pt x="6844538" y="3430651"/>
                  </a:lnTo>
                  <a:lnTo>
                    <a:pt x="6827647" y="3430651"/>
                  </a:lnTo>
                  <a:cubicBezTo>
                    <a:pt x="6827520" y="1554734"/>
                    <a:pt x="5306695" y="33909"/>
                    <a:pt x="3430651" y="33909"/>
                  </a:cubicBezTo>
                  <a:lnTo>
                    <a:pt x="3430651" y="16891"/>
                  </a:lnTo>
                  <a:lnTo>
                    <a:pt x="3430651" y="33909"/>
                  </a:lnTo>
                  <a:cubicBezTo>
                    <a:pt x="1554734" y="33909"/>
                    <a:pt x="33909" y="1554734"/>
                    <a:pt x="33909" y="3430651"/>
                  </a:cubicBezTo>
                  <a:close/>
                </a:path>
              </a:pathLst>
            </a:custGeom>
            <a:solidFill>
              <a:srgbClr val="0D9488">
                <a:alpha val="7451"/>
              </a:srgbClr>
            </a:solidFill>
          </p:spPr>
        </p:sp>
      </p:grpSp>
      <p:grpSp>
        <p:nvGrpSpPr>
          <p:cNvPr name="Group 11" id="11"/>
          <p:cNvGrpSpPr/>
          <p:nvPr/>
        </p:nvGrpSpPr>
        <p:grpSpPr>
          <a:xfrm rot="0">
            <a:off x="14251943" y="5290823"/>
            <a:ext cx="3317243" cy="3317243"/>
            <a:chOff x="0" y="0"/>
            <a:chExt cx="4422991" cy="4422991"/>
          </a:xfrm>
        </p:grpSpPr>
        <p:sp>
          <p:nvSpPr>
            <p:cNvPr name="Freeform 12" id="12"/>
            <p:cNvSpPr/>
            <p:nvPr/>
          </p:nvSpPr>
          <p:spPr>
            <a:xfrm flipH="false" flipV="false" rot="0">
              <a:off x="16891" y="16891"/>
              <a:ext cx="4389120" cy="4389120"/>
            </a:xfrm>
            <a:custGeom>
              <a:avLst/>
              <a:gdLst/>
              <a:ahLst/>
              <a:cxnLst/>
              <a:rect r="r" b="b" t="t" l="l"/>
              <a:pathLst>
                <a:path h="4389120" w="4389120">
                  <a:moveTo>
                    <a:pt x="0" y="2194560"/>
                  </a:moveTo>
                  <a:cubicBezTo>
                    <a:pt x="0" y="982599"/>
                    <a:pt x="982599" y="0"/>
                    <a:pt x="2194560" y="0"/>
                  </a:cubicBezTo>
                  <a:cubicBezTo>
                    <a:pt x="3406521" y="0"/>
                    <a:pt x="4389120" y="982599"/>
                    <a:pt x="4389120" y="2194560"/>
                  </a:cubicBezTo>
                  <a:cubicBezTo>
                    <a:pt x="4389120" y="3406521"/>
                    <a:pt x="3406521" y="4389120"/>
                    <a:pt x="2194560" y="4389120"/>
                  </a:cubicBezTo>
                  <a:cubicBezTo>
                    <a:pt x="982599" y="4389120"/>
                    <a:pt x="0" y="3406648"/>
                    <a:pt x="0" y="2194560"/>
                  </a:cubicBezTo>
                  <a:close/>
                </a:path>
              </a:pathLst>
            </a:custGeom>
            <a:solidFill>
              <a:srgbClr val="14B8A6">
                <a:alpha val="1961"/>
              </a:srgbClr>
            </a:solidFill>
          </p:spPr>
        </p:sp>
        <p:sp>
          <p:nvSpPr>
            <p:cNvPr name="Freeform 13" id="13"/>
            <p:cNvSpPr/>
            <p:nvPr/>
          </p:nvSpPr>
          <p:spPr>
            <a:xfrm flipH="false" flipV="false" rot="0">
              <a:off x="0" y="0"/>
              <a:ext cx="4423029" cy="4422902"/>
            </a:xfrm>
            <a:custGeom>
              <a:avLst/>
              <a:gdLst/>
              <a:ahLst/>
              <a:cxnLst/>
              <a:rect r="r" b="b" t="t" l="l"/>
              <a:pathLst>
                <a:path h="4422902" w="4423029">
                  <a:moveTo>
                    <a:pt x="0" y="2211451"/>
                  </a:moveTo>
                  <a:cubicBezTo>
                    <a:pt x="0" y="990092"/>
                    <a:pt x="990092" y="0"/>
                    <a:pt x="2211451" y="0"/>
                  </a:cubicBezTo>
                  <a:lnTo>
                    <a:pt x="2211451" y="16891"/>
                  </a:lnTo>
                  <a:lnTo>
                    <a:pt x="2211451" y="0"/>
                  </a:lnTo>
                  <a:cubicBezTo>
                    <a:pt x="3432810" y="0"/>
                    <a:pt x="4423029" y="990092"/>
                    <a:pt x="4423029" y="2211451"/>
                  </a:cubicBezTo>
                  <a:lnTo>
                    <a:pt x="4406138" y="2211451"/>
                  </a:lnTo>
                  <a:lnTo>
                    <a:pt x="4423029" y="2211451"/>
                  </a:lnTo>
                  <a:cubicBezTo>
                    <a:pt x="4423029" y="3432810"/>
                    <a:pt x="3432937" y="4422902"/>
                    <a:pt x="2211578" y="4422902"/>
                  </a:cubicBezTo>
                  <a:lnTo>
                    <a:pt x="2211578" y="4406011"/>
                  </a:lnTo>
                  <a:lnTo>
                    <a:pt x="2211578" y="4422902"/>
                  </a:lnTo>
                  <a:cubicBezTo>
                    <a:pt x="990092" y="4423029"/>
                    <a:pt x="0" y="3432810"/>
                    <a:pt x="0" y="2211451"/>
                  </a:cubicBezTo>
                  <a:lnTo>
                    <a:pt x="16891" y="2211451"/>
                  </a:lnTo>
                  <a:lnTo>
                    <a:pt x="33909" y="2211451"/>
                  </a:lnTo>
                  <a:lnTo>
                    <a:pt x="16891" y="2211451"/>
                  </a:lnTo>
                  <a:lnTo>
                    <a:pt x="0" y="2211451"/>
                  </a:lnTo>
                  <a:moveTo>
                    <a:pt x="33909" y="2211451"/>
                  </a:moveTo>
                  <a:cubicBezTo>
                    <a:pt x="33909" y="2220849"/>
                    <a:pt x="26289" y="2228342"/>
                    <a:pt x="17018" y="2228342"/>
                  </a:cubicBezTo>
                  <a:cubicBezTo>
                    <a:pt x="7747" y="2228342"/>
                    <a:pt x="0" y="2220849"/>
                    <a:pt x="0" y="2211451"/>
                  </a:cubicBezTo>
                  <a:cubicBezTo>
                    <a:pt x="0" y="2202053"/>
                    <a:pt x="7620" y="2194560"/>
                    <a:pt x="16891" y="2194560"/>
                  </a:cubicBezTo>
                  <a:cubicBezTo>
                    <a:pt x="26162" y="2194560"/>
                    <a:pt x="33782" y="2202180"/>
                    <a:pt x="33782" y="2211451"/>
                  </a:cubicBezTo>
                  <a:cubicBezTo>
                    <a:pt x="33782" y="3414141"/>
                    <a:pt x="1008761" y="4389120"/>
                    <a:pt x="2211451" y="4389120"/>
                  </a:cubicBezTo>
                  <a:cubicBezTo>
                    <a:pt x="3414141" y="4389120"/>
                    <a:pt x="4389120" y="3414141"/>
                    <a:pt x="4389120" y="2211451"/>
                  </a:cubicBezTo>
                  <a:cubicBezTo>
                    <a:pt x="4389120" y="1008761"/>
                    <a:pt x="3414141" y="33782"/>
                    <a:pt x="2211451" y="33782"/>
                  </a:cubicBezTo>
                  <a:lnTo>
                    <a:pt x="2211451" y="16891"/>
                  </a:lnTo>
                  <a:lnTo>
                    <a:pt x="2211451" y="33909"/>
                  </a:lnTo>
                  <a:cubicBezTo>
                    <a:pt x="1008761" y="33909"/>
                    <a:pt x="33909" y="1008761"/>
                    <a:pt x="33909" y="2211451"/>
                  </a:cubicBezTo>
                  <a:close/>
                </a:path>
              </a:pathLst>
            </a:custGeom>
            <a:solidFill>
              <a:srgbClr val="14B8A6">
                <a:alpha val="7451"/>
              </a:srgbClr>
            </a:solidFill>
          </p:spPr>
        </p:sp>
      </p:grpSp>
      <p:grpSp>
        <p:nvGrpSpPr>
          <p:cNvPr name="Group 14" id="14"/>
          <p:cNvGrpSpPr/>
          <p:nvPr/>
        </p:nvGrpSpPr>
        <p:grpSpPr>
          <a:xfrm rot="0">
            <a:off x="12971783" y="6936743"/>
            <a:ext cx="1854203" cy="1854203"/>
            <a:chOff x="0" y="0"/>
            <a:chExt cx="2472271" cy="2472271"/>
          </a:xfrm>
        </p:grpSpPr>
        <p:sp>
          <p:nvSpPr>
            <p:cNvPr name="Freeform 15" id="15"/>
            <p:cNvSpPr/>
            <p:nvPr/>
          </p:nvSpPr>
          <p:spPr>
            <a:xfrm flipH="false" flipV="false" rot="0">
              <a:off x="16891" y="16891"/>
              <a:ext cx="2438400" cy="2438400"/>
            </a:xfrm>
            <a:custGeom>
              <a:avLst/>
              <a:gdLst/>
              <a:ahLst/>
              <a:cxnLst/>
              <a:rect r="r" b="b" t="t" l="l"/>
              <a:pathLst>
                <a:path h="2438400" w="2438400">
                  <a:moveTo>
                    <a:pt x="0" y="1219200"/>
                  </a:moveTo>
                  <a:cubicBezTo>
                    <a:pt x="0" y="545846"/>
                    <a:pt x="545846" y="0"/>
                    <a:pt x="1219200" y="0"/>
                  </a:cubicBezTo>
                  <a:cubicBezTo>
                    <a:pt x="1892554" y="0"/>
                    <a:pt x="2438400" y="545846"/>
                    <a:pt x="2438400" y="1219200"/>
                  </a:cubicBezTo>
                  <a:cubicBezTo>
                    <a:pt x="2438400" y="1892554"/>
                    <a:pt x="1892554" y="2438400"/>
                    <a:pt x="1219200" y="2438400"/>
                  </a:cubicBezTo>
                  <a:cubicBezTo>
                    <a:pt x="545846" y="2438400"/>
                    <a:pt x="0" y="1892554"/>
                    <a:pt x="0" y="1219200"/>
                  </a:cubicBezTo>
                  <a:close/>
                </a:path>
              </a:pathLst>
            </a:custGeom>
            <a:solidFill>
              <a:srgbClr val="0D9488">
                <a:alpha val="1176"/>
              </a:srgbClr>
            </a:solidFill>
          </p:spPr>
        </p:sp>
        <p:sp>
          <p:nvSpPr>
            <p:cNvPr name="Freeform 16" id="16"/>
            <p:cNvSpPr/>
            <p:nvPr/>
          </p:nvSpPr>
          <p:spPr>
            <a:xfrm flipH="false" flipV="false" rot="0">
              <a:off x="0" y="0"/>
              <a:ext cx="2472182" cy="2472182"/>
            </a:xfrm>
            <a:custGeom>
              <a:avLst/>
              <a:gdLst/>
              <a:ahLst/>
              <a:cxnLst/>
              <a:rect r="r" b="b" t="t" l="l"/>
              <a:pathLst>
                <a:path h="2472182" w="2472182">
                  <a:moveTo>
                    <a:pt x="0" y="1236091"/>
                  </a:moveTo>
                  <a:cubicBezTo>
                    <a:pt x="0" y="553466"/>
                    <a:pt x="553466" y="0"/>
                    <a:pt x="1236091" y="0"/>
                  </a:cubicBezTo>
                  <a:lnTo>
                    <a:pt x="1236091" y="16891"/>
                  </a:lnTo>
                  <a:lnTo>
                    <a:pt x="1236091" y="0"/>
                  </a:lnTo>
                  <a:cubicBezTo>
                    <a:pt x="1918843" y="0"/>
                    <a:pt x="2472182" y="553466"/>
                    <a:pt x="2472182" y="1236091"/>
                  </a:cubicBezTo>
                  <a:lnTo>
                    <a:pt x="2455291" y="1236091"/>
                  </a:lnTo>
                  <a:lnTo>
                    <a:pt x="2472182" y="1236091"/>
                  </a:lnTo>
                  <a:cubicBezTo>
                    <a:pt x="2472182" y="1918843"/>
                    <a:pt x="1918716" y="2472182"/>
                    <a:pt x="1236091" y="2472182"/>
                  </a:cubicBezTo>
                  <a:lnTo>
                    <a:pt x="1236091" y="2455291"/>
                  </a:lnTo>
                  <a:lnTo>
                    <a:pt x="1236091" y="2472182"/>
                  </a:lnTo>
                  <a:cubicBezTo>
                    <a:pt x="553466" y="2472309"/>
                    <a:pt x="0" y="1918843"/>
                    <a:pt x="0" y="1236091"/>
                  </a:cubicBezTo>
                  <a:lnTo>
                    <a:pt x="16891" y="1236091"/>
                  </a:lnTo>
                  <a:lnTo>
                    <a:pt x="33909" y="1236091"/>
                  </a:lnTo>
                  <a:lnTo>
                    <a:pt x="16891" y="1236091"/>
                  </a:lnTo>
                  <a:lnTo>
                    <a:pt x="0" y="1236091"/>
                  </a:lnTo>
                  <a:moveTo>
                    <a:pt x="33909" y="1236091"/>
                  </a:moveTo>
                  <a:cubicBezTo>
                    <a:pt x="33909" y="1245489"/>
                    <a:pt x="26289" y="1252982"/>
                    <a:pt x="17018" y="1252982"/>
                  </a:cubicBezTo>
                  <a:cubicBezTo>
                    <a:pt x="7747" y="1252982"/>
                    <a:pt x="0" y="1245489"/>
                    <a:pt x="0" y="1236091"/>
                  </a:cubicBezTo>
                  <a:cubicBezTo>
                    <a:pt x="0" y="1226693"/>
                    <a:pt x="7620" y="1219200"/>
                    <a:pt x="16891" y="1219200"/>
                  </a:cubicBezTo>
                  <a:cubicBezTo>
                    <a:pt x="26162" y="1219200"/>
                    <a:pt x="33782" y="1226820"/>
                    <a:pt x="33782" y="1236091"/>
                  </a:cubicBezTo>
                  <a:cubicBezTo>
                    <a:pt x="33909" y="1900174"/>
                    <a:pt x="572135" y="2438400"/>
                    <a:pt x="1236091" y="2438400"/>
                  </a:cubicBezTo>
                  <a:cubicBezTo>
                    <a:pt x="1900174" y="2438400"/>
                    <a:pt x="2438400" y="1900174"/>
                    <a:pt x="2438400" y="1236091"/>
                  </a:cubicBezTo>
                  <a:cubicBezTo>
                    <a:pt x="2438400" y="572135"/>
                    <a:pt x="1900174" y="33782"/>
                    <a:pt x="1236091" y="33782"/>
                  </a:cubicBezTo>
                  <a:lnTo>
                    <a:pt x="1236091" y="16891"/>
                  </a:lnTo>
                  <a:lnTo>
                    <a:pt x="1236091" y="33909"/>
                  </a:lnTo>
                  <a:cubicBezTo>
                    <a:pt x="572135" y="33909"/>
                    <a:pt x="33909" y="572135"/>
                    <a:pt x="33909" y="1236091"/>
                  </a:cubicBezTo>
                  <a:close/>
                </a:path>
              </a:pathLst>
            </a:custGeom>
            <a:solidFill>
              <a:srgbClr val="0D9488">
                <a:alpha val="5882"/>
              </a:srgbClr>
            </a:solidFill>
          </p:spPr>
        </p:sp>
      </p:grpSp>
      <p:grpSp>
        <p:nvGrpSpPr>
          <p:cNvPr name="Group 17" id="17"/>
          <p:cNvGrpSpPr/>
          <p:nvPr/>
        </p:nvGrpSpPr>
        <p:grpSpPr>
          <a:xfrm rot="0">
            <a:off x="822960" y="1554480"/>
            <a:ext cx="11887200" cy="1609344"/>
            <a:chOff x="0" y="0"/>
            <a:chExt cx="15849600" cy="2145792"/>
          </a:xfrm>
        </p:grpSpPr>
        <p:sp>
          <p:nvSpPr>
            <p:cNvPr name="Freeform 18" id="18"/>
            <p:cNvSpPr/>
            <p:nvPr/>
          </p:nvSpPr>
          <p:spPr>
            <a:xfrm flipH="false" flipV="false" rot="0">
              <a:off x="0" y="0"/>
              <a:ext cx="15849600" cy="2145792"/>
            </a:xfrm>
            <a:custGeom>
              <a:avLst/>
              <a:gdLst/>
              <a:ahLst/>
              <a:cxnLst/>
              <a:rect r="r" b="b" t="t" l="l"/>
              <a:pathLst>
                <a:path h="2145792" w="15849600">
                  <a:moveTo>
                    <a:pt x="0" y="0"/>
                  </a:moveTo>
                  <a:lnTo>
                    <a:pt x="15849600" y="0"/>
                  </a:lnTo>
                  <a:lnTo>
                    <a:pt x="15849600" y="2145792"/>
                  </a:lnTo>
                  <a:lnTo>
                    <a:pt x="0" y="2145792"/>
                  </a:lnTo>
                  <a:close/>
                </a:path>
              </a:pathLst>
            </a:custGeom>
            <a:blipFill>
              <a:blip r:embed="rId3">
                <a:alphaModFix amt="0"/>
              </a:blip>
              <a:stretch>
                <a:fillRect l="0" t="-93923" r="0" b="-93923"/>
              </a:stretch>
            </a:blipFill>
          </p:spPr>
        </p:sp>
        <p:sp>
          <p:nvSpPr>
            <p:cNvPr name="TextBox 19" id="19"/>
            <p:cNvSpPr txBox="true"/>
            <p:nvPr/>
          </p:nvSpPr>
          <p:spPr>
            <a:xfrm>
              <a:off x="0" y="-200025"/>
              <a:ext cx="15849600" cy="2345817"/>
            </a:xfrm>
            <a:prstGeom prst="rect">
              <a:avLst/>
            </a:prstGeom>
          </p:spPr>
          <p:txBody>
            <a:bodyPr anchor="ctr" rtlCol="false" tIns="0" lIns="0" bIns="0" rIns="0"/>
            <a:lstStyle/>
            <a:p>
              <a:pPr algn="l">
                <a:lnSpc>
                  <a:spcPts val="11999"/>
                </a:lnSpc>
              </a:pPr>
              <a:r>
                <a:rPr lang="en-US" b="true" sz="9999" spc="599">
                  <a:solidFill>
                    <a:srgbClr val="FFFFFF"/>
                  </a:solidFill>
                  <a:latin typeface="Calibri (MS) Bold"/>
                  <a:ea typeface="Calibri (MS) Bold"/>
                  <a:cs typeface="Calibri (MS) Bold"/>
                  <a:sym typeface="Calibri (MS) Bold"/>
                </a:rPr>
                <a:t>MediPATH</a:t>
              </a:r>
            </a:p>
          </p:txBody>
        </p:sp>
      </p:grpSp>
      <p:grpSp>
        <p:nvGrpSpPr>
          <p:cNvPr name="Group 20" id="20"/>
          <p:cNvGrpSpPr/>
          <p:nvPr/>
        </p:nvGrpSpPr>
        <p:grpSpPr>
          <a:xfrm rot="0">
            <a:off x="810263" y="3132839"/>
            <a:ext cx="2402843" cy="153419"/>
            <a:chOff x="0" y="0"/>
            <a:chExt cx="3203791" cy="204559"/>
          </a:xfrm>
        </p:grpSpPr>
        <p:sp>
          <p:nvSpPr>
            <p:cNvPr name="Freeform 21" id="21"/>
            <p:cNvSpPr/>
            <p:nvPr/>
          </p:nvSpPr>
          <p:spPr>
            <a:xfrm flipH="false" flipV="false" rot="0">
              <a:off x="16891" y="16891"/>
              <a:ext cx="3169920" cy="170688"/>
            </a:xfrm>
            <a:custGeom>
              <a:avLst/>
              <a:gdLst/>
              <a:ahLst/>
              <a:cxnLst/>
              <a:rect r="r" b="b" t="t" l="l"/>
              <a:pathLst>
                <a:path h="170688" w="3169920">
                  <a:moveTo>
                    <a:pt x="0" y="0"/>
                  </a:moveTo>
                  <a:lnTo>
                    <a:pt x="3169920" y="0"/>
                  </a:lnTo>
                  <a:lnTo>
                    <a:pt x="3169920" y="170688"/>
                  </a:lnTo>
                  <a:lnTo>
                    <a:pt x="0" y="170688"/>
                  </a:lnTo>
                  <a:close/>
                </a:path>
              </a:pathLst>
            </a:custGeom>
            <a:solidFill>
              <a:srgbClr val="0D9488"/>
            </a:solidFill>
          </p:spPr>
        </p:sp>
        <p:sp>
          <p:nvSpPr>
            <p:cNvPr name="Freeform 22" id="22"/>
            <p:cNvSpPr/>
            <p:nvPr/>
          </p:nvSpPr>
          <p:spPr>
            <a:xfrm flipH="false" flipV="false" rot="0">
              <a:off x="0" y="0"/>
              <a:ext cx="3203702" cy="204472"/>
            </a:xfrm>
            <a:custGeom>
              <a:avLst/>
              <a:gdLst/>
              <a:ahLst/>
              <a:cxnLst/>
              <a:rect r="r" b="b" t="t" l="l"/>
              <a:pathLst>
                <a:path h="204472" w="3203702">
                  <a:moveTo>
                    <a:pt x="16891" y="0"/>
                  </a:moveTo>
                  <a:lnTo>
                    <a:pt x="3186811" y="0"/>
                  </a:lnTo>
                  <a:cubicBezTo>
                    <a:pt x="3196209" y="0"/>
                    <a:pt x="3203702" y="7620"/>
                    <a:pt x="3203702" y="16891"/>
                  </a:cubicBezTo>
                  <a:lnTo>
                    <a:pt x="3203702" y="187579"/>
                  </a:lnTo>
                  <a:cubicBezTo>
                    <a:pt x="3203702" y="196977"/>
                    <a:pt x="3196082" y="204470"/>
                    <a:pt x="3186811"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3186811" y="170688"/>
                  </a:lnTo>
                  <a:lnTo>
                    <a:pt x="3186811" y="187579"/>
                  </a:lnTo>
                  <a:lnTo>
                    <a:pt x="3169920" y="187579"/>
                  </a:lnTo>
                  <a:lnTo>
                    <a:pt x="3169920" y="16891"/>
                  </a:lnTo>
                  <a:lnTo>
                    <a:pt x="3186811" y="16891"/>
                  </a:lnTo>
                  <a:lnTo>
                    <a:pt x="3186811" y="33909"/>
                  </a:lnTo>
                  <a:lnTo>
                    <a:pt x="16891" y="33909"/>
                  </a:lnTo>
                  <a:close/>
                </a:path>
              </a:pathLst>
            </a:custGeom>
            <a:solidFill>
              <a:srgbClr val="0D9488"/>
            </a:solidFill>
          </p:spPr>
        </p:sp>
      </p:grpSp>
      <p:grpSp>
        <p:nvGrpSpPr>
          <p:cNvPr name="Group 23" id="23"/>
          <p:cNvGrpSpPr/>
          <p:nvPr/>
        </p:nvGrpSpPr>
        <p:grpSpPr>
          <a:xfrm rot="0">
            <a:off x="822960" y="3438144"/>
            <a:ext cx="11887200" cy="877824"/>
            <a:chOff x="0" y="0"/>
            <a:chExt cx="15849600" cy="1170432"/>
          </a:xfrm>
        </p:grpSpPr>
        <p:sp>
          <p:nvSpPr>
            <p:cNvPr name="Freeform 24" id="24"/>
            <p:cNvSpPr/>
            <p:nvPr/>
          </p:nvSpPr>
          <p:spPr>
            <a:xfrm flipH="false" flipV="false" rot="0">
              <a:off x="0" y="0"/>
              <a:ext cx="15849600" cy="1170432"/>
            </a:xfrm>
            <a:custGeom>
              <a:avLst/>
              <a:gdLst/>
              <a:ahLst/>
              <a:cxnLst/>
              <a:rect r="r" b="b" t="t" l="l"/>
              <a:pathLst>
                <a:path h="1170432" w="15849600">
                  <a:moveTo>
                    <a:pt x="0" y="0"/>
                  </a:moveTo>
                  <a:lnTo>
                    <a:pt x="15849600" y="0"/>
                  </a:lnTo>
                  <a:lnTo>
                    <a:pt x="15849600" y="1170432"/>
                  </a:lnTo>
                  <a:lnTo>
                    <a:pt x="0" y="1170432"/>
                  </a:lnTo>
                  <a:close/>
                </a:path>
              </a:pathLst>
            </a:custGeom>
            <a:blipFill>
              <a:blip r:embed="rId3">
                <a:alphaModFix amt="0"/>
              </a:blip>
              <a:stretch>
                <a:fillRect l="0" t="-213859" r="0" b="-213859"/>
              </a:stretch>
            </a:blipFill>
          </p:spPr>
        </p:sp>
        <p:sp>
          <p:nvSpPr>
            <p:cNvPr name="TextBox 25" id="25"/>
            <p:cNvSpPr txBox="true"/>
            <p:nvPr/>
          </p:nvSpPr>
          <p:spPr>
            <a:xfrm>
              <a:off x="0" y="-47625"/>
              <a:ext cx="15849600" cy="1218057"/>
            </a:xfrm>
            <a:prstGeom prst="rect">
              <a:avLst/>
            </a:prstGeom>
          </p:spPr>
          <p:txBody>
            <a:bodyPr anchor="ctr" rtlCol="false" tIns="0" lIns="0" bIns="0" rIns="0"/>
            <a:lstStyle/>
            <a:p>
              <a:pPr algn="l">
                <a:lnSpc>
                  <a:spcPts val="3359"/>
                </a:lnSpc>
              </a:pPr>
              <a:r>
                <a:rPr lang="en-US" sz="2799" i="true">
                  <a:solidFill>
                    <a:srgbClr val="14B8A6"/>
                  </a:solidFill>
                  <a:latin typeface="Calibri (MS) Italics"/>
                  <a:ea typeface="Calibri (MS) Italics"/>
                  <a:cs typeface="Calibri (MS) Italics"/>
                  <a:sym typeface="Calibri (MS) Italics"/>
                </a:rPr>
                <a:t>is not just a project. It is a step toward saving lives.</a:t>
              </a:r>
            </a:p>
          </p:txBody>
        </p:sp>
      </p:grpSp>
      <p:grpSp>
        <p:nvGrpSpPr>
          <p:cNvPr name="Group 26" id="26"/>
          <p:cNvGrpSpPr/>
          <p:nvPr/>
        </p:nvGrpSpPr>
        <p:grpSpPr>
          <a:xfrm rot="0">
            <a:off x="810263" y="4742183"/>
            <a:ext cx="427739" cy="427739"/>
            <a:chOff x="0" y="0"/>
            <a:chExt cx="570319" cy="570319"/>
          </a:xfrm>
        </p:grpSpPr>
        <p:sp>
          <p:nvSpPr>
            <p:cNvPr name="Freeform 27" id="27"/>
            <p:cNvSpPr/>
            <p:nvPr/>
          </p:nvSpPr>
          <p:spPr>
            <a:xfrm flipH="false" flipV="false" rot="0">
              <a:off x="16891" y="16891"/>
              <a:ext cx="536448" cy="536448"/>
            </a:xfrm>
            <a:custGeom>
              <a:avLst/>
              <a:gdLst/>
              <a:ahLst/>
              <a:cxnLst/>
              <a:rect r="r" b="b" t="t" l="l"/>
              <a:pathLst>
                <a:path h="536448" w="536448">
                  <a:moveTo>
                    <a:pt x="0" y="0"/>
                  </a:moveTo>
                  <a:lnTo>
                    <a:pt x="536448" y="0"/>
                  </a:lnTo>
                  <a:lnTo>
                    <a:pt x="536448" y="536448"/>
                  </a:lnTo>
                  <a:lnTo>
                    <a:pt x="0" y="536448"/>
                  </a:lnTo>
                  <a:close/>
                </a:path>
              </a:pathLst>
            </a:custGeom>
            <a:solidFill>
              <a:srgbClr val="0D9488"/>
            </a:solidFill>
          </p:spPr>
        </p:sp>
        <p:sp>
          <p:nvSpPr>
            <p:cNvPr name="Freeform 28" id="28"/>
            <p:cNvSpPr/>
            <p:nvPr/>
          </p:nvSpPr>
          <p:spPr>
            <a:xfrm flipH="false" flipV="false" rot="0">
              <a:off x="0" y="0"/>
              <a:ext cx="570230" cy="570232"/>
            </a:xfrm>
            <a:custGeom>
              <a:avLst/>
              <a:gdLst/>
              <a:ahLst/>
              <a:cxnLst/>
              <a:rect r="r" b="b" t="t" l="l"/>
              <a:pathLst>
                <a:path h="570232" w="570230">
                  <a:moveTo>
                    <a:pt x="16891" y="0"/>
                  </a:moveTo>
                  <a:lnTo>
                    <a:pt x="553339" y="0"/>
                  </a:lnTo>
                  <a:cubicBezTo>
                    <a:pt x="562737" y="0"/>
                    <a:pt x="570230" y="7620"/>
                    <a:pt x="570230" y="16891"/>
                  </a:cubicBezTo>
                  <a:lnTo>
                    <a:pt x="570230" y="553339"/>
                  </a:lnTo>
                  <a:cubicBezTo>
                    <a:pt x="570230" y="562737"/>
                    <a:pt x="562610" y="570230"/>
                    <a:pt x="5533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553339" y="536448"/>
                  </a:lnTo>
                  <a:lnTo>
                    <a:pt x="553339" y="553339"/>
                  </a:lnTo>
                  <a:lnTo>
                    <a:pt x="536448" y="553339"/>
                  </a:lnTo>
                  <a:lnTo>
                    <a:pt x="536448" y="16891"/>
                  </a:lnTo>
                  <a:lnTo>
                    <a:pt x="553339" y="16891"/>
                  </a:lnTo>
                  <a:lnTo>
                    <a:pt x="553339" y="33909"/>
                  </a:lnTo>
                  <a:lnTo>
                    <a:pt x="16891" y="33909"/>
                  </a:lnTo>
                  <a:close/>
                </a:path>
              </a:pathLst>
            </a:custGeom>
            <a:solidFill>
              <a:srgbClr val="0D9488"/>
            </a:solidFill>
          </p:spPr>
        </p:sp>
      </p:grpSp>
      <p:grpSp>
        <p:nvGrpSpPr>
          <p:cNvPr name="Group 29" id="29"/>
          <p:cNvGrpSpPr/>
          <p:nvPr/>
        </p:nvGrpSpPr>
        <p:grpSpPr>
          <a:xfrm rot="0">
            <a:off x="822960" y="4754880"/>
            <a:ext cx="402336" cy="402336"/>
            <a:chOff x="0" y="0"/>
            <a:chExt cx="536448" cy="536448"/>
          </a:xfrm>
        </p:grpSpPr>
        <p:sp>
          <p:nvSpPr>
            <p:cNvPr name="Freeform 30" id="30"/>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close/>
                </a:path>
              </a:pathLst>
            </a:custGeom>
            <a:blipFill>
              <a:blip r:embed="rId3">
                <a:alphaModFix amt="0"/>
              </a:blip>
              <a:stretch>
                <a:fillRect l="-78303" t="0" r="-78303" b="0"/>
              </a:stretch>
            </a:blipFill>
          </p:spPr>
        </p:sp>
        <p:sp>
          <p:nvSpPr>
            <p:cNvPr name="TextBox 31" id="31"/>
            <p:cNvSpPr txBox="true"/>
            <p:nvPr/>
          </p:nvSpPr>
          <p:spPr>
            <a:xfrm>
              <a:off x="0" y="-38100"/>
              <a:ext cx="536448" cy="57454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32" id="32"/>
          <p:cNvGrpSpPr/>
          <p:nvPr/>
        </p:nvGrpSpPr>
        <p:grpSpPr>
          <a:xfrm rot="0">
            <a:off x="1426464" y="4608576"/>
            <a:ext cx="10789920" cy="658368"/>
            <a:chOff x="0" y="0"/>
            <a:chExt cx="14386560" cy="877824"/>
          </a:xfrm>
        </p:grpSpPr>
        <p:sp>
          <p:nvSpPr>
            <p:cNvPr name="Freeform 33" id="33"/>
            <p:cNvSpPr/>
            <p:nvPr/>
          </p:nvSpPr>
          <p:spPr>
            <a:xfrm flipH="false" flipV="false" rot="0">
              <a:off x="0" y="0"/>
              <a:ext cx="14386561" cy="877824"/>
            </a:xfrm>
            <a:custGeom>
              <a:avLst/>
              <a:gdLst/>
              <a:ahLst/>
              <a:cxnLst/>
              <a:rect r="r" b="b" t="t" l="l"/>
              <a:pathLst>
                <a:path h="877824" w="14386561">
                  <a:moveTo>
                    <a:pt x="0" y="0"/>
                  </a:moveTo>
                  <a:lnTo>
                    <a:pt x="14386561" y="0"/>
                  </a:lnTo>
                  <a:lnTo>
                    <a:pt x="14386561" y="877824"/>
                  </a:lnTo>
                  <a:lnTo>
                    <a:pt x="0" y="877824"/>
                  </a:lnTo>
                  <a:close/>
                </a:path>
              </a:pathLst>
            </a:custGeom>
            <a:blipFill>
              <a:blip r:embed="rId3">
                <a:alphaModFix amt="0"/>
              </a:blip>
              <a:stretch>
                <a:fillRect l="0" t="-269338" r="0" b="-269338"/>
              </a:stretch>
            </a:blipFill>
          </p:spPr>
        </p:sp>
        <p:sp>
          <p:nvSpPr>
            <p:cNvPr name="TextBox 34" id="34"/>
            <p:cNvSpPr txBox="true"/>
            <p:nvPr/>
          </p:nvSpPr>
          <p:spPr>
            <a:xfrm>
              <a:off x="0" y="-47625"/>
              <a:ext cx="14386560" cy="925449"/>
            </a:xfrm>
            <a:prstGeom prst="rect">
              <a:avLst/>
            </a:prstGeom>
          </p:spPr>
          <p:txBody>
            <a:bodyPr anchor="ctr" rtlCol="false" tIns="0" lIns="0" bIns="0" rIns="0"/>
            <a:lstStyle/>
            <a:p>
              <a:pPr algn="l">
                <a:lnSpc>
                  <a:spcPts val="2640"/>
                </a:lnSpc>
              </a:pPr>
              <a:r>
                <a:rPr lang="en-US" sz="2200">
                  <a:solidFill>
                    <a:srgbClr val="FFFFFF"/>
                  </a:solidFill>
                  <a:latin typeface="Calibri (MS)"/>
                  <a:ea typeface="Calibri (MS)"/>
                  <a:cs typeface="Calibri (MS)"/>
                  <a:sym typeface="Calibri (MS)"/>
                </a:rPr>
                <a:t>Predicts disease before symptoms appear using AI</a:t>
              </a:r>
            </a:p>
          </p:txBody>
        </p:sp>
      </p:grpSp>
      <p:grpSp>
        <p:nvGrpSpPr>
          <p:cNvPr name="Group 35" id="35"/>
          <p:cNvGrpSpPr/>
          <p:nvPr/>
        </p:nvGrpSpPr>
        <p:grpSpPr>
          <a:xfrm rot="0">
            <a:off x="810263" y="5473703"/>
            <a:ext cx="427739" cy="427739"/>
            <a:chOff x="0" y="0"/>
            <a:chExt cx="570319" cy="570319"/>
          </a:xfrm>
        </p:grpSpPr>
        <p:sp>
          <p:nvSpPr>
            <p:cNvPr name="Freeform 36" id="36"/>
            <p:cNvSpPr/>
            <p:nvPr/>
          </p:nvSpPr>
          <p:spPr>
            <a:xfrm flipH="false" flipV="false" rot="0">
              <a:off x="16891" y="16891"/>
              <a:ext cx="536448" cy="536448"/>
            </a:xfrm>
            <a:custGeom>
              <a:avLst/>
              <a:gdLst/>
              <a:ahLst/>
              <a:cxnLst/>
              <a:rect r="r" b="b" t="t" l="l"/>
              <a:pathLst>
                <a:path h="536448" w="536448">
                  <a:moveTo>
                    <a:pt x="0" y="0"/>
                  </a:moveTo>
                  <a:lnTo>
                    <a:pt x="536448" y="0"/>
                  </a:lnTo>
                  <a:lnTo>
                    <a:pt x="536448" y="536448"/>
                  </a:lnTo>
                  <a:lnTo>
                    <a:pt x="0" y="536448"/>
                  </a:lnTo>
                  <a:close/>
                </a:path>
              </a:pathLst>
            </a:custGeom>
            <a:solidFill>
              <a:srgbClr val="0D9488"/>
            </a:solidFill>
          </p:spPr>
        </p:sp>
        <p:sp>
          <p:nvSpPr>
            <p:cNvPr name="Freeform 37" id="37"/>
            <p:cNvSpPr/>
            <p:nvPr/>
          </p:nvSpPr>
          <p:spPr>
            <a:xfrm flipH="false" flipV="false" rot="0">
              <a:off x="0" y="0"/>
              <a:ext cx="570230" cy="570232"/>
            </a:xfrm>
            <a:custGeom>
              <a:avLst/>
              <a:gdLst/>
              <a:ahLst/>
              <a:cxnLst/>
              <a:rect r="r" b="b" t="t" l="l"/>
              <a:pathLst>
                <a:path h="570232" w="570230">
                  <a:moveTo>
                    <a:pt x="16891" y="0"/>
                  </a:moveTo>
                  <a:lnTo>
                    <a:pt x="553339" y="0"/>
                  </a:lnTo>
                  <a:cubicBezTo>
                    <a:pt x="562737" y="0"/>
                    <a:pt x="570230" y="7620"/>
                    <a:pt x="570230" y="16891"/>
                  </a:cubicBezTo>
                  <a:lnTo>
                    <a:pt x="570230" y="553339"/>
                  </a:lnTo>
                  <a:cubicBezTo>
                    <a:pt x="570230" y="562737"/>
                    <a:pt x="562610" y="570230"/>
                    <a:pt x="5533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553339" y="536448"/>
                  </a:lnTo>
                  <a:lnTo>
                    <a:pt x="553339" y="553339"/>
                  </a:lnTo>
                  <a:lnTo>
                    <a:pt x="536448" y="553339"/>
                  </a:lnTo>
                  <a:lnTo>
                    <a:pt x="536448" y="16891"/>
                  </a:lnTo>
                  <a:lnTo>
                    <a:pt x="553339" y="16891"/>
                  </a:lnTo>
                  <a:lnTo>
                    <a:pt x="553339" y="33909"/>
                  </a:lnTo>
                  <a:lnTo>
                    <a:pt x="16891" y="33909"/>
                  </a:lnTo>
                  <a:close/>
                </a:path>
              </a:pathLst>
            </a:custGeom>
            <a:solidFill>
              <a:srgbClr val="0D9488"/>
            </a:solidFill>
          </p:spPr>
        </p:sp>
      </p:grpSp>
      <p:grpSp>
        <p:nvGrpSpPr>
          <p:cNvPr name="Group 38" id="38"/>
          <p:cNvGrpSpPr/>
          <p:nvPr/>
        </p:nvGrpSpPr>
        <p:grpSpPr>
          <a:xfrm rot="0">
            <a:off x="822960" y="5486400"/>
            <a:ext cx="402336" cy="402336"/>
            <a:chOff x="0" y="0"/>
            <a:chExt cx="536448" cy="536448"/>
          </a:xfrm>
        </p:grpSpPr>
        <p:sp>
          <p:nvSpPr>
            <p:cNvPr name="Freeform 39" id="39"/>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close/>
                </a:path>
              </a:pathLst>
            </a:custGeom>
            <a:blipFill>
              <a:blip r:embed="rId3">
                <a:alphaModFix amt="0"/>
              </a:blip>
              <a:stretch>
                <a:fillRect l="-78303" t="0" r="-78303" b="0"/>
              </a:stretch>
            </a:blipFill>
          </p:spPr>
        </p:sp>
        <p:sp>
          <p:nvSpPr>
            <p:cNvPr name="TextBox 40" id="40"/>
            <p:cNvSpPr txBox="true"/>
            <p:nvPr/>
          </p:nvSpPr>
          <p:spPr>
            <a:xfrm>
              <a:off x="0" y="-38100"/>
              <a:ext cx="536448" cy="57454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41" id="41"/>
          <p:cNvGrpSpPr/>
          <p:nvPr/>
        </p:nvGrpSpPr>
        <p:grpSpPr>
          <a:xfrm rot="0">
            <a:off x="1426464" y="5340096"/>
            <a:ext cx="10789920" cy="658368"/>
            <a:chOff x="0" y="0"/>
            <a:chExt cx="14386560" cy="877824"/>
          </a:xfrm>
        </p:grpSpPr>
        <p:sp>
          <p:nvSpPr>
            <p:cNvPr name="Freeform 42" id="42"/>
            <p:cNvSpPr/>
            <p:nvPr/>
          </p:nvSpPr>
          <p:spPr>
            <a:xfrm flipH="false" flipV="false" rot="0">
              <a:off x="0" y="0"/>
              <a:ext cx="14386561" cy="877824"/>
            </a:xfrm>
            <a:custGeom>
              <a:avLst/>
              <a:gdLst/>
              <a:ahLst/>
              <a:cxnLst/>
              <a:rect r="r" b="b" t="t" l="l"/>
              <a:pathLst>
                <a:path h="877824" w="14386561">
                  <a:moveTo>
                    <a:pt x="0" y="0"/>
                  </a:moveTo>
                  <a:lnTo>
                    <a:pt x="14386561" y="0"/>
                  </a:lnTo>
                  <a:lnTo>
                    <a:pt x="14386561" y="877824"/>
                  </a:lnTo>
                  <a:lnTo>
                    <a:pt x="0" y="877824"/>
                  </a:lnTo>
                  <a:close/>
                </a:path>
              </a:pathLst>
            </a:custGeom>
            <a:blipFill>
              <a:blip r:embed="rId3">
                <a:alphaModFix amt="0"/>
              </a:blip>
              <a:stretch>
                <a:fillRect l="0" t="-269338" r="0" b="-269338"/>
              </a:stretch>
            </a:blipFill>
          </p:spPr>
        </p:sp>
        <p:sp>
          <p:nvSpPr>
            <p:cNvPr name="TextBox 43" id="43"/>
            <p:cNvSpPr txBox="true"/>
            <p:nvPr/>
          </p:nvSpPr>
          <p:spPr>
            <a:xfrm>
              <a:off x="0" y="-47625"/>
              <a:ext cx="14386560" cy="925449"/>
            </a:xfrm>
            <a:prstGeom prst="rect">
              <a:avLst/>
            </a:prstGeom>
          </p:spPr>
          <p:txBody>
            <a:bodyPr anchor="ctr" rtlCol="false" tIns="0" lIns="0" bIns="0" rIns="0"/>
            <a:lstStyle/>
            <a:p>
              <a:pPr algn="l">
                <a:lnSpc>
                  <a:spcPts val="2640"/>
                </a:lnSpc>
              </a:pPr>
              <a:r>
                <a:rPr lang="en-US" sz="2200">
                  <a:solidFill>
                    <a:srgbClr val="FFFFFF"/>
                  </a:solidFill>
                  <a:latin typeface="Calibri (MS)"/>
                  <a:ea typeface="Calibri (MS)"/>
                  <a:cs typeface="Calibri (MS)"/>
                  <a:sym typeface="Calibri (MS)"/>
                </a:rPr>
                <a:t>Doctor-first: decision support — not replacement</a:t>
              </a:r>
            </a:p>
          </p:txBody>
        </p:sp>
      </p:grpSp>
      <p:grpSp>
        <p:nvGrpSpPr>
          <p:cNvPr name="Group 44" id="44"/>
          <p:cNvGrpSpPr/>
          <p:nvPr/>
        </p:nvGrpSpPr>
        <p:grpSpPr>
          <a:xfrm rot="0">
            <a:off x="810263" y="6205223"/>
            <a:ext cx="427739" cy="427739"/>
            <a:chOff x="0" y="0"/>
            <a:chExt cx="570319" cy="570319"/>
          </a:xfrm>
        </p:grpSpPr>
        <p:sp>
          <p:nvSpPr>
            <p:cNvPr name="Freeform 45" id="45"/>
            <p:cNvSpPr/>
            <p:nvPr/>
          </p:nvSpPr>
          <p:spPr>
            <a:xfrm flipH="false" flipV="false" rot="0">
              <a:off x="16891" y="16891"/>
              <a:ext cx="536448" cy="536448"/>
            </a:xfrm>
            <a:custGeom>
              <a:avLst/>
              <a:gdLst/>
              <a:ahLst/>
              <a:cxnLst/>
              <a:rect r="r" b="b" t="t" l="l"/>
              <a:pathLst>
                <a:path h="536448" w="536448">
                  <a:moveTo>
                    <a:pt x="0" y="0"/>
                  </a:moveTo>
                  <a:lnTo>
                    <a:pt x="536448" y="0"/>
                  </a:lnTo>
                  <a:lnTo>
                    <a:pt x="536448" y="536448"/>
                  </a:lnTo>
                  <a:lnTo>
                    <a:pt x="0" y="536448"/>
                  </a:lnTo>
                  <a:close/>
                </a:path>
              </a:pathLst>
            </a:custGeom>
            <a:solidFill>
              <a:srgbClr val="0D9488"/>
            </a:solidFill>
          </p:spPr>
        </p:sp>
        <p:sp>
          <p:nvSpPr>
            <p:cNvPr name="Freeform 46" id="46"/>
            <p:cNvSpPr/>
            <p:nvPr/>
          </p:nvSpPr>
          <p:spPr>
            <a:xfrm flipH="false" flipV="false" rot="0">
              <a:off x="0" y="0"/>
              <a:ext cx="570230" cy="570232"/>
            </a:xfrm>
            <a:custGeom>
              <a:avLst/>
              <a:gdLst/>
              <a:ahLst/>
              <a:cxnLst/>
              <a:rect r="r" b="b" t="t" l="l"/>
              <a:pathLst>
                <a:path h="570232" w="570230">
                  <a:moveTo>
                    <a:pt x="16891" y="0"/>
                  </a:moveTo>
                  <a:lnTo>
                    <a:pt x="553339" y="0"/>
                  </a:lnTo>
                  <a:cubicBezTo>
                    <a:pt x="562737" y="0"/>
                    <a:pt x="570230" y="7620"/>
                    <a:pt x="570230" y="16891"/>
                  </a:cubicBezTo>
                  <a:lnTo>
                    <a:pt x="570230" y="553339"/>
                  </a:lnTo>
                  <a:cubicBezTo>
                    <a:pt x="570230" y="562737"/>
                    <a:pt x="562610" y="570230"/>
                    <a:pt x="5533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553339" y="536448"/>
                  </a:lnTo>
                  <a:lnTo>
                    <a:pt x="553339" y="553339"/>
                  </a:lnTo>
                  <a:lnTo>
                    <a:pt x="536448" y="553339"/>
                  </a:lnTo>
                  <a:lnTo>
                    <a:pt x="536448" y="16891"/>
                  </a:lnTo>
                  <a:lnTo>
                    <a:pt x="553339" y="16891"/>
                  </a:lnTo>
                  <a:lnTo>
                    <a:pt x="553339" y="33909"/>
                  </a:lnTo>
                  <a:lnTo>
                    <a:pt x="16891" y="33909"/>
                  </a:lnTo>
                  <a:close/>
                </a:path>
              </a:pathLst>
            </a:custGeom>
            <a:solidFill>
              <a:srgbClr val="0D9488"/>
            </a:solidFill>
          </p:spPr>
        </p:sp>
      </p:grpSp>
      <p:grpSp>
        <p:nvGrpSpPr>
          <p:cNvPr name="Group 47" id="47"/>
          <p:cNvGrpSpPr/>
          <p:nvPr/>
        </p:nvGrpSpPr>
        <p:grpSpPr>
          <a:xfrm rot="0">
            <a:off x="822960" y="6217920"/>
            <a:ext cx="402336" cy="402336"/>
            <a:chOff x="0" y="0"/>
            <a:chExt cx="536448" cy="536448"/>
          </a:xfrm>
        </p:grpSpPr>
        <p:sp>
          <p:nvSpPr>
            <p:cNvPr name="Freeform 48" id="48"/>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close/>
                </a:path>
              </a:pathLst>
            </a:custGeom>
            <a:blipFill>
              <a:blip r:embed="rId3">
                <a:alphaModFix amt="0"/>
              </a:blip>
              <a:stretch>
                <a:fillRect l="-78303" t="0" r="-78303" b="0"/>
              </a:stretch>
            </a:blipFill>
          </p:spPr>
        </p:sp>
        <p:sp>
          <p:nvSpPr>
            <p:cNvPr name="TextBox 49" id="49"/>
            <p:cNvSpPr txBox="true"/>
            <p:nvPr/>
          </p:nvSpPr>
          <p:spPr>
            <a:xfrm>
              <a:off x="0" y="-38100"/>
              <a:ext cx="536448" cy="57454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50" id="50"/>
          <p:cNvGrpSpPr/>
          <p:nvPr/>
        </p:nvGrpSpPr>
        <p:grpSpPr>
          <a:xfrm rot="0">
            <a:off x="1426464" y="6071616"/>
            <a:ext cx="10789920" cy="658368"/>
            <a:chOff x="0" y="0"/>
            <a:chExt cx="14386560" cy="877824"/>
          </a:xfrm>
        </p:grpSpPr>
        <p:sp>
          <p:nvSpPr>
            <p:cNvPr name="Freeform 51" id="51"/>
            <p:cNvSpPr/>
            <p:nvPr/>
          </p:nvSpPr>
          <p:spPr>
            <a:xfrm flipH="false" flipV="false" rot="0">
              <a:off x="0" y="0"/>
              <a:ext cx="14386561" cy="877824"/>
            </a:xfrm>
            <a:custGeom>
              <a:avLst/>
              <a:gdLst/>
              <a:ahLst/>
              <a:cxnLst/>
              <a:rect r="r" b="b" t="t" l="l"/>
              <a:pathLst>
                <a:path h="877824" w="14386561">
                  <a:moveTo>
                    <a:pt x="0" y="0"/>
                  </a:moveTo>
                  <a:lnTo>
                    <a:pt x="14386561" y="0"/>
                  </a:lnTo>
                  <a:lnTo>
                    <a:pt x="14386561" y="877824"/>
                  </a:lnTo>
                  <a:lnTo>
                    <a:pt x="0" y="877824"/>
                  </a:lnTo>
                  <a:close/>
                </a:path>
              </a:pathLst>
            </a:custGeom>
            <a:blipFill>
              <a:blip r:embed="rId3">
                <a:alphaModFix amt="0"/>
              </a:blip>
              <a:stretch>
                <a:fillRect l="0" t="-269338" r="0" b="-269338"/>
              </a:stretch>
            </a:blipFill>
          </p:spPr>
        </p:sp>
        <p:sp>
          <p:nvSpPr>
            <p:cNvPr name="TextBox 52" id="52"/>
            <p:cNvSpPr txBox="true"/>
            <p:nvPr/>
          </p:nvSpPr>
          <p:spPr>
            <a:xfrm>
              <a:off x="0" y="-47625"/>
              <a:ext cx="14386560" cy="925449"/>
            </a:xfrm>
            <a:prstGeom prst="rect">
              <a:avLst/>
            </a:prstGeom>
          </p:spPr>
          <p:txBody>
            <a:bodyPr anchor="ctr" rtlCol="false" tIns="0" lIns="0" bIns="0" rIns="0"/>
            <a:lstStyle/>
            <a:p>
              <a:pPr algn="l">
                <a:lnSpc>
                  <a:spcPts val="2640"/>
                </a:lnSpc>
              </a:pPr>
              <a:r>
                <a:rPr lang="en-US" sz="2200">
                  <a:solidFill>
                    <a:srgbClr val="FFFFFF"/>
                  </a:solidFill>
                  <a:latin typeface="Calibri (MS)"/>
                  <a:ea typeface="Calibri (MS)"/>
                  <a:cs typeface="Calibri (MS)"/>
                  <a:sym typeface="Calibri (MS)"/>
                </a:rPr>
                <a:t>Markov chain progression + cold-start data problem solved</a:t>
              </a:r>
            </a:p>
          </p:txBody>
        </p:sp>
      </p:grpSp>
      <p:grpSp>
        <p:nvGrpSpPr>
          <p:cNvPr name="Group 53" id="53"/>
          <p:cNvGrpSpPr/>
          <p:nvPr/>
        </p:nvGrpSpPr>
        <p:grpSpPr>
          <a:xfrm rot="0">
            <a:off x="810263" y="6936743"/>
            <a:ext cx="427739" cy="427739"/>
            <a:chOff x="0" y="0"/>
            <a:chExt cx="570319" cy="570319"/>
          </a:xfrm>
        </p:grpSpPr>
        <p:sp>
          <p:nvSpPr>
            <p:cNvPr name="Freeform 54" id="54"/>
            <p:cNvSpPr/>
            <p:nvPr/>
          </p:nvSpPr>
          <p:spPr>
            <a:xfrm flipH="false" flipV="false" rot="0">
              <a:off x="16891" y="16891"/>
              <a:ext cx="536448" cy="536448"/>
            </a:xfrm>
            <a:custGeom>
              <a:avLst/>
              <a:gdLst/>
              <a:ahLst/>
              <a:cxnLst/>
              <a:rect r="r" b="b" t="t" l="l"/>
              <a:pathLst>
                <a:path h="536448" w="536448">
                  <a:moveTo>
                    <a:pt x="0" y="0"/>
                  </a:moveTo>
                  <a:lnTo>
                    <a:pt x="536448" y="0"/>
                  </a:lnTo>
                  <a:lnTo>
                    <a:pt x="536448" y="536448"/>
                  </a:lnTo>
                  <a:lnTo>
                    <a:pt x="0" y="536448"/>
                  </a:lnTo>
                  <a:close/>
                </a:path>
              </a:pathLst>
            </a:custGeom>
            <a:solidFill>
              <a:srgbClr val="0D9488"/>
            </a:solidFill>
          </p:spPr>
        </p:sp>
        <p:sp>
          <p:nvSpPr>
            <p:cNvPr name="Freeform 55" id="55"/>
            <p:cNvSpPr/>
            <p:nvPr/>
          </p:nvSpPr>
          <p:spPr>
            <a:xfrm flipH="false" flipV="false" rot="0">
              <a:off x="0" y="0"/>
              <a:ext cx="570230" cy="570232"/>
            </a:xfrm>
            <a:custGeom>
              <a:avLst/>
              <a:gdLst/>
              <a:ahLst/>
              <a:cxnLst/>
              <a:rect r="r" b="b" t="t" l="l"/>
              <a:pathLst>
                <a:path h="570232" w="570230">
                  <a:moveTo>
                    <a:pt x="16891" y="0"/>
                  </a:moveTo>
                  <a:lnTo>
                    <a:pt x="553339" y="0"/>
                  </a:lnTo>
                  <a:cubicBezTo>
                    <a:pt x="562737" y="0"/>
                    <a:pt x="570230" y="7620"/>
                    <a:pt x="570230" y="16891"/>
                  </a:cubicBezTo>
                  <a:lnTo>
                    <a:pt x="570230" y="553339"/>
                  </a:lnTo>
                  <a:cubicBezTo>
                    <a:pt x="570230" y="562737"/>
                    <a:pt x="562610" y="570230"/>
                    <a:pt x="5533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553339" y="536448"/>
                  </a:lnTo>
                  <a:lnTo>
                    <a:pt x="553339" y="553339"/>
                  </a:lnTo>
                  <a:lnTo>
                    <a:pt x="536448" y="553339"/>
                  </a:lnTo>
                  <a:lnTo>
                    <a:pt x="536448" y="16891"/>
                  </a:lnTo>
                  <a:lnTo>
                    <a:pt x="553339" y="16891"/>
                  </a:lnTo>
                  <a:lnTo>
                    <a:pt x="553339" y="33909"/>
                  </a:lnTo>
                  <a:lnTo>
                    <a:pt x="16891" y="33909"/>
                  </a:lnTo>
                  <a:close/>
                </a:path>
              </a:pathLst>
            </a:custGeom>
            <a:solidFill>
              <a:srgbClr val="0D9488"/>
            </a:solidFill>
          </p:spPr>
        </p:sp>
      </p:grpSp>
      <p:grpSp>
        <p:nvGrpSpPr>
          <p:cNvPr name="Group 56" id="56"/>
          <p:cNvGrpSpPr/>
          <p:nvPr/>
        </p:nvGrpSpPr>
        <p:grpSpPr>
          <a:xfrm rot="0">
            <a:off x="822960" y="6949440"/>
            <a:ext cx="402336" cy="402336"/>
            <a:chOff x="0" y="0"/>
            <a:chExt cx="536448" cy="536448"/>
          </a:xfrm>
        </p:grpSpPr>
        <p:sp>
          <p:nvSpPr>
            <p:cNvPr name="Freeform 57" id="57"/>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close/>
                </a:path>
              </a:pathLst>
            </a:custGeom>
            <a:blipFill>
              <a:blip r:embed="rId3">
                <a:alphaModFix amt="0"/>
              </a:blip>
              <a:stretch>
                <a:fillRect l="-78303" t="0" r="-78303" b="0"/>
              </a:stretch>
            </a:blipFill>
          </p:spPr>
        </p:sp>
        <p:sp>
          <p:nvSpPr>
            <p:cNvPr name="TextBox 58" id="58"/>
            <p:cNvSpPr txBox="true"/>
            <p:nvPr/>
          </p:nvSpPr>
          <p:spPr>
            <a:xfrm>
              <a:off x="0" y="-38100"/>
              <a:ext cx="536448" cy="57454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59" id="59"/>
          <p:cNvGrpSpPr/>
          <p:nvPr/>
        </p:nvGrpSpPr>
        <p:grpSpPr>
          <a:xfrm rot="0">
            <a:off x="1426464" y="6803136"/>
            <a:ext cx="10789920" cy="658368"/>
            <a:chOff x="0" y="0"/>
            <a:chExt cx="14386560" cy="877824"/>
          </a:xfrm>
        </p:grpSpPr>
        <p:sp>
          <p:nvSpPr>
            <p:cNvPr name="Freeform 60" id="60"/>
            <p:cNvSpPr/>
            <p:nvPr/>
          </p:nvSpPr>
          <p:spPr>
            <a:xfrm flipH="false" flipV="false" rot="0">
              <a:off x="0" y="0"/>
              <a:ext cx="14386561" cy="877824"/>
            </a:xfrm>
            <a:custGeom>
              <a:avLst/>
              <a:gdLst/>
              <a:ahLst/>
              <a:cxnLst/>
              <a:rect r="r" b="b" t="t" l="l"/>
              <a:pathLst>
                <a:path h="877824" w="14386561">
                  <a:moveTo>
                    <a:pt x="0" y="0"/>
                  </a:moveTo>
                  <a:lnTo>
                    <a:pt x="14386561" y="0"/>
                  </a:lnTo>
                  <a:lnTo>
                    <a:pt x="14386561" y="877824"/>
                  </a:lnTo>
                  <a:lnTo>
                    <a:pt x="0" y="877824"/>
                  </a:lnTo>
                  <a:close/>
                </a:path>
              </a:pathLst>
            </a:custGeom>
            <a:blipFill>
              <a:blip r:embed="rId3">
                <a:alphaModFix amt="0"/>
              </a:blip>
              <a:stretch>
                <a:fillRect l="0" t="-269338" r="0" b="-269338"/>
              </a:stretch>
            </a:blipFill>
          </p:spPr>
        </p:sp>
        <p:sp>
          <p:nvSpPr>
            <p:cNvPr name="TextBox 61" id="61"/>
            <p:cNvSpPr txBox="true"/>
            <p:nvPr/>
          </p:nvSpPr>
          <p:spPr>
            <a:xfrm>
              <a:off x="0" y="-47625"/>
              <a:ext cx="14386560" cy="925449"/>
            </a:xfrm>
            <a:prstGeom prst="rect">
              <a:avLst/>
            </a:prstGeom>
          </p:spPr>
          <p:txBody>
            <a:bodyPr anchor="ctr" rtlCol="false" tIns="0" lIns="0" bIns="0" rIns="0"/>
            <a:lstStyle/>
            <a:p>
              <a:pPr algn="l">
                <a:lnSpc>
                  <a:spcPts val="2640"/>
                </a:lnSpc>
              </a:pPr>
              <a:r>
                <a:rPr lang="en-US" sz="2200">
                  <a:solidFill>
                    <a:srgbClr val="FFFFFF"/>
                  </a:solidFill>
                  <a:latin typeface="Calibri (MS)"/>
                  <a:ea typeface="Calibri (MS)"/>
                  <a:cs typeface="Calibri (MS)"/>
                  <a:sym typeface="Calibri (MS)"/>
                </a:rPr>
                <a:t>Explainable AI — doctor sees the 'why' behind every prediction</a:t>
              </a:r>
            </a:p>
          </p:txBody>
        </p:sp>
      </p:grpSp>
      <p:grpSp>
        <p:nvGrpSpPr>
          <p:cNvPr name="Group 62" id="62"/>
          <p:cNvGrpSpPr/>
          <p:nvPr/>
        </p:nvGrpSpPr>
        <p:grpSpPr>
          <a:xfrm rot="0">
            <a:off x="810263" y="7668263"/>
            <a:ext cx="427739" cy="427739"/>
            <a:chOff x="0" y="0"/>
            <a:chExt cx="570319" cy="570319"/>
          </a:xfrm>
        </p:grpSpPr>
        <p:sp>
          <p:nvSpPr>
            <p:cNvPr name="Freeform 63" id="63"/>
            <p:cNvSpPr/>
            <p:nvPr/>
          </p:nvSpPr>
          <p:spPr>
            <a:xfrm flipH="false" flipV="false" rot="0">
              <a:off x="16891" y="16891"/>
              <a:ext cx="536448" cy="536448"/>
            </a:xfrm>
            <a:custGeom>
              <a:avLst/>
              <a:gdLst/>
              <a:ahLst/>
              <a:cxnLst/>
              <a:rect r="r" b="b" t="t" l="l"/>
              <a:pathLst>
                <a:path h="536448" w="536448">
                  <a:moveTo>
                    <a:pt x="0" y="0"/>
                  </a:moveTo>
                  <a:lnTo>
                    <a:pt x="536448" y="0"/>
                  </a:lnTo>
                  <a:lnTo>
                    <a:pt x="536448" y="536448"/>
                  </a:lnTo>
                  <a:lnTo>
                    <a:pt x="0" y="536448"/>
                  </a:lnTo>
                  <a:close/>
                </a:path>
              </a:pathLst>
            </a:custGeom>
            <a:solidFill>
              <a:srgbClr val="0D9488"/>
            </a:solidFill>
          </p:spPr>
        </p:sp>
        <p:sp>
          <p:nvSpPr>
            <p:cNvPr name="Freeform 64" id="64"/>
            <p:cNvSpPr/>
            <p:nvPr/>
          </p:nvSpPr>
          <p:spPr>
            <a:xfrm flipH="false" flipV="false" rot="0">
              <a:off x="0" y="0"/>
              <a:ext cx="570230" cy="570232"/>
            </a:xfrm>
            <a:custGeom>
              <a:avLst/>
              <a:gdLst/>
              <a:ahLst/>
              <a:cxnLst/>
              <a:rect r="r" b="b" t="t" l="l"/>
              <a:pathLst>
                <a:path h="570232" w="570230">
                  <a:moveTo>
                    <a:pt x="16891" y="0"/>
                  </a:moveTo>
                  <a:lnTo>
                    <a:pt x="553339" y="0"/>
                  </a:lnTo>
                  <a:cubicBezTo>
                    <a:pt x="562737" y="0"/>
                    <a:pt x="570230" y="7620"/>
                    <a:pt x="570230" y="16891"/>
                  </a:cubicBezTo>
                  <a:lnTo>
                    <a:pt x="570230" y="553339"/>
                  </a:lnTo>
                  <a:cubicBezTo>
                    <a:pt x="570230" y="562737"/>
                    <a:pt x="562610" y="570230"/>
                    <a:pt x="5533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553339" y="536448"/>
                  </a:lnTo>
                  <a:lnTo>
                    <a:pt x="553339" y="553339"/>
                  </a:lnTo>
                  <a:lnTo>
                    <a:pt x="536448" y="553339"/>
                  </a:lnTo>
                  <a:lnTo>
                    <a:pt x="536448" y="16891"/>
                  </a:lnTo>
                  <a:lnTo>
                    <a:pt x="553339" y="16891"/>
                  </a:lnTo>
                  <a:lnTo>
                    <a:pt x="553339" y="33909"/>
                  </a:lnTo>
                  <a:lnTo>
                    <a:pt x="16891" y="33909"/>
                  </a:lnTo>
                  <a:close/>
                </a:path>
              </a:pathLst>
            </a:custGeom>
            <a:solidFill>
              <a:srgbClr val="0D9488"/>
            </a:solidFill>
          </p:spPr>
        </p:sp>
      </p:grpSp>
      <p:grpSp>
        <p:nvGrpSpPr>
          <p:cNvPr name="Group 65" id="65"/>
          <p:cNvGrpSpPr/>
          <p:nvPr/>
        </p:nvGrpSpPr>
        <p:grpSpPr>
          <a:xfrm rot="0">
            <a:off x="822960" y="7680960"/>
            <a:ext cx="402336" cy="402336"/>
            <a:chOff x="0" y="0"/>
            <a:chExt cx="536448" cy="536448"/>
          </a:xfrm>
        </p:grpSpPr>
        <p:sp>
          <p:nvSpPr>
            <p:cNvPr name="Freeform 66" id="66"/>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close/>
                </a:path>
              </a:pathLst>
            </a:custGeom>
            <a:blipFill>
              <a:blip r:embed="rId3">
                <a:alphaModFix amt="0"/>
              </a:blip>
              <a:stretch>
                <a:fillRect l="-78303" t="0" r="-78303" b="0"/>
              </a:stretch>
            </a:blipFill>
          </p:spPr>
        </p:sp>
        <p:sp>
          <p:nvSpPr>
            <p:cNvPr name="TextBox 67" id="67"/>
            <p:cNvSpPr txBox="true"/>
            <p:nvPr/>
          </p:nvSpPr>
          <p:spPr>
            <a:xfrm>
              <a:off x="0" y="-38100"/>
              <a:ext cx="536448" cy="57454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68" id="68"/>
          <p:cNvGrpSpPr/>
          <p:nvPr/>
        </p:nvGrpSpPr>
        <p:grpSpPr>
          <a:xfrm rot="0">
            <a:off x="1426464" y="7534656"/>
            <a:ext cx="10789920" cy="658368"/>
            <a:chOff x="0" y="0"/>
            <a:chExt cx="14386560" cy="877824"/>
          </a:xfrm>
        </p:grpSpPr>
        <p:sp>
          <p:nvSpPr>
            <p:cNvPr name="Freeform 69" id="69"/>
            <p:cNvSpPr/>
            <p:nvPr/>
          </p:nvSpPr>
          <p:spPr>
            <a:xfrm flipH="false" flipV="false" rot="0">
              <a:off x="0" y="0"/>
              <a:ext cx="14386561" cy="877824"/>
            </a:xfrm>
            <a:custGeom>
              <a:avLst/>
              <a:gdLst/>
              <a:ahLst/>
              <a:cxnLst/>
              <a:rect r="r" b="b" t="t" l="l"/>
              <a:pathLst>
                <a:path h="877824" w="14386561">
                  <a:moveTo>
                    <a:pt x="0" y="0"/>
                  </a:moveTo>
                  <a:lnTo>
                    <a:pt x="14386561" y="0"/>
                  </a:lnTo>
                  <a:lnTo>
                    <a:pt x="14386561" y="877824"/>
                  </a:lnTo>
                  <a:lnTo>
                    <a:pt x="0" y="877824"/>
                  </a:lnTo>
                  <a:close/>
                </a:path>
              </a:pathLst>
            </a:custGeom>
            <a:blipFill>
              <a:blip r:embed="rId3">
                <a:alphaModFix amt="0"/>
              </a:blip>
              <a:stretch>
                <a:fillRect l="0" t="-269338" r="0" b="-269338"/>
              </a:stretch>
            </a:blipFill>
          </p:spPr>
        </p:sp>
        <p:sp>
          <p:nvSpPr>
            <p:cNvPr name="TextBox 70" id="70"/>
            <p:cNvSpPr txBox="true"/>
            <p:nvPr/>
          </p:nvSpPr>
          <p:spPr>
            <a:xfrm>
              <a:off x="0" y="-47625"/>
              <a:ext cx="14386560" cy="925449"/>
            </a:xfrm>
            <a:prstGeom prst="rect">
              <a:avLst/>
            </a:prstGeom>
          </p:spPr>
          <p:txBody>
            <a:bodyPr anchor="ctr" rtlCol="false" tIns="0" lIns="0" bIns="0" rIns="0"/>
            <a:lstStyle/>
            <a:p>
              <a:pPr algn="l">
                <a:lnSpc>
                  <a:spcPts val="2640"/>
                </a:lnSpc>
              </a:pPr>
              <a:r>
                <a:rPr lang="en-US" sz="2200">
                  <a:solidFill>
                    <a:srgbClr val="FFFFFF"/>
                  </a:solidFill>
                  <a:latin typeface="Calibri (MS)"/>
                  <a:ea typeface="Calibri (MS)"/>
                  <a:cs typeface="Calibri (MS)"/>
                  <a:sym typeface="Calibri (MS)"/>
                </a:rPr>
                <a:t>Built for Africa's healthcare reality, scalable globally</a:t>
              </a:r>
            </a:p>
          </p:txBody>
        </p:sp>
      </p:grpSp>
      <p:grpSp>
        <p:nvGrpSpPr>
          <p:cNvPr name="Group 71" id="71"/>
          <p:cNvGrpSpPr/>
          <p:nvPr/>
        </p:nvGrpSpPr>
        <p:grpSpPr>
          <a:xfrm rot="0">
            <a:off x="810263" y="8399783"/>
            <a:ext cx="427739" cy="427739"/>
            <a:chOff x="0" y="0"/>
            <a:chExt cx="570319" cy="570319"/>
          </a:xfrm>
        </p:grpSpPr>
        <p:sp>
          <p:nvSpPr>
            <p:cNvPr name="Freeform 72" id="72"/>
            <p:cNvSpPr/>
            <p:nvPr/>
          </p:nvSpPr>
          <p:spPr>
            <a:xfrm flipH="false" flipV="false" rot="0">
              <a:off x="16891" y="16891"/>
              <a:ext cx="536448" cy="536448"/>
            </a:xfrm>
            <a:custGeom>
              <a:avLst/>
              <a:gdLst/>
              <a:ahLst/>
              <a:cxnLst/>
              <a:rect r="r" b="b" t="t" l="l"/>
              <a:pathLst>
                <a:path h="536448" w="536448">
                  <a:moveTo>
                    <a:pt x="0" y="0"/>
                  </a:moveTo>
                  <a:lnTo>
                    <a:pt x="536448" y="0"/>
                  </a:lnTo>
                  <a:lnTo>
                    <a:pt x="536448" y="536448"/>
                  </a:lnTo>
                  <a:lnTo>
                    <a:pt x="0" y="536448"/>
                  </a:lnTo>
                  <a:close/>
                </a:path>
              </a:pathLst>
            </a:custGeom>
            <a:solidFill>
              <a:srgbClr val="0D9488"/>
            </a:solidFill>
          </p:spPr>
        </p:sp>
        <p:sp>
          <p:nvSpPr>
            <p:cNvPr name="Freeform 73" id="73"/>
            <p:cNvSpPr/>
            <p:nvPr/>
          </p:nvSpPr>
          <p:spPr>
            <a:xfrm flipH="false" flipV="false" rot="0">
              <a:off x="0" y="0"/>
              <a:ext cx="570230" cy="570232"/>
            </a:xfrm>
            <a:custGeom>
              <a:avLst/>
              <a:gdLst/>
              <a:ahLst/>
              <a:cxnLst/>
              <a:rect r="r" b="b" t="t" l="l"/>
              <a:pathLst>
                <a:path h="570232" w="570230">
                  <a:moveTo>
                    <a:pt x="16891" y="0"/>
                  </a:moveTo>
                  <a:lnTo>
                    <a:pt x="553339" y="0"/>
                  </a:lnTo>
                  <a:cubicBezTo>
                    <a:pt x="562737" y="0"/>
                    <a:pt x="570230" y="7620"/>
                    <a:pt x="570230" y="16891"/>
                  </a:cubicBezTo>
                  <a:lnTo>
                    <a:pt x="570230" y="553339"/>
                  </a:lnTo>
                  <a:cubicBezTo>
                    <a:pt x="570230" y="562737"/>
                    <a:pt x="562610" y="570230"/>
                    <a:pt x="5533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553339" y="536448"/>
                  </a:lnTo>
                  <a:lnTo>
                    <a:pt x="553339" y="553339"/>
                  </a:lnTo>
                  <a:lnTo>
                    <a:pt x="536448" y="553339"/>
                  </a:lnTo>
                  <a:lnTo>
                    <a:pt x="536448" y="16891"/>
                  </a:lnTo>
                  <a:lnTo>
                    <a:pt x="553339" y="16891"/>
                  </a:lnTo>
                  <a:lnTo>
                    <a:pt x="553339" y="33909"/>
                  </a:lnTo>
                  <a:lnTo>
                    <a:pt x="16891" y="33909"/>
                  </a:lnTo>
                  <a:close/>
                </a:path>
              </a:pathLst>
            </a:custGeom>
            <a:solidFill>
              <a:srgbClr val="0D9488"/>
            </a:solidFill>
          </p:spPr>
        </p:sp>
      </p:grpSp>
      <p:grpSp>
        <p:nvGrpSpPr>
          <p:cNvPr name="Group 74" id="74"/>
          <p:cNvGrpSpPr/>
          <p:nvPr/>
        </p:nvGrpSpPr>
        <p:grpSpPr>
          <a:xfrm rot="0">
            <a:off x="822960" y="8412480"/>
            <a:ext cx="402336" cy="402336"/>
            <a:chOff x="0" y="0"/>
            <a:chExt cx="536448" cy="536448"/>
          </a:xfrm>
        </p:grpSpPr>
        <p:sp>
          <p:nvSpPr>
            <p:cNvPr name="Freeform 75" id="75"/>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close/>
                </a:path>
              </a:pathLst>
            </a:custGeom>
            <a:blipFill>
              <a:blip r:embed="rId3">
                <a:alphaModFix amt="0"/>
              </a:blip>
              <a:stretch>
                <a:fillRect l="-78303" t="0" r="-78303" b="0"/>
              </a:stretch>
            </a:blipFill>
          </p:spPr>
        </p:sp>
        <p:sp>
          <p:nvSpPr>
            <p:cNvPr name="TextBox 76" id="76"/>
            <p:cNvSpPr txBox="true"/>
            <p:nvPr/>
          </p:nvSpPr>
          <p:spPr>
            <a:xfrm>
              <a:off x="0" y="-38100"/>
              <a:ext cx="536448" cy="57454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77" id="77"/>
          <p:cNvGrpSpPr/>
          <p:nvPr/>
        </p:nvGrpSpPr>
        <p:grpSpPr>
          <a:xfrm rot="0">
            <a:off x="1426464" y="8266176"/>
            <a:ext cx="10789920" cy="658368"/>
            <a:chOff x="0" y="0"/>
            <a:chExt cx="14386560" cy="877824"/>
          </a:xfrm>
        </p:grpSpPr>
        <p:sp>
          <p:nvSpPr>
            <p:cNvPr name="Freeform 78" id="78"/>
            <p:cNvSpPr/>
            <p:nvPr/>
          </p:nvSpPr>
          <p:spPr>
            <a:xfrm flipH="false" flipV="false" rot="0">
              <a:off x="0" y="0"/>
              <a:ext cx="14386561" cy="877824"/>
            </a:xfrm>
            <a:custGeom>
              <a:avLst/>
              <a:gdLst/>
              <a:ahLst/>
              <a:cxnLst/>
              <a:rect r="r" b="b" t="t" l="l"/>
              <a:pathLst>
                <a:path h="877824" w="14386561">
                  <a:moveTo>
                    <a:pt x="0" y="0"/>
                  </a:moveTo>
                  <a:lnTo>
                    <a:pt x="14386561" y="0"/>
                  </a:lnTo>
                  <a:lnTo>
                    <a:pt x="14386561" y="877824"/>
                  </a:lnTo>
                  <a:lnTo>
                    <a:pt x="0" y="877824"/>
                  </a:lnTo>
                  <a:close/>
                </a:path>
              </a:pathLst>
            </a:custGeom>
            <a:blipFill>
              <a:blip r:embed="rId3">
                <a:alphaModFix amt="0"/>
              </a:blip>
              <a:stretch>
                <a:fillRect l="0" t="-269338" r="0" b="-269338"/>
              </a:stretch>
            </a:blipFill>
          </p:spPr>
        </p:sp>
        <p:sp>
          <p:nvSpPr>
            <p:cNvPr name="TextBox 79" id="79"/>
            <p:cNvSpPr txBox="true"/>
            <p:nvPr/>
          </p:nvSpPr>
          <p:spPr>
            <a:xfrm>
              <a:off x="0" y="-47625"/>
              <a:ext cx="14386560" cy="925449"/>
            </a:xfrm>
            <a:prstGeom prst="rect">
              <a:avLst/>
            </a:prstGeom>
          </p:spPr>
          <p:txBody>
            <a:bodyPr anchor="ctr" rtlCol="false" tIns="0" lIns="0" bIns="0" rIns="0"/>
            <a:lstStyle/>
            <a:p>
              <a:pPr algn="l">
                <a:lnSpc>
                  <a:spcPts val="2640"/>
                </a:lnSpc>
              </a:pPr>
              <a:r>
                <a:rPr lang="en-US" sz="2200">
                  <a:solidFill>
                    <a:srgbClr val="FFFFFF"/>
                  </a:solidFill>
                  <a:latin typeface="Calibri (MS)"/>
                  <a:ea typeface="Calibri (MS)"/>
                  <a:cs typeface="Calibri (MS)"/>
                  <a:sym typeface="Calibri (MS)"/>
                </a:rPr>
                <a:t>Privacy-compliant, EHR-integration ready, future-proof</a:t>
              </a:r>
            </a:p>
          </p:txBody>
        </p:sp>
      </p:grpSp>
      <p:grpSp>
        <p:nvGrpSpPr>
          <p:cNvPr name="Group 80" id="80"/>
          <p:cNvGrpSpPr/>
          <p:nvPr/>
        </p:nvGrpSpPr>
        <p:grpSpPr>
          <a:xfrm rot="0">
            <a:off x="822960" y="9052560"/>
            <a:ext cx="11887200" cy="548640"/>
            <a:chOff x="0" y="0"/>
            <a:chExt cx="15849600" cy="731520"/>
          </a:xfrm>
        </p:grpSpPr>
        <p:sp>
          <p:nvSpPr>
            <p:cNvPr name="Freeform 81" id="81"/>
            <p:cNvSpPr/>
            <p:nvPr/>
          </p:nvSpPr>
          <p:spPr>
            <a:xfrm flipH="false" flipV="false" rot="0">
              <a:off x="0" y="0"/>
              <a:ext cx="15849600" cy="731520"/>
            </a:xfrm>
            <a:custGeom>
              <a:avLst/>
              <a:gdLst/>
              <a:ahLst/>
              <a:cxnLst/>
              <a:rect r="r" b="b" t="t" l="l"/>
              <a:pathLst>
                <a:path h="731520" w="15849600">
                  <a:moveTo>
                    <a:pt x="0" y="0"/>
                  </a:moveTo>
                  <a:lnTo>
                    <a:pt x="15849600" y="0"/>
                  </a:lnTo>
                  <a:lnTo>
                    <a:pt x="15849600" y="731520"/>
                  </a:lnTo>
                  <a:lnTo>
                    <a:pt x="0" y="731520"/>
                  </a:lnTo>
                  <a:close/>
                </a:path>
              </a:pathLst>
            </a:custGeom>
            <a:blipFill>
              <a:blip r:embed="rId3">
                <a:alphaModFix amt="0"/>
              </a:blip>
              <a:stretch>
                <a:fillRect l="0" t="-372175" r="0" b="-372175"/>
              </a:stretch>
            </a:blipFill>
          </p:spPr>
        </p:sp>
        <p:sp>
          <p:nvSpPr>
            <p:cNvPr name="TextBox 82" id="82"/>
            <p:cNvSpPr txBox="true"/>
            <p:nvPr/>
          </p:nvSpPr>
          <p:spPr>
            <a:xfrm>
              <a:off x="0" y="-38100"/>
              <a:ext cx="15849600" cy="769620"/>
            </a:xfrm>
            <a:prstGeom prst="rect">
              <a:avLst/>
            </a:prstGeom>
          </p:spPr>
          <p:txBody>
            <a:bodyPr anchor="ctr" rtlCol="false" tIns="0" lIns="0" bIns="0" rIns="0"/>
            <a:lstStyle/>
            <a:p>
              <a:pPr algn="l">
                <a:lnSpc>
                  <a:spcPts val="2879"/>
                </a:lnSpc>
              </a:pPr>
              <a:r>
                <a:rPr lang="en-US" sz="2400" i="true">
                  <a:solidFill>
                    <a:srgbClr val="94A3B8"/>
                  </a:solidFill>
                  <a:latin typeface="Calibri (MS) Italics"/>
                  <a:ea typeface="Calibri (MS) Italics"/>
                  <a:cs typeface="Calibri (MS) Italics"/>
                  <a:sym typeface="Calibri (MS) Italics"/>
                </a:rPr>
                <a:t>Thank You — We Welcome Your Questions</a:t>
              </a:r>
            </a:p>
          </p:txBody>
        </p:sp>
      </p:grpSp>
      <p:grpSp>
        <p:nvGrpSpPr>
          <p:cNvPr name="Group 83" id="83"/>
          <p:cNvGrpSpPr/>
          <p:nvPr/>
        </p:nvGrpSpPr>
        <p:grpSpPr>
          <a:xfrm rot="0">
            <a:off x="-12697" y="9588503"/>
            <a:ext cx="18313403" cy="711203"/>
            <a:chOff x="0" y="0"/>
            <a:chExt cx="24417871" cy="948271"/>
          </a:xfrm>
        </p:grpSpPr>
        <p:sp>
          <p:nvSpPr>
            <p:cNvPr name="Freeform 84" id="84"/>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060E1C"/>
            </a:solidFill>
          </p:spPr>
        </p:sp>
        <p:sp>
          <p:nvSpPr>
            <p:cNvPr name="Freeform 85" id="85"/>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060E1C"/>
            </a:solidFill>
          </p:spPr>
        </p:sp>
      </p:grpSp>
      <p:grpSp>
        <p:nvGrpSpPr>
          <p:cNvPr name="Group 86" id="86"/>
          <p:cNvGrpSpPr/>
          <p:nvPr/>
        </p:nvGrpSpPr>
        <p:grpSpPr>
          <a:xfrm rot="0">
            <a:off x="731520" y="9637776"/>
            <a:ext cx="16824960" cy="585216"/>
            <a:chOff x="0" y="0"/>
            <a:chExt cx="22433280" cy="780288"/>
          </a:xfrm>
        </p:grpSpPr>
        <p:sp>
          <p:nvSpPr>
            <p:cNvPr name="Freeform 87" id="87"/>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88" id="88"/>
            <p:cNvSpPr txBox="true"/>
            <p:nvPr/>
          </p:nvSpPr>
          <p:spPr>
            <a:xfrm>
              <a:off x="0" y="-38100"/>
              <a:ext cx="22433280" cy="81838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Team MediPATH  ·  AI in Health Hackathon 2026  ·  Track 3: Health Data Analytics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DAHFTeJWEjo</dc:identifier>
  <dcterms:modified xsi:type="dcterms:W3CDTF">2011-08-01T06:04:30Z</dcterms:modified>
  <cp:revision>1</cp:revision>
  <dc:title>MediPATH_Document.pptx</dc:title>
</cp:coreProperties>
</file>